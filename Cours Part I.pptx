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6"/>
  </p:notesMasterIdLst>
  <p:sldIdLst>
    <p:sldId id="262" r:id="rId2"/>
    <p:sldId id="266" r:id="rId3"/>
    <p:sldId id="267" r:id="rId4"/>
    <p:sldId id="263" r:id="rId5"/>
    <p:sldId id="264" r:id="rId6"/>
    <p:sldId id="265" r:id="rId7"/>
    <p:sldId id="257" r:id="rId8"/>
    <p:sldId id="268" r:id="rId9"/>
    <p:sldId id="294" r:id="rId10"/>
    <p:sldId id="258" r:id="rId11"/>
    <p:sldId id="256" r:id="rId12"/>
    <p:sldId id="270" r:id="rId13"/>
    <p:sldId id="260" r:id="rId14"/>
    <p:sldId id="261" r:id="rId15"/>
    <p:sldId id="259" r:id="rId16"/>
    <p:sldId id="271" r:id="rId17"/>
    <p:sldId id="295" r:id="rId18"/>
    <p:sldId id="272" r:id="rId19"/>
    <p:sldId id="273" r:id="rId20"/>
    <p:sldId id="383" r:id="rId21"/>
    <p:sldId id="274" r:id="rId22"/>
    <p:sldId id="275" r:id="rId23"/>
    <p:sldId id="280" r:id="rId24"/>
    <p:sldId id="277" r:id="rId25"/>
    <p:sldId id="283" r:id="rId26"/>
    <p:sldId id="281" r:id="rId27"/>
    <p:sldId id="279" r:id="rId28"/>
    <p:sldId id="282" r:id="rId29"/>
    <p:sldId id="278" r:id="rId30"/>
    <p:sldId id="284" r:id="rId31"/>
    <p:sldId id="287" r:id="rId32"/>
    <p:sldId id="285" r:id="rId33"/>
    <p:sldId id="286" r:id="rId34"/>
    <p:sldId id="288" r:id="rId35"/>
    <p:sldId id="291" r:id="rId36"/>
    <p:sldId id="290" r:id="rId37"/>
    <p:sldId id="292" r:id="rId38"/>
    <p:sldId id="293" r:id="rId39"/>
    <p:sldId id="297" r:id="rId40"/>
    <p:sldId id="296" r:id="rId41"/>
    <p:sldId id="298" r:id="rId42"/>
    <p:sldId id="312" r:id="rId43"/>
    <p:sldId id="299" r:id="rId44"/>
    <p:sldId id="301" r:id="rId45"/>
    <p:sldId id="302" r:id="rId46"/>
    <p:sldId id="300" r:id="rId47"/>
    <p:sldId id="304" r:id="rId48"/>
    <p:sldId id="303" r:id="rId49"/>
    <p:sldId id="307" r:id="rId50"/>
    <p:sldId id="306" r:id="rId51"/>
    <p:sldId id="305" r:id="rId52"/>
    <p:sldId id="308" r:id="rId53"/>
    <p:sldId id="309" r:id="rId54"/>
    <p:sldId id="310" r:id="rId55"/>
    <p:sldId id="311" r:id="rId56"/>
    <p:sldId id="315" r:id="rId57"/>
    <p:sldId id="314" r:id="rId58"/>
    <p:sldId id="313" r:id="rId59"/>
    <p:sldId id="316" r:id="rId60"/>
    <p:sldId id="317" r:id="rId61"/>
    <p:sldId id="318" r:id="rId62"/>
    <p:sldId id="320" r:id="rId63"/>
    <p:sldId id="319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30" r:id="rId72"/>
    <p:sldId id="328" r:id="rId73"/>
    <p:sldId id="329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7" r:id="rId90"/>
    <p:sldId id="346" r:id="rId91"/>
    <p:sldId id="348" r:id="rId92"/>
    <p:sldId id="349" r:id="rId93"/>
    <p:sldId id="352" r:id="rId94"/>
    <p:sldId id="350" r:id="rId95"/>
    <p:sldId id="351" r:id="rId96"/>
    <p:sldId id="353" r:id="rId97"/>
    <p:sldId id="354" r:id="rId98"/>
    <p:sldId id="355" r:id="rId99"/>
    <p:sldId id="356" r:id="rId100"/>
    <p:sldId id="357" r:id="rId101"/>
    <p:sldId id="358" r:id="rId102"/>
    <p:sldId id="362" r:id="rId103"/>
    <p:sldId id="359" r:id="rId104"/>
    <p:sldId id="360" r:id="rId105"/>
    <p:sldId id="361" r:id="rId106"/>
    <p:sldId id="363" r:id="rId107"/>
    <p:sldId id="364" r:id="rId108"/>
    <p:sldId id="365" r:id="rId109"/>
    <p:sldId id="366" r:id="rId110"/>
    <p:sldId id="367" r:id="rId111"/>
    <p:sldId id="368" r:id="rId112"/>
    <p:sldId id="369" r:id="rId113"/>
    <p:sldId id="370" r:id="rId114"/>
    <p:sldId id="371" r:id="rId115"/>
    <p:sldId id="372" r:id="rId116"/>
    <p:sldId id="373" r:id="rId117"/>
    <p:sldId id="374" r:id="rId118"/>
    <p:sldId id="375" r:id="rId119"/>
    <p:sldId id="376" r:id="rId120"/>
    <p:sldId id="377" r:id="rId121"/>
    <p:sldId id="379" r:id="rId122"/>
    <p:sldId id="380" r:id="rId123"/>
    <p:sldId id="381" r:id="rId124"/>
    <p:sldId id="382" r:id="rId12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orwat47" initials="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320" y="-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7-02-14T14:07:27.248" idx="1">
    <p:pos x="4740" y="1344"/>
    <p:text>corriger Gs Gl à T3</p:text>
  </p:cm>
</p:cmLst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image" Target="../media/image83.emf"/><Relationship Id="rId7" Type="http://schemas.openxmlformats.org/officeDocument/2006/relationships/image" Target="../media/image87.emf"/><Relationship Id="rId12" Type="http://schemas.openxmlformats.org/officeDocument/2006/relationships/image" Target="../media/image92.emf"/><Relationship Id="rId2" Type="http://schemas.openxmlformats.org/officeDocument/2006/relationships/image" Target="../media/image82.emf"/><Relationship Id="rId1" Type="http://schemas.openxmlformats.org/officeDocument/2006/relationships/image" Target="../media/image81.emf"/><Relationship Id="rId6" Type="http://schemas.openxmlformats.org/officeDocument/2006/relationships/image" Target="../media/image86.emf"/><Relationship Id="rId11" Type="http://schemas.openxmlformats.org/officeDocument/2006/relationships/image" Target="../media/image91.emf"/><Relationship Id="rId5" Type="http://schemas.openxmlformats.org/officeDocument/2006/relationships/image" Target="../media/image85.emf"/><Relationship Id="rId10" Type="http://schemas.openxmlformats.org/officeDocument/2006/relationships/image" Target="../media/image90.emf"/><Relationship Id="rId4" Type="http://schemas.openxmlformats.org/officeDocument/2006/relationships/image" Target="../media/image84.emf"/><Relationship Id="rId9" Type="http://schemas.openxmlformats.org/officeDocument/2006/relationships/image" Target="../media/image89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13" Type="http://schemas.openxmlformats.org/officeDocument/2006/relationships/image" Target="../media/image105.emf"/><Relationship Id="rId3" Type="http://schemas.openxmlformats.org/officeDocument/2006/relationships/image" Target="../media/image95.emf"/><Relationship Id="rId7" Type="http://schemas.openxmlformats.org/officeDocument/2006/relationships/image" Target="../media/image99.emf"/><Relationship Id="rId12" Type="http://schemas.openxmlformats.org/officeDocument/2006/relationships/image" Target="../media/image104.emf"/><Relationship Id="rId2" Type="http://schemas.openxmlformats.org/officeDocument/2006/relationships/image" Target="../media/image94.emf"/><Relationship Id="rId1" Type="http://schemas.openxmlformats.org/officeDocument/2006/relationships/image" Target="../media/image93.emf"/><Relationship Id="rId6" Type="http://schemas.openxmlformats.org/officeDocument/2006/relationships/image" Target="../media/image98.emf"/><Relationship Id="rId11" Type="http://schemas.openxmlformats.org/officeDocument/2006/relationships/image" Target="../media/image103.emf"/><Relationship Id="rId5" Type="http://schemas.openxmlformats.org/officeDocument/2006/relationships/image" Target="../media/image97.emf"/><Relationship Id="rId15" Type="http://schemas.openxmlformats.org/officeDocument/2006/relationships/image" Target="../media/image107.emf"/><Relationship Id="rId10" Type="http://schemas.openxmlformats.org/officeDocument/2006/relationships/image" Target="../media/image102.emf"/><Relationship Id="rId4" Type="http://schemas.openxmlformats.org/officeDocument/2006/relationships/image" Target="../media/image96.emf"/><Relationship Id="rId9" Type="http://schemas.openxmlformats.org/officeDocument/2006/relationships/image" Target="../media/image101.emf"/><Relationship Id="rId14" Type="http://schemas.openxmlformats.org/officeDocument/2006/relationships/image" Target="../media/image10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emf"/><Relationship Id="rId1" Type="http://schemas.openxmlformats.org/officeDocument/2006/relationships/image" Target="../media/image1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544DD-A4CF-4D62-B589-57425F201B97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FC1E1-989F-402F-BBE1-5999064738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251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3FC1E1-989F-402F-BBE1-59990647387F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6524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88DD3-6424-4C27-8F14-A552CE09C37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2B3-3FBF-432A-9B45-3ECB68AA62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173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88DD3-6424-4C27-8F14-A552CE09C37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2B3-3FBF-432A-9B45-3ECB68AA62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73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88DD3-6424-4C27-8F14-A552CE09C37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2B3-3FBF-432A-9B45-3ECB68AA62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58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88DD3-6424-4C27-8F14-A552CE09C37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2B3-3FBF-432A-9B45-3ECB68AA62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470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88DD3-6424-4C27-8F14-A552CE09C37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2B3-3FBF-432A-9B45-3ECB68AA62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730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88DD3-6424-4C27-8F14-A552CE09C37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2B3-3FBF-432A-9B45-3ECB68AA62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7753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88DD3-6424-4C27-8F14-A552CE09C37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2B3-3FBF-432A-9B45-3ECB68AA62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2643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88DD3-6424-4C27-8F14-A552CE09C37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2B3-3FBF-432A-9B45-3ECB68AA62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953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88DD3-6424-4C27-8F14-A552CE09C37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2B3-3FBF-432A-9B45-3ECB68AA62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767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88DD3-6424-4C27-8F14-A552CE09C37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2B3-3FBF-432A-9B45-3ECB68AA62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8283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88DD3-6424-4C27-8F14-A552CE09C37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2B3-3FBF-432A-9B45-3ECB68AA62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8297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88DD3-6424-4C27-8F14-A552CE09C37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A2B3-3FBF-432A-9B45-3ECB68AA62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94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David.horwat@univ-lorraine.f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7.jpe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21.jpe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jpeg"/><Relationship Id="rId4" Type="http://schemas.openxmlformats.org/officeDocument/2006/relationships/image" Target="../media/image77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8.emf"/><Relationship Id="rId26" Type="http://schemas.openxmlformats.org/officeDocument/2006/relationships/image" Target="../media/image92.e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5.e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7.emf"/><Relationship Id="rId20" Type="http://schemas.openxmlformats.org/officeDocument/2006/relationships/image" Target="../media/image89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82.e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91.e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84.e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81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6.emf"/><Relationship Id="rId22" Type="http://schemas.openxmlformats.org/officeDocument/2006/relationships/image" Target="../media/image90.e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e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100.emf"/><Relationship Id="rId26" Type="http://schemas.openxmlformats.org/officeDocument/2006/relationships/image" Target="../media/image104.emf"/><Relationship Id="rId3" Type="http://schemas.openxmlformats.org/officeDocument/2006/relationships/oleObject" Target="../embeddings/oleObject13.bin"/><Relationship Id="rId21" Type="http://schemas.openxmlformats.org/officeDocument/2006/relationships/oleObject" Target="../embeddings/oleObject22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97.emf"/><Relationship Id="rId17" Type="http://schemas.openxmlformats.org/officeDocument/2006/relationships/oleObject" Target="../embeddings/oleObject20.bin"/><Relationship Id="rId25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9.emf"/><Relationship Id="rId20" Type="http://schemas.openxmlformats.org/officeDocument/2006/relationships/image" Target="../media/image101.emf"/><Relationship Id="rId29" Type="http://schemas.openxmlformats.org/officeDocument/2006/relationships/oleObject" Target="../embeddings/oleObject26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94.emf"/><Relationship Id="rId11" Type="http://schemas.openxmlformats.org/officeDocument/2006/relationships/oleObject" Target="../embeddings/oleObject17.bin"/><Relationship Id="rId24" Type="http://schemas.openxmlformats.org/officeDocument/2006/relationships/image" Target="../media/image103.emf"/><Relationship Id="rId32" Type="http://schemas.openxmlformats.org/officeDocument/2006/relationships/image" Target="../media/image107.emf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23" Type="http://schemas.openxmlformats.org/officeDocument/2006/relationships/oleObject" Target="../embeddings/oleObject23.bin"/><Relationship Id="rId28" Type="http://schemas.openxmlformats.org/officeDocument/2006/relationships/image" Target="../media/image105.emf"/><Relationship Id="rId10" Type="http://schemas.openxmlformats.org/officeDocument/2006/relationships/image" Target="../media/image96.emf"/><Relationship Id="rId19" Type="http://schemas.openxmlformats.org/officeDocument/2006/relationships/oleObject" Target="../embeddings/oleObject21.bin"/><Relationship Id="rId31" Type="http://schemas.openxmlformats.org/officeDocument/2006/relationships/oleObject" Target="../embeddings/oleObject27.bin"/><Relationship Id="rId4" Type="http://schemas.openxmlformats.org/officeDocument/2006/relationships/image" Target="../media/image93.e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98.emf"/><Relationship Id="rId22" Type="http://schemas.openxmlformats.org/officeDocument/2006/relationships/image" Target="../media/image102.emf"/><Relationship Id="rId27" Type="http://schemas.openxmlformats.org/officeDocument/2006/relationships/oleObject" Target="../embeddings/oleObject25.bin"/><Relationship Id="rId30" Type="http://schemas.openxmlformats.org/officeDocument/2006/relationships/image" Target="../media/image106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w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3.e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122.em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7.jpeg"/><Relationship Id="rId4" Type="http://schemas.openxmlformats.org/officeDocument/2006/relationships/hyperlink" Target="http://www.linternaute.com/nature-animaux/magazine/photo/jura/une-appetissante-morille.shtml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0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0.png"/><Relationship Id="rId4" Type="http://schemas.openxmlformats.org/officeDocument/2006/relationships/image" Target="../media/image1440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jpe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e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e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e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e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e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e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e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e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e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e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emf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jpe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/>
          <p:cNvGrpSpPr>
            <a:grpSpLocks/>
          </p:cNvGrpSpPr>
          <p:nvPr/>
        </p:nvGrpSpPr>
        <p:grpSpPr bwMode="auto">
          <a:xfrm>
            <a:off x="6156176" y="260648"/>
            <a:ext cx="2750820" cy="1163955"/>
            <a:chOff x="8004" y="920"/>
            <a:chExt cx="2540" cy="900"/>
          </a:xfrm>
        </p:grpSpPr>
        <p:pic>
          <p:nvPicPr>
            <p:cNvPr id="5" name="Picture 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4" y="920"/>
              <a:ext cx="673" cy="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22" y="1084"/>
              <a:ext cx="1822" cy="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Rectangle 6"/>
          <p:cNvSpPr/>
          <p:nvPr/>
        </p:nvSpPr>
        <p:spPr>
          <a:xfrm>
            <a:off x="2237929" y="3140968"/>
            <a:ext cx="46471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/>
              <a:t>Transformations de phases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504" y="566124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i="1" u="sng" dirty="0">
                <a:hlinkClick r:id="rId4"/>
              </a:rPr>
              <a:t>David.horwat@univ-lorraine.fr</a:t>
            </a:r>
            <a:endParaRPr lang="fr-FR" dirty="0"/>
          </a:p>
          <a:p>
            <a:r>
              <a:rPr lang="fr-FR" i="1" dirty="0"/>
              <a:t>EEIGM, 6 rue Bastien </a:t>
            </a:r>
            <a:r>
              <a:rPr lang="fr-FR" i="1" dirty="0" smtClean="0"/>
              <a:t>Lepage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4285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79512" y="1412776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accent1">
                    <a:lumMod val="75000"/>
                  </a:schemeClr>
                </a:solidFill>
              </a:rPr>
              <a:t>1A</a:t>
            </a:r>
            <a:endParaRPr lang="fr-FR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79512" y="2535287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FFC000"/>
                </a:solidFill>
              </a:rPr>
              <a:t>2</a:t>
            </a:r>
            <a:r>
              <a:rPr lang="fr-FR" sz="2400" dirty="0" smtClean="0">
                <a:solidFill>
                  <a:srgbClr val="FFC000"/>
                </a:solidFill>
              </a:rPr>
              <a:t>A</a:t>
            </a:r>
            <a:endParaRPr lang="fr-FR" sz="2400" dirty="0">
              <a:solidFill>
                <a:srgbClr val="FFC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79512" y="371703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accent3">
                    <a:lumMod val="75000"/>
                  </a:schemeClr>
                </a:solidFill>
              </a:rPr>
              <a:t>3A</a:t>
            </a:r>
            <a:endParaRPr lang="fr-FR" sz="24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179512" y="4983559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accent4">
                    <a:lumMod val="75000"/>
                  </a:schemeClr>
                </a:solidFill>
              </a:rPr>
              <a:t>4</a:t>
            </a:r>
            <a:r>
              <a:rPr lang="fr-FR" sz="2400" dirty="0" smtClean="0">
                <a:solidFill>
                  <a:schemeClr val="accent4">
                    <a:lumMod val="75000"/>
                  </a:schemeClr>
                </a:solidFill>
              </a:rPr>
              <a:t>A</a:t>
            </a:r>
            <a:endParaRPr lang="fr-FR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2483768" y="1368478"/>
            <a:ext cx="4032448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Science et génie des matériaux</a:t>
            </a:r>
            <a:endParaRPr lang="fr-FR" sz="2400" dirty="0"/>
          </a:p>
        </p:txBody>
      </p:sp>
      <p:sp>
        <p:nvSpPr>
          <p:cNvPr id="9" name="ZoneTexte 8"/>
          <p:cNvSpPr txBox="1"/>
          <p:nvPr/>
        </p:nvSpPr>
        <p:spPr>
          <a:xfrm>
            <a:off x="1633527" y="2535287"/>
            <a:ext cx="2736304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Diffusion atomique</a:t>
            </a:r>
            <a:endParaRPr lang="fr-FR" sz="2400" dirty="0"/>
          </a:p>
        </p:txBody>
      </p:sp>
      <p:sp>
        <p:nvSpPr>
          <p:cNvPr id="10" name="ZoneTexte 9"/>
          <p:cNvSpPr txBox="1"/>
          <p:nvPr/>
        </p:nvSpPr>
        <p:spPr>
          <a:xfrm>
            <a:off x="971600" y="3606115"/>
            <a:ext cx="2448272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200" dirty="0" smtClean="0"/>
              <a:t>Structure et défauts de structure</a:t>
            </a:r>
            <a:endParaRPr lang="fr-FR" sz="2200" dirty="0"/>
          </a:p>
        </p:txBody>
      </p:sp>
      <p:sp>
        <p:nvSpPr>
          <p:cNvPr id="11" name="Rectangle 10"/>
          <p:cNvSpPr/>
          <p:nvPr/>
        </p:nvSpPr>
        <p:spPr>
          <a:xfrm>
            <a:off x="4599027" y="2526033"/>
            <a:ext cx="2133213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400" dirty="0"/>
              <a:t>Cristallographie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3522323" y="3600726"/>
            <a:ext cx="2146367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200" dirty="0" smtClean="0"/>
              <a:t>Transformations de phases</a:t>
            </a:r>
            <a:endParaRPr lang="fr-FR" sz="2200" dirty="0"/>
          </a:p>
        </p:txBody>
      </p:sp>
      <p:sp>
        <p:nvSpPr>
          <p:cNvPr id="13" name="ZoneTexte 12"/>
          <p:cNvSpPr txBox="1"/>
          <p:nvPr/>
        </p:nvSpPr>
        <p:spPr>
          <a:xfrm>
            <a:off x="985455" y="4983559"/>
            <a:ext cx="401823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/>
              <a:t>Projet matériaux métalliques</a:t>
            </a:r>
            <a:endParaRPr lang="fr-FR" sz="2400" dirty="0"/>
          </a:p>
        </p:txBody>
      </p:sp>
      <p:sp>
        <p:nvSpPr>
          <p:cNvPr id="14" name="ZoneTexte 13"/>
          <p:cNvSpPr txBox="1"/>
          <p:nvPr/>
        </p:nvSpPr>
        <p:spPr>
          <a:xfrm>
            <a:off x="5773533" y="3592260"/>
            <a:ext cx="2027705" cy="79294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tIns="216000" bIns="216000" rtlCol="0">
            <a:spAutoFit/>
          </a:bodyPr>
          <a:lstStyle/>
          <a:p>
            <a:pPr algn="ctr"/>
            <a:r>
              <a:rPr lang="fr-FR" sz="2200" dirty="0" smtClean="0"/>
              <a:t>Caractérisation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5148064" y="4985466"/>
            <a:ext cx="381642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/>
              <a:t>Cours d’option</a:t>
            </a:r>
            <a:endParaRPr lang="fr-FR" sz="2400" dirty="0"/>
          </a:p>
        </p:txBody>
      </p:sp>
      <p:sp>
        <p:nvSpPr>
          <p:cNvPr id="16" name="ZoneTexte 15"/>
          <p:cNvSpPr txBox="1"/>
          <p:nvPr/>
        </p:nvSpPr>
        <p:spPr>
          <a:xfrm>
            <a:off x="1979712" y="332656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u="sng" dirty="0" smtClean="0"/>
              <a:t>Discipline matériaux métalliques - EEIGM</a:t>
            </a:r>
            <a:endParaRPr lang="fr-FR" sz="2400" u="sng" dirty="0"/>
          </a:p>
        </p:txBody>
      </p:sp>
      <p:sp>
        <p:nvSpPr>
          <p:cNvPr id="17" name="ZoneTexte 16"/>
          <p:cNvSpPr txBox="1"/>
          <p:nvPr/>
        </p:nvSpPr>
        <p:spPr>
          <a:xfrm>
            <a:off x="7944896" y="3600726"/>
            <a:ext cx="1013852" cy="79294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tIns="216000" bIns="216000" rtlCol="0">
            <a:spAutoFit/>
          </a:bodyPr>
          <a:lstStyle/>
          <a:p>
            <a:pPr algn="ctr"/>
            <a:r>
              <a:rPr lang="fr-FR" sz="2200" dirty="0" smtClean="0"/>
              <a:t>PUC</a:t>
            </a:r>
          </a:p>
        </p:txBody>
      </p:sp>
      <p:sp>
        <p:nvSpPr>
          <p:cNvPr id="18" name="Flèche vers le bas 17"/>
          <p:cNvSpPr/>
          <p:nvPr/>
        </p:nvSpPr>
        <p:spPr>
          <a:xfrm>
            <a:off x="4355976" y="1957571"/>
            <a:ext cx="288032" cy="3304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 vers le bas 18"/>
          <p:cNvSpPr/>
          <p:nvPr/>
        </p:nvSpPr>
        <p:spPr>
          <a:xfrm>
            <a:off x="4339386" y="3140968"/>
            <a:ext cx="288032" cy="330423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èche vers le bas 19"/>
          <p:cNvSpPr/>
          <p:nvPr/>
        </p:nvSpPr>
        <p:spPr>
          <a:xfrm>
            <a:off x="4355976" y="4509120"/>
            <a:ext cx="288032" cy="330423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lèche vers le bas 20"/>
          <p:cNvSpPr/>
          <p:nvPr/>
        </p:nvSpPr>
        <p:spPr>
          <a:xfrm>
            <a:off x="4355976" y="5546849"/>
            <a:ext cx="288032" cy="33042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2339752" y="6011996"/>
            <a:ext cx="424847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/>
              <a:t>Universités partenaires + stages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178215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1340768"/>
            <a:ext cx="88924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1- Etre en mesure de </a:t>
            </a:r>
            <a:r>
              <a:rPr lang="fr-FR" sz="2000" b="1" dirty="0" smtClean="0"/>
              <a:t>démontrer </a:t>
            </a:r>
            <a:r>
              <a:rPr lang="fr-FR" sz="2000" b="1" dirty="0"/>
              <a:t>et utiliser </a:t>
            </a:r>
            <a:r>
              <a:rPr lang="fr-FR" sz="2000" dirty="0"/>
              <a:t>les principales </a:t>
            </a:r>
            <a:r>
              <a:rPr lang="fr-FR" sz="2000" b="1" dirty="0"/>
              <a:t>relations mathématiques </a:t>
            </a:r>
            <a:r>
              <a:rPr lang="fr-FR" sz="2000" dirty="0"/>
              <a:t>à la base de la </a:t>
            </a:r>
            <a:r>
              <a:rPr lang="fr-FR" sz="2000" b="1" dirty="0"/>
              <a:t>thermodynamique et de la cinétique des transformations de phases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23528" y="620688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 smtClean="0">
                <a:solidFill>
                  <a:schemeClr val="accent1"/>
                </a:solidFill>
              </a:rPr>
              <a:t>Objectifs pédagogiques du cours</a:t>
            </a:r>
            <a:endParaRPr lang="fr-FR" sz="2400" u="sng" dirty="0">
              <a:solidFill>
                <a:schemeClr val="accent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1520" y="2490163"/>
            <a:ext cx="878497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2</a:t>
            </a:r>
            <a:r>
              <a:rPr lang="fr-FR" sz="2000" dirty="0" smtClean="0"/>
              <a:t>- Etre </a:t>
            </a:r>
            <a:r>
              <a:rPr lang="fr-FR" sz="2000" dirty="0"/>
              <a:t>en mesure de </a:t>
            </a:r>
            <a:r>
              <a:rPr lang="fr-FR" sz="2000" b="1" dirty="0"/>
              <a:t>comprendre l'origine </a:t>
            </a:r>
            <a:r>
              <a:rPr lang="fr-FR" sz="2000" b="1" dirty="0" smtClean="0"/>
              <a:t>et utiliser </a:t>
            </a:r>
            <a:r>
              <a:rPr lang="fr-FR" sz="2000" dirty="0" smtClean="0"/>
              <a:t>des </a:t>
            </a:r>
            <a:r>
              <a:rPr lang="fr-FR" sz="2000" dirty="0"/>
              <a:t>diagrammes de phases binaires et ternaires, les diagrammes TTT et TRC </a:t>
            </a:r>
            <a:r>
              <a:rPr lang="fr-FR" sz="2000" dirty="0" smtClean="0"/>
              <a:t>pour</a:t>
            </a:r>
            <a:r>
              <a:rPr lang="fr-FR" sz="2000" b="1" dirty="0" smtClean="0"/>
              <a:t> prédire</a:t>
            </a:r>
            <a:r>
              <a:rPr lang="fr-FR" sz="2000" dirty="0" smtClean="0"/>
              <a:t> </a:t>
            </a:r>
            <a:r>
              <a:rPr lang="fr-FR" sz="2000" b="1" dirty="0"/>
              <a:t>et produire</a:t>
            </a:r>
            <a:r>
              <a:rPr lang="fr-FR" sz="2000" dirty="0"/>
              <a:t> (par traitements thermiques) </a:t>
            </a:r>
            <a:r>
              <a:rPr lang="fr-FR" sz="2000" b="1" dirty="0"/>
              <a:t>les phases d'équilibre et hors équilibre </a:t>
            </a:r>
            <a:r>
              <a:rPr lang="fr-FR" sz="2000" dirty="0"/>
              <a:t>des matériaux </a:t>
            </a:r>
            <a:r>
              <a:rPr lang="fr-FR" sz="2000" dirty="0" smtClean="0"/>
              <a:t>métalliques</a:t>
            </a:r>
            <a:endParaRPr lang="fr-FR" sz="2000" b="1" dirty="0"/>
          </a:p>
        </p:txBody>
      </p:sp>
      <p:sp>
        <p:nvSpPr>
          <p:cNvPr id="7" name="Rectangle 6"/>
          <p:cNvSpPr/>
          <p:nvPr/>
        </p:nvSpPr>
        <p:spPr>
          <a:xfrm>
            <a:off x="251520" y="4161274"/>
            <a:ext cx="87849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3- Etre </a:t>
            </a:r>
            <a:r>
              <a:rPr lang="fr-FR" sz="2000" dirty="0"/>
              <a:t>en mesure de </a:t>
            </a:r>
            <a:r>
              <a:rPr lang="fr-FR" sz="2000" b="1" dirty="0"/>
              <a:t>comprendre et analyser les microstructures de solidification</a:t>
            </a:r>
            <a:r>
              <a:rPr lang="fr-FR" sz="2000" dirty="0"/>
              <a:t> à partir des </a:t>
            </a:r>
            <a:r>
              <a:rPr lang="fr-FR" sz="2000" b="1" dirty="0"/>
              <a:t>principes de la solidification</a:t>
            </a:r>
          </a:p>
        </p:txBody>
      </p:sp>
    </p:spTree>
    <p:extLst>
      <p:ext uri="{BB962C8B-B14F-4D97-AF65-F5344CB8AC3E}">
        <p14:creationId xmlns:p14="http://schemas.microsoft.com/office/powerpoint/2010/main" val="3769346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0277" y="1800526"/>
            <a:ext cx="8350195" cy="4652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 smtClean="0"/>
              <a:t>Partie I - Equilibre et diagrammes de phases</a:t>
            </a:r>
          </a:p>
          <a:p>
            <a:pPr marL="0" indent="0">
              <a:buNone/>
            </a:pPr>
            <a:r>
              <a:rPr lang="fr-FR" sz="2000" u="sng" dirty="0" smtClean="0"/>
              <a:t>A- Equilibre thermodynamique et transformations de phases dans les corps purs</a:t>
            </a:r>
            <a:r>
              <a:rPr lang="fr-FR" sz="2000" dirty="0" smtClean="0"/>
              <a:t> (~ 1 séance)</a:t>
            </a:r>
          </a:p>
          <a:p>
            <a:pPr marL="0" indent="0">
              <a:buNone/>
            </a:pPr>
            <a:endParaRPr lang="fr-FR" sz="2000" u="sng" dirty="0" smtClean="0"/>
          </a:p>
          <a:p>
            <a:pPr marL="0" indent="0">
              <a:buNone/>
            </a:pPr>
            <a:r>
              <a:rPr lang="fr-FR" sz="2000" u="sng" dirty="0" smtClean="0"/>
              <a:t>B- Transformations d’équilibre dans les alliages – diagrammes de phases</a:t>
            </a:r>
          </a:p>
          <a:p>
            <a:pPr marL="0" indent="0">
              <a:buNone/>
            </a:pPr>
            <a:r>
              <a:rPr lang="fr-FR" sz="2000" i="1" dirty="0" smtClean="0"/>
              <a:t>Solutions solides (~ 1 séance)</a:t>
            </a:r>
          </a:p>
          <a:p>
            <a:pPr marL="0" indent="0">
              <a:buNone/>
            </a:pPr>
            <a:r>
              <a:rPr lang="fr-FR" sz="2000" i="1" dirty="0" smtClean="0"/>
              <a:t>Diagrammes binaires (~ 2 séances en pédagogie inversée)</a:t>
            </a:r>
          </a:p>
          <a:p>
            <a:pPr marL="0" indent="0">
              <a:buNone/>
            </a:pPr>
            <a:r>
              <a:rPr lang="fr-FR" sz="2000" i="1" dirty="0" smtClean="0"/>
              <a:t>Diagrammes ternaires (~ 2 séances)</a:t>
            </a:r>
          </a:p>
          <a:p>
            <a:pPr marL="0" indent="0">
              <a:buNone/>
            </a:pPr>
            <a:r>
              <a:rPr lang="fr-FR" sz="2000" i="1" dirty="0">
                <a:solidFill>
                  <a:schemeClr val="accent6">
                    <a:lumMod val="75000"/>
                  </a:schemeClr>
                </a:solidFill>
              </a:rPr>
              <a:t>TD1 – Thermodynamique des solutions solides (1 séance)</a:t>
            </a:r>
          </a:p>
          <a:p>
            <a:pPr marL="0" indent="0">
              <a:buNone/>
            </a:pPr>
            <a:r>
              <a:rPr lang="fr-FR" sz="2000" i="1" dirty="0" smtClean="0">
                <a:solidFill>
                  <a:schemeClr val="accent6">
                    <a:lumMod val="75000"/>
                  </a:schemeClr>
                </a:solidFill>
              </a:rPr>
              <a:t>TD2 </a:t>
            </a:r>
            <a:r>
              <a:rPr lang="fr-FR" sz="2000" i="1" dirty="0">
                <a:solidFill>
                  <a:schemeClr val="accent6">
                    <a:lumMod val="75000"/>
                  </a:schemeClr>
                </a:solidFill>
              </a:rPr>
              <a:t>– Diagrammes </a:t>
            </a:r>
            <a:r>
              <a:rPr lang="fr-FR" sz="2000" i="1" dirty="0" smtClean="0">
                <a:solidFill>
                  <a:schemeClr val="accent6">
                    <a:lumMod val="75000"/>
                  </a:schemeClr>
                </a:solidFill>
              </a:rPr>
              <a:t>binaires </a:t>
            </a:r>
            <a:r>
              <a:rPr lang="fr-FR" sz="2000" i="1" dirty="0">
                <a:solidFill>
                  <a:schemeClr val="accent6">
                    <a:lumMod val="75000"/>
                  </a:schemeClr>
                </a:solidFill>
              </a:rPr>
              <a:t>(3.5 séances dont </a:t>
            </a:r>
            <a:r>
              <a:rPr lang="fr-FR" sz="2000" i="1" dirty="0" smtClean="0">
                <a:solidFill>
                  <a:schemeClr val="accent6">
                    <a:lumMod val="75000"/>
                  </a:schemeClr>
                </a:solidFill>
              </a:rPr>
              <a:t>1,5  </a:t>
            </a:r>
            <a:r>
              <a:rPr lang="fr-FR" sz="2000" i="1" dirty="0">
                <a:solidFill>
                  <a:schemeClr val="accent6">
                    <a:lumMod val="75000"/>
                  </a:schemeClr>
                </a:solidFill>
              </a:rPr>
              <a:t>en </a:t>
            </a:r>
            <a:r>
              <a:rPr lang="fr-FR" sz="2000" i="1" dirty="0" smtClean="0">
                <a:solidFill>
                  <a:schemeClr val="accent6">
                    <a:lumMod val="75000"/>
                  </a:schemeClr>
                </a:solidFill>
              </a:rPr>
              <a:t>apprentissage par problème)</a:t>
            </a:r>
          </a:p>
          <a:p>
            <a:pPr marL="0" indent="0">
              <a:buNone/>
            </a:pPr>
            <a:r>
              <a:rPr lang="fr-FR" sz="2000" i="1" dirty="0">
                <a:solidFill>
                  <a:schemeClr val="accent6">
                    <a:lumMod val="75000"/>
                  </a:schemeClr>
                </a:solidFill>
              </a:rPr>
              <a:t>TD3 – Diagrammes </a:t>
            </a:r>
            <a:r>
              <a:rPr lang="fr-FR" sz="2000" i="1" dirty="0" smtClean="0">
                <a:solidFill>
                  <a:schemeClr val="accent6">
                    <a:lumMod val="75000"/>
                  </a:schemeClr>
                </a:solidFill>
              </a:rPr>
              <a:t>ternaires </a:t>
            </a:r>
            <a:r>
              <a:rPr lang="fr-FR" sz="2000" i="1" dirty="0">
                <a:solidFill>
                  <a:schemeClr val="accent6">
                    <a:lumMod val="75000"/>
                  </a:schemeClr>
                </a:solidFill>
              </a:rPr>
              <a:t>(~ 2 séances</a:t>
            </a:r>
            <a:r>
              <a:rPr lang="fr-FR" sz="2000" i="1" dirty="0" smtClean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lang="fr-FR" sz="2000" i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fr-FR" sz="2000" i="1" dirty="0"/>
          </a:p>
        </p:txBody>
      </p:sp>
      <p:sp>
        <p:nvSpPr>
          <p:cNvPr id="4" name="ZoneTexte 3"/>
          <p:cNvSpPr txBox="1"/>
          <p:nvPr/>
        </p:nvSpPr>
        <p:spPr>
          <a:xfrm>
            <a:off x="827584" y="6237312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Test </a:t>
            </a:r>
            <a:r>
              <a:rPr lang="fr-FR" b="1" dirty="0" smtClean="0">
                <a:solidFill>
                  <a:srgbClr val="FF0000"/>
                </a:solidFill>
              </a:rPr>
              <a:t>intermédiaire : </a:t>
            </a:r>
            <a:r>
              <a:rPr lang="fr-FR" b="1" dirty="0" smtClean="0">
                <a:solidFill>
                  <a:srgbClr val="FF0000"/>
                </a:solidFill>
              </a:rPr>
              <a:t>jeudi</a:t>
            </a:r>
            <a:r>
              <a:rPr lang="fr-FR" b="1" dirty="0" smtClean="0">
                <a:solidFill>
                  <a:srgbClr val="FF0000"/>
                </a:solidFill>
              </a:rPr>
              <a:t> 21 mars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539552" y="303039"/>
            <a:ext cx="1080120" cy="46166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COURS</a:t>
            </a:r>
            <a:endParaRPr lang="fr-FR" sz="2400" dirty="0"/>
          </a:p>
        </p:txBody>
      </p:sp>
      <p:sp>
        <p:nvSpPr>
          <p:cNvPr id="5" name="ZoneTexte 4"/>
          <p:cNvSpPr txBox="1"/>
          <p:nvPr/>
        </p:nvSpPr>
        <p:spPr>
          <a:xfrm>
            <a:off x="1979712" y="303039"/>
            <a:ext cx="2088232" cy="46166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accent6">
                    <a:lumMod val="75000"/>
                  </a:schemeClr>
                </a:solidFill>
              </a:rPr>
              <a:t>Travaux dirigés</a:t>
            </a:r>
            <a:endParaRPr lang="fr-FR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70277" y="1282615"/>
            <a:ext cx="2722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Introduction</a:t>
            </a:r>
            <a:r>
              <a:rPr lang="fr-FR" sz="2000" dirty="0" smtClean="0"/>
              <a:t> (~10 min)</a:t>
            </a:r>
            <a:endParaRPr lang="fr-FR" sz="2000" dirty="0"/>
          </a:p>
        </p:txBody>
      </p:sp>
      <p:sp>
        <p:nvSpPr>
          <p:cNvPr id="8" name="ZoneTexte 7"/>
          <p:cNvSpPr txBox="1"/>
          <p:nvPr/>
        </p:nvSpPr>
        <p:spPr>
          <a:xfrm>
            <a:off x="4572000" y="79464"/>
            <a:ext cx="46085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 smtClean="0"/>
              <a:t>CM </a:t>
            </a:r>
            <a:r>
              <a:rPr lang="fr-FR" dirty="0" smtClean="0"/>
              <a:t>: David </a:t>
            </a:r>
            <a:r>
              <a:rPr lang="fr-FR" dirty="0" err="1" smtClean="0"/>
              <a:t>Horwat</a:t>
            </a:r>
            <a:endParaRPr lang="fr-FR" dirty="0" smtClean="0"/>
          </a:p>
          <a:p>
            <a:r>
              <a:rPr lang="fr-FR" u="sng" dirty="0" smtClean="0"/>
              <a:t>Chargés </a:t>
            </a:r>
            <a:r>
              <a:rPr lang="fr-FR" u="sng" dirty="0" smtClean="0"/>
              <a:t>de TD:  </a:t>
            </a:r>
            <a:endParaRPr lang="fr-FR" dirty="0" smtClean="0"/>
          </a:p>
          <a:p>
            <a:r>
              <a:rPr lang="fr-FR" dirty="0" smtClean="0"/>
              <a:t>Gr 1, 2, 3: A. </a:t>
            </a:r>
            <a:r>
              <a:rPr lang="fr-FR" dirty="0" err="1" smtClean="0"/>
              <a:t>Redjaimia</a:t>
            </a:r>
            <a:r>
              <a:rPr lang="fr-FR" dirty="0" smtClean="0"/>
              <a:t>, </a:t>
            </a:r>
            <a:r>
              <a:rPr lang="fr-FR" dirty="0"/>
              <a:t>D. </a:t>
            </a:r>
            <a:r>
              <a:rPr lang="fr-FR" dirty="0" err="1" smtClean="0"/>
              <a:t>Kharkhan</a:t>
            </a:r>
            <a:r>
              <a:rPr lang="fr-FR" dirty="0" smtClean="0"/>
              <a:t>, </a:t>
            </a:r>
            <a:r>
              <a:rPr lang="fr-FR" dirty="0" smtClean="0"/>
              <a:t>P. </a:t>
            </a:r>
            <a:r>
              <a:rPr lang="fr-FR" dirty="0" err="1" smtClean="0"/>
              <a:t>Berthod</a:t>
            </a:r>
            <a:endParaRPr lang="fr-FR" dirty="0" smtClean="0"/>
          </a:p>
          <a:p>
            <a:r>
              <a:rPr lang="fr-FR" dirty="0" smtClean="0"/>
              <a:t>G 4, 5, 6 (FPA): A. </a:t>
            </a:r>
            <a:r>
              <a:rPr lang="fr-FR" dirty="0" err="1" smtClean="0"/>
              <a:t>Redjaimia</a:t>
            </a:r>
            <a:r>
              <a:rPr lang="fr-FR" dirty="0" smtClean="0"/>
              <a:t>, </a:t>
            </a:r>
            <a:r>
              <a:rPr lang="fr-FR" dirty="0" smtClean="0"/>
              <a:t>C. Fadel, </a:t>
            </a:r>
            <a:r>
              <a:rPr lang="fr-FR" dirty="0"/>
              <a:t>D</a:t>
            </a:r>
            <a:r>
              <a:rPr lang="fr-FR" dirty="0" smtClean="0"/>
              <a:t>. </a:t>
            </a:r>
            <a:r>
              <a:rPr lang="fr-FR" dirty="0" err="1" smtClean="0"/>
              <a:t>Horwat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789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6422" y="1135285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2000" b="1" dirty="0" smtClean="0"/>
              <a:t>Partie II – Cinétique et microstructures</a:t>
            </a:r>
          </a:p>
          <a:p>
            <a:pPr marL="0" indent="0" algn="ctr">
              <a:buNone/>
            </a:pPr>
            <a:endParaRPr lang="fr-FR" sz="2000" dirty="0" smtClean="0"/>
          </a:p>
          <a:p>
            <a:pPr marL="0" indent="0">
              <a:buNone/>
            </a:pPr>
            <a:r>
              <a:rPr lang="fr-FR" sz="2000" u="sng" dirty="0"/>
              <a:t>C</a:t>
            </a:r>
            <a:r>
              <a:rPr lang="fr-FR" sz="2000" u="sng" dirty="0" smtClean="0"/>
              <a:t>- Solidification dans les corps purs et alliages métalliques</a:t>
            </a:r>
          </a:p>
          <a:p>
            <a:pPr marL="0" indent="0">
              <a:buNone/>
            </a:pPr>
            <a:r>
              <a:rPr lang="fr-FR" sz="2000" i="1" dirty="0" smtClean="0"/>
              <a:t>Germination (1 séance en pédagogie inversée)</a:t>
            </a:r>
          </a:p>
          <a:p>
            <a:pPr marL="0" indent="0">
              <a:buNone/>
            </a:pPr>
            <a:r>
              <a:rPr lang="fr-FR" sz="2000" i="1" dirty="0" smtClean="0"/>
              <a:t>Croissance (1 séance)</a:t>
            </a:r>
          </a:p>
          <a:p>
            <a:pPr marL="0" indent="0">
              <a:buNone/>
            </a:pPr>
            <a:r>
              <a:rPr lang="fr-FR" sz="2000" i="1" dirty="0" smtClean="0"/>
              <a:t>Conférence de J. </a:t>
            </a:r>
            <a:r>
              <a:rPr lang="fr-FR" sz="2000" i="1" dirty="0" err="1" smtClean="0"/>
              <a:t>Zollinger</a:t>
            </a:r>
            <a:r>
              <a:rPr lang="fr-FR" sz="2000" i="1" dirty="0" smtClean="0"/>
              <a:t> (1 séance)</a:t>
            </a:r>
          </a:p>
          <a:p>
            <a:pPr marL="0" indent="0">
              <a:buNone/>
            </a:pPr>
            <a:r>
              <a:rPr lang="fr-FR" sz="2000" i="1" dirty="0" smtClean="0">
                <a:solidFill>
                  <a:schemeClr val="accent6">
                    <a:lumMod val="75000"/>
                  </a:schemeClr>
                </a:solidFill>
              </a:rPr>
              <a:t>TD4 </a:t>
            </a:r>
            <a:r>
              <a:rPr lang="fr-FR" sz="2000" i="1" dirty="0">
                <a:solidFill>
                  <a:schemeClr val="accent6">
                    <a:lumMod val="75000"/>
                  </a:schemeClr>
                </a:solidFill>
              </a:rPr>
              <a:t>– </a:t>
            </a:r>
            <a:r>
              <a:rPr lang="fr-FR" sz="2000" i="1" dirty="0" smtClean="0">
                <a:solidFill>
                  <a:schemeClr val="accent6">
                    <a:lumMod val="75000"/>
                  </a:schemeClr>
                </a:solidFill>
              </a:rPr>
              <a:t>Solidification (~ 4 séances dont 1,5 en apprentissage par problème)</a:t>
            </a:r>
            <a:endParaRPr lang="fr-FR" sz="2000" i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u="sng" dirty="0"/>
              <a:t>D</a:t>
            </a:r>
            <a:r>
              <a:rPr lang="fr-FR" sz="2000" u="sng" dirty="0" smtClean="0"/>
              <a:t>- Transformations de phases à l’état solide</a:t>
            </a:r>
          </a:p>
          <a:p>
            <a:pPr marL="0" indent="0">
              <a:buNone/>
            </a:pPr>
            <a:r>
              <a:rPr lang="fr-FR" sz="2000" i="1" dirty="0" smtClean="0"/>
              <a:t>Transformations </a:t>
            </a:r>
            <a:r>
              <a:rPr lang="fr-FR" sz="2000" i="1" dirty="0"/>
              <a:t>par diffusion dans l’état solide </a:t>
            </a:r>
            <a:r>
              <a:rPr lang="fr-FR" sz="2000" i="1" dirty="0" smtClean="0"/>
              <a:t>(1.5 séances)</a:t>
            </a:r>
          </a:p>
          <a:p>
            <a:pPr marL="0" indent="0">
              <a:buNone/>
            </a:pPr>
            <a:r>
              <a:rPr lang="fr-FR" sz="2000" i="1" dirty="0" smtClean="0"/>
              <a:t>Transformation </a:t>
            </a:r>
            <a:r>
              <a:rPr lang="fr-FR" sz="2000" i="1" dirty="0"/>
              <a:t>martensitique et revenu de la martensite </a:t>
            </a:r>
            <a:r>
              <a:rPr lang="fr-FR" sz="2000" i="1" dirty="0" smtClean="0"/>
              <a:t>(0.5 séance)</a:t>
            </a:r>
          </a:p>
          <a:p>
            <a:pPr marL="0" indent="0">
              <a:buNone/>
            </a:pPr>
            <a:r>
              <a:rPr lang="fr-FR" sz="2000" i="1" dirty="0" smtClean="0"/>
              <a:t>Diagrammes </a:t>
            </a:r>
            <a:r>
              <a:rPr lang="fr-FR" sz="2000" i="1" dirty="0"/>
              <a:t>TTT et TRC </a:t>
            </a:r>
            <a:r>
              <a:rPr lang="fr-FR" sz="2000" i="1" dirty="0" smtClean="0"/>
              <a:t>(0.5 </a:t>
            </a:r>
            <a:r>
              <a:rPr lang="fr-FR" sz="2000" i="1" dirty="0" smtClean="0"/>
              <a:t>séance</a:t>
            </a:r>
            <a:r>
              <a:rPr lang="fr-FR" sz="2000" i="1" dirty="0" smtClean="0"/>
              <a:t>) – Influence des éléments d’alliages et traitements thermiques (0.5 séance)</a:t>
            </a:r>
            <a:endParaRPr lang="fr-FR" sz="2000" i="1" dirty="0" smtClean="0"/>
          </a:p>
          <a:p>
            <a:pPr marL="0" indent="0">
              <a:buNone/>
            </a:pPr>
            <a:r>
              <a:rPr lang="fr-FR" sz="2000" i="1" dirty="0" smtClean="0"/>
              <a:t>Traitements </a:t>
            </a:r>
            <a:r>
              <a:rPr lang="fr-FR" sz="2000" i="1" dirty="0"/>
              <a:t>thermiques </a:t>
            </a:r>
            <a:r>
              <a:rPr lang="fr-FR" sz="2000" i="1" dirty="0" smtClean="0"/>
              <a:t>– Véronique Hebert d’</a:t>
            </a:r>
            <a:r>
              <a:rPr lang="fr-FR" sz="2000" i="1" dirty="0" err="1" smtClean="0"/>
              <a:t>ArcelorMittal</a:t>
            </a:r>
            <a:r>
              <a:rPr lang="fr-FR" sz="2000" i="1" dirty="0" smtClean="0"/>
              <a:t> (1 séance)</a:t>
            </a:r>
            <a:endParaRPr lang="fr-FR" sz="2000" i="1" dirty="0" smtClean="0"/>
          </a:p>
          <a:p>
            <a:pPr marL="0" indent="0">
              <a:buNone/>
            </a:pPr>
            <a:r>
              <a:rPr lang="fr-FR" sz="2000" i="1" dirty="0" smtClean="0">
                <a:solidFill>
                  <a:schemeClr val="accent6">
                    <a:lumMod val="75000"/>
                  </a:schemeClr>
                </a:solidFill>
              </a:rPr>
              <a:t>TD5 </a:t>
            </a:r>
            <a:r>
              <a:rPr lang="fr-FR" sz="2000" i="1" dirty="0">
                <a:solidFill>
                  <a:schemeClr val="accent6">
                    <a:lumMod val="75000"/>
                  </a:schemeClr>
                </a:solidFill>
              </a:rPr>
              <a:t>– </a:t>
            </a:r>
            <a:r>
              <a:rPr lang="fr-FR" sz="2000" i="1" dirty="0" smtClean="0">
                <a:solidFill>
                  <a:schemeClr val="accent6">
                    <a:lumMod val="75000"/>
                  </a:schemeClr>
                </a:solidFill>
              </a:rPr>
              <a:t>transformations à l’état solide (3,5 séances)</a:t>
            </a:r>
            <a:endParaRPr lang="fr-FR" sz="2000" i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fr-FR" sz="2000" i="1" dirty="0"/>
          </a:p>
        </p:txBody>
      </p:sp>
      <p:sp>
        <p:nvSpPr>
          <p:cNvPr id="2" name="ZoneTexte 1"/>
          <p:cNvSpPr txBox="1"/>
          <p:nvPr/>
        </p:nvSpPr>
        <p:spPr>
          <a:xfrm>
            <a:off x="1835696" y="6156012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Contrôle final : vendredi </a:t>
            </a:r>
            <a:r>
              <a:rPr lang="fr-FR" b="1" dirty="0" smtClean="0">
                <a:solidFill>
                  <a:srgbClr val="FF0000"/>
                </a:solidFill>
              </a:rPr>
              <a:t>5 </a:t>
            </a:r>
            <a:r>
              <a:rPr lang="fr-FR" b="1" dirty="0" smtClean="0">
                <a:solidFill>
                  <a:srgbClr val="FF0000"/>
                </a:solidFill>
              </a:rPr>
              <a:t>avril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39552" y="303039"/>
            <a:ext cx="1080120" cy="46166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COURS</a:t>
            </a:r>
            <a:endParaRPr lang="fr-FR" sz="2400" dirty="0"/>
          </a:p>
        </p:txBody>
      </p:sp>
      <p:sp>
        <p:nvSpPr>
          <p:cNvPr id="6" name="ZoneTexte 5"/>
          <p:cNvSpPr txBox="1"/>
          <p:nvPr/>
        </p:nvSpPr>
        <p:spPr>
          <a:xfrm>
            <a:off x="1979712" y="303039"/>
            <a:ext cx="2088232" cy="46166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Travaux dirigés</a:t>
            </a:r>
            <a:endParaRPr lang="fr-FR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572000" y="79464"/>
            <a:ext cx="46085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 smtClean="0"/>
              <a:t>CM </a:t>
            </a:r>
            <a:r>
              <a:rPr lang="fr-FR" dirty="0" smtClean="0"/>
              <a:t>: Julien </a:t>
            </a:r>
            <a:r>
              <a:rPr lang="fr-FR" dirty="0" err="1" smtClean="0"/>
              <a:t>Zollinger</a:t>
            </a:r>
            <a:endParaRPr lang="fr-FR" dirty="0" smtClean="0"/>
          </a:p>
          <a:p>
            <a:r>
              <a:rPr lang="fr-FR" u="sng" dirty="0" smtClean="0"/>
              <a:t>Chargés </a:t>
            </a:r>
            <a:r>
              <a:rPr lang="fr-FR" u="sng" dirty="0" smtClean="0"/>
              <a:t>de TD:  </a:t>
            </a:r>
            <a:endParaRPr lang="fr-FR" dirty="0" smtClean="0"/>
          </a:p>
          <a:p>
            <a:r>
              <a:rPr lang="fr-FR" dirty="0" smtClean="0"/>
              <a:t>Gr 1, 2, 3: A. </a:t>
            </a:r>
            <a:r>
              <a:rPr lang="fr-FR" dirty="0" err="1" smtClean="0"/>
              <a:t>Redjaimia</a:t>
            </a:r>
            <a:r>
              <a:rPr lang="fr-FR" dirty="0" smtClean="0"/>
              <a:t>, </a:t>
            </a:r>
            <a:r>
              <a:rPr lang="fr-FR" dirty="0"/>
              <a:t>D. </a:t>
            </a:r>
            <a:r>
              <a:rPr lang="fr-FR" dirty="0" err="1" smtClean="0"/>
              <a:t>Kharkhan</a:t>
            </a:r>
            <a:r>
              <a:rPr lang="fr-FR" dirty="0" smtClean="0"/>
              <a:t>, </a:t>
            </a:r>
            <a:r>
              <a:rPr lang="fr-FR" dirty="0" smtClean="0"/>
              <a:t>P. </a:t>
            </a:r>
            <a:r>
              <a:rPr lang="fr-FR" dirty="0" err="1" smtClean="0"/>
              <a:t>Berthod</a:t>
            </a:r>
            <a:endParaRPr lang="fr-FR" dirty="0" smtClean="0"/>
          </a:p>
          <a:p>
            <a:r>
              <a:rPr lang="fr-FR" dirty="0" smtClean="0"/>
              <a:t>G 4, 5, 6 (FPA): A. </a:t>
            </a:r>
            <a:r>
              <a:rPr lang="fr-FR" dirty="0" err="1" smtClean="0"/>
              <a:t>Redjaimia</a:t>
            </a:r>
            <a:r>
              <a:rPr lang="fr-FR" dirty="0" smtClean="0"/>
              <a:t>, </a:t>
            </a:r>
            <a:r>
              <a:rPr lang="fr-FR" dirty="0" smtClean="0"/>
              <a:t>C. Fadel, </a:t>
            </a:r>
            <a:r>
              <a:rPr lang="fr-FR" dirty="0"/>
              <a:t>D</a:t>
            </a:r>
            <a:r>
              <a:rPr lang="fr-FR" dirty="0" smtClean="0"/>
              <a:t>. </a:t>
            </a:r>
            <a:r>
              <a:rPr lang="fr-FR" dirty="0" err="1" smtClean="0"/>
              <a:t>Horwat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409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96752"/>
            <a:ext cx="6408762" cy="4372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orme libre 4"/>
          <p:cNvSpPr/>
          <p:nvPr/>
        </p:nvSpPr>
        <p:spPr>
          <a:xfrm>
            <a:off x="5378655" y="4197927"/>
            <a:ext cx="1371600" cy="997528"/>
          </a:xfrm>
          <a:custGeom>
            <a:avLst/>
            <a:gdLst>
              <a:gd name="connsiteX0" fmla="*/ 1371600 w 1371600"/>
              <a:gd name="connsiteY0" fmla="*/ 0 h 997528"/>
              <a:gd name="connsiteX1" fmla="*/ 969818 w 1371600"/>
              <a:gd name="connsiteY1" fmla="*/ 581891 h 997528"/>
              <a:gd name="connsiteX2" fmla="*/ 0 w 1371600"/>
              <a:gd name="connsiteY2" fmla="*/ 997528 h 997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997528">
                <a:moveTo>
                  <a:pt x="1371600" y="0"/>
                </a:moveTo>
                <a:cubicBezTo>
                  <a:pt x="1285009" y="207818"/>
                  <a:pt x="1198418" y="415636"/>
                  <a:pt x="969818" y="581891"/>
                </a:cubicBezTo>
                <a:cubicBezTo>
                  <a:pt x="741218" y="748146"/>
                  <a:pt x="370609" y="872837"/>
                  <a:pt x="0" y="997528"/>
                </a:cubicBezTo>
              </a:path>
            </a:pathLst>
          </a:custGeom>
          <a:noFill/>
          <a:ln w="57150">
            <a:solidFill>
              <a:srgbClr val="FF0000"/>
            </a:solidFill>
            <a:tailEnd type="triangl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6588224" y="4696691"/>
            <a:ext cx="25557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rgbClr val="FF0000"/>
                </a:solidFill>
              </a:rPr>
              <a:t>Transformations de phases</a:t>
            </a:r>
            <a:endParaRPr lang="fr-FR" sz="2800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251520" y="116632"/>
            <a:ext cx="2088232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Introduction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17589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835696" y="919753"/>
            <a:ext cx="5256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u="sng" dirty="0" smtClean="0"/>
              <a:t>Transformations</a:t>
            </a:r>
            <a:r>
              <a:rPr lang="fr-FR" sz="3200" dirty="0" smtClean="0"/>
              <a:t> de </a:t>
            </a:r>
            <a:r>
              <a:rPr lang="fr-FR" sz="3200" u="sng" dirty="0" smtClean="0"/>
              <a:t>phases</a:t>
            </a:r>
            <a:endParaRPr lang="fr-FR" sz="3200" u="sng" dirty="0"/>
          </a:p>
        </p:txBody>
      </p:sp>
      <p:sp>
        <p:nvSpPr>
          <p:cNvPr id="5" name="ZoneTexte 4"/>
          <p:cNvSpPr txBox="1"/>
          <p:nvPr/>
        </p:nvSpPr>
        <p:spPr>
          <a:xfrm>
            <a:off x="611560" y="1855857"/>
            <a:ext cx="820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 smtClean="0"/>
              <a:t>Phase</a:t>
            </a:r>
            <a:r>
              <a:rPr lang="fr-FR" sz="2400" dirty="0" smtClean="0"/>
              <a:t> = volume de matière de composition et structure données</a:t>
            </a:r>
            <a:endParaRPr lang="fr-FR" sz="2400" dirty="0"/>
          </a:p>
        </p:txBody>
      </p:sp>
      <p:sp>
        <p:nvSpPr>
          <p:cNvPr id="9" name="ZoneTexte 8"/>
          <p:cNvSpPr txBox="1"/>
          <p:nvPr/>
        </p:nvSpPr>
        <p:spPr>
          <a:xfrm>
            <a:off x="3284418" y="3067601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Phase 1</a:t>
            </a:r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3236430" y="387965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Phase 2</a:t>
            </a:r>
            <a:endParaRPr lang="fr-FR" dirty="0"/>
          </a:p>
        </p:txBody>
      </p:sp>
      <p:pic>
        <p:nvPicPr>
          <p:cNvPr id="17" name="Picture 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5"/>
          <a:stretch/>
        </p:blipFill>
        <p:spPr bwMode="auto">
          <a:xfrm>
            <a:off x="4652984" y="2431921"/>
            <a:ext cx="2404869" cy="1823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necteur droit avec flèche 10"/>
          <p:cNvCxnSpPr/>
          <p:nvPr/>
        </p:nvCxnSpPr>
        <p:spPr>
          <a:xfrm flipV="1">
            <a:off x="4160613" y="3178713"/>
            <a:ext cx="699419" cy="452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>
            <a:stCxn id="12" idx="3"/>
          </p:cNvCxnSpPr>
          <p:nvPr/>
        </p:nvCxnSpPr>
        <p:spPr>
          <a:xfrm flipV="1">
            <a:off x="4172534" y="3436933"/>
            <a:ext cx="1551594" cy="6273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12" idx="3"/>
          </p:cNvCxnSpPr>
          <p:nvPr/>
        </p:nvCxnSpPr>
        <p:spPr>
          <a:xfrm flipV="1">
            <a:off x="4172534" y="3969664"/>
            <a:ext cx="831514" cy="9465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611560" y="4797152"/>
            <a:ext cx="8424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 smtClean="0"/>
              <a:t>Transformation de phase</a:t>
            </a:r>
            <a:r>
              <a:rPr lang="fr-FR" sz="2400" dirty="0" smtClean="0"/>
              <a:t> = modification de la quantité et/ou de la nature de la (des) phases présente(s)</a:t>
            </a:r>
            <a:endParaRPr lang="fr-FR" sz="2400" dirty="0"/>
          </a:p>
        </p:txBody>
      </p:sp>
      <p:sp>
        <p:nvSpPr>
          <p:cNvPr id="15" name="ZoneTexte 14"/>
          <p:cNvSpPr txBox="1"/>
          <p:nvPr/>
        </p:nvSpPr>
        <p:spPr>
          <a:xfrm>
            <a:off x="251520" y="116632"/>
            <a:ext cx="2088232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Introduction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67310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9308" y="3244334"/>
            <a:ext cx="66170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i="1" dirty="0"/>
              <a:t>Partie I : Equilibre et diagrammes de phases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05740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9309" y="3244334"/>
            <a:ext cx="69771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i="1" dirty="0" smtClean="0"/>
              <a:t>A</a:t>
            </a:r>
            <a:r>
              <a:rPr lang="fr-FR" sz="2800" i="1" dirty="0"/>
              <a:t> </a:t>
            </a:r>
            <a:r>
              <a:rPr lang="fr-FR" sz="2800" i="1" dirty="0" smtClean="0"/>
              <a:t>- </a:t>
            </a:r>
            <a:r>
              <a:rPr lang="fr-FR" sz="2800" i="1" dirty="0"/>
              <a:t>Equilibre thermodynamique et transitions de phases dans les corps purs</a:t>
            </a:r>
          </a:p>
        </p:txBody>
      </p:sp>
    </p:spTree>
    <p:extLst>
      <p:ext uri="{BB962C8B-B14F-4D97-AF65-F5344CB8AC3E}">
        <p14:creationId xmlns:p14="http://schemas.microsoft.com/office/powerpoint/2010/main" val="360648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467544" y="1124744"/>
            <a:ext cx="7848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Outil thermodynamique de référence pour évaluer si une transformation de phase dans un matériau peut se produire (hypothèse ; P et T = </a:t>
            </a:r>
            <a:r>
              <a:rPr lang="fr-FR" dirty="0" err="1" smtClean="0"/>
              <a:t>cst</a:t>
            </a:r>
            <a:r>
              <a:rPr lang="fr-FR" dirty="0" smtClean="0"/>
              <a:t>): </a:t>
            </a:r>
          </a:p>
          <a:p>
            <a:pPr algn="ctr"/>
            <a:endParaRPr lang="fr-FR" sz="2400" i="1" dirty="0"/>
          </a:p>
        </p:txBody>
      </p:sp>
      <p:sp>
        <p:nvSpPr>
          <p:cNvPr id="5" name="ZoneTexte 4"/>
          <p:cNvSpPr txBox="1"/>
          <p:nvPr/>
        </p:nvSpPr>
        <p:spPr>
          <a:xfrm>
            <a:off x="827584" y="2708920"/>
            <a:ext cx="71287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 smtClean="0"/>
              <a:t>H: enthalpie</a:t>
            </a:r>
          </a:p>
          <a:p>
            <a:r>
              <a:rPr lang="fr-FR" dirty="0" smtClean="0"/>
              <a:t>Quantité de chaleur contenue par le système</a:t>
            </a:r>
          </a:p>
          <a:p>
            <a:r>
              <a:rPr lang="fr-FR" sz="2400" dirty="0" smtClean="0"/>
              <a:t>H = U + PV</a:t>
            </a:r>
            <a:endParaRPr lang="fr-FR" sz="2400" dirty="0"/>
          </a:p>
        </p:txBody>
      </p:sp>
      <p:cxnSp>
        <p:nvCxnSpPr>
          <p:cNvPr id="9" name="Connecteur droit 8"/>
          <p:cNvCxnSpPr/>
          <p:nvPr/>
        </p:nvCxnSpPr>
        <p:spPr>
          <a:xfrm flipH="1" flipV="1">
            <a:off x="1907704" y="3438292"/>
            <a:ext cx="288032" cy="3786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 flipV="1">
            <a:off x="1935414" y="3380139"/>
            <a:ext cx="288032" cy="3786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1475656" y="3758763"/>
            <a:ext cx="0" cy="6876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1475656" y="4102583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1475656" y="4446404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2051720" y="3933056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Énergie cinétique des liaisons chimiques</a:t>
            </a:r>
            <a:endParaRPr lang="fr-FR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2051720" y="4293096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 smtClean="0">
                <a:solidFill>
                  <a:schemeClr val="accent1">
                    <a:lumMod val="75000"/>
                  </a:schemeClr>
                </a:solidFill>
              </a:rPr>
              <a:t>Énergie potentielle </a:t>
            </a:r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des liaisons chimiques</a:t>
            </a:r>
            <a:endParaRPr lang="fr-FR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1" name="Connecteur droit avec flèche 20"/>
          <p:cNvCxnSpPr/>
          <p:nvPr/>
        </p:nvCxnSpPr>
        <p:spPr>
          <a:xfrm flipV="1">
            <a:off x="6804248" y="3380140"/>
            <a:ext cx="0" cy="18583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>
            <a:off x="6804248" y="4662428"/>
            <a:ext cx="20882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rme libre 24"/>
          <p:cNvSpPr/>
          <p:nvPr/>
        </p:nvSpPr>
        <p:spPr>
          <a:xfrm>
            <a:off x="6854821" y="3412396"/>
            <a:ext cx="1870807" cy="1636147"/>
          </a:xfrm>
          <a:custGeom>
            <a:avLst/>
            <a:gdLst>
              <a:gd name="connsiteX0" fmla="*/ 1870807 w 1870807"/>
              <a:gd name="connsiteY0" fmla="*/ 1274618 h 1636147"/>
              <a:gd name="connsiteX1" fmla="*/ 845571 w 1870807"/>
              <a:gd name="connsiteY1" fmla="*/ 1385455 h 1636147"/>
              <a:gd name="connsiteX2" fmla="*/ 374516 w 1870807"/>
              <a:gd name="connsiteY2" fmla="*/ 1634836 h 1636147"/>
              <a:gd name="connsiteX3" fmla="*/ 180553 w 1870807"/>
              <a:gd name="connsiteY3" fmla="*/ 1440873 h 1636147"/>
              <a:gd name="connsiteX4" fmla="*/ 28153 w 1870807"/>
              <a:gd name="connsiteY4" fmla="*/ 637309 h 1636147"/>
              <a:gd name="connsiteX5" fmla="*/ 444 w 1870807"/>
              <a:gd name="connsiteY5" fmla="*/ 0 h 1636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0807" h="1636147">
                <a:moveTo>
                  <a:pt x="1870807" y="1274618"/>
                </a:moveTo>
                <a:cubicBezTo>
                  <a:pt x="1482880" y="1300018"/>
                  <a:pt x="1094953" y="1325419"/>
                  <a:pt x="845571" y="1385455"/>
                </a:cubicBezTo>
                <a:cubicBezTo>
                  <a:pt x="596189" y="1445491"/>
                  <a:pt x="485352" y="1625600"/>
                  <a:pt x="374516" y="1634836"/>
                </a:cubicBezTo>
                <a:cubicBezTo>
                  <a:pt x="263680" y="1644072"/>
                  <a:pt x="238280" y="1607127"/>
                  <a:pt x="180553" y="1440873"/>
                </a:cubicBezTo>
                <a:cubicBezTo>
                  <a:pt x="122826" y="1274619"/>
                  <a:pt x="58171" y="877454"/>
                  <a:pt x="28153" y="637309"/>
                </a:cubicBezTo>
                <a:cubicBezTo>
                  <a:pt x="-1865" y="397164"/>
                  <a:pt x="-711" y="198582"/>
                  <a:pt x="444" y="0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/>
          <p:cNvSpPr txBox="1"/>
          <p:nvPr/>
        </p:nvSpPr>
        <p:spPr>
          <a:xfrm>
            <a:off x="6552220" y="3078252"/>
            <a:ext cx="61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</a:t>
            </a:r>
            <a:endParaRPr lang="fr-FR" baseline="-25000" dirty="0"/>
          </a:p>
        </p:txBody>
      </p:sp>
      <p:sp>
        <p:nvSpPr>
          <p:cNvPr id="27" name="ZoneTexte 26"/>
          <p:cNvSpPr txBox="1"/>
          <p:nvPr/>
        </p:nvSpPr>
        <p:spPr>
          <a:xfrm>
            <a:off x="8725628" y="4653136"/>
            <a:ext cx="346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d</a:t>
            </a:r>
            <a:endParaRPr lang="fr-FR" dirty="0"/>
          </a:p>
        </p:txBody>
      </p:sp>
      <p:sp>
        <p:nvSpPr>
          <p:cNvPr id="28" name="Ellipse 27"/>
          <p:cNvSpPr/>
          <p:nvPr/>
        </p:nvSpPr>
        <p:spPr>
          <a:xfrm>
            <a:off x="7452320" y="3380139"/>
            <a:ext cx="216024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/>
          <p:cNvSpPr/>
          <p:nvPr/>
        </p:nvSpPr>
        <p:spPr>
          <a:xfrm>
            <a:off x="7956376" y="3380139"/>
            <a:ext cx="216024" cy="21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1" name="Connecteur droit 30"/>
          <p:cNvCxnSpPr>
            <a:stCxn id="28" idx="6"/>
            <a:endCxn id="29" idx="2"/>
          </p:cNvCxnSpPr>
          <p:nvPr/>
        </p:nvCxnSpPr>
        <p:spPr>
          <a:xfrm>
            <a:off x="7668344" y="3488139"/>
            <a:ext cx="288032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 flipV="1">
            <a:off x="7560332" y="3008977"/>
            <a:ext cx="0" cy="301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flipV="1">
            <a:off x="8072682" y="3006244"/>
            <a:ext cx="0" cy="301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>
          <a:xfrm>
            <a:off x="7560332" y="3157187"/>
            <a:ext cx="504056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7614338" y="2819837"/>
            <a:ext cx="396044" cy="372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d</a:t>
            </a:r>
            <a:endParaRPr lang="fr-FR" dirty="0"/>
          </a:p>
        </p:txBody>
      </p:sp>
      <p:cxnSp>
        <p:nvCxnSpPr>
          <p:cNvPr id="41" name="Connecteur droit 40"/>
          <p:cNvCxnSpPr/>
          <p:nvPr/>
        </p:nvCxnSpPr>
        <p:spPr>
          <a:xfrm>
            <a:off x="7205853" y="4676283"/>
            <a:ext cx="0" cy="3600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41"/>
          <p:cNvSpPr txBox="1"/>
          <p:nvPr/>
        </p:nvSpPr>
        <p:spPr>
          <a:xfrm>
            <a:off x="7020272" y="4293096"/>
            <a:ext cx="450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d</a:t>
            </a:r>
            <a:r>
              <a:rPr lang="fr-FR" baseline="-25000" dirty="0" smtClean="0"/>
              <a:t>0</a:t>
            </a:r>
            <a:endParaRPr lang="fr-FR" baseline="-25000" dirty="0"/>
          </a:p>
        </p:txBody>
      </p:sp>
      <p:cxnSp>
        <p:nvCxnSpPr>
          <p:cNvPr id="45" name="Connecteur droit 44"/>
          <p:cNvCxnSpPr>
            <a:stCxn id="25" idx="2"/>
          </p:cNvCxnSpPr>
          <p:nvPr/>
        </p:nvCxnSpPr>
        <p:spPr>
          <a:xfrm flipH="1">
            <a:off x="6804248" y="5047232"/>
            <a:ext cx="425089" cy="131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/>
          <p:cNvSpPr txBox="1"/>
          <p:nvPr/>
        </p:nvSpPr>
        <p:spPr>
          <a:xfrm>
            <a:off x="6444208" y="4869160"/>
            <a:ext cx="572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</a:t>
            </a:r>
            <a:r>
              <a:rPr lang="fr-FR" baseline="-25000" dirty="0" smtClean="0"/>
              <a:t>0</a:t>
            </a:r>
            <a:endParaRPr lang="fr-FR" baseline="-25000" dirty="0"/>
          </a:p>
        </p:txBody>
      </p:sp>
      <p:sp>
        <p:nvSpPr>
          <p:cNvPr id="47" name="ZoneTexte 46"/>
          <p:cNvSpPr txBox="1"/>
          <p:nvPr/>
        </p:nvSpPr>
        <p:spPr>
          <a:xfrm>
            <a:off x="827584" y="5180999"/>
            <a:ext cx="7128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/>
              <a:t>S</a:t>
            </a:r>
            <a:r>
              <a:rPr lang="fr-FR" sz="2400" u="sng" dirty="0" smtClean="0"/>
              <a:t>: entropie</a:t>
            </a:r>
          </a:p>
          <a:p>
            <a:r>
              <a:rPr lang="fr-FR" sz="2400" dirty="0" smtClean="0"/>
              <a:t>S = k ln </a:t>
            </a:r>
            <a:r>
              <a:rPr lang="fr-FR" sz="2400" dirty="0">
                <a:sym typeface="Symbol"/>
              </a:rPr>
              <a:t></a:t>
            </a:r>
            <a:endParaRPr lang="fr-FR" sz="2400" dirty="0" smtClean="0">
              <a:sym typeface="Symbol"/>
            </a:endParaRPr>
          </a:p>
          <a:p>
            <a:r>
              <a:rPr lang="fr-FR" sz="2400" dirty="0">
                <a:sym typeface="Symbol"/>
              </a:rPr>
              <a:t> </a:t>
            </a:r>
            <a:r>
              <a:rPr lang="fr-FR" sz="2400" dirty="0" smtClean="0">
                <a:sym typeface="Symbol"/>
              </a:rPr>
              <a:t>= nombre de façons possibles d’organiser le système </a:t>
            </a:r>
            <a:endParaRPr lang="fr-FR" sz="2400" dirty="0"/>
          </a:p>
        </p:txBody>
      </p:sp>
      <p:sp>
        <p:nvSpPr>
          <p:cNvPr id="48" name="ZoneTexte 47"/>
          <p:cNvSpPr txBox="1"/>
          <p:nvPr/>
        </p:nvSpPr>
        <p:spPr>
          <a:xfrm>
            <a:off x="1187624" y="1959223"/>
            <a:ext cx="3528392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2400" i="1" dirty="0" smtClean="0"/>
              <a:t>Enthalpie libre    G = H - TS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251520" y="116632"/>
            <a:ext cx="7596844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A : Equilibre et transformations dans les corps purs</a:t>
            </a:r>
            <a:endParaRPr lang="fr-FR" sz="2800" dirty="0"/>
          </a:p>
        </p:txBody>
      </p:sp>
      <p:sp>
        <p:nvSpPr>
          <p:cNvPr id="2" name="Flèche droite 1"/>
          <p:cNvSpPr/>
          <p:nvPr/>
        </p:nvSpPr>
        <p:spPr>
          <a:xfrm>
            <a:off x="6128466" y="4392814"/>
            <a:ext cx="396044" cy="20673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5220072" y="1900244"/>
            <a:ext cx="3384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accent2">
                    <a:lumMod val="75000"/>
                  </a:schemeClr>
                </a:solidFill>
              </a:rPr>
              <a:t>Équivalent chimique de l’NRJ potentielle en mécanique </a:t>
            </a: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92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564235"/>
            <a:ext cx="6840800" cy="324914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242211" y="1443682"/>
                <a:ext cx="10123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∆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𝐺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≥0</m:t>
                      </m:r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211" y="1443682"/>
                <a:ext cx="1012328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/>
          <p:cNvSpPr txBox="1"/>
          <p:nvPr/>
        </p:nvSpPr>
        <p:spPr>
          <a:xfrm>
            <a:off x="99718" y="620688"/>
            <a:ext cx="954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Principe général de stabilité et des transformations  de phases</a:t>
            </a:r>
            <a:endParaRPr lang="fr-FR" sz="2800" dirty="0"/>
          </a:p>
        </p:txBody>
      </p:sp>
      <p:sp>
        <p:nvSpPr>
          <p:cNvPr id="9" name="ZoneTexte 8"/>
          <p:cNvSpPr txBox="1"/>
          <p:nvPr/>
        </p:nvSpPr>
        <p:spPr>
          <a:xfrm>
            <a:off x="251520" y="116632"/>
            <a:ext cx="7596844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A : Equilibre et transformations dans les corps purs</a:t>
            </a:r>
            <a:endParaRPr lang="fr-FR" sz="2800" dirty="0"/>
          </a:p>
        </p:txBody>
      </p:sp>
      <p:sp>
        <p:nvSpPr>
          <p:cNvPr id="2" name="ZoneTexte 1"/>
          <p:cNvSpPr txBox="1"/>
          <p:nvPr/>
        </p:nvSpPr>
        <p:spPr>
          <a:xfrm>
            <a:off x="539553" y="1166683"/>
            <a:ext cx="5904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accent1">
                    <a:lumMod val="75000"/>
                  </a:schemeClr>
                </a:solidFill>
              </a:rPr>
              <a:t>1- Toute perturbation autour de l’état stable induit une augmentation de G (état stable = G minimale)</a:t>
            </a:r>
            <a:endParaRPr lang="fr-FR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6660232" y="1166683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Condition de stabilité</a:t>
            </a:r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6660232" y="1166683"/>
            <a:ext cx="2232248" cy="6463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539552" y="1990709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fr-FR" sz="2000" dirty="0" smtClean="0">
                <a:solidFill>
                  <a:schemeClr val="accent1">
                    <a:lumMod val="75000"/>
                  </a:schemeClr>
                </a:solidFill>
              </a:rPr>
              <a:t>- Des minima locaux peuvent exister (états métastables)</a:t>
            </a:r>
            <a:endParaRPr lang="fr-FR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539552" y="295810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fr-FR" sz="2000" dirty="0" smtClean="0">
                <a:solidFill>
                  <a:schemeClr val="accent1">
                    <a:lumMod val="75000"/>
                  </a:schemeClr>
                </a:solidFill>
              </a:rPr>
              <a:t>- Force motrice de transformation </a:t>
            </a:r>
            <a:r>
              <a:rPr lang="fr-FR" sz="2000" dirty="0" smtClean="0">
                <a:solidFill>
                  <a:schemeClr val="accent1">
                    <a:lumMod val="75000"/>
                  </a:schemeClr>
                </a:solidFill>
                <a:sym typeface="Symbol"/>
              </a:rPr>
              <a:t></a:t>
            </a:r>
            <a:r>
              <a:rPr lang="fr-FR" sz="2000" dirty="0" err="1" smtClean="0">
                <a:solidFill>
                  <a:schemeClr val="accent1">
                    <a:lumMod val="75000"/>
                  </a:schemeClr>
                </a:solidFill>
                <a:sym typeface="Symbol"/>
              </a:rPr>
              <a:t>G</a:t>
            </a:r>
            <a:r>
              <a:rPr lang="fr-FR" sz="2000" baseline="-25000" dirty="0" err="1" smtClean="0">
                <a:solidFill>
                  <a:schemeClr val="accent1">
                    <a:lumMod val="75000"/>
                  </a:schemeClr>
                </a:solidFill>
                <a:sym typeface="Symbol"/>
              </a:rPr>
              <a:t>transfo</a:t>
            </a:r>
            <a:r>
              <a:rPr lang="fr-FR" sz="2000" baseline="-25000" dirty="0" smtClean="0">
                <a:solidFill>
                  <a:schemeClr val="accent1">
                    <a:lumMod val="75000"/>
                  </a:schemeClr>
                </a:solidFill>
                <a:sym typeface="Symbol"/>
              </a:rPr>
              <a:t> </a:t>
            </a:r>
            <a:r>
              <a:rPr lang="fr-FR" sz="2000" dirty="0" smtClean="0">
                <a:solidFill>
                  <a:schemeClr val="accent1">
                    <a:lumMod val="75000"/>
                  </a:schemeClr>
                </a:solidFill>
                <a:sym typeface="Symbol"/>
              </a:rPr>
              <a:t>=</a:t>
            </a:r>
            <a:r>
              <a:rPr lang="fr-FR" sz="2000" baseline="-25000" dirty="0" smtClean="0">
                <a:solidFill>
                  <a:schemeClr val="accent1">
                    <a:lumMod val="75000"/>
                  </a:schemeClr>
                </a:solidFill>
                <a:sym typeface="Symbol"/>
              </a:rPr>
              <a:t> </a:t>
            </a:r>
            <a:r>
              <a:rPr lang="fr-FR" sz="2000" dirty="0" err="1" smtClean="0">
                <a:solidFill>
                  <a:schemeClr val="accent1">
                    <a:lumMod val="75000"/>
                  </a:schemeClr>
                </a:solidFill>
                <a:sym typeface="Symbol"/>
              </a:rPr>
              <a:t>G</a:t>
            </a:r>
            <a:r>
              <a:rPr lang="fr-FR" sz="2000" baseline="-25000" dirty="0" err="1" smtClean="0">
                <a:solidFill>
                  <a:schemeClr val="accent1">
                    <a:lumMod val="75000"/>
                  </a:schemeClr>
                </a:solidFill>
                <a:sym typeface="Symbol"/>
              </a:rPr>
              <a:t>fin</a:t>
            </a:r>
            <a:r>
              <a:rPr lang="fr-FR" sz="2000" baseline="-25000" dirty="0" smtClean="0">
                <a:solidFill>
                  <a:schemeClr val="accent1">
                    <a:lumMod val="75000"/>
                  </a:schemeClr>
                </a:solidFill>
                <a:sym typeface="Symbol"/>
              </a:rPr>
              <a:t>– </a:t>
            </a:r>
            <a:r>
              <a:rPr lang="fr-FR" sz="2000" dirty="0" smtClean="0">
                <a:solidFill>
                  <a:schemeClr val="accent1">
                    <a:lumMod val="75000"/>
                  </a:schemeClr>
                </a:solidFill>
                <a:sym typeface="Symbol"/>
              </a:rPr>
              <a:t>G</a:t>
            </a:r>
            <a:r>
              <a:rPr lang="fr-FR" sz="2000" baseline="-25000" dirty="0" smtClean="0">
                <a:solidFill>
                  <a:schemeClr val="accent1">
                    <a:lumMod val="75000"/>
                  </a:schemeClr>
                </a:solidFill>
                <a:sym typeface="Symbol"/>
              </a:rPr>
              <a:t>ini</a:t>
            </a:r>
            <a:endParaRPr lang="fr-FR" sz="2000" baseline="-25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193" y="2886094"/>
            <a:ext cx="2808312" cy="6869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6272482" y="2876802"/>
            <a:ext cx="2980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Condition de transformation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992562" y="3171182"/>
                <a:ext cx="1338828" cy="362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dirty="0" smtClean="0">
                          <a:solidFill>
                            <a:schemeClr val="tx1"/>
                          </a:solidFill>
                          <a:sym typeface="Symbol"/>
                        </a:rPr>
                        <m:t></m:t>
                      </m:r>
                      <m:r>
                        <m:rPr>
                          <m:nor/>
                        </m:rPr>
                        <a:rPr lang="fr-FR" dirty="0" smtClean="0">
                          <a:solidFill>
                            <a:schemeClr val="tx1"/>
                          </a:solidFill>
                          <a:sym typeface="Symbol"/>
                        </a:rPr>
                        <m:t>Gtransfo</m:t>
                      </m:r>
                      <m:r>
                        <m:rPr>
                          <m:nor/>
                        </m:rPr>
                        <a:rPr lang="fr-FR" baseline="-25000" dirty="0" smtClean="0">
                          <a:solidFill>
                            <a:schemeClr val="tx1"/>
                          </a:solidFill>
                          <a:sym typeface="Symbol"/>
                        </a:rPr>
                        <m:t>  0 </m:t>
                      </m:r>
                    </m:oMath>
                  </m:oMathPara>
                </a14:m>
                <a:endParaRPr lang="fr-FR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562" y="3171182"/>
                <a:ext cx="1338828" cy="362984"/>
              </a:xfrm>
              <a:prstGeom prst="rect">
                <a:avLst/>
              </a:prstGeom>
              <a:blipFill rotWithShape="1"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ZoneTexte 17"/>
          <p:cNvSpPr txBox="1"/>
          <p:nvPr/>
        </p:nvSpPr>
        <p:spPr>
          <a:xfrm>
            <a:off x="539552" y="2452826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accent1">
                    <a:lumMod val="75000"/>
                  </a:schemeClr>
                </a:solidFill>
              </a:rPr>
              <a:t>3- Les états instables se situent entre les minima </a:t>
            </a:r>
            <a:endParaRPr lang="fr-FR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 rot="16200000">
            <a:off x="-839007" y="2120976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</a:rPr>
              <a:t>Thermodynamique</a:t>
            </a:r>
            <a:endParaRPr lang="fr-FR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1" name="Connecteur droit 20"/>
          <p:cNvCxnSpPr/>
          <p:nvPr/>
        </p:nvCxnSpPr>
        <p:spPr>
          <a:xfrm>
            <a:off x="477172" y="1243009"/>
            <a:ext cx="0" cy="21859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6588224" y="4293096"/>
            <a:ext cx="2304256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2400" i="1" dirty="0" smtClean="0"/>
              <a:t>Enthalpie libre    G = H - TS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6300192" y="5230941"/>
            <a:ext cx="3384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accent2">
                    <a:lumMod val="75000"/>
                  </a:schemeClr>
                </a:solidFill>
              </a:rPr>
              <a:t>Équivalent chimique de l’NRJ potentielle en mécanique </a:t>
            </a: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43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564235"/>
            <a:ext cx="6840800" cy="324914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ZoneTexte 7"/>
          <p:cNvSpPr txBox="1"/>
          <p:nvPr/>
        </p:nvSpPr>
        <p:spPr>
          <a:xfrm>
            <a:off x="99718" y="620688"/>
            <a:ext cx="954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Principe général de stabilité et des transformations  de phases</a:t>
            </a:r>
            <a:endParaRPr lang="fr-FR" sz="2800" dirty="0"/>
          </a:p>
        </p:txBody>
      </p:sp>
      <p:sp>
        <p:nvSpPr>
          <p:cNvPr id="9" name="ZoneTexte 8"/>
          <p:cNvSpPr txBox="1"/>
          <p:nvPr/>
        </p:nvSpPr>
        <p:spPr>
          <a:xfrm>
            <a:off x="251520" y="116632"/>
            <a:ext cx="7596844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A : Equilibre et transformations dans les corps purs</a:t>
            </a:r>
            <a:endParaRPr lang="fr-FR" sz="2800" dirty="0"/>
          </a:p>
        </p:txBody>
      </p:sp>
      <p:sp>
        <p:nvSpPr>
          <p:cNvPr id="2" name="ZoneTexte 1"/>
          <p:cNvSpPr txBox="1"/>
          <p:nvPr/>
        </p:nvSpPr>
        <p:spPr>
          <a:xfrm>
            <a:off x="539553" y="1166683"/>
            <a:ext cx="590465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5</a:t>
            </a:r>
            <a:r>
              <a:rPr lang="fr-FR" sz="2000" dirty="0" smtClean="0">
                <a:solidFill>
                  <a:schemeClr val="accent2">
                    <a:lumMod val="75000"/>
                  </a:schemeClr>
                </a:solidFill>
              </a:rPr>
              <a:t>- Dans la plupart des cas, une barrière d’énergie sépare les états stables et métastables</a:t>
            </a:r>
          </a:p>
          <a:p>
            <a:pPr marL="342900" indent="-342900">
              <a:buFont typeface="Arial" charset="0"/>
              <a:buChar char="•"/>
            </a:pPr>
            <a:r>
              <a:rPr lang="fr-FR" sz="2000" dirty="0" smtClean="0">
                <a:solidFill>
                  <a:schemeClr val="accent2">
                    <a:lumMod val="75000"/>
                  </a:schemeClr>
                </a:solidFill>
              </a:rPr>
              <a:t>Énergie d’activation </a:t>
            </a:r>
            <a:r>
              <a:rPr lang="fr-FR" sz="2000" i="1" dirty="0" err="1" smtClean="0">
                <a:solidFill>
                  <a:schemeClr val="accent2">
                    <a:lumMod val="75000"/>
                  </a:schemeClr>
                </a:solidFill>
              </a:rPr>
              <a:t>E</a:t>
            </a:r>
            <a:r>
              <a:rPr lang="fr-FR" sz="2000" i="1" baseline="-25000" dirty="0" err="1" smtClean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fr-FR" sz="20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2000" i="1" dirty="0" smtClean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fr-FR" sz="2000" i="1" dirty="0" err="1" smtClean="0">
                <a:solidFill>
                  <a:schemeClr val="accent2">
                    <a:lumMod val="75000"/>
                  </a:schemeClr>
                </a:solidFill>
              </a:rPr>
              <a:t>ev</a:t>
            </a:r>
            <a:r>
              <a:rPr lang="fr-FR" sz="2000" i="1" dirty="0" smtClean="0">
                <a:solidFill>
                  <a:schemeClr val="accent2">
                    <a:lumMod val="75000"/>
                  </a:schemeClr>
                </a:solidFill>
              </a:rPr>
              <a:t>. at</a:t>
            </a:r>
            <a:r>
              <a:rPr lang="fr-FR" sz="2000" i="1" baseline="30000" dirty="0" smtClean="0">
                <a:solidFill>
                  <a:schemeClr val="accent2">
                    <a:lumMod val="75000"/>
                  </a:schemeClr>
                </a:solidFill>
              </a:rPr>
              <a:t>-1</a:t>
            </a:r>
            <a:r>
              <a:rPr lang="fr-FR" sz="2000" i="1" dirty="0" smtClean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pPr marL="342900" indent="-342900">
              <a:buFont typeface="Arial" charset="0"/>
              <a:buChar char="•"/>
            </a:pPr>
            <a:r>
              <a:rPr lang="fr-FR" sz="2000" dirty="0" smtClean="0">
                <a:solidFill>
                  <a:schemeClr val="accent2">
                    <a:lumMod val="75000"/>
                  </a:schemeClr>
                </a:solidFill>
              </a:rPr>
              <a:t>Barrière de transformation </a:t>
            </a:r>
            <a:r>
              <a:rPr lang="fr-FR" sz="2000" i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G</a:t>
            </a:r>
            <a:r>
              <a:rPr lang="fr-FR" sz="2000" i="1" baseline="30000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*</a:t>
            </a:r>
            <a:r>
              <a:rPr lang="fr-FR" sz="2000" dirty="0">
                <a:solidFill>
                  <a:schemeClr val="accent2">
                    <a:lumMod val="75000"/>
                  </a:schemeClr>
                </a:solidFill>
                <a:sym typeface="Symbol"/>
              </a:rPr>
              <a:t> </a:t>
            </a:r>
            <a:r>
              <a:rPr lang="fr-FR" sz="2000" i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(J.mol</a:t>
            </a:r>
            <a:r>
              <a:rPr lang="fr-FR" sz="2000" i="1" baseline="30000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-1</a:t>
            </a:r>
            <a:r>
              <a:rPr lang="fr-FR" sz="2000" i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)</a:t>
            </a:r>
          </a:p>
          <a:p>
            <a:endParaRPr lang="fr-FR" sz="2000" i="1" dirty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r>
              <a:rPr lang="fr-FR" sz="2000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6- Cette barrière résiste à la transformation vers un état de plus faible énergie</a:t>
            </a:r>
            <a:endParaRPr lang="fr-FR" sz="20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Tx/>
              <a:buChar char="-"/>
            </a:pPr>
            <a:endParaRPr lang="fr-FR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 rot="16200000">
            <a:off x="-839007" y="2120976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 smtClean="0">
                <a:solidFill>
                  <a:schemeClr val="accent2">
                    <a:lumMod val="75000"/>
                  </a:schemeClr>
                </a:solidFill>
              </a:rPr>
              <a:t>Cinétique</a:t>
            </a:r>
            <a:endParaRPr lang="fr-FR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1" name="Connecteur droit 20"/>
          <p:cNvCxnSpPr/>
          <p:nvPr/>
        </p:nvCxnSpPr>
        <p:spPr>
          <a:xfrm>
            <a:off x="477172" y="1243009"/>
            <a:ext cx="0" cy="218599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6876256" y="2902124"/>
                <a:ext cx="1570558" cy="5268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i="1" dirty="0"/>
                  <a:t>V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/>
                      </a:rPr>
                      <m:t>𝛼</m:t>
                    </m:r>
                    <m:func>
                      <m:funcPr>
                        <m:ctrlPr>
                          <a:rPr lang="fr-FR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fr-FR" i="1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fr-FR" i="1">
                                    <a:latin typeface="Cambria Math"/>
                                  </a:rPr>
                                  <m:t>−∆</m:t>
                                </m:r>
                                <m:sSup>
                                  <m:sSupPr>
                                    <m:ctrlPr>
                                      <a:rPr lang="fr-FR" i="1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/>
                                      </a:rPr>
                                      <m:t>𝐺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latin typeface="Cambria Math"/>
                                      </a:rPr>
                                      <m:t>∗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fr-FR" i="1">
                                    <a:latin typeface="Cambria Math"/>
                                  </a:rPr>
                                  <m:t>𝑅𝑇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256" y="2902124"/>
                <a:ext cx="1570558" cy="526876"/>
              </a:xfrm>
              <a:prstGeom prst="rect">
                <a:avLst/>
              </a:prstGeom>
              <a:blipFill rotWithShape="1">
                <a:blip r:embed="rId3"/>
                <a:stretch>
                  <a:fillRect l="-3488" b="-229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6156176" y="2670070"/>
            <a:ext cx="2808312" cy="7589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6272482" y="2660778"/>
            <a:ext cx="2980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Vitesse de transformation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6588224" y="4293096"/>
            <a:ext cx="2304256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2400" i="1" dirty="0" smtClean="0"/>
              <a:t>Enthalpie libre    G = H - TS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6300192" y="5230941"/>
            <a:ext cx="3384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accent2">
                    <a:lumMod val="75000"/>
                  </a:schemeClr>
                </a:solidFill>
              </a:rPr>
              <a:t>Équivalent chimique de l’NRJ potentielle en mécanique </a:t>
            </a: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70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2132856"/>
            <a:ext cx="5623654" cy="4248472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016866" y="2564904"/>
                <a:ext cx="1651478" cy="720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/>
                        </a:rPr>
                        <m:t>𝐻</m:t>
                      </m:r>
                      <m:r>
                        <a:rPr lang="fr-FR" i="1">
                          <a:latin typeface="Cambria Math"/>
                        </a:rPr>
                        <m:t>= </m:t>
                      </m:r>
                      <m:nary>
                        <m:naryPr>
                          <m:limLoc m:val="subSup"/>
                          <m:ctrlPr>
                            <a:rPr lang="fr-FR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fr-FR" i="1">
                              <a:latin typeface="Cambria Math"/>
                            </a:rPr>
                            <m:t>298</m:t>
                          </m:r>
                        </m:sub>
                        <m:sup>
                          <m:r>
                            <a:rPr lang="fr-FR" i="1">
                              <a:latin typeface="Cambria Math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𝑝</m:t>
                              </m:r>
                            </m:sub>
                          </m:sSub>
                          <m:r>
                            <a:rPr lang="fr-FR" i="1">
                              <a:latin typeface="Cambria Math"/>
                            </a:rPr>
                            <m:t>𝑑𝑇</m:t>
                          </m:r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866" y="2564904"/>
                <a:ext cx="1651478" cy="72051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048061" y="3909060"/>
                <a:ext cx="1589088" cy="720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/>
                        </a:rPr>
                        <m:t>𝑆</m:t>
                      </m:r>
                      <m:r>
                        <a:rPr lang="fr-FR" i="1">
                          <a:latin typeface="Cambria Math"/>
                        </a:rPr>
                        <m:t>= </m:t>
                      </m:r>
                      <m:nary>
                        <m:naryPr>
                          <m:limLoc m:val="subSup"/>
                          <m:ctrlPr>
                            <a:rPr lang="fr-FR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fr-FR" i="1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fr-FR" i="1">
                              <a:latin typeface="Cambria Math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/>
                                    </a:rPr>
                                    <m:t>𝑝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i="1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  <m:r>
                            <a:rPr lang="fr-FR" i="1">
                              <a:latin typeface="Cambria Math"/>
                            </a:rPr>
                            <m:t>𝑑𝑇</m:t>
                          </m:r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061" y="3909060"/>
                <a:ext cx="1589088" cy="72051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005130" y="5163167"/>
                <a:ext cx="1528239" cy="7861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latin typeface="Cambria Math"/>
                                    </a:rPr>
                                    <m:t>𝜕</m:t>
                                  </m:r>
                                  <m:r>
                                    <a:rPr lang="fr-FR" i="1">
                                      <a:latin typeface="Cambria Math"/>
                                    </a:rPr>
                                    <m:t>𝐺</m:t>
                                  </m:r>
                                </m:num>
                                <m:den>
                                  <m:r>
                                    <a:rPr lang="fr-FR" i="1">
                                      <a:latin typeface="Cambria Math"/>
                                    </a:rPr>
                                    <m:t>𝜕</m:t>
                                  </m:r>
                                  <m:r>
                                    <a:rPr lang="fr-FR" i="1">
                                      <a:latin typeface="Cambria Math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𝑝</m:t>
                          </m:r>
                        </m:sub>
                      </m:sSub>
                      <m:r>
                        <a:rPr lang="fr-FR" i="1">
                          <a:latin typeface="Cambria Math"/>
                        </a:rPr>
                        <m:t>= −</m:t>
                      </m:r>
                      <m:r>
                        <a:rPr lang="fr-FR" i="1">
                          <a:latin typeface="Cambria Math"/>
                        </a:rPr>
                        <m:t>𝑆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130" y="5163167"/>
                <a:ext cx="1528239" cy="78611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/>
          <p:cNvSpPr txBox="1"/>
          <p:nvPr/>
        </p:nvSpPr>
        <p:spPr>
          <a:xfrm>
            <a:off x="251520" y="116632"/>
            <a:ext cx="7596844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A : Equilibre et transformations dans les corps purs</a:t>
            </a:r>
            <a:endParaRPr lang="fr-FR" sz="2800" dirty="0"/>
          </a:p>
        </p:txBody>
      </p:sp>
      <p:sp>
        <p:nvSpPr>
          <p:cNvPr id="9" name="ZoneTexte 8"/>
          <p:cNvSpPr txBox="1"/>
          <p:nvPr/>
        </p:nvSpPr>
        <p:spPr>
          <a:xfrm>
            <a:off x="5508104" y="1427457"/>
            <a:ext cx="3528392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2400" i="1" dirty="0" smtClean="0"/>
              <a:t>Enthalpie libre    G = H - TS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251520" y="548680"/>
            <a:ext cx="9001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Lien avec la capacité calorifique à pression constante </a:t>
            </a:r>
            <a:r>
              <a:rPr lang="fr-FR" sz="2800" i="1" dirty="0" smtClean="0"/>
              <a:t>C</a:t>
            </a:r>
            <a:r>
              <a:rPr lang="fr-FR" sz="2800" i="1" baseline="-25000" dirty="0" smtClean="0"/>
              <a:t>p</a:t>
            </a:r>
            <a:endParaRPr lang="fr-FR" sz="2800" i="1" dirty="0" smtClean="0"/>
          </a:p>
          <a:p>
            <a:r>
              <a:rPr lang="fr-FR" i="1" dirty="0" smtClean="0"/>
              <a:t>Cp: quantité de chaleur à apporter pour élever la température d’1K (J. mol</a:t>
            </a:r>
            <a:r>
              <a:rPr lang="fr-FR" i="1" baseline="30000" dirty="0" smtClean="0"/>
              <a:t>-1</a:t>
            </a:r>
            <a:r>
              <a:rPr lang="fr-FR" i="1" dirty="0" smtClean="0"/>
              <a:t>K</a:t>
            </a:r>
            <a:r>
              <a:rPr lang="fr-FR" i="1" baseline="30000" dirty="0" smtClean="0"/>
              <a:t>-1</a:t>
            </a:r>
            <a:r>
              <a:rPr lang="fr-FR" i="1" dirty="0" smtClean="0"/>
              <a:t>)</a:t>
            </a:r>
            <a:endParaRPr lang="fr-FR" i="1" dirty="0"/>
          </a:p>
        </p:txBody>
      </p:sp>
      <p:sp>
        <p:nvSpPr>
          <p:cNvPr id="3" name="ZoneTexte 2"/>
          <p:cNvSpPr txBox="1"/>
          <p:nvPr/>
        </p:nvSpPr>
        <p:spPr>
          <a:xfrm>
            <a:off x="7740352" y="181520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i="1" dirty="0" smtClean="0">
                <a:solidFill>
                  <a:schemeClr val="accent2">
                    <a:lumMod val="75000"/>
                  </a:schemeClr>
                </a:solidFill>
              </a:rPr>
              <a:t>(J. mol</a:t>
            </a:r>
            <a:r>
              <a:rPr lang="fr-FR" sz="2400" i="1" baseline="30000" dirty="0" smtClean="0">
                <a:solidFill>
                  <a:schemeClr val="accent2">
                    <a:lumMod val="75000"/>
                  </a:schemeClr>
                </a:solidFill>
              </a:rPr>
              <a:t>-1</a:t>
            </a:r>
            <a:r>
              <a:rPr lang="fr-FR" sz="2400" i="1" dirty="0" smtClean="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fr-FR" sz="24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2" name="Connecteur droit 11"/>
          <p:cNvCxnSpPr/>
          <p:nvPr/>
        </p:nvCxnSpPr>
        <p:spPr>
          <a:xfrm>
            <a:off x="5449951" y="2033138"/>
            <a:ext cx="0" cy="40601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7812360" y="2722775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smtClean="0"/>
              <a:t>(J. mol</a:t>
            </a:r>
            <a:r>
              <a:rPr lang="fr-FR" i="1" baseline="30000" dirty="0" smtClean="0"/>
              <a:t>-1</a:t>
            </a:r>
            <a:r>
              <a:rPr lang="fr-FR" i="1" dirty="0" smtClean="0"/>
              <a:t>)</a:t>
            </a:r>
            <a:endParaRPr lang="fr-FR" i="1" baseline="30000" dirty="0"/>
          </a:p>
        </p:txBody>
      </p:sp>
      <p:sp>
        <p:nvSpPr>
          <p:cNvPr id="15" name="ZoneTexte 14"/>
          <p:cNvSpPr txBox="1"/>
          <p:nvPr/>
        </p:nvSpPr>
        <p:spPr>
          <a:xfrm>
            <a:off x="7740352" y="407707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smtClean="0"/>
              <a:t>(J. mol</a:t>
            </a:r>
            <a:r>
              <a:rPr lang="fr-FR" i="1" baseline="30000" dirty="0" smtClean="0"/>
              <a:t>-1 </a:t>
            </a:r>
            <a:r>
              <a:rPr lang="fr-FR" i="1" dirty="0" smtClean="0"/>
              <a:t>K</a:t>
            </a:r>
            <a:r>
              <a:rPr lang="fr-FR" i="1" baseline="30000" dirty="0" smtClean="0"/>
              <a:t>-1</a:t>
            </a:r>
            <a:r>
              <a:rPr lang="fr-FR" i="1" dirty="0" smtClean="0"/>
              <a:t>)</a:t>
            </a:r>
            <a:endParaRPr lang="fr-FR" i="1" baseline="30000" dirty="0"/>
          </a:p>
        </p:txBody>
      </p:sp>
    </p:spTree>
    <p:extLst>
      <p:ext uri="{BB962C8B-B14F-4D97-AF65-F5344CB8AC3E}">
        <p14:creationId xmlns:p14="http://schemas.microsoft.com/office/powerpoint/2010/main" val="354002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484784"/>
            <a:ext cx="5112568" cy="4824536"/>
          </a:xfrm>
          <a:prstGeom prst="rect">
            <a:avLst/>
          </a:prstGeom>
          <a:noFill/>
        </p:spPr>
      </p:pic>
      <p:sp>
        <p:nvSpPr>
          <p:cNvPr id="4" name="ZoneTexte 3"/>
          <p:cNvSpPr txBox="1"/>
          <p:nvPr/>
        </p:nvSpPr>
        <p:spPr>
          <a:xfrm>
            <a:off x="251520" y="116632"/>
            <a:ext cx="7596844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A : Equilibre et transformations dans les corps purs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954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Enthalpie libre de transformation </a:t>
            </a:r>
            <a:r>
              <a:rPr lang="fr-FR" sz="2800" i="1" dirty="0" smtClean="0">
                <a:sym typeface="Symbol"/>
              </a:rPr>
              <a:t></a:t>
            </a:r>
            <a:r>
              <a:rPr lang="fr-FR" sz="2800" i="1" dirty="0" err="1" smtClean="0">
                <a:sym typeface="Symbol"/>
              </a:rPr>
              <a:t>G</a:t>
            </a:r>
            <a:r>
              <a:rPr lang="fr-FR" sz="2800" i="1" baseline="-25000" dirty="0" err="1" smtClean="0">
                <a:sym typeface="Symbol"/>
              </a:rPr>
              <a:t>transfo</a:t>
            </a:r>
            <a:endParaRPr lang="fr-FR" sz="2800" i="1" baseline="-25000" dirty="0"/>
          </a:p>
        </p:txBody>
      </p:sp>
      <p:sp>
        <p:nvSpPr>
          <p:cNvPr id="3" name="ZoneTexte 2"/>
          <p:cNvSpPr txBox="1"/>
          <p:nvPr/>
        </p:nvSpPr>
        <p:spPr>
          <a:xfrm>
            <a:off x="539552" y="162880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Ex: fusion - solidification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6690675" y="1412776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i="1" dirty="0" smtClean="0"/>
              <a:t>H</a:t>
            </a:r>
            <a:r>
              <a:rPr lang="fr-FR" sz="2000" i="1" baseline="-25000" dirty="0" smtClean="0"/>
              <a:t>L</a:t>
            </a:r>
            <a:r>
              <a:rPr lang="fr-FR" sz="2000" i="1" dirty="0" smtClean="0"/>
              <a:t> &gt; H</a:t>
            </a:r>
            <a:r>
              <a:rPr lang="fr-FR" sz="2000" i="1" baseline="-25000" dirty="0" smtClean="0"/>
              <a:t>S</a:t>
            </a:r>
          </a:p>
          <a:p>
            <a:pPr algn="ctr"/>
            <a:r>
              <a:rPr lang="fr-FR" sz="2000" i="1" dirty="0" smtClean="0"/>
              <a:t>S</a:t>
            </a:r>
            <a:r>
              <a:rPr lang="fr-FR" sz="2000" i="1" baseline="-25000" dirty="0" smtClean="0"/>
              <a:t>L</a:t>
            </a:r>
            <a:r>
              <a:rPr lang="fr-FR" sz="2000" i="1" dirty="0" smtClean="0"/>
              <a:t> &gt; S</a:t>
            </a:r>
            <a:r>
              <a:rPr lang="fr-FR" sz="2000" i="1" baseline="-25000" dirty="0" smtClean="0"/>
              <a:t>S</a:t>
            </a:r>
            <a:endParaRPr lang="fr-FR" sz="2000" i="1" baseline="-25000" dirty="0"/>
          </a:p>
        </p:txBody>
      </p:sp>
      <p:sp>
        <p:nvSpPr>
          <p:cNvPr id="7" name="ZoneTexte 6"/>
          <p:cNvSpPr txBox="1"/>
          <p:nvPr/>
        </p:nvSpPr>
        <p:spPr>
          <a:xfrm>
            <a:off x="5480393" y="2492896"/>
            <a:ext cx="36497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fr-FR" dirty="0" smtClean="0"/>
              <a:t>à T=</a:t>
            </a:r>
            <a:r>
              <a:rPr lang="fr-FR" i="1" dirty="0" err="1" smtClean="0"/>
              <a:t>T</a:t>
            </a:r>
            <a:r>
              <a:rPr lang="fr-FR" i="1" baseline="-25000" dirty="0" err="1" smtClean="0"/>
              <a:t>eq</a:t>
            </a:r>
            <a:r>
              <a:rPr lang="fr-FR" i="1" dirty="0" smtClean="0"/>
              <a:t>       (ici </a:t>
            </a:r>
            <a:r>
              <a:rPr lang="fr-FR" i="1" dirty="0" err="1" smtClean="0"/>
              <a:t>T</a:t>
            </a:r>
            <a:r>
              <a:rPr lang="fr-FR" i="1" baseline="-25000" dirty="0" err="1" smtClean="0"/>
              <a:t>eq</a:t>
            </a:r>
            <a:r>
              <a:rPr lang="fr-FR" i="1" dirty="0" smtClean="0"/>
              <a:t> = </a:t>
            </a:r>
            <a:r>
              <a:rPr lang="fr-FR" i="1" dirty="0" err="1" smtClean="0"/>
              <a:t>T</a:t>
            </a:r>
            <a:r>
              <a:rPr lang="fr-FR" i="1" baseline="-25000" dirty="0" err="1" smtClean="0"/>
              <a:t>fusion</a:t>
            </a:r>
            <a:r>
              <a:rPr lang="fr-FR" i="1" dirty="0" smtClean="0"/>
              <a:t> = </a:t>
            </a:r>
            <a:r>
              <a:rPr lang="fr-FR" i="1" dirty="0" err="1" smtClean="0"/>
              <a:t>T</a:t>
            </a:r>
            <a:r>
              <a:rPr lang="fr-FR" i="1" baseline="-25000" dirty="0" err="1" smtClean="0"/>
              <a:t>solidif</a:t>
            </a:r>
            <a:r>
              <a:rPr lang="fr-FR" i="1" dirty="0" smtClean="0"/>
              <a:t>)</a:t>
            </a:r>
          </a:p>
          <a:p>
            <a:endParaRPr lang="fr-FR" i="1" baseline="-25000" dirty="0"/>
          </a:p>
        </p:txBody>
      </p:sp>
      <p:sp>
        <p:nvSpPr>
          <p:cNvPr id="8" name="ZoneTexte 7"/>
          <p:cNvSpPr txBox="1"/>
          <p:nvPr/>
        </p:nvSpPr>
        <p:spPr>
          <a:xfrm>
            <a:off x="6804248" y="2996952"/>
            <a:ext cx="1899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smtClean="0">
                <a:sym typeface="Symbol"/>
              </a:rPr>
              <a:t></a:t>
            </a:r>
            <a:r>
              <a:rPr lang="fr-FR" sz="2000" i="1" dirty="0" err="1" smtClean="0">
                <a:sym typeface="Symbol"/>
              </a:rPr>
              <a:t>G</a:t>
            </a:r>
            <a:r>
              <a:rPr lang="fr-FR" sz="2000" i="1" baseline="-25000" dirty="0" err="1" smtClean="0">
                <a:sym typeface="Symbol"/>
              </a:rPr>
              <a:t>transfo</a:t>
            </a:r>
            <a:r>
              <a:rPr lang="fr-FR" sz="2000" i="1" dirty="0" smtClean="0">
                <a:sym typeface="Symbol"/>
              </a:rPr>
              <a:t> = 0</a:t>
            </a:r>
            <a:endParaRPr lang="fr-FR" sz="2000" i="1" dirty="0"/>
          </a:p>
        </p:txBody>
      </p:sp>
      <p:sp>
        <p:nvSpPr>
          <p:cNvPr id="10" name="ZoneTexte 9"/>
          <p:cNvSpPr txBox="1"/>
          <p:nvPr/>
        </p:nvSpPr>
        <p:spPr>
          <a:xfrm>
            <a:off x="5422241" y="3024662"/>
            <a:ext cx="1473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smtClean="0">
                <a:sym typeface="Symbol"/>
              </a:rPr>
              <a:t>G</a:t>
            </a:r>
            <a:r>
              <a:rPr lang="fr-FR" sz="2000" i="1" baseline="-25000" dirty="0" smtClean="0">
                <a:sym typeface="Symbol"/>
              </a:rPr>
              <a:t>S</a:t>
            </a:r>
            <a:r>
              <a:rPr lang="fr-FR" sz="2000" i="1" dirty="0" smtClean="0">
                <a:sym typeface="Symbol"/>
              </a:rPr>
              <a:t> = G</a:t>
            </a:r>
            <a:r>
              <a:rPr lang="fr-FR" sz="2000" i="1" baseline="-25000" dirty="0" smtClean="0">
                <a:sym typeface="Symbol"/>
              </a:rPr>
              <a:t>L       </a:t>
            </a:r>
            <a:r>
              <a:rPr lang="fr-FR" sz="2000" i="1" dirty="0" smtClean="0">
                <a:sym typeface="Symbol"/>
              </a:rPr>
              <a:t>=&gt;</a:t>
            </a:r>
            <a:endParaRPr lang="fr-FR" sz="2000" i="1" dirty="0"/>
          </a:p>
          <a:p>
            <a:endParaRPr lang="fr-FR" sz="2000" i="1" dirty="0"/>
          </a:p>
        </p:txBody>
      </p:sp>
      <p:sp>
        <p:nvSpPr>
          <p:cNvPr id="12" name="ZoneTexte 11"/>
          <p:cNvSpPr txBox="1"/>
          <p:nvPr/>
        </p:nvSpPr>
        <p:spPr>
          <a:xfrm>
            <a:off x="5436096" y="3501008"/>
            <a:ext cx="4248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smtClean="0">
                <a:sym typeface="Symbol"/>
              </a:rPr>
              <a:t>=&gt; </a:t>
            </a:r>
            <a:r>
              <a:rPr lang="fr-FR" sz="2000" i="1" dirty="0" err="1" smtClean="0">
                <a:sym typeface="Symbol"/>
              </a:rPr>
              <a:t>S</a:t>
            </a:r>
            <a:r>
              <a:rPr lang="fr-FR" sz="2000" i="1" baseline="-25000" dirty="0" err="1" smtClean="0">
                <a:sym typeface="Symbol"/>
              </a:rPr>
              <a:t>transfo</a:t>
            </a:r>
            <a:r>
              <a:rPr lang="fr-FR" sz="2000" i="1" dirty="0" smtClean="0">
                <a:sym typeface="Symbol"/>
              </a:rPr>
              <a:t> = </a:t>
            </a:r>
            <a:r>
              <a:rPr lang="fr-FR" sz="2000" i="1" dirty="0" err="1" smtClean="0">
                <a:sym typeface="Symbol"/>
              </a:rPr>
              <a:t>H</a:t>
            </a:r>
            <a:r>
              <a:rPr lang="fr-FR" sz="2000" i="1" baseline="-25000" dirty="0" err="1" smtClean="0">
                <a:sym typeface="Symbol"/>
              </a:rPr>
              <a:t>transfo</a:t>
            </a:r>
            <a:r>
              <a:rPr lang="fr-FR" sz="2000" i="1" dirty="0" smtClean="0">
                <a:sym typeface="Symbol"/>
              </a:rPr>
              <a:t>/</a:t>
            </a:r>
            <a:r>
              <a:rPr lang="fr-FR" sz="2000" i="1" dirty="0" err="1" smtClean="0">
                <a:sym typeface="Symbol"/>
              </a:rPr>
              <a:t>T</a:t>
            </a:r>
            <a:r>
              <a:rPr lang="fr-FR" sz="2000" i="1" baseline="-25000" dirty="0" err="1" smtClean="0">
                <a:sym typeface="Symbol"/>
              </a:rPr>
              <a:t>eq</a:t>
            </a:r>
            <a:r>
              <a:rPr lang="fr-FR" sz="2000" i="1" baseline="-25000" dirty="0" smtClean="0">
                <a:sym typeface="Symbol"/>
              </a:rPr>
              <a:t>  </a:t>
            </a:r>
            <a:r>
              <a:rPr lang="fr-FR" sz="2000" i="1" dirty="0" smtClean="0">
                <a:sym typeface="Symbol"/>
              </a:rPr>
              <a:t>= L/</a:t>
            </a:r>
            <a:r>
              <a:rPr lang="fr-FR" sz="2000" i="1" dirty="0" err="1" smtClean="0">
                <a:sym typeface="Symbol"/>
              </a:rPr>
              <a:t>T</a:t>
            </a:r>
            <a:r>
              <a:rPr lang="fr-FR" sz="2000" i="1" baseline="-25000" dirty="0" err="1" smtClean="0">
                <a:sym typeface="Symbol"/>
              </a:rPr>
              <a:t>eq</a:t>
            </a:r>
            <a:r>
              <a:rPr lang="fr-FR" sz="2000" i="1" dirty="0" smtClean="0">
                <a:sym typeface="Symbol"/>
              </a:rPr>
              <a:t> </a:t>
            </a:r>
            <a:endParaRPr lang="fr-FR" sz="2000" i="1" dirty="0"/>
          </a:p>
        </p:txBody>
      </p:sp>
      <p:sp>
        <p:nvSpPr>
          <p:cNvPr id="2" name="ZoneTexte 1"/>
          <p:cNvSpPr txBox="1"/>
          <p:nvPr/>
        </p:nvSpPr>
        <p:spPr>
          <a:xfrm>
            <a:off x="5552402" y="1601090"/>
            <a:ext cx="1293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</a:t>
            </a:r>
            <a:r>
              <a:rPr lang="fr-FR" dirty="0" smtClean="0"/>
              <a:t>ondition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5076056" y="4656618"/>
            <a:ext cx="4032448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charset="0"/>
              <a:buChar char="•"/>
            </a:pPr>
            <a:r>
              <a:rPr lang="fr-FR" dirty="0" smtClean="0"/>
              <a:t>à </a:t>
            </a:r>
            <a:r>
              <a:rPr lang="fr-FR" dirty="0" err="1" smtClean="0"/>
              <a:t>T</a:t>
            </a:r>
            <a:r>
              <a:rPr lang="fr-FR" dirty="0" err="1" smtClean="0">
                <a:sym typeface="Symbol"/>
              </a:rPr>
              <a:t></a:t>
            </a:r>
            <a:r>
              <a:rPr lang="fr-FR" i="1" dirty="0" err="1" smtClean="0"/>
              <a:t>T</a:t>
            </a:r>
            <a:r>
              <a:rPr lang="fr-FR" i="1" baseline="-25000" dirty="0" err="1" smtClean="0"/>
              <a:t>eq</a:t>
            </a:r>
            <a:r>
              <a:rPr lang="fr-FR" i="1" dirty="0" smtClean="0"/>
              <a:t>  </a:t>
            </a:r>
          </a:p>
          <a:p>
            <a:r>
              <a:rPr lang="fr-FR" i="1" dirty="0" smtClean="0"/>
              <a:t>Hypothèses réalistes :</a:t>
            </a:r>
          </a:p>
          <a:p>
            <a:r>
              <a:rPr lang="fr-FR" i="1" dirty="0" smtClean="0">
                <a:sym typeface="Symbol"/>
              </a:rPr>
              <a:t></a:t>
            </a:r>
            <a:r>
              <a:rPr lang="fr-FR" i="1" dirty="0" err="1" smtClean="0">
                <a:sym typeface="Symbol"/>
              </a:rPr>
              <a:t>H</a:t>
            </a:r>
            <a:r>
              <a:rPr lang="fr-FR" i="1" baseline="-25000" dirty="0" err="1" smtClean="0">
                <a:sym typeface="Symbol"/>
              </a:rPr>
              <a:t>transfo</a:t>
            </a:r>
            <a:r>
              <a:rPr lang="fr-FR" i="1" dirty="0" smtClean="0">
                <a:sym typeface="Symbol"/>
              </a:rPr>
              <a:t> = L et </a:t>
            </a:r>
            <a:r>
              <a:rPr lang="fr-FR" i="1" dirty="0" err="1" smtClean="0">
                <a:sym typeface="Symbol"/>
              </a:rPr>
              <a:t>S</a:t>
            </a:r>
            <a:r>
              <a:rPr lang="fr-FR" i="1" baseline="-25000" dirty="0" err="1" smtClean="0">
                <a:sym typeface="Symbol"/>
              </a:rPr>
              <a:t>transfo</a:t>
            </a:r>
            <a:r>
              <a:rPr lang="fr-FR" i="1" dirty="0" smtClean="0">
                <a:sym typeface="Symbol"/>
              </a:rPr>
              <a:t> = L/</a:t>
            </a:r>
            <a:r>
              <a:rPr lang="fr-FR" i="1" dirty="0" err="1" smtClean="0">
                <a:sym typeface="Symbol"/>
              </a:rPr>
              <a:t>T</a:t>
            </a:r>
            <a:r>
              <a:rPr lang="fr-FR" i="1" baseline="-25000" dirty="0" err="1" smtClean="0">
                <a:sym typeface="Symbol"/>
              </a:rPr>
              <a:t>eq</a:t>
            </a:r>
            <a:endParaRPr lang="fr-FR" i="1" dirty="0" smtClean="0">
              <a:sym typeface="Symbol"/>
            </a:endParaRPr>
          </a:p>
          <a:p>
            <a:pPr>
              <a:spcAft>
                <a:spcPts val="600"/>
              </a:spcAft>
            </a:pPr>
            <a:endParaRPr lang="fr-FR" sz="900" i="1" dirty="0" smtClean="0">
              <a:sym typeface="Symbol"/>
            </a:endParaRPr>
          </a:p>
          <a:p>
            <a:pPr>
              <a:spcAft>
                <a:spcPts val="600"/>
              </a:spcAft>
            </a:pPr>
            <a:r>
              <a:rPr lang="fr-FR" sz="2400" i="1" dirty="0" smtClean="0">
                <a:sym typeface="Symbol"/>
              </a:rPr>
              <a:t>=&gt;  </a:t>
            </a:r>
            <a:r>
              <a:rPr lang="fr-FR" sz="2400" i="1" dirty="0" err="1">
                <a:sym typeface="Symbol"/>
              </a:rPr>
              <a:t>G</a:t>
            </a:r>
            <a:r>
              <a:rPr lang="fr-FR" sz="2400" i="1" baseline="-25000" dirty="0" err="1">
                <a:sym typeface="Symbol"/>
              </a:rPr>
              <a:t>transfo</a:t>
            </a:r>
            <a:r>
              <a:rPr lang="fr-FR" sz="2400" i="1" dirty="0">
                <a:sym typeface="Symbol"/>
              </a:rPr>
              <a:t> = </a:t>
            </a:r>
            <a:r>
              <a:rPr lang="fr-FR" sz="2400" i="1" dirty="0" smtClean="0">
                <a:sym typeface="Symbol"/>
              </a:rPr>
              <a:t>L</a:t>
            </a:r>
            <a:r>
              <a:rPr lang="fr-FR" sz="2400" i="1" dirty="0">
                <a:sym typeface="Symbol"/>
              </a:rPr>
              <a:t>  </a:t>
            </a:r>
            <a:r>
              <a:rPr lang="fr-FR" sz="2400" i="1" dirty="0" smtClean="0">
                <a:sym typeface="Symbol"/>
              </a:rPr>
              <a:t>T/</a:t>
            </a:r>
            <a:r>
              <a:rPr lang="fr-FR" sz="2400" i="1" dirty="0" err="1" smtClean="0">
                <a:sym typeface="Symbol"/>
              </a:rPr>
              <a:t>T</a:t>
            </a:r>
            <a:r>
              <a:rPr lang="fr-FR" sz="2400" i="1" baseline="-25000" dirty="0" err="1" smtClean="0">
                <a:sym typeface="Symbol"/>
              </a:rPr>
              <a:t>eq</a:t>
            </a:r>
            <a:endParaRPr lang="fr-FR" i="1" dirty="0">
              <a:sym typeface="Symbo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840070" y="5219908"/>
            <a:ext cx="11953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dirty="0">
                <a:sym typeface="Symbol"/>
              </a:rPr>
              <a:t>invariables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19226" y="5716668"/>
            <a:ext cx="2495303" cy="6480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16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596844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A : Equilibre et transformations dans les corps purs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954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Enthalpie libre de transformation </a:t>
            </a:r>
            <a:r>
              <a:rPr lang="fr-FR" sz="2800" i="1" dirty="0" smtClean="0">
                <a:sym typeface="Symbol"/>
              </a:rPr>
              <a:t></a:t>
            </a:r>
            <a:r>
              <a:rPr lang="fr-FR" sz="2800" i="1" dirty="0" err="1" smtClean="0">
                <a:sym typeface="Symbol"/>
              </a:rPr>
              <a:t>G</a:t>
            </a:r>
            <a:r>
              <a:rPr lang="fr-FR" sz="2800" i="1" baseline="-25000" dirty="0" err="1" smtClean="0">
                <a:sym typeface="Symbol"/>
              </a:rPr>
              <a:t>transfo</a:t>
            </a:r>
            <a:endParaRPr lang="fr-FR" sz="2800" i="1" baseline="-25000" dirty="0"/>
          </a:p>
        </p:txBody>
      </p:sp>
      <p:pic>
        <p:nvPicPr>
          <p:cNvPr id="8" name="Imag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50" y="1914614"/>
            <a:ext cx="4991100" cy="4250690"/>
          </a:xfrm>
          <a:prstGeom prst="rect">
            <a:avLst/>
          </a:prstGeom>
          <a:noFill/>
        </p:spPr>
      </p:pic>
      <p:sp>
        <p:nvSpPr>
          <p:cNvPr id="9" name="ZoneTexte 8"/>
          <p:cNvSpPr txBox="1"/>
          <p:nvPr/>
        </p:nvSpPr>
        <p:spPr>
          <a:xfrm>
            <a:off x="2789802" y="1914614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Ex: cas de l’eau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396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596844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A : Equilibre et transformations dans les corps purs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954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Enthalpie libre de transformation </a:t>
            </a:r>
            <a:r>
              <a:rPr lang="fr-FR" sz="2800" i="1" dirty="0" smtClean="0">
                <a:sym typeface="Symbol"/>
              </a:rPr>
              <a:t></a:t>
            </a:r>
            <a:r>
              <a:rPr lang="fr-FR" sz="2800" i="1" dirty="0" err="1" smtClean="0">
                <a:sym typeface="Symbol"/>
              </a:rPr>
              <a:t>G</a:t>
            </a:r>
            <a:r>
              <a:rPr lang="fr-FR" sz="2800" i="1" baseline="-25000" dirty="0" err="1" smtClean="0">
                <a:sym typeface="Symbol"/>
              </a:rPr>
              <a:t>transfo</a:t>
            </a:r>
            <a:endParaRPr lang="fr-FR" sz="2800" i="1" baseline="-25000" dirty="0"/>
          </a:p>
        </p:txBody>
      </p:sp>
      <p:pic>
        <p:nvPicPr>
          <p:cNvPr id="6" name="Imag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16832"/>
            <a:ext cx="7156077" cy="3354804"/>
          </a:xfrm>
          <a:prstGeom prst="rect">
            <a:avLst/>
          </a:prstGeom>
          <a:noFill/>
        </p:spPr>
      </p:pic>
      <p:sp>
        <p:nvSpPr>
          <p:cNvPr id="2" name="ZoneTexte 1"/>
          <p:cNvSpPr txBox="1"/>
          <p:nvPr/>
        </p:nvSpPr>
        <p:spPr>
          <a:xfrm>
            <a:off x="827584" y="5805264"/>
            <a:ext cx="6912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</a:t>
            </a:r>
            <a:r>
              <a:rPr lang="fr-FR" sz="2000" i="1" dirty="0" err="1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G</a:t>
            </a:r>
            <a:r>
              <a:rPr lang="fr-FR" sz="2000" i="1" baseline="-25000" dirty="0" err="1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transfo</a:t>
            </a:r>
            <a:r>
              <a:rPr lang="fr-FR" sz="2000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, la force motrice de transformation évolue avec l’écart à l’équilibre </a:t>
            </a:r>
            <a:r>
              <a:rPr lang="fr-FR" sz="2000" i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T,</a:t>
            </a:r>
            <a:r>
              <a:rPr lang="fr-FR" sz="2000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également appelé surfusion</a:t>
            </a:r>
            <a:endParaRPr lang="fr-FR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039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9309" y="3244334"/>
            <a:ext cx="69771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i="1" dirty="0" smtClean="0"/>
              <a:t>B</a:t>
            </a:r>
            <a:r>
              <a:rPr lang="fr-FR" sz="2800" i="1" dirty="0"/>
              <a:t> </a:t>
            </a:r>
            <a:r>
              <a:rPr lang="fr-FR" sz="2800" i="1" dirty="0" smtClean="0"/>
              <a:t>- </a:t>
            </a:r>
            <a:r>
              <a:rPr lang="fr-FR" sz="2800" dirty="0"/>
              <a:t>Transformations d’équilibre dans les alliages – diagrammes de phases</a:t>
            </a:r>
            <a:endParaRPr lang="fr-FR" sz="2800" i="1" dirty="0"/>
          </a:p>
        </p:txBody>
      </p:sp>
    </p:spTree>
    <p:extLst>
      <p:ext uri="{BB962C8B-B14F-4D97-AF65-F5344CB8AC3E}">
        <p14:creationId xmlns:p14="http://schemas.microsoft.com/office/powerpoint/2010/main" val="170111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954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Outils indispensables</a:t>
            </a:r>
            <a:endParaRPr lang="fr-FR" sz="2800" i="1" baseline="-25000" dirty="0"/>
          </a:p>
        </p:txBody>
      </p:sp>
      <p:sp>
        <p:nvSpPr>
          <p:cNvPr id="7" name="Forme libre 6"/>
          <p:cNvSpPr/>
          <p:nvPr/>
        </p:nvSpPr>
        <p:spPr>
          <a:xfrm>
            <a:off x="5697538" y="2537544"/>
            <a:ext cx="469900" cy="392113"/>
          </a:xfrm>
          <a:custGeom>
            <a:avLst/>
            <a:gdLst>
              <a:gd name="connsiteX0" fmla="*/ 76200 w 468845"/>
              <a:gd name="connsiteY0" fmla="*/ 54429 h 391886"/>
              <a:gd name="connsiteX1" fmla="*/ 76200 w 468845"/>
              <a:gd name="connsiteY1" fmla="*/ 54429 h 391886"/>
              <a:gd name="connsiteX2" fmla="*/ 21771 w 468845"/>
              <a:gd name="connsiteY2" fmla="*/ 152400 h 391886"/>
              <a:gd name="connsiteX3" fmla="*/ 0 w 468845"/>
              <a:gd name="connsiteY3" fmla="*/ 217715 h 391886"/>
              <a:gd name="connsiteX4" fmla="*/ 43543 w 468845"/>
              <a:gd name="connsiteY4" fmla="*/ 315686 h 391886"/>
              <a:gd name="connsiteX5" fmla="*/ 87086 w 468845"/>
              <a:gd name="connsiteY5" fmla="*/ 359229 h 391886"/>
              <a:gd name="connsiteX6" fmla="*/ 152400 w 468845"/>
              <a:gd name="connsiteY6" fmla="*/ 381000 h 391886"/>
              <a:gd name="connsiteX7" fmla="*/ 185057 w 468845"/>
              <a:gd name="connsiteY7" fmla="*/ 391886 h 391886"/>
              <a:gd name="connsiteX8" fmla="*/ 348343 w 468845"/>
              <a:gd name="connsiteY8" fmla="*/ 381000 h 391886"/>
              <a:gd name="connsiteX9" fmla="*/ 402771 w 468845"/>
              <a:gd name="connsiteY9" fmla="*/ 326572 h 391886"/>
              <a:gd name="connsiteX10" fmla="*/ 435429 w 468845"/>
              <a:gd name="connsiteY10" fmla="*/ 304800 h 391886"/>
              <a:gd name="connsiteX11" fmla="*/ 446314 w 468845"/>
              <a:gd name="connsiteY11" fmla="*/ 272143 h 391886"/>
              <a:gd name="connsiteX12" fmla="*/ 468086 w 468845"/>
              <a:gd name="connsiteY12" fmla="*/ 250372 h 391886"/>
              <a:gd name="connsiteX13" fmla="*/ 457200 w 468845"/>
              <a:gd name="connsiteY13" fmla="*/ 54429 h 391886"/>
              <a:gd name="connsiteX14" fmla="*/ 446314 w 468845"/>
              <a:gd name="connsiteY14" fmla="*/ 21772 h 391886"/>
              <a:gd name="connsiteX15" fmla="*/ 381000 w 468845"/>
              <a:gd name="connsiteY15" fmla="*/ 0 h 391886"/>
              <a:gd name="connsiteX16" fmla="*/ 130629 w 468845"/>
              <a:gd name="connsiteY16" fmla="*/ 10886 h 391886"/>
              <a:gd name="connsiteX17" fmla="*/ 108857 w 468845"/>
              <a:gd name="connsiteY17" fmla="*/ 32658 h 391886"/>
              <a:gd name="connsiteX18" fmla="*/ 76200 w 468845"/>
              <a:gd name="connsiteY18" fmla="*/ 54429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8845" h="391886">
                <a:moveTo>
                  <a:pt x="76200" y="54429"/>
                </a:moveTo>
                <a:lnTo>
                  <a:pt x="76200" y="54429"/>
                </a:lnTo>
                <a:cubicBezTo>
                  <a:pt x="58057" y="87086"/>
                  <a:pt x="37569" y="118546"/>
                  <a:pt x="21771" y="152400"/>
                </a:cubicBezTo>
                <a:cubicBezTo>
                  <a:pt x="12066" y="173196"/>
                  <a:pt x="0" y="217715"/>
                  <a:pt x="0" y="217715"/>
                </a:cubicBezTo>
                <a:cubicBezTo>
                  <a:pt x="20363" y="380610"/>
                  <a:pt x="-20026" y="270279"/>
                  <a:pt x="43543" y="315686"/>
                </a:cubicBezTo>
                <a:cubicBezTo>
                  <a:pt x="60246" y="327617"/>
                  <a:pt x="67613" y="352738"/>
                  <a:pt x="87086" y="359229"/>
                </a:cubicBezTo>
                <a:lnTo>
                  <a:pt x="152400" y="381000"/>
                </a:lnTo>
                <a:lnTo>
                  <a:pt x="185057" y="391886"/>
                </a:lnTo>
                <a:cubicBezTo>
                  <a:pt x="239486" y="388257"/>
                  <a:pt x="294536" y="389968"/>
                  <a:pt x="348343" y="381000"/>
                </a:cubicBezTo>
                <a:cubicBezTo>
                  <a:pt x="383178" y="375194"/>
                  <a:pt x="382451" y="346892"/>
                  <a:pt x="402771" y="326572"/>
                </a:cubicBezTo>
                <a:cubicBezTo>
                  <a:pt x="412022" y="317321"/>
                  <a:pt x="424543" y="312057"/>
                  <a:pt x="435429" y="304800"/>
                </a:cubicBezTo>
                <a:cubicBezTo>
                  <a:pt x="439057" y="293914"/>
                  <a:pt x="440410" y="281982"/>
                  <a:pt x="446314" y="272143"/>
                </a:cubicBezTo>
                <a:cubicBezTo>
                  <a:pt x="451594" y="263342"/>
                  <a:pt x="467573" y="260622"/>
                  <a:pt x="468086" y="250372"/>
                </a:cubicBezTo>
                <a:cubicBezTo>
                  <a:pt x="471353" y="185039"/>
                  <a:pt x="463402" y="119549"/>
                  <a:pt x="457200" y="54429"/>
                </a:cubicBezTo>
                <a:cubicBezTo>
                  <a:pt x="456112" y="43006"/>
                  <a:pt x="455651" y="28441"/>
                  <a:pt x="446314" y="21772"/>
                </a:cubicBezTo>
                <a:cubicBezTo>
                  <a:pt x="427640" y="8433"/>
                  <a:pt x="381000" y="0"/>
                  <a:pt x="381000" y="0"/>
                </a:cubicBezTo>
                <a:cubicBezTo>
                  <a:pt x="297543" y="3629"/>
                  <a:pt x="213570" y="933"/>
                  <a:pt x="130629" y="10886"/>
                </a:cubicBezTo>
                <a:cubicBezTo>
                  <a:pt x="120439" y="12109"/>
                  <a:pt x="117068" y="26500"/>
                  <a:pt x="108857" y="32658"/>
                </a:cubicBezTo>
                <a:cubicBezTo>
                  <a:pt x="102366" y="37526"/>
                  <a:pt x="81643" y="50801"/>
                  <a:pt x="76200" y="5442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" name="Forme libre 7"/>
          <p:cNvSpPr/>
          <p:nvPr/>
        </p:nvSpPr>
        <p:spPr>
          <a:xfrm rot="8885053">
            <a:off x="5978525" y="2626444"/>
            <a:ext cx="469900" cy="392113"/>
          </a:xfrm>
          <a:custGeom>
            <a:avLst/>
            <a:gdLst>
              <a:gd name="connsiteX0" fmla="*/ 76200 w 468845"/>
              <a:gd name="connsiteY0" fmla="*/ 54429 h 391886"/>
              <a:gd name="connsiteX1" fmla="*/ 76200 w 468845"/>
              <a:gd name="connsiteY1" fmla="*/ 54429 h 391886"/>
              <a:gd name="connsiteX2" fmla="*/ 21771 w 468845"/>
              <a:gd name="connsiteY2" fmla="*/ 152400 h 391886"/>
              <a:gd name="connsiteX3" fmla="*/ 0 w 468845"/>
              <a:gd name="connsiteY3" fmla="*/ 217715 h 391886"/>
              <a:gd name="connsiteX4" fmla="*/ 43543 w 468845"/>
              <a:gd name="connsiteY4" fmla="*/ 315686 h 391886"/>
              <a:gd name="connsiteX5" fmla="*/ 87086 w 468845"/>
              <a:gd name="connsiteY5" fmla="*/ 359229 h 391886"/>
              <a:gd name="connsiteX6" fmla="*/ 152400 w 468845"/>
              <a:gd name="connsiteY6" fmla="*/ 381000 h 391886"/>
              <a:gd name="connsiteX7" fmla="*/ 185057 w 468845"/>
              <a:gd name="connsiteY7" fmla="*/ 391886 h 391886"/>
              <a:gd name="connsiteX8" fmla="*/ 348343 w 468845"/>
              <a:gd name="connsiteY8" fmla="*/ 381000 h 391886"/>
              <a:gd name="connsiteX9" fmla="*/ 402771 w 468845"/>
              <a:gd name="connsiteY9" fmla="*/ 326572 h 391886"/>
              <a:gd name="connsiteX10" fmla="*/ 435429 w 468845"/>
              <a:gd name="connsiteY10" fmla="*/ 304800 h 391886"/>
              <a:gd name="connsiteX11" fmla="*/ 446314 w 468845"/>
              <a:gd name="connsiteY11" fmla="*/ 272143 h 391886"/>
              <a:gd name="connsiteX12" fmla="*/ 468086 w 468845"/>
              <a:gd name="connsiteY12" fmla="*/ 250372 h 391886"/>
              <a:gd name="connsiteX13" fmla="*/ 457200 w 468845"/>
              <a:gd name="connsiteY13" fmla="*/ 54429 h 391886"/>
              <a:gd name="connsiteX14" fmla="*/ 446314 w 468845"/>
              <a:gd name="connsiteY14" fmla="*/ 21772 h 391886"/>
              <a:gd name="connsiteX15" fmla="*/ 381000 w 468845"/>
              <a:gd name="connsiteY15" fmla="*/ 0 h 391886"/>
              <a:gd name="connsiteX16" fmla="*/ 130629 w 468845"/>
              <a:gd name="connsiteY16" fmla="*/ 10886 h 391886"/>
              <a:gd name="connsiteX17" fmla="*/ 108857 w 468845"/>
              <a:gd name="connsiteY17" fmla="*/ 32658 h 391886"/>
              <a:gd name="connsiteX18" fmla="*/ 76200 w 468845"/>
              <a:gd name="connsiteY18" fmla="*/ 54429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8845" h="391886">
                <a:moveTo>
                  <a:pt x="76200" y="54429"/>
                </a:moveTo>
                <a:lnTo>
                  <a:pt x="76200" y="54429"/>
                </a:lnTo>
                <a:cubicBezTo>
                  <a:pt x="58057" y="87086"/>
                  <a:pt x="37569" y="118546"/>
                  <a:pt x="21771" y="152400"/>
                </a:cubicBezTo>
                <a:cubicBezTo>
                  <a:pt x="12066" y="173196"/>
                  <a:pt x="0" y="217715"/>
                  <a:pt x="0" y="217715"/>
                </a:cubicBezTo>
                <a:cubicBezTo>
                  <a:pt x="20363" y="380610"/>
                  <a:pt x="-20026" y="270279"/>
                  <a:pt x="43543" y="315686"/>
                </a:cubicBezTo>
                <a:cubicBezTo>
                  <a:pt x="60246" y="327617"/>
                  <a:pt x="67613" y="352738"/>
                  <a:pt x="87086" y="359229"/>
                </a:cubicBezTo>
                <a:lnTo>
                  <a:pt x="152400" y="381000"/>
                </a:lnTo>
                <a:lnTo>
                  <a:pt x="185057" y="391886"/>
                </a:lnTo>
                <a:cubicBezTo>
                  <a:pt x="239486" y="388257"/>
                  <a:pt x="294536" y="389968"/>
                  <a:pt x="348343" y="381000"/>
                </a:cubicBezTo>
                <a:cubicBezTo>
                  <a:pt x="383178" y="375194"/>
                  <a:pt x="382451" y="346892"/>
                  <a:pt x="402771" y="326572"/>
                </a:cubicBezTo>
                <a:cubicBezTo>
                  <a:pt x="412022" y="317321"/>
                  <a:pt x="424543" y="312057"/>
                  <a:pt x="435429" y="304800"/>
                </a:cubicBezTo>
                <a:cubicBezTo>
                  <a:pt x="439057" y="293914"/>
                  <a:pt x="440410" y="281982"/>
                  <a:pt x="446314" y="272143"/>
                </a:cubicBezTo>
                <a:cubicBezTo>
                  <a:pt x="451594" y="263342"/>
                  <a:pt x="467573" y="260622"/>
                  <a:pt x="468086" y="250372"/>
                </a:cubicBezTo>
                <a:cubicBezTo>
                  <a:pt x="471353" y="185039"/>
                  <a:pt x="463402" y="119549"/>
                  <a:pt x="457200" y="54429"/>
                </a:cubicBezTo>
                <a:cubicBezTo>
                  <a:pt x="456112" y="43006"/>
                  <a:pt x="455651" y="28441"/>
                  <a:pt x="446314" y="21772"/>
                </a:cubicBezTo>
                <a:cubicBezTo>
                  <a:pt x="427640" y="8433"/>
                  <a:pt x="381000" y="0"/>
                  <a:pt x="381000" y="0"/>
                </a:cubicBezTo>
                <a:cubicBezTo>
                  <a:pt x="297543" y="3629"/>
                  <a:pt x="213570" y="933"/>
                  <a:pt x="130629" y="10886"/>
                </a:cubicBezTo>
                <a:cubicBezTo>
                  <a:pt x="120439" y="12109"/>
                  <a:pt x="117068" y="26500"/>
                  <a:pt x="108857" y="32658"/>
                </a:cubicBezTo>
                <a:cubicBezTo>
                  <a:pt x="102366" y="37526"/>
                  <a:pt x="81643" y="50801"/>
                  <a:pt x="76200" y="5442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" name="Forme libre 8"/>
          <p:cNvSpPr/>
          <p:nvPr/>
        </p:nvSpPr>
        <p:spPr>
          <a:xfrm rot="19300896">
            <a:off x="5611813" y="2239094"/>
            <a:ext cx="468312" cy="390525"/>
          </a:xfrm>
          <a:custGeom>
            <a:avLst/>
            <a:gdLst>
              <a:gd name="connsiteX0" fmla="*/ 76200 w 468845"/>
              <a:gd name="connsiteY0" fmla="*/ 54429 h 391886"/>
              <a:gd name="connsiteX1" fmla="*/ 76200 w 468845"/>
              <a:gd name="connsiteY1" fmla="*/ 54429 h 391886"/>
              <a:gd name="connsiteX2" fmla="*/ 21771 w 468845"/>
              <a:gd name="connsiteY2" fmla="*/ 152400 h 391886"/>
              <a:gd name="connsiteX3" fmla="*/ 0 w 468845"/>
              <a:gd name="connsiteY3" fmla="*/ 217715 h 391886"/>
              <a:gd name="connsiteX4" fmla="*/ 43543 w 468845"/>
              <a:gd name="connsiteY4" fmla="*/ 315686 h 391886"/>
              <a:gd name="connsiteX5" fmla="*/ 87086 w 468845"/>
              <a:gd name="connsiteY5" fmla="*/ 359229 h 391886"/>
              <a:gd name="connsiteX6" fmla="*/ 152400 w 468845"/>
              <a:gd name="connsiteY6" fmla="*/ 381000 h 391886"/>
              <a:gd name="connsiteX7" fmla="*/ 185057 w 468845"/>
              <a:gd name="connsiteY7" fmla="*/ 391886 h 391886"/>
              <a:gd name="connsiteX8" fmla="*/ 348343 w 468845"/>
              <a:gd name="connsiteY8" fmla="*/ 381000 h 391886"/>
              <a:gd name="connsiteX9" fmla="*/ 402771 w 468845"/>
              <a:gd name="connsiteY9" fmla="*/ 326572 h 391886"/>
              <a:gd name="connsiteX10" fmla="*/ 435429 w 468845"/>
              <a:gd name="connsiteY10" fmla="*/ 304800 h 391886"/>
              <a:gd name="connsiteX11" fmla="*/ 446314 w 468845"/>
              <a:gd name="connsiteY11" fmla="*/ 272143 h 391886"/>
              <a:gd name="connsiteX12" fmla="*/ 468086 w 468845"/>
              <a:gd name="connsiteY12" fmla="*/ 250372 h 391886"/>
              <a:gd name="connsiteX13" fmla="*/ 457200 w 468845"/>
              <a:gd name="connsiteY13" fmla="*/ 54429 h 391886"/>
              <a:gd name="connsiteX14" fmla="*/ 446314 w 468845"/>
              <a:gd name="connsiteY14" fmla="*/ 21772 h 391886"/>
              <a:gd name="connsiteX15" fmla="*/ 381000 w 468845"/>
              <a:gd name="connsiteY15" fmla="*/ 0 h 391886"/>
              <a:gd name="connsiteX16" fmla="*/ 130629 w 468845"/>
              <a:gd name="connsiteY16" fmla="*/ 10886 h 391886"/>
              <a:gd name="connsiteX17" fmla="*/ 108857 w 468845"/>
              <a:gd name="connsiteY17" fmla="*/ 32658 h 391886"/>
              <a:gd name="connsiteX18" fmla="*/ 76200 w 468845"/>
              <a:gd name="connsiteY18" fmla="*/ 54429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8845" h="391886">
                <a:moveTo>
                  <a:pt x="76200" y="54429"/>
                </a:moveTo>
                <a:lnTo>
                  <a:pt x="76200" y="54429"/>
                </a:lnTo>
                <a:cubicBezTo>
                  <a:pt x="58057" y="87086"/>
                  <a:pt x="37569" y="118546"/>
                  <a:pt x="21771" y="152400"/>
                </a:cubicBezTo>
                <a:cubicBezTo>
                  <a:pt x="12066" y="173196"/>
                  <a:pt x="0" y="217715"/>
                  <a:pt x="0" y="217715"/>
                </a:cubicBezTo>
                <a:cubicBezTo>
                  <a:pt x="20363" y="380610"/>
                  <a:pt x="-20026" y="270279"/>
                  <a:pt x="43543" y="315686"/>
                </a:cubicBezTo>
                <a:cubicBezTo>
                  <a:pt x="60246" y="327617"/>
                  <a:pt x="67613" y="352738"/>
                  <a:pt x="87086" y="359229"/>
                </a:cubicBezTo>
                <a:lnTo>
                  <a:pt x="152400" y="381000"/>
                </a:lnTo>
                <a:lnTo>
                  <a:pt x="185057" y="391886"/>
                </a:lnTo>
                <a:cubicBezTo>
                  <a:pt x="239486" y="388257"/>
                  <a:pt x="294536" y="389968"/>
                  <a:pt x="348343" y="381000"/>
                </a:cubicBezTo>
                <a:cubicBezTo>
                  <a:pt x="383178" y="375194"/>
                  <a:pt x="382451" y="346892"/>
                  <a:pt x="402771" y="326572"/>
                </a:cubicBezTo>
                <a:cubicBezTo>
                  <a:pt x="412022" y="317321"/>
                  <a:pt x="424543" y="312057"/>
                  <a:pt x="435429" y="304800"/>
                </a:cubicBezTo>
                <a:cubicBezTo>
                  <a:pt x="439057" y="293914"/>
                  <a:pt x="440410" y="281982"/>
                  <a:pt x="446314" y="272143"/>
                </a:cubicBezTo>
                <a:cubicBezTo>
                  <a:pt x="451594" y="263342"/>
                  <a:pt x="467573" y="260622"/>
                  <a:pt x="468086" y="250372"/>
                </a:cubicBezTo>
                <a:cubicBezTo>
                  <a:pt x="471353" y="185039"/>
                  <a:pt x="463402" y="119549"/>
                  <a:pt x="457200" y="54429"/>
                </a:cubicBezTo>
                <a:cubicBezTo>
                  <a:pt x="456112" y="43006"/>
                  <a:pt x="455651" y="28441"/>
                  <a:pt x="446314" y="21772"/>
                </a:cubicBezTo>
                <a:cubicBezTo>
                  <a:pt x="427640" y="8433"/>
                  <a:pt x="381000" y="0"/>
                  <a:pt x="381000" y="0"/>
                </a:cubicBezTo>
                <a:cubicBezTo>
                  <a:pt x="297543" y="3629"/>
                  <a:pt x="213570" y="933"/>
                  <a:pt x="130629" y="10886"/>
                </a:cubicBezTo>
                <a:cubicBezTo>
                  <a:pt x="120439" y="12109"/>
                  <a:pt x="117068" y="26500"/>
                  <a:pt x="108857" y="32658"/>
                </a:cubicBezTo>
                <a:cubicBezTo>
                  <a:pt x="102366" y="37526"/>
                  <a:pt x="81643" y="50801"/>
                  <a:pt x="76200" y="5442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0" name="Forme libre 9"/>
          <p:cNvSpPr/>
          <p:nvPr/>
        </p:nvSpPr>
        <p:spPr>
          <a:xfrm rot="2525241">
            <a:off x="5688013" y="2861394"/>
            <a:ext cx="469900" cy="392113"/>
          </a:xfrm>
          <a:custGeom>
            <a:avLst/>
            <a:gdLst>
              <a:gd name="connsiteX0" fmla="*/ 76200 w 468845"/>
              <a:gd name="connsiteY0" fmla="*/ 54429 h 391886"/>
              <a:gd name="connsiteX1" fmla="*/ 76200 w 468845"/>
              <a:gd name="connsiteY1" fmla="*/ 54429 h 391886"/>
              <a:gd name="connsiteX2" fmla="*/ 21771 w 468845"/>
              <a:gd name="connsiteY2" fmla="*/ 152400 h 391886"/>
              <a:gd name="connsiteX3" fmla="*/ 0 w 468845"/>
              <a:gd name="connsiteY3" fmla="*/ 217715 h 391886"/>
              <a:gd name="connsiteX4" fmla="*/ 43543 w 468845"/>
              <a:gd name="connsiteY4" fmla="*/ 315686 h 391886"/>
              <a:gd name="connsiteX5" fmla="*/ 87086 w 468845"/>
              <a:gd name="connsiteY5" fmla="*/ 359229 h 391886"/>
              <a:gd name="connsiteX6" fmla="*/ 152400 w 468845"/>
              <a:gd name="connsiteY6" fmla="*/ 381000 h 391886"/>
              <a:gd name="connsiteX7" fmla="*/ 185057 w 468845"/>
              <a:gd name="connsiteY7" fmla="*/ 391886 h 391886"/>
              <a:gd name="connsiteX8" fmla="*/ 348343 w 468845"/>
              <a:gd name="connsiteY8" fmla="*/ 381000 h 391886"/>
              <a:gd name="connsiteX9" fmla="*/ 402771 w 468845"/>
              <a:gd name="connsiteY9" fmla="*/ 326572 h 391886"/>
              <a:gd name="connsiteX10" fmla="*/ 435429 w 468845"/>
              <a:gd name="connsiteY10" fmla="*/ 304800 h 391886"/>
              <a:gd name="connsiteX11" fmla="*/ 446314 w 468845"/>
              <a:gd name="connsiteY11" fmla="*/ 272143 h 391886"/>
              <a:gd name="connsiteX12" fmla="*/ 468086 w 468845"/>
              <a:gd name="connsiteY12" fmla="*/ 250372 h 391886"/>
              <a:gd name="connsiteX13" fmla="*/ 457200 w 468845"/>
              <a:gd name="connsiteY13" fmla="*/ 54429 h 391886"/>
              <a:gd name="connsiteX14" fmla="*/ 446314 w 468845"/>
              <a:gd name="connsiteY14" fmla="*/ 21772 h 391886"/>
              <a:gd name="connsiteX15" fmla="*/ 381000 w 468845"/>
              <a:gd name="connsiteY15" fmla="*/ 0 h 391886"/>
              <a:gd name="connsiteX16" fmla="*/ 130629 w 468845"/>
              <a:gd name="connsiteY16" fmla="*/ 10886 h 391886"/>
              <a:gd name="connsiteX17" fmla="*/ 108857 w 468845"/>
              <a:gd name="connsiteY17" fmla="*/ 32658 h 391886"/>
              <a:gd name="connsiteX18" fmla="*/ 76200 w 468845"/>
              <a:gd name="connsiteY18" fmla="*/ 54429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8845" h="391886">
                <a:moveTo>
                  <a:pt x="76200" y="54429"/>
                </a:moveTo>
                <a:lnTo>
                  <a:pt x="76200" y="54429"/>
                </a:lnTo>
                <a:cubicBezTo>
                  <a:pt x="58057" y="87086"/>
                  <a:pt x="37569" y="118546"/>
                  <a:pt x="21771" y="152400"/>
                </a:cubicBezTo>
                <a:cubicBezTo>
                  <a:pt x="12066" y="173196"/>
                  <a:pt x="0" y="217715"/>
                  <a:pt x="0" y="217715"/>
                </a:cubicBezTo>
                <a:cubicBezTo>
                  <a:pt x="20363" y="380610"/>
                  <a:pt x="-20026" y="270279"/>
                  <a:pt x="43543" y="315686"/>
                </a:cubicBezTo>
                <a:cubicBezTo>
                  <a:pt x="60246" y="327617"/>
                  <a:pt x="67613" y="352738"/>
                  <a:pt x="87086" y="359229"/>
                </a:cubicBezTo>
                <a:lnTo>
                  <a:pt x="152400" y="381000"/>
                </a:lnTo>
                <a:lnTo>
                  <a:pt x="185057" y="391886"/>
                </a:lnTo>
                <a:cubicBezTo>
                  <a:pt x="239486" y="388257"/>
                  <a:pt x="294536" y="389968"/>
                  <a:pt x="348343" y="381000"/>
                </a:cubicBezTo>
                <a:cubicBezTo>
                  <a:pt x="383178" y="375194"/>
                  <a:pt x="382451" y="346892"/>
                  <a:pt x="402771" y="326572"/>
                </a:cubicBezTo>
                <a:cubicBezTo>
                  <a:pt x="412022" y="317321"/>
                  <a:pt x="424543" y="312057"/>
                  <a:pt x="435429" y="304800"/>
                </a:cubicBezTo>
                <a:cubicBezTo>
                  <a:pt x="439057" y="293914"/>
                  <a:pt x="440410" y="281982"/>
                  <a:pt x="446314" y="272143"/>
                </a:cubicBezTo>
                <a:cubicBezTo>
                  <a:pt x="451594" y="263342"/>
                  <a:pt x="467573" y="260622"/>
                  <a:pt x="468086" y="250372"/>
                </a:cubicBezTo>
                <a:cubicBezTo>
                  <a:pt x="471353" y="185039"/>
                  <a:pt x="463402" y="119549"/>
                  <a:pt x="457200" y="54429"/>
                </a:cubicBezTo>
                <a:cubicBezTo>
                  <a:pt x="456112" y="43006"/>
                  <a:pt x="455651" y="28441"/>
                  <a:pt x="446314" y="21772"/>
                </a:cubicBezTo>
                <a:cubicBezTo>
                  <a:pt x="427640" y="8433"/>
                  <a:pt x="381000" y="0"/>
                  <a:pt x="381000" y="0"/>
                </a:cubicBezTo>
                <a:cubicBezTo>
                  <a:pt x="297543" y="3629"/>
                  <a:pt x="213570" y="933"/>
                  <a:pt x="130629" y="10886"/>
                </a:cubicBezTo>
                <a:cubicBezTo>
                  <a:pt x="120439" y="12109"/>
                  <a:pt x="117068" y="26500"/>
                  <a:pt x="108857" y="32658"/>
                </a:cubicBezTo>
                <a:cubicBezTo>
                  <a:pt x="102366" y="37526"/>
                  <a:pt x="81643" y="50801"/>
                  <a:pt x="76200" y="54429"/>
                </a:cubicBez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1" name="Forme libre 10"/>
          <p:cNvSpPr/>
          <p:nvPr/>
        </p:nvSpPr>
        <p:spPr>
          <a:xfrm rot="4423028">
            <a:off x="5938838" y="2288307"/>
            <a:ext cx="468312" cy="392112"/>
          </a:xfrm>
          <a:custGeom>
            <a:avLst/>
            <a:gdLst>
              <a:gd name="connsiteX0" fmla="*/ 76200 w 468845"/>
              <a:gd name="connsiteY0" fmla="*/ 54429 h 391886"/>
              <a:gd name="connsiteX1" fmla="*/ 76200 w 468845"/>
              <a:gd name="connsiteY1" fmla="*/ 54429 h 391886"/>
              <a:gd name="connsiteX2" fmla="*/ 21771 w 468845"/>
              <a:gd name="connsiteY2" fmla="*/ 152400 h 391886"/>
              <a:gd name="connsiteX3" fmla="*/ 0 w 468845"/>
              <a:gd name="connsiteY3" fmla="*/ 217715 h 391886"/>
              <a:gd name="connsiteX4" fmla="*/ 43543 w 468845"/>
              <a:gd name="connsiteY4" fmla="*/ 315686 h 391886"/>
              <a:gd name="connsiteX5" fmla="*/ 87086 w 468845"/>
              <a:gd name="connsiteY5" fmla="*/ 359229 h 391886"/>
              <a:gd name="connsiteX6" fmla="*/ 152400 w 468845"/>
              <a:gd name="connsiteY6" fmla="*/ 381000 h 391886"/>
              <a:gd name="connsiteX7" fmla="*/ 185057 w 468845"/>
              <a:gd name="connsiteY7" fmla="*/ 391886 h 391886"/>
              <a:gd name="connsiteX8" fmla="*/ 348343 w 468845"/>
              <a:gd name="connsiteY8" fmla="*/ 381000 h 391886"/>
              <a:gd name="connsiteX9" fmla="*/ 402771 w 468845"/>
              <a:gd name="connsiteY9" fmla="*/ 326572 h 391886"/>
              <a:gd name="connsiteX10" fmla="*/ 435429 w 468845"/>
              <a:gd name="connsiteY10" fmla="*/ 304800 h 391886"/>
              <a:gd name="connsiteX11" fmla="*/ 446314 w 468845"/>
              <a:gd name="connsiteY11" fmla="*/ 272143 h 391886"/>
              <a:gd name="connsiteX12" fmla="*/ 468086 w 468845"/>
              <a:gd name="connsiteY12" fmla="*/ 250372 h 391886"/>
              <a:gd name="connsiteX13" fmla="*/ 457200 w 468845"/>
              <a:gd name="connsiteY13" fmla="*/ 54429 h 391886"/>
              <a:gd name="connsiteX14" fmla="*/ 446314 w 468845"/>
              <a:gd name="connsiteY14" fmla="*/ 21772 h 391886"/>
              <a:gd name="connsiteX15" fmla="*/ 381000 w 468845"/>
              <a:gd name="connsiteY15" fmla="*/ 0 h 391886"/>
              <a:gd name="connsiteX16" fmla="*/ 130629 w 468845"/>
              <a:gd name="connsiteY16" fmla="*/ 10886 h 391886"/>
              <a:gd name="connsiteX17" fmla="*/ 108857 w 468845"/>
              <a:gd name="connsiteY17" fmla="*/ 32658 h 391886"/>
              <a:gd name="connsiteX18" fmla="*/ 76200 w 468845"/>
              <a:gd name="connsiteY18" fmla="*/ 54429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8845" h="391886">
                <a:moveTo>
                  <a:pt x="76200" y="54429"/>
                </a:moveTo>
                <a:lnTo>
                  <a:pt x="76200" y="54429"/>
                </a:lnTo>
                <a:cubicBezTo>
                  <a:pt x="58057" y="87086"/>
                  <a:pt x="37569" y="118546"/>
                  <a:pt x="21771" y="152400"/>
                </a:cubicBezTo>
                <a:cubicBezTo>
                  <a:pt x="12066" y="173196"/>
                  <a:pt x="0" y="217715"/>
                  <a:pt x="0" y="217715"/>
                </a:cubicBezTo>
                <a:cubicBezTo>
                  <a:pt x="20363" y="380610"/>
                  <a:pt x="-20026" y="270279"/>
                  <a:pt x="43543" y="315686"/>
                </a:cubicBezTo>
                <a:cubicBezTo>
                  <a:pt x="60246" y="327617"/>
                  <a:pt x="67613" y="352738"/>
                  <a:pt x="87086" y="359229"/>
                </a:cubicBezTo>
                <a:lnTo>
                  <a:pt x="152400" y="381000"/>
                </a:lnTo>
                <a:lnTo>
                  <a:pt x="185057" y="391886"/>
                </a:lnTo>
                <a:cubicBezTo>
                  <a:pt x="239486" y="388257"/>
                  <a:pt x="294536" y="389968"/>
                  <a:pt x="348343" y="381000"/>
                </a:cubicBezTo>
                <a:cubicBezTo>
                  <a:pt x="383178" y="375194"/>
                  <a:pt x="382451" y="346892"/>
                  <a:pt x="402771" y="326572"/>
                </a:cubicBezTo>
                <a:cubicBezTo>
                  <a:pt x="412022" y="317321"/>
                  <a:pt x="424543" y="312057"/>
                  <a:pt x="435429" y="304800"/>
                </a:cubicBezTo>
                <a:cubicBezTo>
                  <a:pt x="439057" y="293914"/>
                  <a:pt x="440410" y="281982"/>
                  <a:pt x="446314" y="272143"/>
                </a:cubicBezTo>
                <a:cubicBezTo>
                  <a:pt x="451594" y="263342"/>
                  <a:pt x="467573" y="260622"/>
                  <a:pt x="468086" y="250372"/>
                </a:cubicBezTo>
                <a:cubicBezTo>
                  <a:pt x="471353" y="185039"/>
                  <a:pt x="463402" y="119549"/>
                  <a:pt x="457200" y="54429"/>
                </a:cubicBezTo>
                <a:cubicBezTo>
                  <a:pt x="456112" y="43006"/>
                  <a:pt x="455651" y="28441"/>
                  <a:pt x="446314" y="21772"/>
                </a:cubicBezTo>
                <a:cubicBezTo>
                  <a:pt x="427640" y="8433"/>
                  <a:pt x="381000" y="0"/>
                  <a:pt x="381000" y="0"/>
                </a:cubicBezTo>
                <a:cubicBezTo>
                  <a:pt x="297543" y="3629"/>
                  <a:pt x="213570" y="933"/>
                  <a:pt x="130629" y="10886"/>
                </a:cubicBezTo>
                <a:cubicBezTo>
                  <a:pt x="120439" y="12109"/>
                  <a:pt x="117068" y="26500"/>
                  <a:pt x="108857" y="32658"/>
                </a:cubicBezTo>
                <a:cubicBezTo>
                  <a:pt x="102366" y="37526"/>
                  <a:pt x="81643" y="50801"/>
                  <a:pt x="76200" y="5442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2" name="Forme libre 11"/>
          <p:cNvSpPr/>
          <p:nvPr/>
        </p:nvSpPr>
        <p:spPr>
          <a:xfrm>
            <a:off x="7654925" y="2321644"/>
            <a:ext cx="468313" cy="392113"/>
          </a:xfrm>
          <a:custGeom>
            <a:avLst/>
            <a:gdLst>
              <a:gd name="connsiteX0" fmla="*/ 76200 w 468845"/>
              <a:gd name="connsiteY0" fmla="*/ 54429 h 391886"/>
              <a:gd name="connsiteX1" fmla="*/ 76200 w 468845"/>
              <a:gd name="connsiteY1" fmla="*/ 54429 h 391886"/>
              <a:gd name="connsiteX2" fmla="*/ 21771 w 468845"/>
              <a:gd name="connsiteY2" fmla="*/ 152400 h 391886"/>
              <a:gd name="connsiteX3" fmla="*/ 0 w 468845"/>
              <a:gd name="connsiteY3" fmla="*/ 217715 h 391886"/>
              <a:gd name="connsiteX4" fmla="*/ 43543 w 468845"/>
              <a:gd name="connsiteY4" fmla="*/ 315686 h 391886"/>
              <a:gd name="connsiteX5" fmla="*/ 87086 w 468845"/>
              <a:gd name="connsiteY5" fmla="*/ 359229 h 391886"/>
              <a:gd name="connsiteX6" fmla="*/ 152400 w 468845"/>
              <a:gd name="connsiteY6" fmla="*/ 381000 h 391886"/>
              <a:gd name="connsiteX7" fmla="*/ 185057 w 468845"/>
              <a:gd name="connsiteY7" fmla="*/ 391886 h 391886"/>
              <a:gd name="connsiteX8" fmla="*/ 348343 w 468845"/>
              <a:gd name="connsiteY8" fmla="*/ 381000 h 391886"/>
              <a:gd name="connsiteX9" fmla="*/ 402771 w 468845"/>
              <a:gd name="connsiteY9" fmla="*/ 326572 h 391886"/>
              <a:gd name="connsiteX10" fmla="*/ 435429 w 468845"/>
              <a:gd name="connsiteY10" fmla="*/ 304800 h 391886"/>
              <a:gd name="connsiteX11" fmla="*/ 446314 w 468845"/>
              <a:gd name="connsiteY11" fmla="*/ 272143 h 391886"/>
              <a:gd name="connsiteX12" fmla="*/ 468086 w 468845"/>
              <a:gd name="connsiteY12" fmla="*/ 250372 h 391886"/>
              <a:gd name="connsiteX13" fmla="*/ 457200 w 468845"/>
              <a:gd name="connsiteY13" fmla="*/ 54429 h 391886"/>
              <a:gd name="connsiteX14" fmla="*/ 446314 w 468845"/>
              <a:gd name="connsiteY14" fmla="*/ 21772 h 391886"/>
              <a:gd name="connsiteX15" fmla="*/ 381000 w 468845"/>
              <a:gd name="connsiteY15" fmla="*/ 0 h 391886"/>
              <a:gd name="connsiteX16" fmla="*/ 130629 w 468845"/>
              <a:gd name="connsiteY16" fmla="*/ 10886 h 391886"/>
              <a:gd name="connsiteX17" fmla="*/ 108857 w 468845"/>
              <a:gd name="connsiteY17" fmla="*/ 32658 h 391886"/>
              <a:gd name="connsiteX18" fmla="*/ 76200 w 468845"/>
              <a:gd name="connsiteY18" fmla="*/ 54429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8845" h="391886">
                <a:moveTo>
                  <a:pt x="76200" y="54429"/>
                </a:moveTo>
                <a:lnTo>
                  <a:pt x="76200" y="54429"/>
                </a:lnTo>
                <a:cubicBezTo>
                  <a:pt x="58057" y="87086"/>
                  <a:pt x="37569" y="118546"/>
                  <a:pt x="21771" y="152400"/>
                </a:cubicBezTo>
                <a:cubicBezTo>
                  <a:pt x="12066" y="173196"/>
                  <a:pt x="0" y="217715"/>
                  <a:pt x="0" y="217715"/>
                </a:cubicBezTo>
                <a:cubicBezTo>
                  <a:pt x="20363" y="380610"/>
                  <a:pt x="-20026" y="270279"/>
                  <a:pt x="43543" y="315686"/>
                </a:cubicBezTo>
                <a:cubicBezTo>
                  <a:pt x="60246" y="327617"/>
                  <a:pt x="67613" y="352738"/>
                  <a:pt x="87086" y="359229"/>
                </a:cubicBezTo>
                <a:lnTo>
                  <a:pt x="152400" y="381000"/>
                </a:lnTo>
                <a:lnTo>
                  <a:pt x="185057" y="391886"/>
                </a:lnTo>
                <a:cubicBezTo>
                  <a:pt x="239486" y="388257"/>
                  <a:pt x="294536" y="389968"/>
                  <a:pt x="348343" y="381000"/>
                </a:cubicBezTo>
                <a:cubicBezTo>
                  <a:pt x="383178" y="375194"/>
                  <a:pt x="382451" y="346892"/>
                  <a:pt x="402771" y="326572"/>
                </a:cubicBezTo>
                <a:cubicBezTo>
                  <a:pt x="412022" y="317321"/>
                  <a:pt x="424543" y="312057"/>
                  <a:pt x="435429" y="304800"/>
                </a:cubicBezTo>
                <a:cubicBezTo>
                  <a:pt x="439057" y="293914"/>
                  <a:pt x="440410" y="281982"/>
                  <a:pt x="446314" y="272143"/>
                </a:cubicBezTo>
                <a:cubicBezTo>
                  <a:pt x="451594" y="263342"/>
                  <a:pt x="467573" y="260622"/>
                  <a:pt x="468086" y="250372"/>
                </a:cubicBezTo>
                <a:cubicBezTo>
                  <a:pt x="471353" y="185039"/>
                  <a:pt x="463402" y="119549"/>
                  <a:pt x="457200" y="54429"/>
                </a:cubicBezTo>
                <a:cubicBezTo>
                  <a:pt x="456112" y="43006"/>
                  <a:pt x="455651" y="28441"/>
                  <a:pt x="446314" y="21772"/>
                </a:cubicBezTo>
                <a:cubicBezTo>
                  <a:pt x="427640" y="8433"/>
                  <a:pt x="381000" y="0"/>
                  <a:pt x="381000" y="0"/>
                </a:cubicBezTo>
                <a:cubicBezTo>
                  <a:pt x="297543" y="3629"/>
                  <a:pt x="213570" y="933"/>
                  <a:pt x="130629" y="10886"/>
                </a:cubicBezTo>
                <a:cubicBezTo>
                  <a:pt x="120439" y="12109"/>
                  <a:pt x="117068" y="26500"/>
                  <a:pt x="108857" y="32658"/>
                </a:cubicBezTo>
                <a:cubicBezTo>
                  <a:pt x="102366" y="37526"/>
                  <a:pt x="81643" y="50801"/>
                  <a:pt x="76200" y="5442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" name="Forme libre 12"/>
          <p:cNvSpPr/>
          <p:nvPr/>
        </p:nvSpPr>
        <p:spPr>
          <a:xfrm rot="8885053">
            <a:off x="7935913" y="2410544"/>
            <a:ext cx="468312" cy="392113"/>
          </a:xfrm>
          <a:custGeom>
            <a:avLst/>
            <a:gdLst>
              <a:gd name="connsiteX0" fmla="*/ 76200 w 468845"/>
              <a:gd name="connsiteY0" fmla="*/ 54429 h 391886"/>
              <a:gd name="connsiteX1" fmla="*/ 76200 w 468845"/>
              <a:gd name="connsiteY1" fmla="*/ 54429 h 391886"/>
              <a:gd name="connsiteX2" fmla="*/ 21771 w 468845"/>
              <a:gd name="connsiteY2" fmla="*/ 152400 h 391886"/>
              <a:gd name="connsiteX3" fmla="*/ 0 w 468845"/>
              <a:gd name="connsiteY3" fmla="*/ 217715 h 391886"/>
              <a:gd name="connsiteX4" fmla="*/ 43543 w 468845"/>
              <a:gd name="connsiteY4" fmla="*/ 315686 h 391886"/>
              <a:gd name="connsiteX5" fmla="*/ 87086 w 468845"/>
              <a:gd name="connsiteY5" fmla="*/ 359229 h 391886"/>
              <a:gd name="connsiteX6" fmla="*/ 152400 w 468845"/>
              <a:gd name="connsiteY6" fmla="*/ 381000 h 391886"/>
              <a:gd name="connsiteX7" fmla="*/ 185057 w 468845"/>
              <a:gd name="connsiteY7" fmla="*/ 391886 h 391886"/>
              <a:gd name="connsiteX8" fmla="*/ 348343 w 468845"/>
              <a:gd name="connsiteY8" fmla="*/ 381000 h 391886"/>
              <a:gd name="connsiteX9" fmla="*/ 402771 w 468845"/>
              <a:gd name="connsiteY9" fmla="*/ 326572 h 391886"/>
              <a:gd name="connsiteX10" fmla="*/ 435429 w 468845"/>
              <a:gd name="connsiteY10" fmla="*/ 304800 h 391886"/>
              <a:gd name="connsiteX11" fmla="*/ 446314 w 468845"/>
              <a:gd name="connsiteY11" fmla="*/ 272143 h 391886"/>
              <a:gd name="connsiteX12" fmla="*/ 468086 w 468845"/>
              <a:gd name="connsiteY12" fmla="*/ 250372 h 391886"/>
              <a:gd name="connsiteX13" fmla="*/ 457200 w 468845"/>
              <a:gd name="connsiteY13" fmla="*/ 54429 h 391886"/>
              <a:gd name="connsiteX14" fmla="*/ 446314 w 468845"/>
              <a:gd name="connsiteY14" fmla="*/ 21772 h 391886"/>
              <a:gd name="connsiteX15" fmla="*/ 381000 w 468845"/>
              <a:gd name="connsiteY15" fmla="*/ 0 h 391886"/>
              <a:gd name="connsiteX16" fmla="*/ 130629 w 468845"/>
              <a:gd name="connsiteY16" fmla="*/ 10886 h 391886"/>
              <a:gd name="connsiteX17" fmla="*/ 108857 w 468845"/>
              <a:gd name="connsiteY17" fmla="*/ 32658 h 391886"/>
              <a:gd name="connsiteX18" fmla="*/ 76200 w 468845"/>
              <a:gd name="connsiteY18" fmla="*/ 54429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8845" h="391886">
                <a:moveTo>
                  <a:pt x="76200" y="54429"/>
                </a:moveTo>
                <a:lnTo>
                  <a:pt x="76200" y="54429"/>
                </a:lnTo>
                <a:cubicBezTo>
                  <a:pt x="58057" y="87086"/>
                  <a:pt x="37569" y="118546"/>
                  <a:pt x="21771" y="152400"/>
                </a:cubicBezTo>
                <a:cubicBezTo>
                  <a:pt x="12066" y="173196"/>
                  <a:pt x="0" y="217715"/>
                  <a:pt x="0" y="217715"/>
                </a:cubicBezTo>
                <a:cubicBezTo>
                  <a:pt x="20363" y="380610"/>
                  <a:pt x="-20026" y="270279"/>
                  <a:pt x="43543" y="315686"/>
                </a:cubicBezTo>
                <a:cubicBezTo>
                  <a:pt x="60246" y="327617"/>
                  <a:pt x="67613" y="352738"/>
                  <a:pt x="87086" y="359229"/>
                </a:cubicBezTo>
                <a:lnTo>
                  <a:pt x="152400" y="381000"/>
                </a:lnTo>
                <a:lnTo>
                  <a:pt x="185057" y="391886"/>
                </a:lnTo>
                <a:cubicBezTo>
                  <a:pt x="239486" y="388257"/>
                  <a:pt x="294536" y="389968"/>
                  <a:pt x="348343" y="381000"/>
                </a:cubicBezTo>
                <a:cubicBezTo>
                  <a:pt x="383178" y="375194"/>
                  <a:pt x="382451" y="346892"/>
                  <a:pt x="402771" y="326572"/>
                </a:cubicBezTo>
                <a:cubicBezTo>
                  <a:pt x="412022" y="317321"/>
                  <a:pt x="424543" y="312057"/>
                  <a:pt x="435429" y="304800"/>
                </a:cubicBezTo>
                <a:cubicBezTo>
                  <a:pt x="439057" y="293914"/>
                  <a:pt x="440410" y="281982"/>
                  <a:pt x="446314" y="272143"/>
                </a:cubicBezTo>
                <a:cubicBezTo>
                  <a:pt x="451594" y="263342"/>
                  <a:pt x="467573" y="260622"/>
                  <a:pt x="468086" y="250372"/>
                </a:cubicBezTo>
                <a:cubicBezTo>
                  <a:pt x="471353" y="185039"/>
                  <a:pt x="463402" y="119549"/>
                  <a:pt x="457200" y="54429"/>
                </a:cubicBezTo>
                <a:cubicBezTo>
                  <a:pt x="456112" y="43006"/>
                  <a:pt x="455651" y="28441"/>
                  <a:pt x="446314" y="21772"/>
                </a:cubicBezTo>
                <a:cubicBezTo>
                  <a:pt x="427640" y="8433"/>
                  <a:pt x="381000" y="0"/>
                  <a:pt x="381000" y="0"/>
                </a:cubicBezTo>
                <a:cubicBezTo>
                  <a:pt x="297543" y="3629"/>
                  <a:pt x="213570" y="933"/>
                  <a:pt x="130629" y="10886"/>
                </a:cubicBezTo>
                <a:cubicBezTo>
                  <a:pt x="120439" y="12109"/>
                  <a:pt x="117068" y="26500"/>
                  <a:pt x="108857" y="32658"/>
                </a:cubicBezTo>
                <a:cubicBezTo>
                  <a:pt x="102366" y="37526"/>
                  <a:pt x="81643" y="50801"/>
                  <a:pt x="76200" y="5442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" name="Forme libre 13"/>
          <p:cNvSpPr/>
          <p:nvPr/>
        </p:nvSpPr>
        <p:spPr>
          <a:xfrm rot="19300896">
            <a:off x="7567613" y="2023194"/>
            <a:ext cx="469900" cy="390525"/>
          </a:xfrm>
          <a:custGeom>
            <a:avLst/>
            <a:gdLst>
              <a:gd name="connsiteX0" fmla="*/ 76200 w 468845"/>
              <a:gd name="connsiteY0" fmla="*/ 54429 h 391886"/>
              <a:gd name="connsiteX1" fmla="*/ 76200 w 468845"/>
              <a:gd name="connsiteY1" fmla="*/ 54429 h 391886"/>
              <a:gd name="connsiteX2" fmla="*/ 21771 w 468845"/>
              <a:gd name="connsiteY2" fmla="*/ 152400 h 391886"/>
              <a:gd name="connsiteX3" fmla="*/ 0 w 468845"/>
              <a:gd name="connsiteY3" fmla="*/ 217715 h 391886"/>
              <a:gd name="connsiteX4" fmla="*/ 43543 w 468845"/>
              <a:gd name="connsiteY4" fmla="*/ 315686 h 391886"/>
              <a:gd name="connsiteX5" fmla="*/ 87086 w 468845"/>
              <a:gd name="connsiteY5" fmla="*/ 359229 h 391886"/>
              <a:gd name="connsiteX6" fmla="*/ 152400 w 468845"/>
              <a:gd name="connsiteY6" fmla="*/ 381000 h 391886"/>
              <a:gd name="connsiteX7" fmla="*/ 185057 w 468845"/>
              <a:gd name="connsiteY7" fmla="*/ 391886 h 391886"/>
              <a:gd name="connsiteX8" fmla="*/ 348343 w 468845"/>
              <a:gd name="connsiteY8" fmla="*/ 381000 h 391886"/>
              <a:gd name="connsiteX9" fmla="*/ 402771 w 468845"/>
              <a:gd name="connsiteY9" fmla="*/ 326572 h 391886"/>
              <a:gd name="connsiteX10" fmla="*/ 435429 w 468845"/>
              <a:gd name="connsiteY10" fmla="*/ 304800 h 391886"/>
              <a:gd name="connsiteX11" fmla="*/ 446314 w 468845"/>
              <a:gd name="connsiteY11" fmla="*/ 272143 h 391886"/>
              <a:gd name="connsiteX12" fmla="*/ 468086 w 468845"/>
              <a:gd name="connsiteY12" fmla="*/ 250372 h 391886"/>
              <a:gd name="connsiteX13" fmla="*/ 457200 w 468845"/>
              <a:gd name="connsiteY13" fmla="*/ 54429 h 391886"/>
              <a:gd name="connsiteX14" fmla="*/ 446314 w 468845"/>
              <a:gd name="connsiteY14" fmla="*/ 21772 h 391886"/>
              <a:gd name="connsiteX15" fmla="*/ 381000 w 468845"/>
              <a:gd name="connsiteY15" fmla="*/ 0 h 391886"/>
              <a:gd name="connsiteX16" fmla="*/ 130629 w 468845"/>
              <a:gd name="connsiteY16" fmla="*/ 10886 h 391886"/>
              <a:gd name="connsiteX17" fmla="*/ 108857 w 468845"/>
              <a:gd name="connsiteY17" fmla="*/ 32658 h 391886"/>
              <a:gd name="connsiteX18" fmla="*/ 76200 w 468845"/>
              <a:gd name="connsiteY18" fmla="*/ 54429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8845" h="391886">
                <a:moveTo>
                  <a:pt x="76200" y="54429"/>
                </a:moveTo>
                <a:lnTo>
                  <a:pt x="76200" y="54429"/>
                </a:lnTo>
                <a:cubicBezTo>
                  <a:pt x="58057" y="87086"/>
                  <a:pt x="37569" y="118546"/>
                  <a:pt x="21771" y="152400"/>
                </a:cubicBezTo>
                <a:cubicBezTo>
                  <a:pt x="12066" y="173196"/>
                  <a:pt x="0" y="217715"/>
                  <a:pt x="0" y="217715"/>
                </a:cubicBezTo>
                <a:cubicBezTo>
                  <a:pt x="20363" y="380610"/>
                  <a:pt x="-20026" y="270279"/>
                  <a:pt x="43543" y="315686"/>
                </a:cubicBezTo>
                <a:cubicBezTo>
                  <a:pt x="60246" y="327617"/>
                  <a:pt x="67613" y="352738"/>
                  <a:pt x="87086" y="359229"/>
                </a:cubicBezTo>
                <a:lnTo>
                  <a:pt x="152400" y="381000"/>
                </a:lnTo>
                <a:lnTo>
                  <a:pt x="185057" y="391886"/>
                </a:lnTo>
                <a:cubicBezTo>
                  <a:pt x="239486" y="388257"/>
                  <a:pt x="294536" y="389968"/>
                  <a:pt x="348343" y="381000"/>
                </a:cubicBezTo>
                <a:cubicBezTo>
                  <a:pt x="383178" y="375194"/>
                  <a:pt x="382451" y="346892"/>
                  <a:pt x="402771" y="326572"/>
                </a:cubicBezTo>
                <a:cubicBezTo>
                  <a:pt x="412022" y="317321"/>
                  <a:pt x="424543" y="312057"/>
                  <a:pt x="435429" y="304800"/>
                </a:cubicBezTo>
                <a:cubicBezTo>
                  <a:pt x="439057" y="293914"/>
                  <a:pt x="440410" y="281982"/>
                  <a:pt x="446314" y="272143"/>
                </a:cubicBezTo>
                <a:cubicBezTo>
                  <a:pt x="451594" y="263342"/>
                  <a:pt x="467573" y="260622"/>
                  <a:pt x="468086" y="250372"/>
                </a:cubicBezTo>
                <a:cubicBezTo>
                  <a:pt x="471353" y="185039"/>
                  <a:pt x="463402" y="119549"/>
                  <a:pt x="457200" y="54429"/>
                </a:cubicBezTo>
                <a:cubicBezTo>
                  <a:pt x="456112" y="43006"/>
                  <a:pt x="455651" y="28441"/>
                  <a:pt x="446314" y="21772"/>
                </a:cubicBezTo>
                <a:cubicBezTo>
                  <a:pt x="427640" y="8433"/>
                  <a:pt x="381000" y="0"/>
                  <a:pt x="381000" y="0"/>
                </a:cubicBezTo>
                <a:cubicBezTo>
                  <a:pt x="297543" y="3629"/>
                  <a:pt x="213570" y="933"/>
                  <a:pt x="130629" y="10886"/>
                </a:cubicBezTo>
                <a:cubicBezTo>
                  <a:pt x="120439" y="12109"/>
                  <a:pt x="117068" y="26500"/>
                  <a:pt x="108857" y="32658"/>
                </a:cubicBezTo>
                <a:cubicBezTo>
                  <a:pt x="102366" y="37526"/>
                  <a:pt x="81643" y="50801"/>
                  <a:pt x="76200" y="5442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5" name="Forme libre 14"/>
          <p:cNvSpPr/>
          <p:nvPr/>
        </p:nvSpPr>
        <p:spPr>
          <a:xfrm rot="2525241">
            <a:off x="7751763" y="3091582"/>
            <a:ext cx="468312" cy="392112"/>
          </a:xfrm>
          <a:custGeom>
            <a:avLst/>
            <a:gdLst>
              <a:gd name="connsiteX0" fmla="*/ 76200 w 468845"/>
              <a:gd name="connsiteY0" fmla="*/ 54429 h 391886"/>
              <a:gd name="connsiteX1" fmla="*/ 76200 w 468845"/>
              <a:gd name="connsiteY1" fmla="*/ 54429 h 391886"/>
              <a:gd name="connsiteX2" fmla="*/ 21771 w 468845"/>
              <a:gd name="connsiteY2" fmla="*/ 152400 h 391886"/>
              <a:gd name="connsiteX3" fmla="*/ 0 w 468845"/>
              <a:gd name="connsiteY3" fmla="*/ 217715 h 391886"/>
              <a:gd name="connsiteX4" fmla="*/ 43543 w 468845"/>
              <a:gd name="connsiteY4" fmla="*/ 315686 h 391886"/>
              <a:gd name="connsiteX5" fmla="*/ 87086 w 468845"/>
              <a:gd name="connsiteY5" fmla="*/ 359229 h 391886"/>
              <a:gd name="connsiteX6" fmla="*/ 152400 w 468845"/>
              <a:gd name="connsiteY6" fmla="*/ 381000 h 391886"/>
              <a:gd name="connsiteX7" fmla="*/ 185057 w 468845"/>
              <a:gd name="connsiteY7" fmla="*/ 391886 h 391886"/>
              <a:gd name="connsiteX8" fmla="*/ 348343 w 468845"/>
              <a:gd name="connsiteY8" fmla="*/ 381000 h 391886"/>
              <a:gd name="connsiteX9" fmla="*/ 402771 w 468845"/>
              <a:gd name="connsiteY9" fmla="*/ 326572 h 391886"/>
              <a:gd name="connsiteX10" fmla="*/ 435429 w 468845"/>
              <a:gd name="connsiteY10" fmla="*/ 304800 h 391886"/>
              <a:gd name="connsiteX11" fmla="*/ 446314 w 468845"/>
              <a:gd name="connsiteY11" fmla="*/ 272143 h 391886"/>
              <a:gd name="connsiteX12" fmla="*/ 468086 w 468845"/>
              <a:gd name="connsiteY12" fmla="*/ 250372 h 391886"/>
              <a:gd name="connsiteX13" fmla="*/ 457200 w 468845"/>
              <a:gd name="connsiteY13" fmla="*/ 54429 h 391886"/>
              <a:gd name="connsiteX14" fmla="*/ 446314 w 468845"/>
              <a:gd name="connsiteY14" fmla="*/ 21772 h 391886"/>
              <a:gd name="connsiteX15" fmla="*/ 381000 w 468845"/>
              <a:gd name="connsiteY15" fmla="*/ 0 h 391886"/>
              <a:gd name="connsiteX16" fmla="*/ 130629 w 468845"/>
              <a:gd name="connsiteY16" fmla="*/ 10886 h 391886"/>
              <a:gd name="connsiteX17" fmla="*/ 108857 w 468845"/>
              <a:gd name="connsiteY17" fmla="*/ 32658 h 391886"/>
              <a:gd name="connsiteX18" fmla="*/ 76200 w 468845"/>
              <a:gd name="connsiteY18" fmla="*/ 54429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8845" h="391886">
                <a:moveTo>
                  <a:pt x="76200" y="54429"/>
                </a:moveTo>
                <a:lnTo>
                  <a:pt x="76200" y="54429"/>
                </a:lnTo>
                <a:cubicBezTo>
                  <a:pt x="58057" y="87086"/>
                  <a:pt x="37569" y="118546"/>
                  <a:pt x="21771" y="152400"/>
                </a:cubicBezTo>
                <a:cubicBezTo>
                  <a:pt x="12066" y="173196"/>
                  <a:pt x="0" y="217715"/>
                  <a:pt x="0" y="217715"/>
                </a:cubicBezTo>
                <a:cubicBezTo>
                  <a:pt x="20363" y="380610"/>
                  <a:pt x="-20026" y="270279"/>
                  <a:pt x="43543" y="315686"/>
                </a:cubicBezTo>
                <a:cubicBezTo>
                  <a:pt x="60246" y="327617"/>
                  <a:pt x="67613" y="352738"/>
                  <a:pt x="87086" y="359229"/>
                </a:cubicBezTo>
                <a:lnTo>
                  <a:pt x="152400" y="381000"/>
                </a:lnTo>
                <a:lnTo>
                  <a:pt x="185057" y="391886"/>
                </a:lnTo>
                <a:cubicBezTo>
                  <a:pt x="239486" y="388257"/>
                  <a:pt x="294536" y="389968"/>
                  <a:pt x="348343" y="381000"/>
                </a:cubicBezTo>
                <a:cubicBezTo>
                  <a:pt x="383178" y="375194"/>
                  <a:pt x="382451" y="346892"/>
                  <a:pt x="402771" y="326572"/>
                </a:cubicBezTo>
                <a:cubicBezTo>
                  <a:pt x="412022" y="317321"/>
                  <a:pt x="424543" y="312057"/>
                  <a:pt x="435429" y="304800"/>
                </a:cubicBezTo>
                <a:cubicBezTo>
                  <a:pt x="439057" y="293914"/>
                  <a:pt x="440410" y="281982"/>
                  <a:pt x="446314" y="272143"/>
                </a:cubicBezTo>
                <a:cubicBezTo>
                  <a:pt x="451594" y="263342"/>
                  <a:pt x="467573" y="260622"/>
                  <a:pt x="468086" y="250372"/>
                </a:cubicBezTo>
                <a:cubicBezTo>
                  <a:pt x="471353" y="185039"/>
                  <a:pt x="463402" y="119549"/>
                  <a:pt x="457200" y="54429"/>
                </a:cubicBezTo>
                <a:cubicBezTo>
                  <a:pt x="456112" y="43006"/>
                  <a:pt x="455651" y="28441"/>
                  <a:pt x="446314" y="21772"/>
                </a:cubicBezTo>
                <a:cubicBezTo>
                  <a:pt x="427640" y="8433"/>
                  <a:pt x="381000" y="0"/>
                  <a:pt x="381000" y="0"/>
                </a:cubicBezTo>
                <a:cubicBezTo>
                  <a:pt x="297543" y="3629"/>
                  <a:pt x="213570" y="933"/>
                  <a:pt x="130629" y="10886"/>
                </a:cubicBezTo>
                <a:cubicBezTo>
                  <a:pt x="120439" y="12109"/>
                  <a:pt x="117068" y="26500"/>
                  <a:pt x="108857" y="32658"/>
                </a:cubicBezTo>
                <a:cubicBezTo>
                  <a:pt x="102366" y="37526"/>
                  <a:pt x="81643" y="50801"/>
                  <a:pt x="76200" y="54429"/>
                </a:cubicBez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6" name="Forme libre 15"/>
          <p:cNvSpPr/>
          <p:nvPr/>
        </p:nvSpPr>
        <p:spPr>
          <a:xfrm rot="4423028">
            <a:off x="7896226" y="2072406"/>
            <a:ext cx="468312" cy="392113"/>
          </a:xfrm>
          <a:custGeom>
            <a:avLst/>
            <a:gdLst>
              <a:gd name="connsiteX0" fmla="*/ 76200 w 468845"/>
              <a:gd name="connsiteY0" fmla="*/ 54429 h 391886"/>
              <a:gd name="connsiteX1" fmla="*/ 76200 w 468845"/>
              <a:gd name="connsiteY1" fmla="*/ 54429 h 391886"/>
              <a:gd name="connsiteX2" fmla="*/ 21771 w 468845"/>
              <a:gd name="connsiteY2" fmla="*/ 152400 h 391886"/>
              <a:gd name="connsiteX3" fmla="*/ 0 w 468845"/>
              <a:gd name="connsiteY3" fmla="*/ 217715 h 391886"/>
              <a:gd name="connsiteX4" fmla="*/ 43543 w 468845"/>
              <a:gd name="connsiteY4" fmla="*/ 315686 h 391886"/>
              <a:gd name="connsiteX5" fmla="*/ 87086 w 468845"/>
              <a:gd name="connsiteY5" fmla="*/ 359229 h 391886"/>
              <a:gd name="connsiteX6" fmla="*/ 152400 w 468845"/>
              <a:gd name="connsiteY6" fmla="*/ 381000 h 391886"/>
              <a:gd name="connsiteX7" fmla="*/ 185057 w 468845"/>
              <a:gd name="connsiteY7" fmla="*/ 391886 h 391886"/>
              <a:gd name="connsiteX8" fmla="*/ 348343 w 468845"/>
              <a:gd name="connsiteY8" fmla="*/ 381000 h 391886"/>
              <a:gd name="connsiteX9" fmla="*/ 402771 w 468845"/>
              <a:gd name="connsiteY9" fmla="*/ 326572 h 391886"/>
              <a:gd name="connsiteX10" fmla="*/ 435429 w 468845"/>
              <a:gd name="connsiteY10" fmla="*/ 304800 h 391886"/>
              <a:gd name="connsiteX11" fmla="*/ 446314 w 468845"/>
              <a:gd name="connsiteY11" fmla="*/ 272143 h 391886"/>
              <a:gd name="connsiteX12" fmla="*/ 468086 w 468845"/>
              <a:gd name="connsiteY12" fmla="*/ 250372 h 391886"/>
              <a:gd name="connsiteX13" fmla="*/ 457200 w 468845"/>
              <a:gd name="connsiteY13" fmla="*/ 54429 h 391886"/>
              <a:gd name="connsiteX14" fmla="*/ 446314 w 468845"/>
              <a:gd name="connsiteY14" fmla="*/ 21772 h 391886"/>
              <a:gd name="connsiteX15" fmla="*/ 381000 w 468845"/>
              <a:gd name="connsiteY15" fmla="*/ 0 h 391886"/>
              <a:gd name="connsiteX16" fmla="*/ 130629 w 468845"/>
              <a:gd name="connsiteY16" fmla="*/ 10886 h 391886"/>
              <a:gd name="connsiteX17" fmla="*/ 108857 w 468845"/>
              <a:gd name="connsiteY17" fmla="*/ 32658 h 391886"/>
              <a:gd name="connsiteX18" fmla="*/ 76200 w 468845"/>
              <a:gd name="connsiteY18" fmla="*/ 54429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8845" h="391886">
                <a:moveTo>
                  <a:pt x="76200" y="54429"/>
                </a:moveTo>
                <a:lnTo>
                  <a:pt x="76200" y="54429"/>
                </a:lnTo>
                <a:cubicBezTo>
                  <a:pt x="58057" y="87086"/>
                  <a:pt x="37569" y="118546"/>
                  <a:pt x="21771" y="152400"/>
                </a:cubicBezTo>
                <a:cubicBezTo>
                  <a:pt x="12066" y="173196"/>
                  <a:pt x="0" y="217715"/>
                  <a:pt x="0" y="217715"/>
                </a:cubicBezTo>
                <a:cubicBezTo>
                  <a:pt x="20363" y="380610"/>
                  <a:pt x="-20026" y="270279"/>
                  <a:pt x="43543" y="315686"/>
                </a:cubicBezTo>
                <a:cubicBezTo>
                  <a:pt x="60246" y="327617"/>
                  <a:pt x="67613" y="352738"/>
                  <a:pt x="87086" y="359229"/>
                </a:cubicBezTo>
                <a:lnTo>
                  <a:pt x="152400" y="381000"/>
                </a:lnTo>
                <a:lnTo>
                  <a:pt x="185057" y="391886"/>
                </a:lnTo>
                <a:cubicBezTo>
                  <a:pt x="239486" y="388257"/>
                  <a:pt x="294536" y="389968"/>
                  <a:pt x="348343" y="381000"/>
                </a:cubicBezTo>
                <a:cubicBezTo>
                  <a:pt x="383178" y="375194"/>
                  <a:pt x="382451" y="346892"/>
                  <a:pt x="402771" y="326572"/>
                </a:cubicBezTo>
                <a:cubicBezTo>
                  <a:pt x="412022" y="317321"/>
                  <a:pt x="424543" y="312057"/>
                  <a:pt x="435429" y="304800"/>
                </a:cubicBezTo>
                <a:cubicBezTo>
                  <a:pt x="439057" y="293914"/>
                  <a:pt x="440410" y="281982"/>
                  <a:pt x="446314" y="272143"/>
                </a:cubicBezTo>
                <a:cubicBezTo>
                  <a:pt x="451594" y="263342"/>
                  <a:pt x="467573" y="260622"/>
                  <a:pt x="468086" y="250372"/>
                </a:cubicBezTo>
                <a:cubicBezTo>
                  <a:pt x="471353" y="185039"/>
                  <a:pt x="463402" y="119549"/>
                  <a:pt x="457200" y="54429"/>
                </a:cubicBezTo>
                <a:cubicBezTo>
                  <a:pt x="456112" y="43006"/>
                  <a:pt x="455651" y="28441"/>
                  <a:pt x="446314" y="21772"/>
                </a:cubicBezTo>
                <a:cubicBezTo>
                  <a:pt x="427640" y="8433"/>
                  <a:pt x="381000" y="0"/>
                  <a:pt x="381000" y="0"/>
                </a:cubicBezTo>
                <a:cubicBezTo>
                  <a:pt x="297543" y="3629"/>
                  <a:pt x="213570" y="933"/>
                  <a:pt x="130629" y="10886"/>
                </a:cubicBezTo>
                <a:cubicBezTo>
                  <a:pt x="120439" y="12109"/>
                  <a:pt x="117068" y="26500"/>
                  <a:pt x="108857" y="32658"/>
                </a:cubicBezTo>
                <a:cubicBezTo>
                  <a:pt x="102366" y="37526"/>
                  <a:pt x="81643" y="50801"/>
                  <a:pt x="76200" y="5442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488" y="4590182"/>
            <a:ext cx="936625" cy="59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488" y="5374407"/>
            <a:ext cx="906462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9" name="Connecteur droit 18"/>
          <p:cNvCxnSpPr/>
          <p:nvPr/>
        </p:nvCxnSpPr>
        <p:spPr>
          <a:xfrm>
            <a:off x="6948488" y="1988269"/>
            <a:ext cx="0" cy="4249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5307013" y="1200869"/>
            <a:ext cx="126365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Au niveau de l’alliage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7308850" y="1200869"/>
            <a:ext cx="126365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Au niveau des phases</a:t>
            </a:r>
          </a:p>
        </p:txBody>
      </p:sp>
      <p:sp>
        <p:nvSpPr>
          <p:cNvPr id="22" name="Ellipse 21"/>
          <p:cNvSpPr>
            <a:spLocks noChangeAspect="1"/>
          </p:cNvSpPr>
          <p:nvPr/>
        </p:nvSpPr>
        <p:spPr>
          <a:xfrm>
            <a:off x="8229520" y="4661340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1831107"/>
            <a:ext cx="4892675" cy="162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4213944"/>
            <a:ext cx="5067300" cy="164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Ellipse 24"/>
          <p:cNvSpPr>
            <a:spLocks noChangeAspect="1"/>
          </p:cNvSpPr>
          <p:nvPr/>
        </p:nvSpPr>
        <p:spPr>
          <a:xfrm>
            <a:off x="8244408" y="4813740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6" name="Ellipse 25"/>
          <p:cNvSpPr>
            <a:spLocks noChangeAspect="1"/>
          </p:cNvSpPr>
          <p:nvPr/>
        </p:nvSpPr>
        <p:spPr>
          <a:xfrm>
            <a:off x="8100392" y="4672985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7" name="Ellipse 26"/>
          <p:cNvSpPr>
            <a:spLocks noChangeAspect="1"/>
          </p:cNvSpPr>
          <p:nvPr/>
        </p:nvSpPr>
        <p:spPr>
          <a:xfrm>
            <a:off x="8100392" y="4825360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8" name="Ellipse 27"/>
          <p:cNvSpPr>
            <a:spLocks noChangeAspect="1"/>
          </p:cNvSpPr>
          <p:nvPr/>
        </p:nvSpPr>
        <p:spPr>
          <a:xfrm>
            <a:off x="8375566" y="4829548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9" name="Ellipse 28"/>
          <p:cNvSpPr>
            <a:spLocks noChangeAspect="1"/>
          </p:cNvSpPr>
          <p:nvPr/>
        </p:nvSpPr>
        <p:spPr>
          <a:xfrm>
            <a:off x="8197039" y="4915997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0" name="Ellipse 29"/>
          <p:cNvSpPr>
            <a:spLocks noChangeAspect="1"/>
          </p:cNvSpPr>
          <p:nvPr/>
        </p:nvSpPr>
        <p:spPr>
          <a:xfrm>
            <a:off x="8247484" y="4438241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1" name="Ellipse 30"/>
          <p:cNvSpPr>
            <a:spLocks noChangeAspect="1"/>
          </p:cNvSpPr>
          <p:nvPr/>
        </p:nvSpPr>
        <p:spPr>
          <a:xfrm>
            <a:off x="8250276" y="457207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2" name="Ellipse 31"/>
          <p:cNvSpPr>
            <a:spLocks noChangeAspect="1"/>
          </p:cNvSpPr>
          <p:nvPr/>
        </p:nvSpPr>
        <p:spPr>
          <a:xfrm>
            <a:off x="8100392" y="4404920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3" name="Ellipse 32"/>
          <p:cNvSpPr>
            <a:spLocks noChangeAspect="1"/>
          </p:cNvSpPr>
          <p:nvPr/>
        </p:nvSpPr>
        <p:spPr>
          <a:xfrm>
            <a:off x="8115280" y="4557320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4" name="Ellipse 33"/>
          <p:cNvSpPr>
            <a:spLocks noChangeAspect="1"/>
          </p:cNvSpPr>
          <p:nvPr/>
        </p:nvSpPr>
        <p:spPr>
          <a:xfrm>
            <a:off x="8392307" y="454717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5" name="Ellipse 34"/>
          <p:cNvSpPr>
            <a:spLocks noChangeAspect="1"/>
          </p:cNvSpPr>
          <p:nvPr/>
        </p:nvSpPr>
        <p:spPr>
          <a:xfrm>
            <a:off x="8353958" y="4709720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6" name="Ellipse 35"/>
          <p:cNvSpPr>
            <a:spLocks noChangeAspect="1"/>
          </p:cNvSpPr>
          <p:nvPr/>
        </p:nvSpPr>
        <p:spPr>
          <a:xfrm>
            <a:off x="8013496" y="518559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7" name="Ellipse 36"/>
          <p:cNvSpPr>
            <a:spLocks noChangeAspect="1"/>
          </p:cNvSpPr>
          <p:nvPr/>
        </p:nvSpPr>
        <p:spPr>
          <a:xfrm>
            <a:off x="8474336" y="4987820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8" name="Ellipse 37"/>
          <p:cNvSpPr>
            <a:spLocks noChangeAspect="1"/>
          </p:cNvSpPr>
          <p:nvPr/>
        </p:nvSpPr>
        <p:spPr>
          <a:xfrm>
            <a:off x="7884368" y="5197239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9" name="Ellipse 38"/>
          <p:cNvSpPr>
            <a:spLocks noChangeAspect="1"/>
          </p:cNvSpPr>
          <p:nvPr/>
        </p:nvSpPr>
        <p:spPr>
          <a:xfrm>
            <a:off x="8330320" y="4999440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0" name="Ellipse 39"/>
          <p:cNvSpPr>
            <a:spLocks noChangeAspect="1"/>
          </p:cNvSpPr>
          <p:nvPr/>
        </p:nvSpPr>
        <p:spPr>
          <a:xfrm>
            <a:off x="8605494" y="5003628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1" name="Ellipse 40"/>
          <p:cNvSpPr>
            <a:spLocks noChangeAspect="1"/>
          </p:cNvSpPr>
          <p:nvPr/>
        </p:nvSpPr>
        <p:spPr>
          <a:xfrm>
            <a:off x="8426967" y="5090077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2" name="Ellipse 41"/>
          <p:cNvSpPr>
            <a:spLocks noChangeAspect="1"/>
          </p:cNvSpPr>
          <p:nvPr/>
        </p:nvSpPr>
        <p:spPr>
          <a:xfrm>
            <a:off x="8031460" y="4962495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3" name="Ellipse 42"/>
          <p:cNvSpPr>
            <a:spLocks noChangeAspect="1"/>
          </p:cNvSpPr>
          <p:nvPr/>
        </p:nvSpPr>
        <p:spPr>
          <a:xfrm>
            <a:off x="8034252" y="5096328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4" name="Ellipse 43"/>
          <p:cNvSpPr>
            <a:spLocks noChangeAspect="1"/>
          </p:cNvSpPr>
          <p:nvPr/>
        </p:nvSpPr>
        <p:spPr>
          <a:xfrm>
            <a:off x="7884368" y="492917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5" name="Ellipse 44"/>
          <p:cNvSpPr>
            <a:spLocks noChangeAspect="1"/>
          </p:cNvSpPr>
          <p:nvPr/>
        </p:nvSpPr>
        <p:spPr>
          <a:xfrm>
            <a:off x="7899256" y="508157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6" name="Ellipse 45"/>
          <p:cNvSpPr>
            <a:spLocks noChangeAspect="1"/>
          </p:cNvSpPr>
          <p:nvPr/>
        </p:nvSpPr>
        <p:spPr>
          <a:xfrm>
            <a:off x="8176283" y="5071428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7" name="Ellipse 46"/>
          <p:cNvSpPr>
            <a:spLocks noChangeAspect="1"/>
          </p:cNvSpPr>
          <p:nvPr/>
        </p:nvSpPr>
        <p:spPr>
          <a:xfrm>
            <a:off x="8583886" y="4883800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8" name="Ellipse 47"/>
          <p:cNvSpPr>
            <a:spLocks noChangeAspect="1"/>
          </p:cNvSpPr>
          <p:nvPr/>
        </p:nvSpPr>
        <p:spPr>
          <a:xfrm>
            <a:off x="8929688" y="4631457"/>
            <a:ext cx="106362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9" name="Ellipse 48"/>
          <p:cNvSpPr>
            <a:spLocks noChangeAspect="1"/>
          </p:cNvSpPr>
          <p:nvPr/>
        </p:nvSpPr>
        <p:spPr>
          <a:xfrm>
            <a:off x="8751888" y="4717182"/>
            <a:ext cx="106362" cy="1079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0" name="Ellipse 49"/>
          <p:cNvSpPr>
            <a:spLocks noChangeAspect="1"/>
          </p:cNvSpPr>
          <p:nvPr/>
        </p:nvSpPr>
        <p:spPr>
          <a:xfrm>
            <a:off x="8909050" y="4512394"/>
            <a:ext cx="106363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1" name="Ellipse 50"/>
          <p:cNvSpPr>
            <a:spLocks noChangeAspect="1"/>
          </p:cNvSpPr>
          <p:nvPr/>
        </p:nvSpPr>
        <p:spPr>
          <a:xfrm>
            <a:off x="8158163" y="5741119"/>
            <a:ext cx="106362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2" name="Ellipse 51"/>
          <p:cNvSpPr>
            <a:spLocks noChangeAspect="1"/>
          </p:cNvSpPr>
          <p:nvPr/>
        </p:nvSpPr>
        <p:spPr>
          <a:xfrm>
            <a:off x="8172450" y="5893519"/>
            <a:ext cx="106363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3" name="Ellipse 52"/>
          <p:cNvSpPr>
            <a:spLocks noChangeAspect="1"/>
          </p:cNvSpPr>
          <p:nvPr/>
        </p:nvSpPr>
        <p:spPr>
          <a:xfrm>
            <a:off x="8027988" y="5753819"/>
            <a:ext cx="106362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4" name="Ellipse 53"/>
          <p:cNvSpPr>
            <a:spLocks noChangeAspect="1"/>
          </p:cNvSpPr>
          <p:nvPr/>
        </p:nvSpPr>
        <p:spPr>
          <a:xfrm>
            <a:off x="8027988" y="5906219"/>
            <a:ext cx="106362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5" name="Ellipse 54"/>
          <p:cNvSpPr>
            <a:spLocks noChangeAspect="1"/>
          </p:cNvSpPr>
          <p:nvPr/>
        </p:nvSpPr>
        <p:spPr>
          <a:xfrm>
            <a:off x="8304213" y="5909394"/>
            <a:ext cx="106362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6" name="Ellipse 55"/>
          <p:cNvSpPr>
            <a:spLocks noChangeAspect="1"/>
          </p:cNvSpPr>
          <p:nvPr/>
        </p:nvSpPr>
        <p:spPr>
          <a:xfrm>
            <a:off x="8124825" y="5996707"/>
            <a:ext cx="106363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7" name="Ellipse 56"/>
          <p:cNvSpPr>
            <a:spLocks noChangeAspect="1"/>
          </p:cNvSpPr>
          <p:nvPr/>
        </p:nvSpPr>
        <p:spPr>
          <a:xfrm>
            <a:off x="8175625" y="5518869"/>
            <a:ext cx="106363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8" name="Ellipse 57"/>
          <p:cNvSpPr>
            <a:spLocks noChangeAspect="1"/>
          </p:cNvSpPr>
          <p:nvPr/>
        </p:nvSpPr>
        <p:spPr>
          <a:xfrm>
            <a:off x="8178800" y="5652219"/>
            <a:ext cx="106363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9" name="Ellipse 58"/>
          <p:cNvSpPr>
            <a:spLocks noChangeAspect="1"/>
          </p:cNvSpPr>
          <p:nvPr/>
        </p:nvSpPr>
        <p:spPr>
          <a:xfrm>
            <a:off x="8043863" y="5637932"/>
            <a:ext cx="106362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0" name="Ellipse 59"/>
          <p:cNvSpPr>
            <a:spLocks noChangeAspect="1"/>
          </p:cNvSpPr>
          <p:nvPr/>
        </p:nvSpPr>
        <p:spPr>
          <a:xfrm>
            <a:off x="8320088" y="5626819"/>
            <a:ext cx="106362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1" name="Ellipse 60"/>
          <p:cNvSpPr>
            <a:spLocks noChangeAspect="1"/>
          </p:cNvSpPr>
          <p:nvPr/>
        </p:nvSpPr>
        <p:spPr>
          <a:xfrm>
            <a:off x="8281988" y="5790332"/>
            <a:ext cx="106362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2" name="Ellipse 61"/>
          <p:cNvSpPr>
            <a:spLocks noChangeAspect="1"/>
          </p:cNvSpPr>
          <p:nvPr/>
        </p:nvSpPr>
        <p:spPr>
          <a:xfrm>
            <a:off x="7942263" y="6264994"/>
            <a:ext cx="106362" cy="1079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3" name="Ellipse 62"/>
          <p:cNvSpPr>
            <a:spLocks noChangeAspect="1"/>
          </p:cNvSpPr>
          <p:nvPr/>
        </p:nvSpPr>
        <p:spPr>
          <a:xfrm>
            <a:off x="8402638" y="6068144"/>
            <a:ext cx="106362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4" name="Ellipse 63"/>
          <p:cNvSpPr>
            <a:spLocks noChangeAspect="1"/>
          </p:cNvSpPr>
          <p:nvPr/>
        </p:nvSpPr>
        <p:spPr>
          <a:xfrm>
            <a:off x="8258175" y="6079257"/>
            <a:ext cx="106363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5" name="Ellipse 64"/>
          <p:cNvSpPr>
            <a:spLocks noChangeAspect="1"/>
          </p:cNvSpPr>
          <p:nvPr/>
        </p:nvSpPr>
        <p:spPr>
          <a:xfrm>
            <a:off x="8532813" y="6084019"/>
            <a:ext cx="106362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6" name="Ellipse 65"/>
          <p:cNvSpPr>
            <a:spLocks noChangeAspect="1"/>
          </p:cNvSpPr>
          <p:nvPr/>
        </p:nvSpPr>
        <p:spPr>
          <a:xfrm>
            <a:off x="8355013" y="6169744"/>
            <a:ext cx="106362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7" name="Ellipse 66"/>
          <p:cNvSpPr>
            <a:spLocks noChangeAspect="1"/>
          </p:cNvSpPr>
          <p:nvPr/>
        </p:nvSpPr>
        <p:spPr>
          <a:xfrm>
            <a:off x="7959725" y="6042744"/>
            <a:ext cx="106363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8" name="Ellipse 67"/>
          <p:cNvSpPr>
            <a:spLocks noChangeAspect="1"/>
          </p:cNvSpPr>
          <p:nvPr/>
        </p:nvSpPr>
        <p:spPr>
          <a:xfrm>
            <a:off x="7962900" y="6176094"/>
            <a:ext cx="106363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9" name="Ellipse 68"/>
          <p:cNvSpPr>
            <a:spLocks noChangeAspect="1"/>
          </p:cNvSpPr>
          <p:nvPr/>
        </p:nvSpPr>
        <p:spPr>
          <a:xfrm>
            <a:off x="7812088" y="6009407"/>
            <a:ext cx="106362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0" name="Ellipse 69"/>
          <p:cNvSpPr>
            <a:spLocks noChangeAspect="1"/>
          </p:cNvSpPr>
          <p:nvPr/>
        </p:nvSpPr>
        <p:spPr>
          <a:xfrm>
            <a:off x="7827963" y="6161807"/>
            <a:ext cx="106362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1" name="Ellipse 70"/>
          <p:cNvSpPr>
            <a:spLocks noChangeAspect="1"/>
          </p:cNvSpPr>
          <p:nvPr/>
        </p:nvSpPr>
        <p:spPr>
          <a:xfrm>
            <a:off x="8104188" y="6152282"/>
            <a:ext cx="106362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2" name="Ellipse 71"/>
          <p:cNvSpPr>
            <a:spLocks noChangeAspect="1"/>
          </p:cNvSpPr>
          <p:nvPr/>
        </p:nvSpPr>
        <p:spPr>
          <a:xfrm>
            <a:off x="8512175" y="5963369"/>
            <a:ext cx="106363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3" name="Ellipse 72"/>
          <p:cNvSpPr>
            <a:spLocks noChangeAspect="1"/>
          </p:cNvSpPr>
          <p:nvPr/>
        </p:nvSpPr>
        <p:spPr>
          <a:xfrm>
            <a:off x="8786006" y="5614846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4" name="Ellipse 73"/>
          <p:cNvSpPr>
            <a:spLocks noChangeAspect="1"/>
          </p:cNvSpPr>
          <p:nvPr/>
        </p:nvSpPr>
        <p:spPr>
          <a:xfrm>
            <a:off x="8607479" y="5701295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5" name="Ellipse 74"/>
          <p:cNvSpPr>
            <a:spLocks noChangeAspect="1"/>
          </p:cNvSpPr>
          <p:nvPr/>
        </p:nvSpPr>
        <p:spPr>
          <a:xfrm>
            <a:off x="8764398" y="5495018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6" name="Ellipse 75"/>
          <p:cNvSpPr>
            <a:spLocks noChangeAspect="1"/>
          </p:cNvSpPr>
          <p:nvPr/>
        </p:nvSpPr>
        <p:spPr>
          <a:xfrm>
            <a:off x="5529712" y="487736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7" name="Ellipse 76"/>
          <p:cNvSpPr>
            <a:spLocks noChangeAspect="1"/>
          </p:cNvSpPr>
          <p:nvPr/>
        </p:nvSpPr>
        <p:spPr>
          <a:xfrm>
            <a:off x="5544600" y="502976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8" name="Ellipse 77"/>
          <p:cNvSpPr>
            <a:spLocks noChangeAspect="1"/>
          </p:cNvSpPr>
          <p:nvPr/>
        </p:nvSpPr>
        <p:spPr>
          <a:xfrm>
            <a:off x="5400584" y="4889009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9" name="Ellipse 78"/>
          <p:cNvSpPr>
            <a:spLocks noChangeAspect="1"/>
          </p:cNvSpPr>
          <p:nvPr/>
        </p:nvSpPr>
        <p:spPr>
          <a:xfrm>
            <a:off x="5400584" y="504138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0" name="Ellipse 79"/>
          <p:cNvSpPr>
            <a:spLocks noChangeAspect="1"/>
          </p:cNvSpPr>
          <p:nvPr/>
        </p:nvSpPr>
        <p:spPr>
          <a:xfrm>
            <a:off x="5675758" y="5045572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1" name="Ellipse 80"/>
          <p:cNvSpPr>
            <a:spLocks noChangeAspect="1"/>
          </p:cNvSpPr>
          <p:nvPr/>
        </p:nvSpPr>
        <p:spPr>
          <a:xfrm>
            <a:off x="5497231" y="5132021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2" name="Ellipse 81"/>
          <p:cNvSpPr>
            <a:spLocks noChangeAspect="1"/>
          </p:cNvSpPr>
          <p:nvPr/>
        </p:nvSpPr>
        <p:spPr>
          <a:xfrm>
            <a:off x="5547676" y="4654265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3" name="Ellipse 82"/>
          <p:cNvSpPr>
            <a:spLocks noChangeAspect="1"/>
          </p:cNvSpPr>
          <p:nvPr/>
        </p:nvSpPr>
        <p:spPr>
          <a:xfrm>
            <a:off x="5550468" y="4788098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4" name="Ellipse 83"/>
          <p:cNvSpPr>
            <a:spLocks noChangeAspect="1"/>
          </p:cNvSpPr>
          <p:nvPr/>
        </p:nvSpPr>
        <p:spPr>
          <a:xfrm>
            <a:off x="5400584" y="462094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5" name="Ellipse 84"/>
          <p:cNvSpPr>
            <a:spLocks noChangeAspect="1"/>
          </p:cNvSpPr>
          <p:nvPr/>
        </p:nvSpPr>
        <p:spPr>
          <a:xfrm>
            <a:off x="5415472" y="477334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6" name="Ellipse 85"/>
          <p:cNvSpPr>
            <a:spLocks noChangeAspect="1"/>
          </p:cNvSpPr>
          <p:nvPr/>
        </p:nvSpPr>
        <p:spPr>
          <a:xfrm>
            <a:off x="5692499" y="4763198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7" name="Ellipse 86"/>
          <p:cNvSpPr>
            <a:spLocks noChangeAspect="1"/>
          </p:cNvSpPr>
          <p:nvPr/>
        </p:nvSpPr>
        <p:spPr>
          <a:xfrm>
            <a:off x="5654150" y="492574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8" name="Ellipse 87"/>
          <p:cNvSpPr>
            <a:spLocks noChangeAspect="1"/>
          </p:cNvSpPr>
          <p:nvPr/>
        </p:nvSpPr>
        <p:spPr>
          <a:xfrm>
            <a:off x="5313688" y="5401618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9" name="Ellipse 88"/>
          <p:cNvSpPr>
            <a:spLocks noChangeAspect="1"/>
          </p:cNvSpPr>
          <p:nvPr/>
        </p:nvSpPr>
        <p:spPr>
          <a:xfrm>
            <a:off x="5774528" y="520384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0" name="Ellipse 89"/>
          <p:cNvSpPr>
            <a:spLocks noChangeAspect="1"/>
          </p:cNvSpPr>
          <p:nvPr/>
        </p:nvSpPr>
        <p:spPr>
          <a:xfrm>
            <a:off x="5184560" y="5413263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1" name="Ellipse 90"/>
          <p:cNvSpPr>
            <a:spLocks noChangeAspect="1"/>
          </p:cNvSpPr>
          <p:nvPr/>
        </p:nvSpPr>
        <p:spPr>
          <a:xfrm>
            <a:off x="5630512" y="521546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2" name="Ellipse 91"/>
          <p:cNvSpPr>
            <a:spLocks noChangeAspect="1"/>
          </p:cNvSpPr>
          <p:nvPr/>
        </p:nvSpPr>
        <p:spPr>
          <a:xfrm>
            <a:off x="5905686" y="5219652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3" name="Ellipse 92"/>
          <p:cNvSpPr>
            <a:spLocks noChangeAspect="1"/>
          </p:cNvSpPr>
          <p:nvPr/>
        </p:nvSpPr>
        <p:spPr>
          <a:xfrm>
            <a:off x="5727159" y="5306101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4" name="Ellipse 93"/>
          <p:cNvSpPr>
            <a:spLocks noChangeAspect="1"/>
          </p:cNvSpPr>
          <p:nvPr/>
        </p:nvSpPr>
        <p:spPr>
          <a:xfrm>
            <a:off x="5331652" y="5178519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5" name="Ellipse 94"/>
          <p:cNvSpPr>
            <a:spLocks noChangeAspect="1"/>
          </p:cNvSpPr>
          <p:nvPr/>
        </p:nvSpPr>
        <p:spPr>
          <a:xfrm>
            <a:off x="5334444" y="5312352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6" name="Ellipse 95"/>
          <p:cNvSpPr>
            <a:spLocks noChangeAspect="1"/>
          </p:cNvSpPr>
          <p:nvPr/>
        </p:nvSpPr>
        <p:spPr>
          <a:xfrm>
            <a:off x="5184560" y="5145198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7" name="Ellipse 96"/>
          <p:cNvSpPr>
            <a:spLocks noChangeAspect="1"/>
          </p:cNvSpPr>
          <p:nvPr/>
        </p:nvSpPr>
        <p:spPr>
          <a:xfrm>
            <a:off x="5199448" y="5297598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8" name="Ellipse 97"/>
          <p:cNvSpPr>
            <a:spLocks noChangeAspect="1"/>
          </p:cNvSpPr>
          <p:nvPr/>
        </p:nvSpPr>
        <p:spPr>
          <a:xfrm>
            <a:off x="5476475" y="5287452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9" name="Ellipse 98"/>
          <p:cNvSpPr>
            <a:spLocks noChangeAspect="1"/>
          </p:cNvSpPr>
          <p:nvPr/>
        </p:nvSpPr>
        <p:spPr>
          <a:xfrm>
            <a:off x="5884078" y="509982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00" name="Ellipse 99"/>
          <p:cNvSpPr>
            <a:spLocks noChangeAspect="1"/>
          </p:cNvSpPr>
          <p:nvPr/>
        </p:nvSpPr>
        <p:spPr>
          <a:xfrm>
            <a:off x="5564223" y="5471238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01" name="Ellipse 100"/>
          <p:cNvSpPr>
            <a:spLocks noChangeAspect="1"/>
          </p:cNvSpPr>
          <p:nvPr/>
        </p:nvSpPr>
        <p:spPr>
          <a:xfrm>
            <a:off x="5435095" y="5482883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02" name="Ellipse 101"/>
          <p:cNvSpPr>
            <a:spLocks noChangeAspect="1"/>
          </p:cNvSpPr>
          <p:nvPr/>
        </p:nvSpPr>
        <p:spPr>
          <a:xfrm>
            <a:off x="5977694" y="5375721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03" name="Ellipse 102"/>
          <p:cNvSpPr>
            <a:spLocks noChangeAspect="1"/>
          </p:cNvSpPr>
          <p:nvPr/>
        </p:nvSpPr>
        <p:spPr>
          <a:xfrm>
            <a:off x="5584979" y="5381972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04" name="Ellipse 103"/>
          <p:cNvSpPr>
            <a:spLocks noChangeAspect="1"/>
          </p:cNvSpPr>
          <p:nvPr/>
        </p:nvSpPr>
        <p:spPr>
          <a:xfrm>
            <a:off x="5974663" y="4775469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05" name="Ellipse 104"/>
          <p:cNvSpPr>
            <a:spLocks noChangeAspect="1"/>
          </p:cNvSpPr>
          <p:nvPr/>
        </p:nvSpPr>
        <p:spPr>
          <a:xfrm>
            <a:off x="5796136" y="4861918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06" name="Ellipse 105"/>
          <p:cNvSpPr>
            <a:spLocks noChangeAspect="1"/>
          </p:cNvSpPr>
          <p:nvPr/>
        </p:nvSpPr>
        <p:spPr>
          <a:xfrm>
            <a:off x="5953055" y="4655641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07" name="Ellipse 106"/>
          <p:cNvSpPr>
            <a:spLocks noChangeAspect="1"/>
          </p:cNvSpPr>
          <p:nvPr/>
        </p:nvSpPr>
        <p:spPr>
          <a:xfrm>
            <a:off x="5853113" y="5893519"/>
            <a:ext cx="106362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08" name="Ellipse 107"/>
          <p:cNvSpPr>
            <a:spLocks noChangeAspect="1"/>
          </p:cNvSpPr>
          <p:nvPr/>
        </p:nvSpPr>
        <p:spPr>
          <a:xfrm>
            <a:off x="5867400" y="6045919"/>
            <a:ext cx="107950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09" name="Ellipse 108"/>
          <p:cNvSpPr>
            <a:spLocks noChangeAspect="1"/>
          </p:cNvSpPr>
          <p:nvPr/>
        </p:nvSpPr>
        <p:spPr>
          <a:xfrm>
            <a:off x="5724525" y="5906219"/>
            <a:ext cx="106363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10" name="Ellipse 109"/>
          <p:cNvSpPr>
            <a:spLocks noChangeAspect="1"/>
          </p:cNvSpPr>
          <p:nvPr/>
        </p:nvSpPr>
        <p:spPr>
          <a:xfrm>
            <a:off x="5724525" y="6058619"/>
            <a:ext cx="106363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11" name="Ellipse 110"/>
          <p:cNvSpPr>
            <a:spLocks noChangeAspect="1"/>
          </p:cNvSpPr>
          <p:nvPr/>
        </p:nvSpPr>
        <p:spPr>
          <a:xfrm>
            <a:off x="5999163" y="6061794"/>
            <a:ext cx="106362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12" name="Ellipse 111"/>
          <p:cNvSpPr>
            <a:spLocks noChangeAspect="1"/>
          </p:cNvSpPr>
          <p:nvPr/>
        </p:nvSpPr>
        <p:spPr>
          <a:xfrm>
            <a:off x="5821363" y="6149107"/>
            <a:ext cx="106362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13" name="Ellipse 112"/>
          <p:cNvSpPr>
            <a:spLocks noChangeAspect="1"/>
          </p:cNvSpPr>
          <p:nvPr/>
        </p:nvSpPr>
        <p:spPr>
          <a:xfrm>
            <a:off x="5870575" y="5671269"/>
            <a:ext cx="106363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14" name="Ellipse 113"/>
          <p:cNvSpPr>
            <a:spLocks noChangeAspect="1"/>
          </p:cNvSpPr>
          <p:nvPr/>
        </p:nvSpPr>
        <p:spPr>
          <a:xfrm>
            <a:off x="5873750" y="5804619"/>
            <a:ext cx="106363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15" name="Ellipse 114"/>
          <p:cNvSpPr>
            <a:spLocks noChangeAspect="1"/>
          </p:cNvSpPr>
          <p:nvPr/>
        </p:nvSpPr>
        <p:spPr>
          <a:xfrm>
            <a:off x="5738813" y="5790332"/>
            <a:ext cx="106362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16" name="Ellipse 115"/>
          <p:cNvSpPr>
            <a:spLocks noChangeAspect="1"/>
          </p:cNvSpPr>
          <p:nvPr/>
        </p:nvSpPr>
        <p:spPr>
          <a:xfrm>
            <a:off x="6016625" y="5779219"/>
            <a:ext cx="106363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17" name="Ellipse 116"/>
          <p:cNvSpPr>
            <a:spLocks noChangeAspect="1"/>
          </p:cNvSpPr>
          <p:nvPr/>
        </p:nvSpPr>
        <p:spPr>
          <a:xfrm>
            <a:off x="5976938" y="5942732"/>
            <a:ext cx="107950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18" name="Ellipse 117"/>
          <p:cNvSpPr>
            <a:spLocks noChangeAspect="1"/>
          </p:cNvSpPr>
          <p:nvPr/>
        </p:nvSpPr>
        <p:spPr>
          <a:xfrm>
            <a:off x="5637213" y="6417394"/>
            <a:ext cx="106362" cy="1079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19" name="Ellipse 118"/>
          <p:cNvSpPr>
            <a:spLocks noChangeAspect="1"/>
          </p:cNvSpPr>
          <p:nvPr/>
        </p:nvSpPr>
        <p:spPr>
          <a:xfrm>
            <a:off x="6097588" y="6220544"/>
            <a:ext cx="106362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20" name="Ellipse 119"/>
          <p:cNvSpPr>
            <a:spLocks noChangeAspect="1"/>
          </p:cNvSpPr>
          <p:nvPr/>
        </p:nvSpPr>
        <p:spPr>
          <a:xfrm>
            <a:off x="5954713" y="6231657"/>
            <a:ext cx="106362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21" name="Ellipse 120"/>
          <p:cNvSpPr>
            <a:spLocks noChangeAspect="1"/>
          </p:cNvSpPr>
          <p:nvPr/>
        </p:nvSpPr>
        <p:spPr>
          <a:xfrm>
            <a:off x="6049963" y="6322144"/>
            <a:ext cx="107950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22" name="Ellipse 121"/>
          <p:cNvSpPr>
            <a:spLocks noChangeAspect="1"/>
          </p:cNvSpPr>
          <p:nvPr/>
        </p:nvSpPr>
        <p:spPr>
          <a:xfrm>
            <a:off x="5654675" y="6195144"/>
            <a:ext cx="106363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23" name="Ellipse 122"/>
          <p:cNvSpPr>
            <a:spLocks noChangeAspect="1"/>
          </p:cNvSpPr>
          <p:nvPr/>
        </p:nvSpPr>
        <p:spPr>
          <a:xfrm>
            <a:off x="5657850" y="6328494"/>
            <a:ext cx="106363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24" name="Ellipse 123"/>
          <p:cNvSpPr>
            <a:spLocks noChangeAspect="1"/>
          </p:cNvSpPr>
          <p:nvPr/>
        </p:nvSpPr>
        <p:spPr>
          <a:xfrm>
            <a:off x="5508625" y="6161807"/>
            <a:ext cx="106363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25" name="Ellipse 124"/>
          <p:cNvSpPr>
            <a:spLocks noChangeAspect="1"/>
          </p:cNvSpPr>
          <p:nvPr/>
        </p:nvSpPr>
        <p:spPr>
          <a:xfrm>
            <a:off x="5522913" y="6314207"/>
            <a:ext cx="106362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26" name="Ellipse 125"/>
          <p:cNvSpPr>
            <a:spLocks noChangeAspect="1"/>
          </p:cNvSpPr>
          <p:nvPr/>
        </p:nvSpPr>
        <p:spPr>
          <a:xfrm>
            <a:off x="5800725" y="6304682"/>
            <a:ext cx="106363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27" name="Ellipse 126"/>
          <p:cNvSpPr>
            <a:spLocks noChangeAspect="1"/>
          </p:cNvSpPr>
          <p:nvPr/>
        </p:nvSpPr>
        <p:spPr>
          <a:xfrm>
            <a:off x="6180138" y="5741119"/>
            <a:ext cx="106362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28" name="Ellipse 127"/>
          <p:cNvSpPr>
            <a:spLocks noChangeAspect="1"/>
          </p:cNvSpPr>
          <p:nvPr/>
        </p:nvSpPr>
        <p:spPr>
          <a:xfrm>
            <a:off x="6194425" y="5893519"/>
            <a:ext cx="106363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29" name="Ellipse 128"/>
          <p:cNvSpPr>
            <a:spLocks noChangeAspect="1"/>
          </p:cNvSpPr>
          <p:nvPr/>
        </p:nvSpPr>
        <p:spPr>
          <a:xfrm>
            <a:off x="6259654" y="4624029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0" name="Ellipse 129"/>
          <p:cNvSpPr>
            <a:spLocks noChangeAspect="1"/>
          </p:cNvSpPr>
          <p:nvPr/>
        </p:nvSpPr>
        <p:spPr>
          <a:xfrm>
            <a:off x="6274542" y="4776429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1" name="Ellipse 130"/>
          <p:cNvSpPr>
            <a:spLocks noChangeAspect="1"/>
          </p:cNvSpPr>
          <p:nvPr/>
        </p:nvSpPr>
        <p:spPr>
          <a:xfrm>
            <a:off x="6130526" y="463567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2" name="Ellipse 131"/>
          <p:cNvSpPr>
            <a:spLocks noChangeAspect="1"/>
          </p:cNvSpPr>
          <p:nvPr/>
        </p:nvSpPr>
        <p:spPr>
          <a:xfrm>
            <a:off x="6130526" y="4788049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3" name="Ellipse 132"/>
          <p:cNvSpPr>
            <a:spLocks noChangeAspect="1"/>
          </p:cNvSpPr>
          <p:nvPr/>
        </p:nvSpPr>
        <p:spPr>
          <a:xfrm>
            <a:off x="6405700" y="4792237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4" name="Ellipse 133"/>
          <p:cNvSpPr>
            <a:spLocks noChangeAspect="1"/>
          </p:cNvSpPr>
          <p:nvPr/>
        </p:nvSpPr>
        <p:spPr>
          <a:xfrm>
            <a:off x="6227173" y="4878686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5" name="Ellipse 134"/>
          <p:cNvSpPr>
            <a:spLocks noChangeAspect="1"/>
          </p:cNvSpPr>
          <p:nvPr/>
        </p:nvSpPr>
        <p:spPr>
          <a:xfrm>
            <a:off x="6277618" y="4400930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6" name="Ellipse 135"/>
          <p:cNvSpPr>
            <a:spLocks noChangeAspect="1"/>
          </p:cNvSpPr>
          <p:nvPr/>
        </p:nvSpPr>
        <p:spPr>
          <a:xfrm>
            <a:off x="6280410" y="4534763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7" name="Ellipse 136"/>
          <p:cNvSpPr>
            <a:spLocks noChangeAspect="1"/>
          </p:cNvSpPr>
          <p:nvPr/>
        </p:nvSpPr>
        <p:spPr>
          <a:xfrm>
            <a:off x="6130526" y="4367609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8" name="Ellipse 137"/>
          <p:cNvSpPr>
            <a:spLocks noChangeAspect="1"/>
          </p:cNvSpPr>
          <p:nvPr/>
        </p:nvSpPr>
        <p:spPr>
          <a:xfrm>
            <a:off x="6145414" y="4520009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9" name="Ellipse 138"/>
          <p:cNvSpPr>
            <a:spLocks noChangeAspect="1"/>
          </p:cNvSpPr>
          <p:nvPr/>
        </p:nvSpPr>
        <p:spPr>
          <a:xfrm>
            <a:off x="6422441" y="4509863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0" name="Ellipse 139"/>
          <p:cNvSpPr>
            <a:spLocks noChangeAspect="1"/>
          </p:cNvSpPr>
          <p:nvPr/>
        </p:nvSpPr>
        <p:spPr>
          <a:xfrm>
            <a:off x="6384092" y="4672409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1" name="Ellipse 140"/>
          <p:cNvSpPr>
            <a:spLocks noChangeAspect="1"/>
          </p:cNvSpPr>
          <p:nvPr/>
        </p:nvSpPr>
        <p:spPr>
          <a:xfrm>
            <a:off x="6043630" y="5148283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2" name="Ellipse 141"/>
          <p:cNvSpPr>
            <a:spLocks noChangeAspect="1"/>
          </p:cNvSpPr>
          <p:nvPr/>
        </p:nvSpPr>
        <p:spPr>
          <a:xfrm>
            <a:off x="6504470" y="4950509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3" name="Ellipse 142"/>
          <p:cNvSpPr>
            <a:spLocks noChangeAspect="1"/>
          </p:cNvSpPr>
          <p:nvPr/>
        </p:nvSpPr>
        <p:spPr>
          <a:xfrm>
            <a:off x="6360454" y="4962129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4" name="Ellipse 143"/>
          <p:cNvSpPr>
            <a:spLocks noChangeAspect="1"/>
          </p:cNvSpPr>
          <p:nvPr/>
        </p:nvSpPr>
        <p:spPr>
          <a:xfrm>
            <a:off x="6635628" y="4966317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5" name="Ellipse 144"/>
          <p:cNvSpPr>
            <a:spLocks noChangeAspect="1"/>
          </p:cNvSpPr>
          <p:nvPr/>
        </p:nvSpPr>
        <p:spPr>
          <a:xfrm>
            <a:off x="6457101" y="5052766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6" name="Ellipse 145"/>
          <p:cNvSpPr>
            <a:spLocks noChangeAspect="1"/>
          </p:cNvSpPr>
          <p:nvPr/>
        </p:nvSpPr>
        <p:spPr>
          <a:xfrm>
            <a:off x="6061594" y="492518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7" name="Ellipse 146"/>
          <p:cNvSpPr>
            <a:spLocks noChangeAspect="1"/>
          </p:cNvSpPr>
          <p:nvPr/>
        </p:nvSpPr>
        <p:spPr>
          <a:xfrm>
            <a:off x="6064386" y="5059017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8" name="Ellipse 147"/>
          <p:cNvSpPr>
            <a:spLocks noChangeAspect="1"/>
          </p:cNvSpPr>
          <p:nvPr/>
        </p:nvSpPr>
        <p:spPr>
          <a:xfrm>
            <a:off x="6206417" y="5034117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9" name="Ellipse 148"/>
          <p:cNvSpPr>
            <a:spLocks noChangeAspect="1"/>
          </p:cNvSpPr>
          <p:nvPr/>
        </p:nvSpPr>
        <p:spPr>
          <a:xfrm>
            <a:off x="6614020" y="4846489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50" name="Ellipse 149"/>
          <p:cNvSpPr>
            <a:spLocks noChangeAspect="1"/>
          </p:cNvSpPr>
          <p:nvPr/>
        </p:nvSpPr>
        <p:spPr>
          <a:xfrm>
            <a:off x="6294165" y="5217903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51" name="Ellipse 150"/>
          <p:cNvSpPr>
            <a:spLocks noChangeAspect="1"/>
          </p:cNvSpPr>
          <p:nvPr/>
        </p:nvSpPr>
        <p:spPr>
          <a:xfrm>
            <a:off x="6165037" y="5229548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52" name="Ellipse 151"/>
          <p:cNvSpPr>
            <a:spLocks noChangeAspect="1"/>
          </p:cNvSpPr>
          <p:nvPr/>
        </p:nvSpPr>
        <p:spPr>
          <a:xfrm>
            <a:off x="6707636" y="5122386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53" name="Ellipse 152"/>
          <p:cNvSpPr>
            <a:spLocks noChangeAspect="1"/>
          </p:cNvSpPr>
          <p:nvPr/>
        </p:nvSpPr>
        <p:spPr>
          <a:xfrm>
            <a:off x="6314921" y="5128637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54" name="Ellipse 153"/>
          <p:cNvSpPr>
            <a:spLocks noChangeAspect="1"/>
          </p:cNvSpPr>
          <p:nvPr/>
        </p:nvSpPr>
        <p:spPr>
          <a:xfrm>
            <a:off x="6704605" y="4522134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55" name="Ellipse 154"/>
          <p:cNvSpPr>
            <a:spLocks noChangeAspect="1"/>
          </p:cNvSpPr>
          <p:nvPr/>
        </p:nvSpPr>
        <p:spPr>
          <a:xfrm>
            <a:off x="6526078" y="4608583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56" name="Ellipse 155"/>
          <p:cNvSpPr>
            <a:spLocks noChangeAspect="1"/>
          </p:cNvSpPr>
          <p:nvPr/>
        </p:nvSpPr>
        <p:spPr>
          <a:xfrm>
            <a:off x="6682997" y="4402306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57" name="Ellipse 156"/>
          <p:cNvSpPr>
            <a:spLocks noChangeAspect="1"/>
          </p:cNvSpPr>
          <p:nvPr/>
        </p:nvSpPr>
        <p:spPr>
          <a:xfrm>
            <a:off x="6611938" y="5952257"/>
            <a:ext cx="106362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58" name="Ellipse 157"/>
          <p:cNvSpPr>
            <a:spLocks noChangeAspect="1"/>
          </p:cNvSpPr>
          <p:nvPr/>
        </p:nvSpPr>
        <p:spPr>
          <a:xfrm>
            <a:off x="6467475" y="5963369"/>
            <a:ext cx="106363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59" name="Ellipse 158"/>
          <p:cNvSpPr>
            <a:spLocks noChangeAspect="1"/>
          </p:cNvSpPr>
          <p:nvPr/>
        </p:nvSpPr>
        <p:spPr>
          <a:xfrm>
            <a:off x="6564313" y="6053857"/>
            <a:ext cx="106362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60" name="Ellipse 159"/>
          <p:cNvSpPr>
            <a:spLocks noChangeAspect="1"/>
          </p:cNvSpPr>
          <p:nvPr/>
        </p:nvSpPr>
        <p:spPr>
          <a:xfrm>
            <a:off x="6380163" y="6323732"/>
            <a:ext cx="107950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61" name="Ellipse 160"/>
          <p:cNvSpPr>
            <a:spLocks noChangeAspect="1"/>
          </p:cNvSpPr>
          <p:nvPr/>
        </p:nvSpPr>
        <p:spPr>
          <a:xfrm>
            <a:off x="6697663" y="6137994"/>
            <a:ext cx="106362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62" name="Ellipse 161"/>
          <p:cNvSpPr>
            <a:spLocks noChangeAspect="1"/>
          </p:cNvSpPr>
          <p:nvPr/>
        </p:nvSpPr>
        <p:spPr>
          <a:xfrm>
            <a:off x="6399213" y="6099894"/>
            <a:ext cx="106362" cy="1063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63" name="Ellipse 162"/>
          <p:cNvSpPr>
            <a:spLocks noChangeAspect="1"/>
          </p:cNvSpPr>
          <p:nvPr/>
        </p:nvSpPr>
        <p:spPr>
          <a:xfrm>
            <a:off x="6402388" y="6234832"/>
            <a:ext cx="106362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64" name="Ellipse 163"/>
          <p:cNvSpPr>
            <a:spLocks noChangeAspect="1"/>
          </p:cNvSpPr>
          <p:nvPr/>
        </p:nvSpPr>
        <p:spPr>
          <a:xfrm>
            <a:off x="6251575" y="6066557"/>
            <a:ext cx="106363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65" name="Ellipse 164"/>
          <p:cNvSpPr>
            <a:spLocks noChangeAspect="1"/>
          </p:cNvSpPr>
          <p:nvPr/>
        </p:nvSpPr>
        <p:spPr>
          <a:xfrm>
            <a:off x="6267450" y="6218957"/>
            <a:ext cx="106363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66" name="Ellipse 165"/>
          <p:cNvSpPr>
            <a:spLocks noChangeAspect="1"/>
          </p:cNvSpPr>
          <p:nvPr/>
        </p:nvSpPr>
        <p:spPr>
          <a:xfrm>
            <a:off x="6543675" y="6209432"/>
            <a:ext cx="106363" cy="1063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67" name="Ellipse 166"/>
          <p:cNvSpPr>
            <a:spLocks noChangeAspect="1"/>
          </p:cNvSpPr>
          <p:nvPr/>
        </p:nvSpPr>
        <p:spPr>
          <a:xfrm>
            <a:off x="5256807" y="4362066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68" name="Ellipse 167"/>
          <p:cNvSpPr>
            <a:spLocks noChangeAspect="1"/>
          </p:cNvSpPr>
          <p:nvPr/>
        </p:nvSpPr>
        <p:spPr>
          <a:xfrm>
            <a:off x="5259599" y="4495899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69" name="Ellipse 168"/>
          <p:cNvSpPr>
            <a:spLocks noChangeAspect="1"/>
          </p:cNvSpPr>
          <p:nvPr/>
        </p:nvSpPr>
        <p:spPr>
          <a:xfrm>
            <a:off x="5109715" y="4328745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70" name="Ellipse 169"/>
          <p:cNvSpPr>
            <a:spLocks noChangeAspect="1"/>
          </p:cNvSpPr>
          <p:nvPr/>
        </p:nvSpPr>
        <p:spPr>
          <a:xfrm>
            <a:off x="5124603" y="4481145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71" name="Ellipse 170"/>
          <p:cNvSpPr>
            <a:spLocks noChangeAspect="1"/>
          </p:cNvSpPr>
          <p:nvPr/>
        </p:nvSpPr>
        <p:spPr>
          <a:xfrm>
            <a:off x="5401630" y="4470999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72" name="Ellipse 171"/>
          <p:cNvSpPr>
            <a:spLocks noChangeAspect="1"/>
          </p:cNvSpPr>
          <p:nvPr/>
        </p:nvSpPr>
        <p:spPr>
          <a:xfrm>
            <a:off x="5535784" y="4460391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73" name="Ellipse 172"/>
          <p:cNvSpPr>
            <a:spLocks noChangeAspect="1"/>
          </p:cNvSpPr>
          <p:nvPr/>
        </p:nvSpPr>
        <p:spPr>
          <a:xfrm>
            <a:off x="5514176" y="4340563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74" name="Ellipse 173"/>
          <p:cNvSpPr>
            <a:spLocks noChangeAspect="1"/>
          </p:cNvSpPr>
          <p:nvPr/>
        </p:nvSpPr>
        <p:spPr>
          <a:xfrm>
            <a:off x="5820775" y="4308951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75" name="Ellipse 174"/>
          <p:cNvSpPr>
            <a:spLocks noChangeAspect="1"/>
          </p:cNvSpPr>
          <p:nvPr/>
        </p:nvSpPr>
        <p:spPr>
          <a:xfrm>
            <a:off x="5835663" y="4461351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76" name="Ellipse 175"/>
          <p:cNvSpPr>
            <a:spLocks noChangeAspect="1"/>
          </p:cNvSpPr>
          <p:nvPr/>
        </p:nvSpPr>
        <p:spPr>
          <a:xfrm>
            <a:off x="5691647" y="4320596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77" name="Ellipse 176"/>
          <p:cNvSpPr>
            <a:spLocks noChangeAspect="1"/>
          </p:cNvSpPr>
          <p:nvPr/>
        </p:nvSpPr>
        <p:spPr>
          <a:xfrm>
            <a:off x="5691647" y="4472971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78" name="Ellipse 177"/>
          <p:cNvSpPr>
            <a:spLocks noChangeAspect="1"/>
          </p:cNvSpPr>
          <p:nvPr/>
        </p:nvSpPr>
        <p:spPr>
          <a:xfrm>
            <a:off x="5966821" y="4477159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79" name="Ellipse 178"/>
          <p:cNvSpPr>
            <a:spLocks noChangeAspect="1"/>
          </p:cNvSpPr>
          <p:nvPr/>
        </p:nvSpPr>
        <p:spPr>
          <a:xfrm>
            <a:off x="5838739" y="4085852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80" name="Ellipse 179"/>
          <p:cNvSpPr>
            <a:spLocks noChangeAspect="1"/>
          </p:cNvSpPr>
          <p:nvPr/>
        </p:nvSpPr>
        <p:spPr>
          <a:xfrm>
            <a:off x="5841531" y="4219685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81" name="Ellipse 180"/>
          <p:cNvSpPr>
            <a:spLocks noChangeAspect="1"/>
          </p:cNvSpPr>
          <p:nvPr/>
        </p:nvSpPr>
        <p:spPr>
          <a:xfrm>
            <a:off x="5691647" y="4052531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82" name="Ellipse 181"/>
          <p:cNvSpPr>
            <a:spLocks noChangeAspect="1"/>
          </p:cNvSpPr>
          <p:nvPr/>
        </p:nvSpPr>
        <p:spPr>
          <a:xfrm>
            <a:off x="5706535" y="4204931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83" name="Ellipse 182"/>
          <p:cNvSpPr>
            <a:spLocks noChangeAspect="1"/>
          </p:cNvSpPr>
          <p:nvPr/>
        </p:nvSpPr>
        <p:spPr>
          <a:xfrm>
            <a:off x="5983562" y="4194785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84" name="Ellipse 183"/>
          <p:cNvSpPr>
            <a:spLocks noChangeAspect="1"/>
          </p:cNvSpPr>
          <p:nvPr/>
        </p:nvSpPr>
        <p:spPr>
          <a:xfrm>
            <a:off x="5945213" y="4357331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85" name="Ellipse 184"/>
          <p:cNvSpPr>
            <a:spLocks noChangeAspect="1"/>
          </p:cNvSpPr>
          <p:nvPr/>
        </p:nvSpPr>
        <p:spPr>
          <a:xfrm>
            <a:off x="6265726" y="4207056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86" name="Ellipse 185"/>
          <p:cNvSpPr>
            <a:spLocks noChangeAspect="1"/>
          </p:cNvSpPr>
          <p:nvPr/>
        </p:nvSpPr>
        <p:spPr>
          <a:xfrm>
            <a:off x="6087199" y="4293505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87" name="Ellipse 186"/>
          <p:cNvSpPr>
            <a:spLocks noChangeAspect="1"/>
          </p:cNvSpPr>
          <p:nvPr/>
        </p:nvSpPr>
        <p:spPr>
          <a:xfrm>
            <a:off x="6244118" y="4087228"/>
            <a:ext cx="106474" cy="10647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tint val="66000"/>
                  <a:satMod val="160000"/>
                </a:schemeClr>
              </a:gs>
              <a:gs pos="4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88" name="ZoneTexte 211"/>
          <p:cNvSpPr txBox="1">
            <a:spLocks noChangeArrowheads="1"/>
          </p:cNvSpPr>
          <p:nvPr/>
        </p:nvSpPr>
        <p:spPr bwMode="auto">
          <a:xfrm>
            <a:off x="179388" y="1094830"/>
            <a:ext cx="6451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fr-FR" altLang="fr-FR" sz="2400" dirty="0">
                <a:solidFill>
                  <a:schemeClr val="tx2"/>
                </a:solidFill>
              </a:rPr>
              <a:t>Fractions et compositions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4009791" y="2996952"/>
            <a:ext cx="216024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lang="fr-FR" sz="1400" i="1" dirty="0" smtClean="0"/>
              <a:t>g</a:t>
            </a:r>
            <a:r>
              <a:rPr lang="fr-FR" sz="1400" i="1" baseline="-25000" dirty="0" smtClean="0">
                <a:sym typeface="Symbol"/>
              </a:rPr>
              <a:t></a:t>
            </a:r>
            <a:endParaRPr lang="fr-FR" sz="1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403794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954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Outils indispensables</a:t>
            </a:r>
            <a:endParaRPr lang="fr-FR" sz="2800" i="1" baseline="-25000" dirty="0"/>
          </a:p>
        </p:txBody>
      </p:sp>
      <p:sp>
        <p:nvSpPr>
          <p:cNvPr id="188" name="ZoneTexte 211"/>
          <p:cNvSpPr txBox="1">
            <a:spLocks noChangeArrowheads="1"/>
          </p:cNvSpPr>
          <p:nvPr/>
        </p:nvSpPr>
        <p:spPr bwMode="auto">
          <a:xfrm>
            <a:off x="179388" y="1094830"/>
            <a:ext cx="6451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fr-FR" altLang="fr-FR" sz="2400" dirty="0">
                <a:solidFill>
                  <a:schemeClr val="tx2"/>
                </a:solidFill>
              </a:rPr>
              <a:t>Fractions et compositions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-684584" y="1844824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/>
              <a:t>Conversion titres molaires </a:t>
            </a:r>
            <a:r>
              <a:rPr lang="fr-FR" sz="2400" dirty="0" smtClean="0">
                <a:sym typeface="Wingdings" panose="05000000000000000000" pitchFamily="2" charset="2"/>
              </a:rPr>
              <a:t> titres massiques</a:t>
            </a:r>
            <a:endParaRPr lang="fr-FR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16598" y="2425119"/>
                <a:ext cx="1547090" cy="6716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fr-FR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fr-F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98" y="2425119"/>
                <a:ext cx="1547090" cy="67165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808020" y="2410355"/>
                <a:ext cx="1814791" cy="6790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fr-FR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i="1">
                              <a:latin typeface="Cambria Math"/>
                            </a:rPr>
                            <m:t>/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fr-FR" i="1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8020" y="2410355"/>
                <a:ext cx="1814791" cy="67909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" name="ZoneTexte 188"/>
          <p:cNvSpPr txBox="1"/>
          <p:nvPr/>
        </p:nvSpPr>
        <p:spPr>
          <a:xfrm>
            <a:off x="-1836712" y="3471391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/>
              <a:t>Conservation de la matière</a:t>
            </a:r>
            <a:endParaRPr lang="fr-FR" sz="2400" dirty="0"/>
          </a:p>
        </p:txBody>
      </p:sp>
      <p:sp>
        <p:nvSpPr>
          <p:cNvPr id="190" name="Forme libre 189"/>
          <p:cNvSpPr/>
          <p:nvPr/>
        </p:nvSpPr>
        <p:spPr>
          <a:xfrm>
            <a:off x="1055944" y="4334309"/>
            <a:ext cx="469900" cy="392113"/>
          </a:xfrm>
          <a:custGeom>
            <a:avLst/>
            <a:gdLst>
              <a:gd name="connsiteX0" fmla="*/ 76200 w 468845"/>
              <a:gd name="connsiteY0" fmla="*/ 54429 h 391886"/>
              <a:gd name="connsiteX1" fmla="*/ 76200 w 468845"/>
              <a:gd name="connsiteY1" fmla="*/ 54429 h 391886"/>
              <a:gd name="connsiteX2" fmla="*/ 21771 w 468845"/>
              <a:gd name="connsiteY2" fmla="*/ 152400 h 391886"/>
              <a:gd name="connsiteX3" fmla="*/ 0 w 468845"/>
              <a:gd name="connsiteY3" fmla="*/ 217715 h 391886"/>
              <a:gd name="connsiteX4" fmla="*/ 43543 w 468845"/>
              <a:gd name="connsiteY4" fmla="*/ 315686 h 391886"/>
              <a:gd name="connsiteX5" fmla="*/ 87086 w 468845"/>
              <a:gd name="connsiteY5" fmla="*/ 359229 h 391886"/>
              <a:gd name="connsiteX6" fmla="*/ 152400 w 468845"/>
              <a:gd name="connsiteY6" fmla="*/ 381000 h 391886"/>
              <a:gd name="connsiteX7" fmla="*/ 185057 w 468845"/>
              <a:gd name="connsiteY7" fmla="*/ 391886 h 391886"/>
              <a:gd name="connsiteX8" fmla="*/ 348343 w 468845"/>
              <a:gd name="connsiteY8" fmla="*/ 381000 h 391886"/>
              <a:gd name="connsiteX9" fmla="*/ 402771 w 468845"/>
              <a:gd name="connsiteY9" fmla="*/ 326572 h 391886"/>
              <a:gd name="connsiteX10" fmla="*/ 435429 w 468845"/>
              <a:gd name="connsiteY10" fmla="*/ 304800 h 391886"/>
              <a:gd name="connsiteX11" fmla="*/ 446314 w 468845"/>
              <a:gd name="connsiteY11" fmla="*/ 272143 h 391886"/>
              <a:gd name="connsiteX12" fmla="*/ 468086 w 468845"/>
              <a:gd name="connsiteY12" fmla="*/ 250372 h 391886"/>
              <a:gd name="connsiteX13" fmla="*/ 457200 w 468845"/>
              <a:gd name="connsiteY13" fmla="*/ 54429 h 391886"/>
              <a:gd name="connsiteX14" fmla="*/ 446314 w 468845"/>
              <a:gd name="connsiteY14" fmla="*/ 21772 h 391886"/>
              <a:gd name="connsiteX15" fmla="*/ 381000 w 468845"/>
              <a:gd name="connsiteY15" fmla="*/ 0 h 391886"/>
              <a:gd name="connsiteX16" fmla="*/ 130629 w 468845"/>
              <a:gd name="connsiteY16" fmla="*/ 10886 h 391886"/>
              <a:gd name="connsiteX17" fmla="*/ 108857 w 468845"/>
              <a:gd name="connsiteY17" fmla="*/ 32658 h 391886"/>
              <a:gd name="connsiteX18" fmla="*/ 76200 w 468845"/>
              <a:gd name="connsiteY18" fmla="*/ 54429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8845" h="391886">
                <a:moveTo>
                  <a:pt x="76200" y="54429"/>
                </a:moveTo>
                <a:lnTo>
                  <a:pt x="76200" y="54429"/>
                </a:lnTo>
                <a:cubicBezTo>
                  <a:pt x="58057" y="87086"/>
                  <a:pt x="37569" y="118546"/>
                  <a:pt x="21771" y="152400"/>
                </a:cubicBezTo>
                <a:cubicBezTo>
                  <a:pt x="12066" y="173196"/>
                  <a:pt x="0" y="217715"/>
                  <a:pt x="0" y="217715"/>
                </a:cubicBezTo>
                <a:cubicBezTo>
                  <a:pt x="20363" y="380610"/>
                  <a:pt x="-20026" y="270279"/>
                  <a:pt x="43543" y="315686"/>
                </a:cubicBezTo>
                <a:cubicBezTo>
                  <a:pt x="60246" y="327617"/>
                  <a:pt x="67613" y="352738"/>
                  <a:pt x="87086" y="359229"/>
                </a:cubicBezTo>
                <a:lnTo>
                  <a:pt x="152400" y="381000"/>
                </a:lnTo>
                <a:lnTo>
                  <a:pt x="185057" y="391886"/>
                </a:lnTo>
                <a:cubicBezTo>
                  <a:pt x="239486" y="388257"/>
                  <a:pt x="294536" y="389968"/>
                  <a:pt x="348343" y="381000"/>
                </a:cubicBezTo>
                <a:cubicBezTo>
                  <a:pt x="383178" y="375194"/>
                  <a:pt x="382451" y="346892"/>
                  <a:pt x="402771" y="326572"/>
                </a:cubicBezTo>
                <a:cubicBezTo>
                  <a:pt x="412022" y="317321"/>
                  <a:pt x="424543" y="312057"/>
                  <a:pt x="435429" y="304800"/>
                </a:cubicBezTo>
                <a:cubicBezTo>
                  <a:pt x="439057" y="293914"/>
                  <a:pt x="440410" y="281982"/>
                  <a:pt x="446314" y="272143"/>
                </a:cubicBezTo>
                <a:cubicBezTo>
                  <a:pt x="451594" y="263342"/>
                  <a:pt x="467573" y="260622"/>
                  <a:pt x="468086" y="250372"/>
                </a:cubicBezTo>
                <a:cubicBezTo>
                  <a:pt x="471353" y="185039"/>
                  <a:pt x="463402" y="119549"/>
                  <a:pt x="457200" y="54429"/>
                </a:cubicBezTo>
                <a:cubicBezTo>
                  <a:pt x="456112" y="43006"/>
                  <a:pt x="455651" y="28441"/>
                  <a:pt x="446314" y="21772"/>
                </a:cubicBezTo>
                <a:cubicBezTo>
                  <a:pt x="427640" y="8433"/>
                  <a:pt x="381000" y="0"/>
                  <a:pt x="381000" y="0"/>
                </a:cubicBezTo>
                <a:cubicBezTo>
                  <a:pt x="297543" y="3629"/>
                  <a:pt x="213570" y="933"/>
                  <a:pt x="130629" y="10886"/>
                </a:cubicBezTo>
                <a:cubicBezTo>
                  <a:pt x="120439" y="12109"/>
                  <a:pt x="117068" y="26500"/>
                  <a:pt x="108857" y="32658"/>
                </a:cubicBezTo>
                <a:cubicBezTo>
                  <a:pt x="102366" y="37526"/>
                  <a:pt x="81643" y="50801"/>
                  <a:pt x="76200" y="5442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91" name="Forme libre 190"/>
          <p:cNvSpPr/>
          <p:nvPr/>
        </p:nvSpPr>
        <p:spPr>
          <a:xfrm rot="8885053">
            <a:off x="1336931" y="4423209"/>
            <a:ext cx="469900" cy="392113"/>
          </a:xfrm>
          <a:custGeom>
            <a:avLst/>
            <a:gdLst>
              <a:gd name="connsiteX0" fmla="*/ 76200 w 468845"/>
              <a:gd name="connsiteY0" fmla="*/ 54429 h 391886"/>
              <a:gd name="connsiteX1" fmla="*/ 76200 w 468845"/>
              <a:gd name="connsiteY1" fmla="*/ 54429 h 391886"/>
              <a:gd name="connsiteX2" fmla="*/ 21771 w 468845"/>
              <a:gd name="connsiteY2" fmla="*/ 152400 h 391886"/>
              <a:gd name="connsiteX3" fmla="*/ 0 w 468845"/>
              <a:gd name="connsiteY3" fmla="*/ 217715 h 391886"/>
              <a:gd name="connsiteX4" fmla="*/ 43543 w 468845"/>
              <a:gd name="connsiteY4" fmla="*/ 315686 h 391886"/>
              <a:gd name="connsiteX5" fmla="*/ 87086 w 468845"/>
              <a:gd name="connsiteY5" fmla="*/ 359229 h 391886"/>
              <a:gd name="connsiteX6" fmla="*/ 152400 w 468845"/>
              <a:gd name="connsiteY6" fmla="*/ 381000 h 391886"/>
              <a:gd name="connsiteX7" fmla="*/ 185057 w 468845"/>
              <a:gd name="connsiteY7" fmla="*/ 391886 h 391886"/>
              <a:gd name="connsiteX8" fmla="*/ 348343 w 468845"/>
              <a:gd name="connsiteY8" fmla="*/ 381000 h 391886"/>
              <a:gd name="connsiteX9" fmla="*/ 402771 w 468845"/>
              <a:gd name="connsiteY9" fmla="*/ 326572 h 391886"/>
              <a:gd name="connsiteX10" fmla="*/ 435429 w 468845"/>
              <a:gd name="connsiteY10" fmla="*/ 304800 h 391886"/>
              <a:gd name="connsiteX11" fmla="*/ 446314 w 468845"/>
              <a:gd name="connsiteY11" fmla="*/ 272143 h 391886"/>
              <a:gd name="connsiteX12" fmla="*/ 468086 w 468845"/>
              <a:gd name="connsiteY12" fmla="*/ 250372 h 391886"/>
              <a:gd name="connsiteX13" fmla="*/ 457200 w 468845"/>
              <a:gd name="connsiteY13" fmla="*/ 54429 h 391886"/>
              <a:gd name="connsiteX14" fmla="*/ 446314 w 468845"/>
              <a:gd name="connsiteY14" fmla="*/ 21772 h 391886"/>
              <a:gd name="connsiteX15" fmla="*/ 381000 w 468845"/>
              <a:gd name="connsiteY15" fmla="*/ 0 h 391886"/>
              <a:gd name="connsiteX16" fmla="*/ 130629 w 468845"/>
              <a:gd name="connsiteY16" fmla="*/ 10886 h 391886"/>
              <a:gd name="connsiteX17" fmla="*/ 108857 w 468845"/>
              <a:gd name="connsiteY17" fmla="*/ 32658 h 391886"/>
              <a:gd name="connsiteX18" fmla="*/ 76200 w 468845"/>
              <a:gd name="connsiteY18" fmla="*/ 54429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8845" h="391886">
                <a:moveTo>
                  <a:pt x="76200" y="54429"/>
                </a:moveTo>
                <a:lnTo>
                  <a:pt x="76200" y="54429"/>
                </a:lnTo>
                <a:cubicBezTo>
                  <a:pt x="58057" y="87086"/>
                  <a:pt x="37569" y="118546"/>
                  <a:pt x="21771" y="152400"/>
                </a:cubicBezTo>
                <a:cubicBezTo>
                  <a:pt x="12066" y="173196"/>
                  <a:pt x="0" y="217715"/>
                  <a:pt x="0" y="217715"/>
                </a:cubicBezTo>
                <a:cubicBezTo>
                  <a:pt x="20363" y="380610"/>
                  <a:pt x="-20026" y="270279"/>
                  <a:pt x="43543" y="315686"/>
                </a:cubicBezTo>
                <a:cubicBezTo>
                  <a:pt x="60246" y="327617"/>
                  <a:pt x="67613" y="352738"/>
                  <a:pt x="87086" y="359229"/>
                </a:cubicBezTo>
                <a:lnTo>
                  <a:pt x="152400" y="381000"/>
                </a:lnTo>
                <a:lnTo>
                  <a:pt x="185057" y="391886"/>
                </a:lnTo>
                <a:cubicBezTo>
                  <a:pt x="239486" y="388257"/>
                  <a:pt x="294536" y="389968"/>
                  <a:pt x="348343" y="381000"/>
                </a:cubicBezTo>
                <a:cubicBezTo>
                  <a:pt x="383178" y="375194"/>
                  <a:pt x="382451" y="346892"/>
                  <a:pt x="402771" y="326572"/>
                </a:cubicBezTo>
                <a:cubicBezTo>
                  <a:pt x="412022" y="317321"/>
                  <a:pt x="424543" y="312057"/>
                  <a:pt x="435429" y="304800"/>
                </a:cubicBezTo>
                <a:cubicBezTo>
                  <a:pt x="439057" y="293914"/>
                  <a:pt x="440410" y="281982"/>
                  <a:pt x="446314" y="272143"/>
                </a:cubicBezTo>
                <a:cubicBezTo>
                  <a:pt x="451594" y="263342"/>
                  <a:pt x="467573" y="260622"/>
                  <a:pt x="468086" y="250372"/>
                </a:cubicBezTo>
                <a:cubicBezTo>
                  <a:pt x="471353" y="185039"/>
                  <a:pt x="463402" y="119549"/>
                  <a:pt x="457200" y="54429"/>
                </a:cubicBezTo>
                <a:cubicBezTo>
                  <a:pt x="456112" y="43006"/>
                  <a:pt x="455651" y="28441"/>
                  <a:pt x="446314" y="21772"/>
                </a:cubicBezTo>
                <a:cubicBezTo>
                  <a:pt x="427640" y="8433"/>
                  <a:pt x="381000" y="0"/>
                  <a:pt x="381000" y="0"/>
                </a:cubicBezTo>
                <a:cubicBezTo>
                  <a:pt x="297543" y="3629"/>
                  <a:pt x="213570" y="933"/>
                  <a:pt x="130629" y="10886"/>
                </a:cubicBezTo>
                <a:cubicBezTo>
                  <a:pt x="120439" y="12109"/>
                  <a:pt x="117068" y="26500"/>
                  <a:pt x="108857" y="32658"/>
                </a:cubicBezTo>
                <a:cubicBezTo>
                  <a:pt x="102366" y="37526"/>
                  <a:pt x="81643" y="50801"/>
                  <a:pt x="76200" y="5442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92" name="Forme libre 191"/>
          <p:cNvSpPr/>
          <p:nvPr/>
        </p:nvSpPr>
        <p:spPr>
          <a:xfrm rot="19300896">
            <a:off x="970219" y="4035859"/>
            <a:ext cx="468312" cy="390525"/>
          </a:xfrm>
          <a:custGeom>
            <a:avLst/>
            <a:gdLst>
              <a:gd name="connsiteX0" fmla="*/ 76200 w 468845"/>
              <a:gd name="connsiteY0" fmla="*/ 54429 h 391886"/>
              <a:gd name="connsiteX1" fmla="*/ 76200 w 468845"/>
              <a:gd name="connsiteY1" fmla="*/ 54429 h 391886"/>
              <a:gd name="connsiteX2" fmla="*/ 21771 w 468845"/>
              <a:gd name="connsiteY2" fmla="*/ 152400 h 391886"/>
              <a:gd name="connsiteX3" fmla="*/ 0 w 468845"/>
              <a:gd name="connsiteY3" fmla="*/ 217715 h 391886"/>
              <a:gd name="connsiteX4" fmla="*/ 43543 w 468845"/>
              <a:gd name="connsiteY4" fmla="*/ 315686 h 391886"/>
              <a:gd name="connsiteX5" fmla="*/ 87086 w 468845"/>
              <a:gd name="connsiteY5" fmla="*/ 359229 h 391886"/>
              <a:gd name="connsiteX6" fmla="*/ 152400 w 468845"/>
              <a:gd name="connsiteY6" fmla="*/ 381000 h 391886"/>
              <a:gd name="connsiteX7" fmla="*/ 185057 w 468845"/>
              <a:gd name="connsiteY7" fmla="*/ 391886 h 391886"/>
              <a:gd name="connsiteX8" fmla="*/ 348343 w 468845"/>
              <a:gd name="connsiteY8" fmla="*/ 381000 h 391886"/>
              <a:gd name="connsiteX9" fmla="*/ 402771 w 468845"/>
              <a:gd name="connsiteY9" fmla="*/ 326572 h 391886"/>
              <a:gd name="connsiteX10" fmla="*/ 435429 w 468845"/>
              <a:gd name="connsiteY10" fmla="*/ 304800 h 391886"/>
              <a:gd name="connsiteX11" fmla="*/ 446314 w 468845"/>
              <a:gd name="connsiteY11" fmla="*/ 272143 h 391886"/>
              <a:gd name="connsiteX12" fmla="*/ 468086 w 468845"/>
              <a:gd name="connsiteY12" fmla="*/ 250372 h 391886"/>
              <a:gd name="connsiteX13" fmla="*/ 457200 w 468845"/>
              <a:gd name="connsiteY13" fmla="*/ 54429 h 391886"/>
              <a:gd name="connsiteX14" fmla="*/ 446314 w 468845"/>
              <a:gd name="connsiteY14" fmla="*/ 21772 h 391886"/>
              <a:gd name="connsiteX15" fmla="*/ 381000 w 468845"/>
              <a:gd name="connsiteY15" fmla="*/ 0 h 391886"/>
              <a:gd name="connsiteX16" fmla="*/ 130629 w 468845"/>
              <a:gd name="connsiteY16" fmla="*/ 10886 h 391886"/>
              <a:gd name="connsiteX17" fmla="*/ 108857 w 468845"/>
              <a:gd name="connsiteY17" fmla="*/ 32658 h 391886"/>
              <a:gd name="connsiteX18" fmla="*/ 76200 w 468845"/>
              <a:gd name="connsiteY18" fmla="*/ 54429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8845" h="391886">
                <a:moveTo>
                  <a:pt x="76200" y="54429"/>
                </a:moveTo>
                <a:lnTo>
                  <a:pt x="76200" y="54429"/>
                </a:lnTo>
                <a:cubicBezTo>
                  <a:pt x="58057" y="87086"/>
                  <a:pt x="37569" y="118546"/>
                  <a:pt x="21771" y="152400"/>
                </a:cubicBezTo>
                <a:cubicBezTo>
                  <a:pt x="12066" y="173196"/>
                  <a:pt x="0" y="217715"/>
                  <a:pt x="0" y="217715"/>
                </a:cubicBezTo>
                <a:cubicBezTo>
                  <a:pt x="20363" y="380610"/>
                  <a:pt x="-20026" y="270279"/>
                  <a:pt x="43543" y="315686"/>
                </a:cubicBezTo>
                <a:cubicBezTo>
                  <a:pt x="60246" y="327617"/>
                  <a:pt x="67613" y="352738"/>
                  <a:pt x="87086" y="359229"/>
                </a:cubicBezTo>
                <a:lnTo>
                  <a:pt x="152400" y="381000"/>
                </a:lnTo>
                <a:lnTo>
                  <a:pt x="185057" y="391886"/>
                </a:lnTo>
                <a:cubicBezTo>
                  <a:pt x="239486" y="388257"/>
                  <a:pt x="294536" y="389968"/>
                  <a:pt x="348343" y="381000"/>
                </a:cubicBezTo>
                <a:cubicBezTo>
                  <a:pt x="383178" y="375194"/>
                  <a:pt x="382451" y="346892"/>
                  <a:pt x="402771" y="326572"/>
                </a:cubicBezTo>
                <a:cubicBezTo>
                  <a:pt x="412022" y="317321"/>
                  <a:pt x="424543" y="312057"/>
                  <a:pt x="435429" y="304800"/>
                </a:cubicBezTo>
                <a:cubicBezTo>
                  <a:pt x="439057" y="293914"/>
                  <a:pt x="440410" y="281982"/>
                  <a:pt x="446314" y="272143"/>
                </a:cubicBezTo>
                <a:cubicBezTo>
                  <a:pt x="451594" y="263342"/>
                  <a:pt x="467573" y="260622"/>
                  <a:pt x="468086" y="250372"/>
                </a:cubicBezTo>
                <a:cubicBezTo>
                  <a:pt x="471353" y="185039"/>
                  <a:pt x="463402" y="119549"/>
                  <a:pt x="457200" y="54429"/>
                </a:cubicBezTo>
                <a:cubicBezTo>
                  <a:pt x="456112" y="43006"/>
                  <a:pt x="455651" y="28441"/>
                  <a:pt x="446314" y="21772"/>
                </a:cubicBezTo>
                <a:cubicBezTo>
                  <a:pt x="427640" y="8433"/>
                  <a:pt x="381000" y="0"/>
                  <a:pt x="381000" y="0"/>
                </a:cubicBezTo>
                <a:cubicBezTo>
                  <a:pt x="297543" y="3629"/>
                  <a:pt x="213570" y="933"/>
                  <a:pt x="130629" y="10886"/>
                </a:cubicBezTo>
                <a:cubicBezTo>
                  <a:pt x="120439" y="12109"/>
                  <a:pt x="117068" y="26500"/>
                  <a:pt x="108857" y="32658"/>
                </a:cubicBezTo>
                <a:cubicBezTo>
                  <a:pt x="102366" y="37526"/>
                  <a:pt x="81643" y="50801"/>
                  <a:pt x="76200" y="5442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 smtClean="0"/>
              <a:t>1</a:t>
            </a:r>
            <a:endParaRPr lang="fr-FR" b="1" dirty="0"/>
          </a:p>
        </p:txBody>
      </p:sp>
      <p:sp>
        <p:nvSpPr>
          <p:cNvPr id="193" name="Forme libre 192"/>
          <p:cNvSpPr/>
          <p:nvPr/>
        </p:nvSpPr>
        <p:spPr>
          <a:xfrm rot="2525241">
            <a:off x="1046419" y="4658159"/>
            <a:ext cx="469900" cy="392113"/>
          </a:xfrm>
          <a:custGeom>
            <a:avLst/>
            <a:gdLst>
              <a:gd name="connsiteX0" fmla="*/ 76200 w 468845"/>
              <a:gd name="connsiteY0" fmla="*/ 54429 h 391886"/>
              <a:gd name="connsiteX1" fmla="*/ 76200 w 468845"/>
              <a:gd name="connsiteY1" fmla="*/ 54429 h 391886"/>
              <a:gd name="connsiteX2" fmla="*/ 21771 w 468845"/>
              <a:gd name="connsiteY2" fmla="*/ 152400 h 391886"/>
              <a:gd name="connsiteX3" fmla="*/ 0 w 468845"/>
              <a:gd name="connsiteY3" fmla="*/ 217715 h 391886"/>
              <a:gd name="connsiteX4" fmla="*/ 43543 w 468845"/>
              <a:gd name="connsiteY4" fmla="*/ 315686 h 391886"/>
              <a:gd name="connsiteX5" fmla="*/ 87086 w 468845"/>
              <a:gd name="connsiteY5" fmla="*/ 359229 h 391886"/>
              <a:gd name="connsiteX6" fmla="*/ 152400 w 468845"/>
              <a:gd name="connsiteY6" fmla="*/ 381000 h 391886"/>
              <a:gd name="connsiteX7" fmla="*/ 185057 w 468845"/>
              <a:gd name="connsiteY7" fmla="*/ 391886 h 391886"/>
              <a:gd name="connsiteX8" fmla="*/ 348343 w 468845"/>
              <a:gd name="connsiteY8" fmla="*/ 381000 h 391886"/>
              <a:gd name="connsiteX9" fmla="*/ 402771 w 468845"/>
              <a:gd name="connsiteY9" fmla="*/ 326572 h 391886"/>
              <a:gd name="connsiteX10" fmla="*/ 435429 w 468845"/>
              <a:gd name="connsiteY10" fmla="*/ 304800 h 391886"/>
              <a:gd name="connsiteX11" fmla="*/ 446314 w 468845"/>
              <a:gd name="connsiteY11" fmla="*/ 272143 h 391886"/>
              <a:gd name="connsiteX12" fmla="*/ 468086 w 468845"/>
              <a:gd name="connsiteY12" fmla="*/ 250372 h 391886"/>
              <a:gd name="connsiteX13" fmla="*/ 457200 w 468845"/>
              <a:gd name="connsiteY13" fmla="*/ 54429 h 391886"/>
              <a:gd name="connsiteX14" fmla="*/ 446314 w 468845"/>
              <a:gd name="connsiteY14" fmla="*/ 21772 h 391886"/>
              <a:gd name="connsiteX15" fmla="*/ 381000 w 468845"/>
              <a:gd name="connsiteY15" fmla="*/ 0 h 391886"/>
              <a:gd name="connsiteX16" fmla="*/ 130629 w 468845"/>
              <a:gd name="connsiteY16" fmla="*/ 10886 h 391886"/>
              <a:gd name="connsiteX17" fmla="*/ 108857 w 468845"/>
              <a:gd name="connsiteY17" fmla="*/ 32658 h 391886"/>
              <a:gd name="connsiteX18" fmla="*/ 76200 w 468845"/>
              <a:gd name="connsiteY18" fmla="*/ 54429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8845" h="391886">
                <a:moveTo>
                  <a:pt x="76200" y="54429"/>
                </a:moveTo>
                <a:lnTo>
                  <a:pt x="76200" y="54429"/>
                </a:lnTo>
                <a:cubicBezTo>
                  <a:pt x="58057" y="87086"/>
                  <a:pt x="37569" y="118546"/>
                  <a:pt x="21771" y="152400"/>
                </a:cubicBezTo>
                <a:cubicBezTo>
                  <a:pt x="12066" y="173196"/>
                  <a:pt x="0" y="217715"/>
                  <a:pt x="0" y="217715"/>
                </a:cubicBezTo>
                <a:cubicBezTo>
                  <a:pt x="20363" y="380610"/>
                  <a:pt x="-20026" y="270279"/>
                  <a:pt x="43543" y="315686"/>
                </a:cubicBezTo>
                <a:cubicBezTo>
                  <a:pt x="60246" y="327617"/>
                  <a:pt x="67613" y="352738"/>
                  <a:pt x="87086" y="359229"/>
                </a:cubicBezTo>
                <a:lnTo>
                  <a:pt x="152400" y="381000"/>
                </a:lnTo>
                <a:lnTo>
                  <a:pt x="185057" y="391886"/>
                </a:lnTo>
                <a:cubicBezTo>
                  <a:pt x="239486" y="388257"/>
                  <a:pt x="294536" y="389968"/>
                  <a:pt x="348343" y="381000"/>
                </a:cubicBezTo>
                <a:cubicBezTo>
                  <a:pt x="383178" y="375194"/>
                  <a:pt x="382451" y="346892"/>
                  <a:pt x="402771" y="326572"/>
                </a:cubicBezTo>
                <a:cubicBezTo>
                  <a:pt x="412022" y="317321"/>
                  <a:pt x="424543" y="312057"/>
                  <a:pt x="435429" y="304800"/>
                </a:cubicBezTo>
                <a:cubicBezTo>
                  <a:pt x="439057" y="293914"/>
                  <a:pt x="440410" y="281982"/>
                  <a:pt x="446314" y="272143"/>
                </a:cubicBezTo>
                <a:cubicBezTo>
                  <a:pt x="451594" y="263342"/>
                  <a:pt x="467573" y="260622"/>
                  <a:pt x="468086" y="250372"/>
                </a:cubicBezTo>
                <a:cubicBezTo>
                  <a:pt x="471353" y="185039"/>
                  <a:pt x="463402" y="119549"/>
                  <a:pt x="457200" y="54429"/>
                </a:cubicBezTo>
                <a:cubicBezTo>
                  <a:pt x="456112" y="43006"/>
                  <a:pt x="455651" y="28441"/>
                  <a:pt x="446314" y="21772"/>
                </a:cubicBezTo>
                <a:cubicBezTo>
                  <a:pt x="427640" y="8433"/>
                  <a:pt x="381000" y="0"/>
                  <a:pt x="381000" y="0"/>
                </a:cubicBezTo>
                <a:cubicBezTo>
                  <a:pt x="297543" y="3629"/>
                  <a:pt x="213570" y="933"/>
                  <a:pt x="130629" y="10886"/>
                </a:cubicBezTo>
                <a:cubicBezTo>
                  <a:pt x="120439" y="12109"/>
                  <a:pt x="117068" y="26500"/>
                  <a:pt x="108857" y="32658"/>
                </a:cubicBezTo>
                <a:cubicBezTo>
                  <a:pt x="102366" y="37526"/>
                  <a:pt x="81643" y="50801"/>
                  <a:pt x="76200" y="54429"/>
                </a:cubicBez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 smtClean="0"/>
              <a:t>2</a:t>
            </a:r>
            <a:endParaRPr lang="fr-FR" b="1" dirty="0"/>
          </a:p>
        </p:txBody>
      </p:sp>
      <p:sp>
        <p:nvSpPr>
          <p:cNvPr id="194" name="Forme libre 193"/>
          <p:cNvSpPr/>
          <p:nvPr/>
        </p:nvSpPr>
        <p:spPr>
          <a:xfrm rot="4423028">
            <a:off x="1297244" y="4085072"/>
            <a:ext cx="468312" cy="392112"/>
          </a:xfrm>
          <a:custGeom>
            <a:avLst/>
            <a:gdLst>
              <a:gd name="connsiteX0" fmla="*/ 76200 w 468845"/>
              <a:gd name="connsiteY0" fmla="*/ 54429 h 391886"/>
              <a:gd name="connsiteX1" fmla="*/ 76200 w 468845"/>
              <a:gd name="connsiteY1" fmla="*/ 54429 h 391886"/>
              <a:gd name="connsiteX2" fmla="*/ 21771 w 468845"/>
              <a:gd name="connsiteY2" fmla="*/ 152400 h 391886"/>
              <a:gd name="connsiteX3" fmla="*/ 0 w 468845"/>
              <a:gd name="connsiteY3" fmla="*/ 217715 h 391886"/>
              <a:gd name="connsiteX4" fmla="*/ 43543 w 468845"/>
              <a:gd name="connsiteY4" fmla="*/ 315686 h 391886"/>
              <a:gd name="connsiteX5" fmla="*/ 87086 w 468845"/>
              <a:gd name="connsiteY5" fmla="*/ 359229 h 391886"/>
              <a:gd name="connsiteX6" fmla="*/ 152400 w 468845"/>
              <a:gd name="connsiteY6" fmla="*/ 381000 h 391886"/>
              <a:gd name="connsiteX7" fmla="*/ 185057 w 468845"/>
              <a:gd name="connsiteY7" fmla="*/ 391886 h 391886"/>
              <a:gd name="connsiteX8" fmla="*/ 348343 w 468845"/>
              <a:gd name="connsiteY8" fmla="*/ 381000 h 391886"/>
              <a:gd name="connsiteX9" fmla="*/ 402771 w 468845"/>
              <a:gd name="connsiteY9" fmla="*/ 326572 h 391886"/>
              <a:gd name="connsiteX10" fmla="*/ 435429 w 468845"/>
              <a:gd name="connsiteY10" fmla="*/ 304800 h 391886"/>
              <a:gd name="connsiteX11" fmla="*/ 446314 w 468845"/>
              <a:gd name="connsiteY11" fmla="*/ 272143 h 391886"/>
              <a:gd name="connsiteX12" fmla="*/ 468086 w 468845"/>
              <a:gd name="connsiteY12" fmla="*/ 250372 h 391886"/>
              <a:gd name="connsiteX13" fmla="*/ 457200 w 468845"/>
              <a:gd name="connsiteY13" fmla="*/ 54429 h 391886"/>
              <a:gd name="connsiteX14" fmla="*/ 446314 w 468845"/>
              <a:gd name="connsiteY14" fmla="*/ 21772 h 391886"/>
              <a:gd name="connsiteX15" fmla="*/ 381000 w 468845"/>
              <a:gd name="connsiteY15" fmla="*/ 0 h 391886"/>
              <a:gd name="connsiteX16" fmla="*/ 130629 w 468845"/>
              <a:gd name="connsiteY16" fmla="*/ 10886 h 391886"/>
              <a:gd name="connsiteX17" fmla="*/ 108857 w 468845"/>
              <a:gd name="connsiteY17" fmla="*/ 32658 h 391886"/>
              <a:gd name="connsiteX18" fmla="*/ 76200 w 468845"/>
              <a:gd name="connsiteY18" fmla="*/ 54429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8845" h="391886">
                <a:moveTo>
                  <a:pt x="76200" y="54429"/>
                </a:moveTo>
                <a:lnTo>
                  <a:pt x="76200" y="54429"/>
                </a:lnTo>
                <a:cubicBezTo>
                  <a:pt x="58057" y="87086"/>
                  <a:pt x="37569" y="118546"/>
                  <a:pt x="21771" y="152400"/>
                </a:cubicBezTo>
                <a:cubicBezTo>
                  <a:pt x="12066" y="173196"/>
                  <a:pt x="0" y="217715"/>
                  <a:pt x="0" y="217715"/>
                </a:cubicBezTo>
                <a:cubicBezTo>
                  <a:pt x="20363" y="380610"/>
                  <a:pt x="-20026" y="270279"/>
                  <a:pt x="43543" y="315686"/>
                </a:cubicBezTo>
                <a:cubicBezTo>
                  <a:pt x="60246" y="327617"/>
                  <a:pt x="67613" y="352738"/>
                  <a:pt x="87086" y="359229"/>
                </a:cubicBezTo>
                <a:lnTo>
                  <a:pt x="152400" y="381000"/>
                </a:lnTo>
                <a:lnTo>
                  <a:pt x="185057" y="391886"/>
                </a:lnTo>
                <a:cubicBezTo>
                  <a:pt x="239486" y="388257"/>
                  <a:pt x="294536" y="389968"/>
                  <a:pt x="348343" y="381000"/>
                </a:cubicBezTo>
                <a:cubicBezTo>
                  <a:pt x="383178" y="375194"/>
                  <a:pt x="382451" y="346892"/>
                  <a:pt x="402771" y="326572"/>
                </a:cubicBezTo>
                <a:cubicBezTo>
                  <a:pt x="412022" y="317321"/>
                  <a:pt x="424543" y="312057"/>
                  <a:pt x="435429" y="304800"/>
                </a:cubicBezTo>
                <a:cubicBezTo>
                  <a:pt x="439057" y="293914"/>
                  <a:pt x="440410" y="281982"/>
                  <a:pt x="446314" y="272143"/>
                </a:cubicBezTo>
                <a:cubicBezTo>
                  <a:pt x="451594" y="263342"/>
                  <a:pt x="467573" y="260622"/>
                  <a:pt x="468086" y="250372"/>
                </a:cubicBezTo>
                <a:cubicBezTo>
                  <a:pt x="471353" y="185039"/>
                  <a:pt x="463402" y="119549"/>
                  <a:pt x="457200" y="54429"/>
                </a:cubicBezTo>
                <a:cubicBezTo>
                  <a:pt x="456112" y="43006"/>
                  <a:pt x="455651" y="28441"/>
                  <a:pt x="446314" y="21772"/>
                </a:cubicBezTo>
                <a:cubicBezTo>
                  <a:pt x="427640" y="8433"/>
                  <a:pt x="381000" y="0"/>
                  <a:pt x="381000" y="0"/>
                </a:cubicBezTo>
                <a:cubicBezTo>
                  <a:pt x="297543" y="3629"/>
                  <a:pt x="213570" y="933"/>
                  <a:pt x="130629" y="10886"/>
                </a:cubicBezTo>
                <a:cubicBezTo>
                  <a:pt x="120439" y="12109"/>
                  <a:pt x="117068" y="26500"/>
                  <a:pt x="108857" y="32658"/>
                </a:cubicBezTo>
                <a:cubicBezTo>
                  <a:pt x="102366" y="37526"/>
                  <a:pt x="81643" y="50801"/>
                  <a:pt x="76200" y="5442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Rectangle 195"/>
              <p:cNvSpPr/>
              <p:nvPr/>
            </p:nvSpPr>
            <p:spPr>
              <a:xfrm>
                <a:off x="2437222" y="4386696"/>
                <a:ext cx="3358914" cy="5455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24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fr-FR" sz="24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sz="2400" i="1">
                              <a:latin typeface="Cambria Math"/>
                            </a:rPr>
                            <m:t>𝐵</m:t>
                          </m:r>
                        </m:sub>
                        <m:sup>
                          <m:r>
                            <a:rPr lang="fr-FR" sz="2400" i="1">
                              <a:latin typeface="Cambria Math"/>
                            </a:rPr>
                            <m:t>𝐴𝑙𝑙</m:t>
                          </m:r>
                        </m:sup>
                      </m:sSubSup>
                      <m:r>
                        <a:rPr lang="fr-FR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fr-FR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fr-FR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fr-FR" sz="24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fr-FR" sz="24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sz="2400" i="1">
                              <a:latin typeface="Cambria Math"/>
                            </a:rPr>
                            <m:t>𝐵</m:t>
                          </m:r>
                        </m:sub>
                        <m:sup>
                          <m:r>
                            <a:rPr lang="fr-FR" sz="2400" i="1">
                              <a:latin typeface="Cambria Math"/>
                            </a:rPr>
                            <m:t>1</m:t>
                          </m:r>
                        </m:sup>
                      </m:sSubSup>
                      <m:r>
                        <a:rPr lang="fr-FR" sz="2400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fr-FR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fr-FR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fr-FR" sz="24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fr-FR" sz="24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sz="2400" i="1">
                              <a:latin typeface="Cambria Math"/>
                            </a:rPr>
                            <m:t>𝐵</m:t>
                          </m:r>
                        </m:sub>
                        <m:sup>
                          <m:r>
                            <a:rPr lang="fr-FR" sz="2400" i="1"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96" name="Rectangle 1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222" y="4386696"/>
                <a:ext cx="3358914" cy="54553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7" name="ZoneTexte 196"/>
          <p:cNvSpPr txBox="1"/>
          <p:nvPr/>
        </p:nvSpPr>
        <p:spPr>
          <a:xfrm>
            <a:off x="2411760" y="3932738"/>
            <a:ext cx="673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Ex: titres molaires d’un alliage de deux éléments (A et B) et biphasé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Rectangle 197"/>
              <p:cNvSpPr/>
              <p:nvPr/>
            </p:nvSpPr>
            <p:spPr>
              <a:xfrm>
                <a:off x="2725254" y="5043706"/>
                <a:ext cx="5519154" cy="3632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fr-FR"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sz="1600" i="1">
                              <a:latin typeface="Cambria Math"/>
                            </a:rPr>
                            <m:t>𝐵</m:t>
                          </m:r>
                        </m:sub>
                        <m:sup>
                          <m:r>
                            <a:rPr lang="fr-FR" sz="1600" i="1">
                              <a:latin typeface="Cambria Math"/>
                            </a:rPr>
                            <m:t>𝐴𝑙𝑙</m:t>
                          </m:r>
                        </m:sup>
                      </m:sSubSup>
                      <m:r>
                        <a:rPr lang="fr-FR" sz="1600" i="1">
                          <a:latin typeface="Cambria Math"/>
                        </a:rPr>
                        <m:t>=</m:t>
                      </m:r>
                      <m:r>
                        <a:rPr lang="fr-FR" sz="1600" b="0" i="1" smtClean="0">
                          <a:latin typeface="Cambria Math"/>
                        </a:rPr>
                        <m:t>𝑡𝑖𝑡𝑟𝑒</m:t>
                      </m:r>
                      <m:r>
                        <a:rPr lang="fr-FR" sz="1600" b="0" i="1" smtClean="0">
                          <a:latin typeface="Cambria Math"/>
                        </a:rPr>
                        <m:t> </m:t>
                      </m:r>
                      <m:r>
                        <a:rPr lang="fr-FR" sz="1600" b="0" i="1" smtClean="0">
                          <a:latin typeface="Cambria Math"/>
                        </a:rPr>
                        <m:t>𝑑𝑒</m:t>
                      </m:r>
                      <m:r>
                        <a:rPr lang="fr-FR" sz="1600" b="0" i="1" smtClean="0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fr-FR" sz="16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𝑙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fr-FR" sz="1600" b="0" i="1" smtClean="0">
                          <a:latin typeface="Cambria Math"/>
                        </a:rPr>
                        <m:t>𝑎𝑙𝑙𝑖𝑎𝑔𝑒</m:t>
                      </m:r>
                      <m:r>
                        <a:rPr lang="fr-FR" sz="1600" b="0" i="1" smtClean="0">
                          <a:latin typeface="Cambria Math"/>
                        </a:rPr>
                        <m:t> </m:t>
                      </m:r>
                      <m:r>
                        <a:rPr lang="fr-FR" sz="1600" b="0" i="1" smtClean="0">
                          <a:latin typeface="Cambria Math"/>
                        </a:rPr>
                        <m:t>𝑒𝑛</m:t>
                      </m:r>
                      <m:r>
                        <a:rPr lang="fr-FR" sz="1600" b="0" i="1" smtClean="0">
                          <a:latin typeface="Cambria Math"/>
                        </a:rPr>
                        <m:t> é</m:t>
                      </m:r>
                      <m:r>
                        <a:rPr lang="fr-FR" sz="1600" b="0" i="1" smtClean="0">
                          <a:latin typeface="Cambria Math"/>
                        </a:rPr>
                        <m:t>𝑙</m:t>
                      </m:r>
                      <m:r>
                        <a:rPr lang="fr-FR" sz="1600" b="0" i="1" smtClean="0">
                          <a:latin typeface="Cambria Math"/>
                        </a:rPr>
                        <m:t>é</m:t>
                      </m:r>
                      <m:r>
                        <a:rPr lang="fr-FR" sz="1600" b="0" i="1" smtClean="0">
                          <a:latin typeface="Cambria Math"/>
                        </a:rPr>
                        <m:t>𝑚𝑒𝑛𝑡</m:t>
                      </m:r>
                      <m:r>
                        <a:rPr lang="fr-FR" sz="1600" b="0" i="1" smtClean="0">
                          <a:latin typeface="Cambria Math"/>
                        </a:rPr>
                        <m:t> </m:t>
                      </m:r>
                      <m:r>
                        <a:rPr lang="fr-FR" sz="1600" b="0" i="1" smtClean="0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198" name="Rectangle 1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254" y="5043706"/>
                <a:ext cx="5519154" cy="363241"/>
              </a:xfrm>
              <a:prstGeom prst="rect">
                <a:avLst/>
              </a:prstGeom>
              <a:blipFill rotWithShape="1"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Rectangle 198"/>
              <p:cNvSpPr/>
              <p:nvPr/>
            </p:nvSpPr>
            <p:spPr>
              <a:xfrm>
                <a:off x="2725254" y="5442023"/>
                <a:ext cx="5519154" cy="3632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fr-FR"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sz="1600" i="1">
                              <a:latin typeface="Cambria Math"/>
                            </a:rPr>
                            <m:t>𝐵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/>
                            </a:rPr>
                            <m:t>1</m:t>
                          </m:r>
                        </m:sup>
                      </m:sSubSup>
                      <m:r>
                        <a:rPr lang="fr-FR" sz="1600" i="1">
                          <a:latin typeface="Cambria Math"/>
                        </a:rPr>
                        <m:t>=</m:t>
                      </m:r>
                      <m:r>
                        <a:rPr lang="fr-FR" sz="1600" b="0" i="1" smtClean="0">
                          <a:latin typeface="Cambria Math"/>
                        </a:rPr>
                        <m:t>𝑡𝑖𝑡𝑟𝑒</m:t>
                      </m:r>
                      <m:r>
                        <a:rPr lang="fr-FR" sz="1600" b="0" i="1" smtClean="0">
                          <a:latin typeface="Cambria Math"/>
                        </a:rPr>
                        <m:t> </m:t>
                      </m:r>
                      <m:r>
                        <a:rPr lang="fr-FR" sz="1600" b="0" i="1" smtClean="0">
                          <a:latin typeface="Cambria Math"/>
                        </a:rPr>
                        <m:t>𝑑𝑒</m:t>
                      </m:r>
                      <m:r>
                        <a:rPr lang="fr-FR" sz="1600" b="0" i="1" smtClean="0">
                          <a:latin typeface="Cambria Math"/>
                        </a:rPr>
                        <m:t> </m:t>
                      </m:r>
                      <m:r>
                        <a:rPr lang="fr-FR" sz="1600" b="0" i="1" smtClean="0">
                          <a:latin typeface="Cambria Math"/>
                        </a:rPr>
                        <m:t>𝑙𝑎</m:t>
                      </m:r>
                      <m:r>
                        <a:rPr lang="fr-FR" sz="1600" b="0" i="1" smtClean="0">
                          <a:latin typeface="Cambria Math"/>
                        </a:rPr>
                        <m:t> </m:t>
                      </m:r>
                      <m:r>
                        <a:rPr lang="fr-FR" sz="1600" b="0" i="1" smtClean="0">
                          <a:latin typeface="Cambria Math"/>
                        </a:rPr>
                        <m:t>𝑝h𝑎𝑠𝑒</m:t>
                      </m:r>
                      <m:r>
                        <a:rPr lang="fr-FR" sz="1600" b="0" i="1" smtClean="0">
                          <a:latin typeface="Cambria Math"/>
                        </a:rPr>
                        <m:t> 1 </m:t>
                      </m:r>
                      <m:r>
                        <a:rPr lang="fr-FR" sz="1600" b="0" i="1" smtClean="0">
                          <a:latin typeface="Cambria Math"/>
                        </a:rPr>
                        <m:t>𝑒𝑛</m:t>
                      </m:r>
                      <m:r>
                        <a:rPr lang="fr-FR" sz="1600" b="0" i="1" smtClean="0">
                          <a:latin typeface="Cambria Math"/>
                        </a:rPr>
                        <m:t> é</m:t>
                      </m:r>
                      <m:r>
                        <a:rPr lang="fr-FR" sz="1600" b="0" i="1" smtClean="0">
                          <a:latin typeface="Cambria Math"/>
                        </a:rPr>
                        <m:t>𝑙</m:t>
                      </m:r>
                      <m:r>
                        <a:rPr lang="fr-FR" sz="1600" b="0" i="1" smtClean="0">
                          <a:latin typeface="Cambria Math"/>
                        </a:rPr>
                        <m:t>é</m:t>
                      </m:r>
                      <m:r>
                        <a:rPr lang="fr-FR" sz="1600" b="0" i="1" smtClean="0">
                          <a:latin typeface="Cambria Math"/>
                        </a:rPr>
                        <m:t>𝑚𝑒𝑛𝑡</m:t>
                      </m:r>
                      <m:r>
                        <a:rPr lang="fr-FR" sz="1600" b="0" i="1" smtClean="0">
                          <a:latin typeface="Cambria Math"/>
                        </a:rPr>
                        <m:t> </m:t>
                      </m:r>
                      <m:r>
                        <a:rPr lang="fr-FR" sz="1600" b="0" i="1" smtClean="0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199" name="Rectangle 1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254" y="5442023"/>
                <a:ext cx="5519154" cy="363241"/>
              </a:xfrm>
              <a:prstGeom prst="rect">
                <a:avLst/>
              </a:prstGeom>
              <a:blipFill rotWithShape="1">
                <a:blip r:embed="rId6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Rectangle 199"/>
              <p:cNvSpPr/>
              <p:nvPr/>
            </p:nvSpPr>
            <p:spPr>
              <a:xfrm>
                <a:off x="2725254" y="5874071"/>
                <a:ext cx="5519154" cy="3632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60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fr-FR"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sz="1600" i="1">
                              <a:latin typeface="Cambria Math"/>
                            </a:rPr>
                            <m:t>𝐵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fr-FR" sz="1600" i="1">
                          <a:latin typeface="Cambria Math"/>
                        </a:rPr>
                        <m:t>=</m:t>
                      </m:r>
                      <m:r>
                        <a:rPr lang="fr-FR" sz="1600" b="0" i="1" smtClean="0">
                          <a:latin typeface="Cambria Math"/>
                        </a:rPr>
                        <m:t>𝑡𝑖𝑡𝑟𝑒</m:t>
                      </m:r>
                      <m:r>
                        <a:rPr lang="fr-FR" sz="1600" b="0" i="1" smtClean="0">
                          <a:latin typeface="Cambria Math"/>
                        </a:rPr>
                        <m:t> </m:t>
                      </m:r>
                      <m:r>
                        <a:rPr lang="fr-FR" sz="1600" b="0" i="1" smtClean="0">
                          <a:latin typeface="Cambria Math"/>
                        </a:rPr>
                        <m:t>𝑑𝑒</m:t>
                      </m:r>
                      <m:r>
                        <a:rPr lang="fr-FR" sz="1600" b="0" i="1" smtClean="0">
                          <a:latin typeface="Cambria Math"/>
                        </a:rPr>
                        <m:t> </m:t>
                      </m:r>
                      <m:r>
                        <a:rPr lang="fr-FR" sz="1600" b="0" i="1" smtClean="0">
                          <a:latin typeface="Cambria Math"/>
                        </a:rPr>
                        <m:t>𝑙𝑎</m:t>
                      </m:r>
                      <m:r>
                        <a:rPr lang="fr-FR" sz="1600" b="0" i="1" smtClean="0">
                          <a:latin typeface="Cambria Math"/>
                        </a:rPr>
                        <m:t> </m:t>
                      </m:r>
                      <m:r>
                        <a:rPr lang="fr-FR" sz="1600" b="0" i="1" smtClean="0">
                          <a:latin typeface="Cambria Math"/>
                        </a:rPr>
                        <m:t>𝑝h𝑎𝑠𝑒</m:t>
                      </m:r>
                      <m:r>
                        <a:rPr lang="fr-FR" sz="1600" b="0" i="1" smtClean="0">
                          <a:latin typeface="Cambria Math"/>
                        </a:rPr>
                        <m:t> 2 </m:t>
                      </m:r>
                      <m:r>
                        <a:rPr lang="fr-FR" sz="1600" b="0" i="1" smtClean="0">
                          <a:latin typeface="Cambria Math"/>
                        </a:rPr>
                        <m:t>𝑒𝑛</m:t>
                      </m:r>
                      <m:r>
                        <a:rPr lang="fr-FR" sz="1600" b="0" i="1" smtClean="0">
                          <a:latin typeface="Cambria Math"/>
                        </a:rPr>
                        <m:t> é</m:t>
                      </m:r>
                      <m:r>
                        <a:rPr lang="fr-FR" sz="1600" b="0" i="1" smtClean="0">
                          <a:latin typeface="Cambria Math"/>
                        </a:rPr>
                        <m:t>𝑙</m:t>
                      </m:r>
                      <m:r>
                        <a:rPr lang="fr-FR" sz="1600" b="0" i="1" smtClean="0">
                          <a:latin typeface="Cambria Math"/>
                        </a:rPr>
                        <m:t>é</m:t>
                      </m:r>
                      <m:r>
                        <a:rPr lang="fr-FR" sz="1600" b="0" i="1" smtClean="0">
                          <a:latin typeface="Cambria Math"/>
                        </a:rPr>
                        <m:t>𝑚𝑒𝑛𝑡</m:t>
                      </m:r>
                      <m:r>
                        <a:rPr lang="fr-FR" sz="1600" b="0" i="1" smtClean="0">
                          <a:latin typeface="Cambria Math"/>
                        </a:rPr>
                        <m:t> </m:t>
                      </m:r>
                      <m:r>
                        <a:rPr lang="fr-FR" sz="1600" b="0" i="1" smtClean="0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200" name="Rectangle 1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254" y="5874071"/>
                <a:ext cx="5519154" cy="363241"/>
              </a:xfrm>
              <a:prstGeom prst="rect">
                <a:avLst/>
              </a:prstGeom>
              <a:blipFill rotWithShape="1">
                <a:blip r:embed="rId7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Rectangle 200"/>
              <p:cNvSpPr/>
              <p:nvPr/>
            </p:nvSpPr>
            <p:spPr>
              <a:xfrm>
                <a:off x="2725254" y="6309320"/>
                <a:ext cx="3358914" cy="3302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fr-FR" sz="1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fr-FR" sz="1400" b="0" i="1" smtClean="0">
                          <a:latin typeface="Cambria Math"/>
                        </a:rPr>
                        <m:t>,</m:t>
                      </m:r>
                      <m:r>
                        <a:rPr lang="fr-FR" sz="1400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fr-FR" sz="1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fr-FR" sz="1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fr-FR" sz="1400" b="0" i="1" smtClean="0">
                          <a:latin typeface="Cambria Math"/>
                        </a:rPr>
                        <m:t>  </m:t>
                      </m:r>
                      <m:r>
                        <a:rPr lang="fr-FR" sz="1400" b="0" i="1" smtClean="0">
                          <a:latin typeface="Cambria Math"/>
                        </a:rPr>
                        <m:t>𝑓𝑟𝑎𝑐𝑡𝑖𝑜𝑛</m:t>
                      </m:r>
                      <m:r>
                        <a:rPr lang="fr-FR" sz="1400" b="0" i="1" smtClean="0">
                          <a:latin typeface="Cambria Math"/>
                        </a:rPr>
                        <m:t> </m:t>
                      </m:r>
                      <m:r>
                        <a:rPr lang="fr-FR" sz="1400" b="0" i="1" smtClean="0">
                          <a:latin typeface="Cambria Math"/>
                        </a:rPr>
                        <m:t>𝑚𝑜𝑙𝑎𝑖𝑟𝑒𝑠</m:t>
                      </m:r>
                      <m:r>
                        <a:rPr lang="fr-FR" sz="1400" b="0" i="1" smtClean="0">
                          <a:latin typeface="Cambria Math"/>
                        </a:rPr>
                        <m:t> </m:t>
                      </m:r>
                      <m:r>
                        <a:rPr lang="fr-FR" sz="1400" b="0" i="1" smtClean="0">
                          <a:latin typeface="Cambria Math"/>
                        </a:rPr>
                        <m:t>𝑑𝑒𝑠</m:t>
                      </m:r>
                      <m:r>
                        <a:rPr lang="fr-FR" sz="1400" b="0" i="1" smtClean="0">
                          <a:latin typeface="Cambria Math"/>
                        </a:rPr>
                        <m:t> </m:t>
                      </m:r>
                      <m:r>
                        <a:rPr lang="fr-FR" sz="1400" b="0" i="1" smtClean="0">
                          <a:latin typeface="Cambria Math"/>
                        </a:rPr>
                        <m:t>𝑝h𝑎𝑠𝑒𝑠</m:t>
                      </m:r>
                      <m:r>
                        <a:rPr lang="fr-FR" sz="1400" b="0" i="1" smtClean="0">
                          <a:latin typeface="Cambria Math"/>
                        </a:rPr>
                        <m:t> 1 </m:t>
                      </m:r>
                      <m:r>
                        <a:rPr lang="fr-FR" sz="1400" b="0" i="1" smtClean="0">
                          <a:latin typeface="Cambria Math"/>
                        </a:rPr>
                        <m:t>𝑒𝑡</m:t>
                      </m:r>
                      <m:r>
                        <a:rPr lang="fr-FR" sz="1400" b="0" i="1" smtClean="0">
                          <a:latin typeface="Cambria Math"/>
                        </a:rPr>
                        <m:t> 2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201" name="Rectangle 2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254" y="6309320"/>
                <a:ext cx="3358914" cy="330219"/>
              </a:xfrm>
              <a:prstGeom prst="rect">
                <a:avLst/>
              </a:prstGeom>
              <a:blipFill rotWithShape="1">
                <a:blip r:embed="rId8"/>
                <a:stretch>
                  <a:fillRect r="-3811" b="-18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1619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8820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Principe général pour évaluer la possibilité d’une transformation de phase</a:t>
            </a:r>
            <a:endParaRPr lang="fr-FR" sz="2800" i="1" baseline="-25000" dirty="0"/>
          </a:p>
        </p:txBody>
      </p:sp>
      <p:sp>
        <p:nvSpPr>
          <p:cNvPr id="189" name="ZoneTexte 188"/>
          <p:cNvSpPr txBox="1"/>
          <p:nvPr/>
        </p:nvSpPr>
        <p:spPr>
          <a:xfrm>
            <a:off x="611560" y="2413337"/>
            <a:ext cx="7632848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Comparer G de l’état initial (par ex G</a:t>
            </a:r>
            <a:r>
              <a:rPr lang="fr-FR" sz="2400" baseline="-25000" dirty="0" smtClean="0"/>
              <a:t>1</a:t>
            </a:r>
            <a:r>
              <a:rPr lang="fr-FR" sz="2400" dirty="0" smtClean="0"/>
              <a:t>) à G de l’état final supposé (par exemple G</a:t>
            </a:r>
            <a:r>
              <a:rPr lang="fr-FR" sz="2400" baseline="-25000" dirty="0" smtClean="0"/>
              <a:t>2</a:t>
            </a:r>
            <a:r>
              <a:rPr lang="fr-FR" sz="2400" dirty="0" smtClean="0"/>
              <a:t>). </a:t>
            </a:r>
            <a:r>
              <a:rPr lang="fr-FR" sz="2400" dirty="0" smtClean="0">
                <a:sym typeface="Symbol"/>
              </a:rPr>
              <a:t>G = G</a:t>
            </a:r>
            <a:r>
              <a:rPr lang="fr-FR" sz="2400" baseline="-25000" dirty="0" smtClean="0">
                <a:sym typeface="Symbol"/>
              </a:rPr>
              <a:t>2</a:t>
            </a:r>
            <a:r>
              <a:rPr lang="fr-FR" sz="2400" dirty="0" smtClean="0">
                <a:sym typeface="Symbol"/>
              </a:rPr>
              <a:t>-G</a:t>
            </a:r>
            <a:r>
              <a:rPr lang="fr-FR" sz="2400" baseline="-25000" dirty="0" smtClean="0">
                <a:sym typeface="Symbol"/>
              </a:rPr>
              <a:t>1</a:t>
            </a:r>
            <a:endParaRPr lang="fr-FR" sz="2400" baseline="-25000" dirty="0"/>
          </a:p>
        </p:txBody>
      </p:sp>
      <p:sp>
        <p:nvSpPr>
          <p:cNvPr id="7" name="ZoneTexte 6"/>
          <p:cNvSpPr txBox="1"/>
          <p:nvPr/>
        </p:nvSpPr>
        <p:spPr>
          <a:xfrm>
            <a:off x="755576" y="3501008"/>
            <a:ext cx="7488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800" dirty="0" smtClean="0">
                <a:solidFill>
                  <a:srgbClr val="FF0000"/>
                </a:solidFill>
              </a:rPr>
              <a:t>Si </a:t>
            </a:r>
            <a:r>
              <a:rPr lang="fr-FR" sz="2800" dirty="0" smtClean="0">
                <a:solidFill>
                  <a:srgbClr val="FF0000"/>
                </a:solidFill>
                <a:sym typeface="Symbol"/>
              </a:rPr>
              <a:t>G &lt; 0 la transformation est possible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rgbClr val="FF0000"/>
                </a:solidFill>
              </a:rPr>
              <a:t>Si </a:t>
            </a:r>
            <a:r>
              <a:rPr lang="fr-FR" sz="2800" dirty="0">
                <a:solidFill>
                  <a:srgbClr val="FF0000"/>
                </a:solidFill>
                <a:sym typeface="Symbol"/>
              </a:rPr>
              <a:t>G </a:t>
            </a:r>
            <a:r>
              <a:rPr lang="fr-FR" sz="2800" dirty="0" smtClean="0">
                <a:solidFill>
                  <a:srgbClr val="FF0000"/>
                </a:solidFill>
                <a:sym typeface="Symbol"/>
              </a:rPr>
              <a:t>&gt; </a:t>
            </a:r>
            <a:r>
              <a:rPr lang="fr-FR" sz="2800" dirty="0">
                <a:solidFill>
                  <a:srgbClr val="FF0000"/>
                </a:solidFill>
                <a:sym typeface="Symbol"/>
              </a:rPr>
              <a:t>0 la transformation est </a:t>
            </a:r>
            <a:r>
              <a:rPr lang="fr-FR" sz="2800" dirty="0" smtClean="0">
                <a:solidFill>
                  <a:srgbClr val="FF0000"/>
                </a:solidFill>
                <a:sym typeface="Symbol"/>
              </a:rPr>
              <a:t>impossible</a:t>
            </a:r>
            <a:endParaRPr lang="fr-FR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19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954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Solutions solides – cadre général</a:t>
            </a:r>
            <a:endParaRPr lang="fr-FR" sz="2800" i="1" baseline="-25000" dirty="0"/>
          </a:p>
        </p:txBody>
      </p:sp>
      <p:pic>
        <p:nvPicPr>
          <p:cNvPr id="20" name="Image 1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309430"/>
            <a:ext cx="5544616" cy="453822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463806" y="908720"/>
                <a:ext cx="23298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fr-F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fr-FR" i="1">
                          <a:latin typeface="Cambria Math"/>
                        </a:rPr>
                        <m:t>= </m:t>
                      </m:r>
                      <m:r>
                        <a:rPr lang="fr-FR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fr-FR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fr-FR" i="1">
                          <a:latin typeface="Cambria Math"/>
                        </a:rPr>
                        <m:t>−</m:t>
                      </m:r>
                      <m:r>
                        <a:rPr lang="fr-FR" i="1">
                          <a:latin typeface="Cambria Math"/>
                        </a:rPr>
                        <m:t>𝑇</m:t>
                      </m:r>
                      <m:r>
                        <a:rPr lang="fr-FR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806" y="908720"/>
                <a:ext cx="2329869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e 2"/>
          <p:cNvGrpSpPr/>
          <p:nvPr/>
        </p:nvGrpSpPr>
        <p:grpSpPr>
          <a:xfrm>
            <a:off x="5490526" y="3278232"/>
            <a:ext cx="3823520" cy="3420781"/>
            <a:chOff x="5487153" y="1479108"/>
            <a:chExt cx="3823520" cy="34207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5508104" y="2230744"/>
                  <a:ext cx="3635897" cy="147732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fr-FR" i="1" dirty="0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S = k ln ω</a:t>
                  </a:r>
                </a:p>
                <a:p>
                  <a:pPr marL="285750" indent="-285750">
                    <a:buFont typeface="Symbol" pitchFamily="18" charset="2"/>
                    <a:buChar char="w"/>
                  </a:pPr>
                  <a:r>
                    <a:rPr lang="fr-FR" i="1" dirty="0" smtClean="0">
                      <a:solidFill>
                        <a:schemeClr val="accent6">
                          <a:lumMod val="50000"/>
                        </a:schemeClr>
                      </a:solidFill>
                      <a:sym typeface="Symbol"/>
                    </a:rPr>
                    <a:t>: nb de configurations possibles</a:t>
                  </a:r>
                </a:p>
                <a:p>
                  <a:r>
                    <a:rPr lang="fr-FR" i="1" dirty="0" smtClean="0">
                      <a:solidFill>
                        <a:schemeClr val="accent6">
                          <a:lumMod val="50000"/>
                        </a:schemeClr>
                      </a:solidFill>
                      <a:sym typeface="Symbol"/>
                    </a:rPr>
                    <a:t>Alors S</a:t>
                  </a:r>
                  <a:r>
                    <a:rPr lang="fr-FR" i="1" baseline="-25000" dirty="0" smtClean="0">
                      <a:solidFill>
                        <a:schemeClr val="accent6">
                          <a:lumMod val="50000"/>
                        </a:schemeClr>
                      </a:solidFill>
                      <a:sym typeface="Symbol"/>
                    </a:rPr>
                    <a:t>1</a:t>
                  </a:r>
                  <a:r>
                    <a:rPr lang="fr-FR" i="1" dirty="0" smtClean="0">
                      <a:solidFill>
                        <a:schemeClr val="accent6">
                          <a:lumMod val="50000"/>
                        </a:schemeClr>
                      </a:solidFill>
                      <a:sym typeface="Symbol"/>
                    </a:rPr>
                    <a:t> = 0   et </a:t>
                  </a:r>
                  <a14:m>
                    <m:oMath xmlns:m="http://schemas.openxmlformats.org/officeDocument/2006/math">
                      <m:r>
                        <a:rPr lang="fr-FR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a14:m>
                  <a:r>
                    <a:rPr lang="fr-FR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 </a:t>
                  </a:r>
                  <a:r>
                    <a:rPr lang="fr-FR" i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= </a:t>
                  </a:r>
                  <a:r>
                    <a:rPr lang="fr-FR" i="1" dirty="0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S</a:t>
                  </a:r>
                  <a:r>
                    <a:rPr lang="fr-FR" i="1" baseline="-25000" dirty="0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2</a:t>
                  </a:r>
                </a:p>
                <a:p>
                  <a:endParaRPr lang="fr-FR" i="1" dirty="0" smtClean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  <a:p>
                  <a:endParaRPr lang="fr-FR" i="1" dirty="0">
                    <a:solidFill>
                      <a:schemeClr val="accent6">
                        <a:lumMod val="50000"/>
                      </a:schemeClr>
                    </a:solidFill>
                    <a:sym typeface="Symbol"/>
                  </a:endParaRPr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104" y="2230744"/>
                  <a:ext cx="3635897" cy="1477328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340" t="-206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5494249" y="1916832"/>
                  <a:ext cx="140609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fr-FR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a14:m>
                  <a:r>
                    <a:rPr lang="fr-FR" dirty="0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 </a:t>
                  </a:r>
                  <a:r>
                    <a:rPr lang="fr-FR" i="1" dirty="0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= S</a:t>
                  </a:r>
                  <a:r>
                    <a:rPr lang="fr-FR" i="1" baseline="-25000" dirty="0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2</a:t>
                  </a:r>
                  <a:r>
                    <a:rPr lang="fr-FR" i="1" dirty="0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 – S</a:t>
                  </a:r>
                  <a:r>
                    <a:rPr lang="fr-FR" i="1" baseline="-25000" dirty="0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1</a:t>
                  </a:r>
                  <a:endParaRPr lang="fr-FR" i="1" baseline="-25000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4249" y="1916832"/>
                  <a:ext cx="1406091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b="-2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7454973" y="3033071"/>
                  <a:ext cx="1855700" cy="6751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 smtClean="0">
                            <a:solidFill>
                              <a:schemeClr val="tx1"/>
                            </a:solidFill>
                            <a:latin typeface="Cambria Math"/>
                            <a:sym typeface="Symbol"/>
                          </a:rPr>
                          <m:t></m:t>
                        </m:r>
                        <m:r>
                          <a:rPr lang="fr-FR" i="1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fr-FR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fr-FR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!</m:t>
                            </m:r>
                          </m:num>
                          <m:den>
                            <m:sSub>
                              <m:sSubPr>
                                <m:ctrlP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fr-FR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!</m:t>
                            </m:r>
                            <m:sSub>
                              <m:sSubPr>
                                <m:ctrlP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fr-FR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!</m:t>
                            </m:r>
                          </m:den>
                        </m:f>
                        <m:r>
                          <a:rPr lang="fr-FR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oMath>
                    </m:oMathPara>
                  </a14:m>
                  <a:endParaRPr lang="fr-F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4973" y="3033071"/>
                  <a:ext cx="1855700" cy="675185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ZoneTexte 11"/>
            <p:cNvSpPr txBox="1"/>
            <p:nvPr/>
          </p:nvSpPr>
          <p:spPr>
            <a:xfrm>
              <a:off x="5508104" y="3204797"/>
              <a:ext cx="23846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/>
                <a:t>Si solution aléatoire:</a:t>
              </a:r>
              <a:endParaRPr lang="fr-F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ZoneTexte 12"/>
                <p:cNvSpPr txBox="1"/>
                <p:nvPr/>
              </p:nvSpPr>
              <p:spPr>
                <a:xfrm>
                  <a:off x="5508104" y="3694998"/>
                  <a:ext cx="2816098" cy="10002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fr-FR" dirty="0" smtClean="0"/>
                    <a:t>On montre que (TD1) :</a:t>
                  </a:r>
                </a:p>
                <a:p>
                  <a14:m>
                    <m:oMath xmlns:m="http://schemas.openxmlformats.org/officeDocument/2006/math">
                      <m:r>
                        <a:rPr lang="fr-FR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a14:m>
                  <a:r>
                    <a:rPr lang="fr-FR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 </a:t>
                  </a:r>
                  <a:r>
                    <a:rPr lang="fr-FR" i="1" dirty="0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= -R(</a:t>
                  </a:r>
                  <a:r>
                    <a:rPr lang="fr-FR" i="1" dirty="0" err="1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X</a:t>
                  </a:r>
                  <a:r>
                    <a:rPr lang="fr-FR" i="1" baseline="-25000" dirty="0" err="1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A</a:t>
                  </a:r>
                  <a:r>
                    <a:rPr lang="fr-FR" i="1" dirty="0" err="1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lnX</a:t>
                  </a:r>
                  <a:r>
                    <a:rPr lang="fr-FR" i="1" baseline="-25000" dirty="0" err="1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A</a:t>
                  </a:r>
                  <a:r>
                    <a:rPr lang="fr-FR" i="1" dirty="0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 + </a:t>
                  </a:r>
                  <a:r>
                    <a:rPr lang="fr-FR" i="1" dirty="0" err="1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X</a:t>
                  </a:r>
                  <a:r>
                    <a:rPr lang="fr-FR" i="1" baseline="-25000" dirty="0" err="1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B</a:t>
                  </a:r>
                  <a:r>
                    <a:rPr lang="fr-FR" i="1" dirty="0" err="1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lnX</a:t>
                  </a:r>
                  <a:r>
                    <a:rPr lang="fr-FR" i="1" baseline="-25000" dirty="0" err="1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B</a:t>
                  </a:r>
                  <a:r>
                    <a:rPr lang="fr-FR" i="1" dirty="0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)</a:t>
                  </a:r>
                  <a:endParaRPr lang="fr-FR" i="1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  <a:p>
                  <a:endParaRPr lang="fr-FR" dirty="0"/>
                </a:p>
              </p:txBody>
            </p:sp>
          </mc:Choice>
          <mc:Fallback xmlns="">
            <p:sp>
              <p:nvSpPr>
                <p:cNvPr id="13" name="ZoneTexte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104" y="3694998"/>
                  <a:ext cx="2816098" cy="1000274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1732" t="-304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 28"/>
            <p:cNvSpPr/>
            <p:nvPr/>
          </p:nvSpPr>
          <p:spPr>
            <a:xfrm>
              <a:off x="5586871" y="3995232"/>
              <a:ext cx="2495303" cy="432048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cxnSp>
          <p:nvCxnSpPr>
            <p:cNvPr id="15" name="Connecteur droit 14"/>
            <p:cNvCxnSpPr/>
            <p:nvPr/>
          </p:nvCxnSpPr>
          <p:spPr>
            <a:xfrm>
              <a:off x="5508104" y="1479108"/>
              <a:ext cx="0" cy="342078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ZoneTexte 1"/>
            <p:cNvSpPr txBox="1"/>
            <p:nvPr/>
          </p:nvSpPr>
          <p:spPr>
            <a:xfrm>
              <a:off x="5487153" y="1479108"/>
              <a:ext cx="3089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 smtClean="0">
                  <a:solidFill>
                    <a:schemeClr val="accent6">
                      <a:lumMod val="50000"/>
                    </a:schemeClr>
                  </a:solidFill>
                </a:rPr>
                <a:t>Entropie de mélange</a:t>
              </a:r>
              <a:endParaRPr lang="fr-FR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8" name="ZoneTexte 7"/>
          <p:cNvSpPr txBox="1"/>
          <p:nvPr/>
        </p:nvSpPr>
        <p:spPr>
          <a:xfrm>
            <a:off x="5148064" y="639852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Enthalpie libre de mélange</a:t>
            </a:r>
            <a:endParaRPr lang="fr-FR" b="1" dirty="0"/>
          </a:p>
        </p:txBody>
      </p:sp>
      <p:cxnSp>
        <p:nvCxnSpPr>
          <p:cNvPr id="14" name="Connecteur droit 13"/>
          <p:cNvCxnSpPr/>
          <p:nvPr/>
        </p:nvCxnSpPr>
        <p:spPr>
          <a:xfrm>
            <a:off x="5514863" y="667562"/>
            <a:ext cx="0" cy="6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216024" y="5951602"/>
            <a:ext cx="42119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 smtClean="0"/>
              <a:t>N</a:t>
            </a:r>
            <a:r>
              <a:rPr lang="fr-FR" sz="1600" i="1" baseline="-25000" dirty="0" smtClean="0"/>
              <a:t>A</a:t>
            </a:r>
            <a:r>
              <a:rPr lang="fr-FR" sz="1600" i="1" dirty="0" smtClean="0"/>
              <a:t>, N</a:t>
            </a:r>
            <a:r>
              <a:rPr lang="fr-FR" sz="1600" i="1" baseline="-25000" dirty="0" smtClean="0"/>
              <a:t>B</a:t>
            </a:r>
            <a:r>
              <a:rPr lang="fr-FR" sz="1600" i="1" dirty="0" smtClean="0"/>
              <a:t> : nb d’atomes de A et B</a:t>
            </a:r>
          </a:p>
          <a:p>
            <a:r>
              <a:rPr lang="fr-FR" sz="1600" i="1" dirty="0" smtClean="0"/>
              <a:t>X</a:t>
            </a:r>
            <a:r>
              <a:rPr lang="fr-FR" sz="1600" i="1" baseline="-25000" dirty="0" smtClean="0"/>
              <a:t>A</a:t>
            </a:r>
            <a:r>
              <a:rPr lang="fr-FR" sz="1600" i="1" dirty="0" smtClean="0"/>
              <a:t>, X</a:t>
            </a:r>
            <a:r>
              <a:rPr lang="fr-FR" sz="1600" i="1" baseline="-25000" dirty="0" smtClean="0"/>
              <a:t>B</a:t>
            </a:r>
            <a:r>
              <a:rPr lang="fr-FR" sz="1600" i="1" dirty="0" smtClean="0"/>
              <a:t> : titres molaires de A et B</a:t>
            </a:r>
          </a:p>
          <a:p>
            <a:r>
              <a:rPr lang="fr-FR" sz="1600" i="1" dirty="0" smtClean="0"/>
              <a:t>R: constante des gaz parfaits</a:t>
            </a:r>
            <a:endParaRPr lang="fr-FR" sz="1600" i="1" dirty="0"/>
          </a:p>
        </p:txBody>
      </p:sp>
      <p:grpSp>
        <p:nvGrpSpPr>
          <p:cNvPr id="6" name="Groupe 5"/>
          <p:cNvGrpSpPr/>
          <p:nvPr/>
        </p:nvGrpSpPr>
        <p:grpSpPr>
          <a:xfrm>
            <a:off x="5487153" y="1383739"/>
            <a:ext cx="3333319" cy="1757229"/>
            <a:chOff x="5487153" y="1340768"/>
            <a:chExt cx="3333319" cy="17572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ZoneTexte 15"/>
                <p:cNvSpPr txBox="1"/>
                <p:nvPr/>
              </p:nvSpPr>
              <p:spPr>
                <a:xfrm>
                  <a:off x="5580112" y="2060848"/>
                  <a:ext cx="263658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dirty="0" smtClean="0"/>
                    <a:t>Solution idéale: </a:t>
                  </a:r>
                  <a14:m>
                    <m:oMath xmlns:m="http://schemas.openxmlformats.org/officeDocument/2006/math">
                      <m:r>
                        <a:rPr lang="fr-FR" i="1">
                          <a:solidFill>
                            <a:schemeClr val="accent1"/>
                          </a:solidFill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fr-FR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a14:m>
                  <a:r>
                    <a:rPr lang="fr-FR" dirty="0" smtClean="0">
                      <a:solidFill>
                        <a:schemeClr val="accent1"/>
                      </a:solidFill>
                    </a:rPr>
                    <a:t>= 0</a:t>
                  </a:r>
                  <a:endParaRPr lang="fr-FR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ZoneTexte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0112" y="2060848"/>
                  <a:ext cx="2636586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1848" t="-8197" b="-2459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ZoneTexte 32"/>
                <p:cNvSpPr txBox="1"/>
                <p:nvPr/>
              </p:nvSpPr>
              <p:spPr>
                <a:xfrm>
                  <a:off x="5580112" y="2420888"/>
                  <a:ext cx="32403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dirty="0" smtClean="0"/>
                    <a:t>Solution régulière:</a:t>
                  </a:r>
                  <a14:m>
                    <m:oMath xmlns:m="http://schemas.openxmlformats.org/officeDocument/2006/math">
                      <m:r>
                        <a:rPr lang="fr-FR" b="0" i="0" smtClean="0">
                          <a:solidFill>
                            <a:schemeClr val="accent1"/>
                          </a:solidFill>
                          <a:latin typeface="Cambria Math"/>
                        </a:rPr>
                        <m:t> </m:t>
                      </m:r>
                      <m:r>
                        <a:rPr lang="fr-FR" i="1">
                          <a:solidFill>
                            <a:schemeClr val="accent1"/>
                          </a:solidFill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fr-FR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a14:m>
                  <a:r>
                    <a:rPr lang="fr-FR" dirty="0" smtClean="0">
                      <a:solidFill>
                        <a:schemeClr val="accent1"/>
                      </a:solidFill>
                    </a:rPr>
                    <a:t>= </a:t>
                  </a:r>
                  <a:r>
                    <a:rPr lang="fr-FR" dirty="0" smtClean="0">
                      <a:solidFill>
                        <a:schemeClr val="accent1"/>
                      </a:solidFill>
                      <a:sym typeface="Symbol"/>
                    </a:rPr>
                    <a:t>X</a:t>
                  </a:r>
                  <a:r>
                    <a:rPr lang="fr-FR" baseline="-25000" dirty="0" smtClean="0">
                      <a:solidFill>
                        <a:schemeClr val="accent1"/>
                      </a:solidFill>
                      <a:sym typeface="Symbol"/>
                    </a:rPr>
                    <a:t>A</a:t>
                  </a:r>
                  <a:r>
                    <a:rPr lang="fr-FR" dirty="0" smtClean="0">
                      <a:solidFill>
                        <a:schemeClr val="accent1"/>
                      </a:solidFill>
                      <a:sym typeface="Symbol"/>
                    </a:rPr>
                    <a:t>X</a:t>
                  </a:r>
                  <a:r>
                    <a:rPr lang="fr-FR" baseline="-25000" dirty="0" smtClean="0">
                      <a:solidFill>
                        <a:schemeClr val="accent1"/>
                      </a:solidFill>
                      <a:sym typeface="Symbol"/>
                    </a:rPr>
                    <a:t>B</a:t>
                  </a:r>
                  <a:endParaRPr lang="fr-FR" baseline="-250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ZoneTexte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0112" y="2420888"/>
                  <a:ext cx="3240360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1504" t="-11475" b="-2459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ZoneTexte 18"/>
            <p:cNvSpPr txBox="1"/>
            <p:nvPr/>
          </p:nvSpPr>
          <p:spPr>
            <a:xfrm>
              <a:off x="5580112" y="1723699"/>
              <a:ext cx="2376264" cy="3777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u="sng" dirty="0" smtClean="0"/>
                <a:t>2 cas d’école</a:t>
              </a:r>
              <a:endParaRPr lang="fr-FR" u="sng" dirty="0"/>
            </a:p>
          </p:txBody>
        </p:sp>
        <p:cxnSp>
          <p:nvCxnSpPr>
            <p:cNvPr id="18" name="Connecteur droit 17"/>
            <p:cNvCxnSpPr/>
            <p:nvPr/>
          </p:nvCxnSpPr>
          <p:spPr>
            <a:xfrm>
              <a:off x="5508104" y="1374692"/>
              <a:ext cx="0" cy="134352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ZoneTexte 21"/>
            <p:cNvSpPr txBox="1"/>
            <p:nvPr/>
          </p:nvSpPr>
          <p:spPr>
            <a:xfrm>
              <a:off x="5487153" y="1340768"/>
              <a:ext cx="3089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 smtClean="0">
                  <a:solidFill>
                    <a:schemeClr val="accent1"/>
                  </a:solidFill>
                </a:rPr>
                <a:t>Enthalpie de mélange</a:t>
              </a:r>
              <a:endParaRPr lang="fr-FR" b="1" dirty="0">
                <a:solidFill>
                  <a:schemeClr val="accent1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582845" y="2070140"/>
              <a:ext cx="3237627" cy="72008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ZoneTexte 23"/>
            <p:cNvSpPr txBox="1"/>
            <p:nvPr/>
          </p:nvSpPr>
          <p:spPr>
            <a:xfrm>
              <a:off x="5582845" y="2790220"/>
              <a:ext cx="32376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i="1" dirty="0" smtClean="0">
                  <a:sym typeface="Symbol"/>
                </a:rPr>
                <a:t>: constante propre à chaque solution</a:t>
              </a:r>
              <a:endParaRPr lang="fr-FR" sz="14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6686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954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Solutions idéales et régulières</a:t>
            </a:r>
            <a:endParaRPr lang="fr-FR" sz="2800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5458753" y="3070701"/>
                <a:ext cx="281609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i="1" smtClean="0">
                        <a:solidFill>
                          <a:schemeClr val="tx1"/>
                        </a:solidFill>
                        <a:latin typeface="Cambria Math"/>
                      </a:rPr>
                      <m:t>∆</m:t>
                    </m:r>
                    <m:sSub>
                      <m:sSubPr>
                        <m:ctrlPr>
                          <a:rPr lang="fr-FR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fr-FR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rgbClr val="C00000"/>
                    </a:solidFill>
                  </a:rPr>
                  <a:t> </a:t>
                </a:r>
                <a:r>
                  <a:rPr lang="fr-FR" i="1" dirty="0" smtClean="0"/>
                  <a:t>=</a:t>
                </a:r>
                <a:r>
                  <a:rPr lang="fr-FR" i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fr-FR" i="1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R</a:t>
                </a:r>
                <a:r>
                  <a:rPr lang="fr-FR" i="1" dirty="0" smtClean="0"/>
                  <a:t>T</a:t>
                </a:r>
                <a:r>
                  <a:rPr lang="fr-FR" i="1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(</a:t>
                </a:r>
                <a:r>
                  <a:rPr lang="fr-FR" i="1" dirty="0" err="1" smtClean="0">
                    <a:solidFill>
                      <a:schemeClr val="accent6">
                        <a:lumMod val="50000"/>
                      </a:schemeClr>
                    </a:solidFill>
                  </a:rPr>
                  <a:t>X</a:t>
                </a:r>
                <a:r>
                  <a:rPr lang="fr-FR" i="1" baseline="-25000" dirty="0" err="1" smtClean="0">
                    <a:solidFill>
                      <a:schemeClr val="accent6">
                        <a:lumMod val="50000"/>
                      </a:schemeClr>
                    </a:solidFill>
                  </a:rPr>
                  <a:t>A</a:t>
                </a:r>
                <a:r>
                  <a:rPr lang="fr-FR" i="1" dirty="0" err="1" smtClean="0">
                    <a:solidFill>
                      <a:schemeClr val="accent6">
                        <a:lumMod val="50000"/>
                      </a:schemeClr>
                    </a:solidFill>
                  </a:rPr>
                  <a:t>lnX</a:t>
                </a:r>
                <a:r>
                  <a:rPr lang="fr-FR" i="1" baseline="-25000" dirty="0" err="1" smtClean="0">
                    <a:solidFill>
                      <a:schemeClr val="accent6">
                        <a:lumMod val="50000"/>
                      </a:schemeClr>
                    </a:solidFill>
                  </a:rPr>
                  <a:t>A</a:t>
                </a:r>
                <a:r>
                  <a:rPr lang="fr-FR" i="1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 + </a:t>
                </a:r>
                <a:r>
                  <a:rPr lang="fr-FR" i="1" dirty="0" err="1" smtClean="0">
                    <a:solidFill>
                      <a:schemeClr val="accent6">
                        <a:lumMod val="50000"/>
                      </a:schemeClr>
                    </a:solidFill>
                  </a:rPr>
                  <a:t>X</a:t>
                </a:r>
                <a:r>
                  <a:rPr lang="fr-FR" i="1" baseline="-25000" dirty="0" err="1" smtClean="0">
                    <a:solidFill>
                      <a:schemeClr val="accent6">
                        <a:lumMod val="50000"/>
                      </a:schemeClr>
                    </a:solidFill>
                  </a:rPr>
                  <a:t>B</a:t>
                </a:r>
                <a:r>
                  <a:rPr lang="fr-FR" i="1" dirty="0" err="1" smtClean="0">
                    <a:solidFill>
                      <a:schemeClr val="accent6">
                        <a:lumMod val="50000"/>
                      </a:schemeClr>
                    </a:solidFill>
                  </a:rPr>
                  <a:t>lnX</a:t>
                </a:r>
                <a:r>
                  <a:rPr lang="fr-FR" i="1" baseline="-25000" dirty="0" err="1" smtClean="0">
                    <a:solidFill>
                      <a:schemeClr val="accent6">
                        <a:lumMod val="50000"/>
                      </a:schemeClr>
                    </a:solidFill>
                  </a:rPr>
                  <a:t>B</a:t>
                </a:r>
                <a:r>
                  <a:rPr lang="fr-FR" i="1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)</a:t>
                </a:r>
                <a:endParaRPr lang="fr-FR" i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753" y="3070701"/>
                <a:ext cx="2816098" cy="646331"/>
              </a:xfrm>
              <a:prstGeom prst="rect">
                <a:avLst/>
              </a:prstGeom>
              <a:blipFill rotWithShape="1">
                <a:blip r:embed="rId2"/>
                <a:stretch>
                  <a:fillRect t="-47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5452100" y="1916832"/>
                <a:ext cx="36919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 smtClean="0"/>
                  <a:t>Solution idéale </a:t>
                </a:r>
                <a:r>
                  <a:rPr lang="fr-FR" dirty="0" smtClean="0"/>
                  <a:t>=&gt; </a:t>
                </a:r>
                <a14:m>
                  <m:oMath xmlns:m="http://schemas.openxmlformats.org/officeDocument/2006/math">
                    <m:r>
                      <a:rPr lang="fr-FR" i="1">
                        <a:solidFill>
                          <a:schemeClr val="accent1"/>
                        </a:solidFill>
                        <a:latin typeface="Cambria Math"/>
                      </a:rPr>
                      <m:t>∆</m:t>
                    </m:r>
                    <m:sSub>
                      <m:sSubPr>
                        <m:ctrlPr>
                          <a:rPr lang="fr-FR" i="1">
                            <a:solidFill>
                              <a:schemeClr val="accent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chemeClr val="accent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fr-FR" i="1">
                            <a:solidFill>
                              <a:schemeClr val="accent1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accent1"/>
                    </a:solidFill>
                  </a:rPr>
                  <a:t>= </a:t>
                </a:r>
                <a:r>
                  <a:rPr lang="fr-FR" dirty="0" smtClean="0">
                    <a:solidFill>
                      <a:schemeClr val="accent1"/>
                    </a:solidFill>
                  </a:rPr>
                  <a:t>0</a:t>
                </a:r>
                <a:endParaRPr lang="fr-FR" dirty="0">
                  <a:solidFill>
                    <a:schemeClr val="accent1"/>
                  </a:solidFill>
                </a:endParaRPr>
              </a:p>
              <a:p>
                <a:r>
                  <a:rPr lang="fr-FR" i="1" dirty="0" smtClean="0">
                    <a:latin typeface="Cambria Math"/>
                  </a:rPr>
                  <a:t>Les atomes se comportent dans le mélange comme avant le mélange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i="1"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fr-F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fr-FR" i="1">
                          <a:latin typeface="Cambria Math"/>
                        </a:rPr>
                        <m:t>= −</m:t>
                      </m:r>
                      <m:r>
                        <a:rPr lang="fr-FR" i="1">
                          <a:latin typeface="Cambria Math"/>
                        </a:rPr>
                        <m:t>𝑇</m:t>
                      </m:r>
                      <m:r>
                        <a:rPr lang="fr-FR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FR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100" y="1916832"/>
                <a:ext cx="3691900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1320" t="-25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5436096" y="3841011"/>
                <a:ext cx="4095148" cy="2108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 smtClean="0"/>
                  <a:t>Solution régulière </a:t>
                </a:r>
                <a:r>
                  <a:rPr lang="fr-FR" dirty="0" smtClean="0"/>
                  <a:t>=&gt; </a:t>
                </a:r>
                <a14:m>
                  <m:oMath xmlns:m="http://schemas.openxmlformats.org/officeDocument/2006/math">
                    <m:r>
                      <a:rPr lang="fr-FR" i="1">
                        <a:solidFill>
                          <a:schemeClr val="accent1"/>
                        </a:solidFill>
                        <a:latin typeface="Cambria Math"/>
                      </a:rPr>
                      <m:t>∆</m:t>
                    </m:r>
                    <m:sSub>
                      <m:sSubPr>
                        <m:ctrlPr>
                          <a:rPr lang="fr-FR" i="1">
                            <a:solidFill>
                              <a:schemeClr val="accent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chemeClr val="accent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fr-FR" i="1">
                            <a:solidFill>
                              <a:schemeClr val="accent1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accent1"/>
                    </a:solidFill>
                  </a:rPr>
                  <a:t>= </a:t>
                </a:r>
                <a:r>
                  <a:rPr lang="fr-FR" dirty="0">
                    <a:solidFill>
                      <a:schemeClr val="accent1"/>
                    </a:solidFill>
                    <a:sym typeface="Symbol"/>
                  </a:rPr>
                  <a:t></a:t>
                </a:r>
                <a:r>
                  <a:rPr lang="fr-FR" dirty="0" smtClean="0">
                    <a:solidFill>
                      <a:schemeClr val="accent1"/>
                    </a:solidFill>
                    <a:sym typeface="Symbol"/>
                  </a:rPr>
                  <a:t>X</a:t>
                </a:r>
                <a:r>
                  <a:rPr lang="fr-FR" baseline="-25000" dirty="0" smtClean="0">
                    <a:solidFill>
                      <a:schemeClr val="accent1"/>
                    </a:solidFill>
                    <a:sym typeface="Symbol"/>
                  </a:rPr>
                  <a:t>A</a:t>
                </a:r>
                <a:r>
                  <a:rPr lang="fr-FR" dirty="0" smtClean="0">
                    <a:solidFill>
                      <a:schemeClr val="accent1"/>
                    </a:solidFill>
                    <a:sym typeface="Symbol"/>
                  </a:rPr>
                  <a:t>X</a:t>
                </a:r>
                <a:r>
                  <a:rPr lang="fr-FR" baseline="-25000" dirty="0" smtClean="0">
                    <a:solidFill>
                      <a:schemeClr val="accent1"/>
                    </a:solidFill>
                    <a:sym typeface="Symbol"/>
                  </a:rPr>
                  <a:t>B</a:t>
                </a:r>
              </a:p>
              <a:p>
                <a:r>
                  <a:rPr lang="fr-FR" i="1" dirty="0" smtClean="0">
                    <a:sym typeface="Symbol"/>
                  </a:rPr>
                  <a:t>Comportement différent  des atomes avant et après mélange </a:t>
                </a:r>
                <a:endParaRPr lang="fr-FR" i="1" dirty="0">
                  <a:sym typeface="Symbol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fr-FR" i="1">
                        <a:latin typeface="Cambria Math"/>
                      </a:rPr>
                      <m:t>∆</m:t>
                    </m:r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fr-FR" i="1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fr-FR" i="1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fr-FR" dirty="0">
                        <a:solidFill>
                          <a:schemeClr val="accent1"/>
                        </a:solidFill>
                        <a:sym typeface="Symbol"/>
                      </a:rPr>
                      <m:t></m:t>
                    </m:r>
                    <m:r>
                      <m:rPr>
                        <m:nor/>
                      </m:rPr>
                      <a:rPr lang="fr-FR" dirty="0">
                        <a:solidFill>
                          <a:schemeClr val="accent1"/>
                        </a:solidFill>
                        <a:sym typeface="Symbol"/>
                      </a:rPr>
                      <m:t>XAXB</m:t>
                    </m:r>
                  </m:oMath>
                </a14:m>
                <a:r>
                  <a:rPr lang="fr-FR" i="1" dirty="0" smtClean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/>
                      </a:rPr>
                      <m:t>−</m:t>
                    </m:r>
                    <m:r>
                      <a:rPr lang="fr-FR" i="1">
                        <a:latin typeface="Cambria Math"/>
                      </a:rPr>
                      <m:t>𝑇</m:t>
                    </m:r>
                    <m:r>
                      <a:rPr lang="fr-FR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∆</m:t>
                    </m:r>
                    <m:sSub>
                      <m:sSubPr>
                        <m:ctrlPr>
                          <a:rPr lang="fr-FR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fr-FR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fr-FR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i="1"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fr-F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fr-FR" i="1"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fr-FR" dirty="0">
                          <a:solidFill>
                            <a:schemeClr val="accent1"/>
                          </a:solidFill>
                          <a:sym typeface="Symbol"/>
                        </a:rPr>
                        <m:t></m:t>
                      </m:r>
                      <m:r>
                        <m:rPr>
                          <m:nor/>
                        </m:rPr>
                        <a:rPr lang="fr-FR" dirty="0">
                          <a:solidFill>
                            <a:schemeClr val="accent1"/>
                          </a:solidFill>
                          <a:sym typeface="Symbol"/>
                        </a:rPr>
                        <m:t>XAXB</m:t>
                      </m:r>
                      <m:r>
                        <a:rPr lang="fr-FR" b="0" i="1" dirty="0" smtClean="0">
                          <a:solidFill>
                            <a:schemeClr val="tx1"/>
                          </a:solidFill>
                          <a:latin typeface="Cambria Math"/>
                          <a:sym typeface="Symbol"/>
                        </a:rPr>
                        <m:t>+</m:t>
                      </m:r>
                      <m:r>
                        <m:rPr>
                          <m:nor/>
                        </m:rPr>
                        <a:rPr lang="fr-FR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m:t>R</m:t>
                      </m:r>
                      <m:r>
                        <m:rPr>
                          <m:nor/>
                        </m:rPr>
                        <a:rPr lang="fr-FR" i="1" dirty="0"/>
                        <m:t>T</m:t>
                      </m:r>
                      <m:r>
                        <m:rPr>
                          <m:nor/>
                        </m:rPr>
                        <a:rPr lang="fr-FR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fr-FR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m:t>XAlnXA</m:t>
                      </m:r>
                      <m:r>
                        <m:rPr>
                          <m:nor/>
                        </m:rPr>
                        <a:rPr lang="fr-FR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m:t> + </m:t>
                      </m:r>
                      <m:r>
                        <m:rPr>
                          <m:nor/>
                        </m:rPr>
                        <a:rPr lang="fr-FR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m:t>XBlnXB</m:t>
                      </m:r>
                      <m:r>
                        <m:rPr>
                          <m:nor/>
                        </m:rPr>
                        <a:rPr lang="fr-FR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m:t>)</m:t>
                      </m:r>
                    </m:oMath>
                  </m:oMathPara>
                </a14:m>
                <a:endParaRPr lang="fr-FR" i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endParaRPr lang="fr-FR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endParaRPr lang="fr-FR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3841011"/>
                <a:ext cx="4095148" cy="2108269"/>
              </a:xfrm>
              <a:prstGeom prst="rect">
                <a:avLst/>
              </a:prstGeom>
              <a:blipFill rotWithShape="1">
                <a:blip r:embed="rId4"/>
                <a:stretch>
                  <a:fillRect l="-1339" t="-202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5525295" y="2783661"/>
            <a:ext cx="2639319" cy="7717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5525290" y="4705107"/>
            <a:ext cx="3618710" cy="6757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309430"/>
            <a:ext cx="5544616" cy="453822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5463806" y="908720"/>
                <a:ext cx="23298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fr-F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fr-FR" i="1">
                          <a:latin typeface="Cambria Math"/>
                        </a:rPr>
                        <m:t>= </m:t>
                      </m:r>
                      <m:r>
                        <a:rPr lang="fr-FR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fr-FR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fr-FR" i="1">
                          <a:latin typeface="Cambria Math"/>
                        </a:rPr>
                        <m:t>−</m:t>
                      </m:r>
                      <m:r>
                        <a:rPr lang="fr-FR" i="1">
                          <a:latin typeface="Cambria Math"/>
                        </a:rPr>
                        <m:t>𝑇</m:t>
                      </m:r>
                      <m:r>
                        <a:rPr lang="fr-FR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FR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806" y="908720"/>
                <a:ext cx="2329869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ZoneTexte 17"/>
          <p:cNvSpPr txBox="1"/>
          <p:nvPr/>
        </p:nvSpPr>
        <p:spPr>
          <a:xfrm>
            <a:off x="5148064" y="639852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Enthalpie libre de mélange</a:t>
            </a:r>
            <a:endParaRPr lang="fr-FR" b="1" dirty="0"/>
          </a:p>
        </p:txBody>
      </p:sp>
      <p:cxnSp>
        <p:nvCxnSpPr>
          <p:cNvPr id="19" name="Connecteur droit 18"/>
          <p:cNvCxnSpPr/>
          <p:nvPr/>
        </p:nvCxnSpPr>
        <p:spPr>
          <a:xfrm>
            <a:off x="5514863" y="667562"/>
            <a:ext cx="0" cy="6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216024" y="5951602"/>
            <a:ext cx="42119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 smtClean="0"/>
              <a:t>N</a:t>
            </a:r>
            <a:r>
              <a:rPr lang="fr-FR" sz="1600" i="1" baseline="-25000" dirty="0" smtClean="0"/>
              <a:t>A</a:t>
            </a:r>
            <a:r>
              <a:rPr lang="fr-FR" sz="1600" i="1" dirty="0" smtClean="0"/>
              <a:t>, N</a:t>
            </a:r>
            <a:r>
              <a:rPr lang="fr-FR" sz="1600" i="1" baseline="-25000" dirty="0" smtClean="0"/>
              <a:t>B</a:t>
            </a:r>
            <a:r>
              <a:rPr lang="fr-FR" sz="1600" i="1" dirty="0" smtClean="0"/>
              <a:t> : nb d’atomes de A et B</a:t>
            </a:r>
          </a:p>
          <a:p>
            <a:r>
              <a:rPr lang="fr-FR" sz="1600" i="1" dirty="0" smtClean="0"/>
              <a:t>X</a:t>
            </a:r>
            <a:r>
              <a:rPr lang="fr-FR" sz="1600" i="1" baseline="-25000" dirty="0" smtClean="0"/>
              <a:t>A</a:t>
            </a:r>
            <a:r>
              <a:rPr lang="fr-FR" sz="1600" i="1" dirty="0" smtClean="0"/>
              <a:t>, X</a:t>
            </a:r>
            <a:r>
              <a:rPr lang="fr-FR" sz="1600" i="1" baseline="-25000" dirty="0" smtClean="0"/>
              <a:t>B</a:t>
            </a:r>
            <a:r>
              <a:rPr lang="fr-FR" sz="1600" i="1" dirty="0" smtClean="0"/>
              <a:t> : titres molaires de A et B</a:t>
            </a:r>
          </a:p>
          <a:p>
            <a:r>
              <a:rPr lang="fr-FR" sz="1600" i="1" dirty="0" smtClean="0"/>
              <a:t>R: constante des gaz parfaits</a:t>
            </a:r>
            <a:endParaRPr lang="fr-FR" sz="1600" i="1" dirty="0"/>
          </a:p>
        </p:txBody>
      </p:sp>
      <p:sp>
        <p:nvSpPr>
          <p:cNvPr id="22" name="ZoneTexte 21"/>
          <p:cNvSpPr txBox="1"/>
          <p:nvPr/>
        </p:nvSpPr>
        <p:spPr>
          <a:xfrm>
            <a:off x="5582845" y="6534636"/>
            <a:ext cx="3237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 smtClean="0">
                <a:sym typeface="Symbol"/>
              </a:rPr>
              <a:t>: constante propre à chaque solution</a:t>
            </a:r>
            <a:endParaRPr lang="fr-FR" sz="1400" i="1" dirty="0"/>
          </a:p>
        </p:txBody>
      </p:sp>
    </p:spTree>
    <p:extLst>
      <p:ext uri="{BB962C8B-B14F-4D97-AF65-F5344CB8AC3E}">
        <p14:creationId xmlns:p14="http://schemas.microsoft.com/office/powerpoint/2010/main" val="235004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403648" y="2977788"/>
            <a:ext cx="6336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Solutions solides idéales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42936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954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Enthalpie libre des solutions idéales</a:t>
            </a:r>
            <a:endParaRPr lang="fr-FR" sz="2800" i="1" baseline="-25000" dirty="0"/>
          </a:p>
        </p:txBody>
      </p:sp>
      <p:grpSp>
        <p:nvGrpSpPr>
          <p:cNvPr id="3" name="Groupe 2"/>
          <p:cNvGrpSpPr/>
          <p:nvPr/>
        </p:nvGrpSpPr>
        <p:grpSpPr>
          <a:xfrm>
            <a:off x="899592" y="1556792"/>
            <a:ext cx="6984776" cy="3672408"/>
            <a:chOff x="1685925" y="2158365"/>
            <a:chExt cx="5772150" cy="2541270"/>
          </a:xfrm>
        </p:grpSpPr>
        <p:pic>
          <p:nvPicPr>
            <p:cNvPr id="15" name="Image 14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5925" y="2158365"/>
              <a:ext cx="5772150" cy="2541270"/>
            </a:xfrm>
            <a:prstGeom prst="rect">
              <a:avLst/>
            </a:prstGeom>
            <a:noFill/>
          </p:spPr>
        </p:pic>
        <p:sp>
          <p:nvSpPr>
            <p:cNvPr id="2" name="ZoneTexte 1"/>
            <p:cNvSpPr txBox="1"/>
            <p:nvPr/>
          </p:nvSpPr>
          <p:spPr>
            <a:xfrm>
              <a:off x="6142321" y="4322339"/>
              <a:ext cx="72008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fr-FR" sz="1400" dirty="0" smtClean="0">
                  <a:solidFill>
                    <a:schemeClr val="bg1"/>
                  </a:solidFill>
                </a:rPr>
                <a:t>x</a:t>
              </a:r>
              <a:endParaRPr lang="fr-FR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Accolade fermante 5"/>
          <p:cNvSpPr/>
          <p:nvPr/>
        </p:nvSpPr>
        <p:spPr>
          <a:xfrm>
            <a:off x="6814210" y="4279241"/>
            <a:ext cx="161764" cy="1697750"/>
          </a:xfrm>
          <a:prstGeom prst="rightBrace">
            <a:avLst/>
          </a:prstGeom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6389948" y="5143337"/>
            <a:ext cx="1494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 smtClean="0">
                <a:sym typeface="Symbol"/>
              </a:rPr>
              <a:t></a:t>
            </a:r>
            <a:r>
              <a:rPr lang="fr-FR" i="1" dirty="0" err="1" smtClean="0"/>
              <a:t>Gm</a:t>
            </a:r>
            <a:r>
              <a:rPr lang="fr-FR" i="1" dirty="0" smtClean="0"/>
              <a:t> = -</a:t>
            </a:r>
            <a:r>
              <a:rPr lang="fr-FR" i="1" dirty="0" err="1" smtClean="0"/>
              <a:t>T</a:t>
            </a:r>
            <a:r>
              <a:rPr lang="fr-FR" i="1" dirty="0" err="1" smtClean="0">
                <a:sym typeface="Symbol"/>
              </a:rPr>
              <a:t>Sm</a:t>
            </a:r>
            <a:endParaRPr lang="fr-FR" i="1" dirty="0"/>
          </a:p>
        </p:txBody>
      </p:sp>
      <p:sp>
        <p:nvSpPr>
          <p:cNvPr id="8" name="ZoneTexte 7"/>
          <p:cNvSpPr txBox="1"/>
          <p:nvPr/>
        </p:nvSpPr>
        <p:spPr>
          <a:xfrm>
            <a:off x="1979712" y="5895355"/>
            <a:ext cx="6624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smtClean="0">
                <a:sym typeface="Symbol"/>
              </a:rPr>
              <a:t></a:t>
            </a:r>
            <a:r>
              <a:rPr lang="fr-FR" sz="2000" i="1" dirty="0" err="1" smtClean="0">
                <a:sym typeface="Symbol"/>
              </a:rPr>
              <a:t>G</a:t>
            </a:r>
            <a:r>
              <a:rPr lang="fr-FR" sz="2000" i="1" baseline="-25000" dirty="0" err="1" smtClean="0">
                <a:sym typeface="Symbol"/>
              </a:rPr>
              <a:t>m</a:t>
            </a:r>
            <a:r>
              <a:rPr lang="fr-FR" sz="2000" dirty="0" smtClean="0">
                <a:sym typeface="Symbol"/>
              </a:rPr>
              <a:t> toujours 0 : Le mélange est toujours favorable</a:t>
            </a:r>
            <a:endParaRPr lang="fr-FR" sz="2000" dirty="0"/>
          </a:p>
        </p:txBody>
      </p:sp>
      <p:sp>
        <p:nvSpPr>
          <p:cNvPr id="20" name="Rectangle 19"/>
          <p:cNvSpPr/>
          <p:nvPr/>
        </p:nvSpPr>
        <p:spPr>
          <a:xfrm>
            <a:off x="2037865" y="5890792"/>
            <a:ext cx="5472608" cy="4185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36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9" name="ZoneTexte 8"/>
          <p:cNvSpPr txBox="1"/>
          <p:nvPr/>
        </p:nvSpPr>
        <p:spPr>
          <a:xfrm>
            <a:off x="5178507" y="2411596"/>
            <a:ext cx="3897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Et enthalpie libre = énergie potentielle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5034491" y="1772816"/>
            <a:ext cx="4243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arenR"/>
            </a:pPr>
            <a:r>
              <a:rPr lang="fr-FR" i="1" dirty="0"/>
              <a:t>G = X</a:t>
            </a:r>
            <a:r>
              <a:rPr lang="fr-FR" i="1" baseline="-25000" dirty="0"/>
              <a:t>A</a:t>
            </a:r>
            <a:r>
              <a:rPr lang="fr-FR" i="1" dirty="0"/>
              <a:t>G</a:t>
            </a:r>
            <a:r>
              <a:rPr lang="fr-FR" i="1" baseline="-25000" dirty="0"/>
              <a:t>A</a:t>
            </a:r>
            <a:r>
              <a:rPr lang="fr-FR" i="1" dirty="0"/>
              <a:t> + X</a:t>
            </a:r>
            <a:r>
              <a:rPr lang="fr-FR" i="1" baseline="-25000" dirty="0"/>
              <a:t>B</a:t>
            </a:r>
            <a:r>
              <a:rPr lang="fr-FR" i="1" dirty="0"/>
              <a:t>G</a:t>
            </a:r>
            <a:r>
              <a:rPr lang="fr-FR" i="1" baseline="-25000" dirty="0"/>
              <a:t>B</a:t>
            </a:r>
            <a:r>
              <a:rPr lang="fr-FR" i="1" dirty="0"/>
              <a:t> + RT (X</a:t>
            </a:r>
            <a:r>
              <a:rPr lang="fr-FR" i="1" baseline="-25000" dirty="0"/>
              <a:t>A</a:t>
            </a:r>
            <a:r>
              <a:rPr lang="fr-FR" i="1" dirty="0"/>
              <a:t> ln X</a:t>
            </a:r>
            <a:r>
              <a:rPr lang="fr-FR" i="1" baseline="-25000" dirty="0"/>
              <a:t>A</a:t>
            </a:r>
            <a:r>
              <a:rPr lang="fr-FR" i="1" dirty="0"/>
              <a:t> + X</a:t>
            </a:r>
            <a:r>
              <a:rPr lang="fr-FR" i="1" baseline="-25000" dirty="0"/>
              <a:t>B</a:t>
            </a:r>
            <a:r>
              <a:rPr lang="fr-FR" i="1" dirty="0"/>
              <a:t> ln X</a:t>
            </a:r>
            <a:r>
              <a:rPr lang="fr-FR" i="1" baseline="-25000" dirty="0"/>
              <a:t>B</a:t>
            </a:r>
            <a:r>
              <a:rPr lang="fr-FR" i="1" dirty="0"/>
              <a:t>)</a:t>
            </a:r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5220072" y="2708920"/>
            <a:ext cx="22328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dirty="0" smtClean="0"/>
              <a:t>=&gt; 2)  G </a:t>
            </a:r>
            <a:r>
              <a:rPr lang="fr-FR" i="1" dirty="0"/>
              <a:t>=</a:t>
            </a:r>
            <a:r>
              <a:rPr lang="fr-FR" dirty="0"/>
              <a:t>  </a:t>
            </a:r>
            <a:r>
              <a:rPr lang="fr-FR" i="1" dirty="0"/>
              <a:t>µ</a:t>
            </a:r>
            <a:r>
              <a:rPr lang="fr-FR" i="1" baseline="-25000" dirty="0"/>
              <a:t>A</a:t>
            </a:r>
            <a:r>
              <a:rPr lang="fr-FR" i="1" dirty="0"/>
              <a:t>X</a:t>
            </a:r>
            <a:r>
              <a:rPr lang="fr-FR" i="1" baseline="-25000" dirty="0"/>
              <a:t>A</a:t>
            </a:r>
            <a:r>
              <a:rPr lang="fr-FR" i="1" dirty="0"/>
              <a:t> + µ</a:t>
            </a:r>
            <a:r>
              <a:rPr lang="fr-FR" i="1" baseline="-25000" dirty="0"/>
              <a:t>B</a:t>
            </a:r>
            <a:r>
              <a:rPr lang="fr-FR" i="1" dirty="0"/>
              <a:t>X</a:t>
            </a:r>
            <a:r>
              <a:rPr lang="fr-FR" i="1" baseline="-25000" dirty="0"/>
              <a:t>B</a:t>
            </a:r>
            <a:endParaRPr lang="fr-FR" dirty="0"/>
          </a:p>
        </p:txBody>
      </p:sp>
      <p:cxnSp>
        <p:nvCxnSpPr>
          <p:cNvPr id="14" name="Connecteur droit 13"/>
          <p:cNvCxnSpPr/>
          <p:nvPr/>
        </p:nvCxnSpPr>
        <p:spPr>
          <a:xfrm>
            <a:off x="5117621" y="1628800"/>
            <a:ext cx="0" cy="31683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5220072" y="3492006"/>
            <a:ext cx="385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 partir de 1) et 2) on montre: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87619" y="3861338"/>
            <a:ext cx="1795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µ</a:t>
            </a:r>
            <a:r>
              <a:rPr lang="fr-FR" baseline="-25000" dirty="0" smtClean="0"/>
              <a:t>A</a:t>
            </a:r>
            <a:r>
              <a:rPr lang="fr-FR" dirty="0" smtClean="0"/>
              <a:t> = G</a:t>
            </a:r>
            <a:r>
              <a:rPr lang="fr-FR" baseline="-25000" dirty="0" smtClean="0"/>
              <a:t>A</a:t>
            </a:r>
            <a:r>
              <a:rPr lang="fr-FR" dirty="0" smtClean="0"/>
              <a:t> + RT ln X</a:t>
            </a:r>
            <a:r>
              <a:rPr lang="fr-FR" baseline="-25000" dirty="0" smtClean="0"/>
              <a:t>A</a:t>
            </a:r>
            <a:endParaRPr lang="fr-FR" dirty="0"/>
          </a:p>
        </p:txBody>
      </p:sp>
      <p:sp>
        <p:nvSpPr>
          <p:cNvPr id="18" name="Rectangle 17"/>
          <p:cNvSpPr/>
          <p:nvPr/>
        </p:nvSpPr>
        <p:spPr>
          <a:xfrm>
            <a:off x="5283381" y="4230670"/>
            <a:ext cx="17758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µ</a:t>
            </a:r>
            <a:r>
              <a:rPr lang="fr-FR" baseline="-25000" dirty="0"/>
              <a:t>B</a:t>
            </a:r>
            <a:r>
              <a:rPr lang="fr-FR" dirty="0"/>
              <a:t> = G</a:t>
            </a:r>
            <a:r>
              <a:rPr lang="fr-FR" baseline="-25000" dirty="0"/>
              <a:t>B</a:t>
            </a:r>
            <a:r>
              <a:rPr lang="fr-FR" dirty="0"/>
              <a:t> + RT ln </a:t>
            </a:r>
            <a:r>
              <a:rPr lang="fr-FR" dirty="0" smtClean="0"/>
              <a:t>X</a:t>
            </a:r>
            <a:r>
              <a:rPr lang="fr-FR" baseline="-25000" dirty="0" smtClean="0"/>
              <a:t>B</a:t>
            </a:r>
            <a:endParaRPr lang="fr-FR" dirty="0"/>
          </a:p>
        </p:txBody>
      </p:sp>
      <p:sp>
        <p:nvSpPr>
          <p:cNvPr id="21" name="Rectangle 20"/>
          <p:cNvSpPr/>
          <p:nvPr/>
        </p:nvSpPr>
        <p:spPr>
          <a:xfrm>
            <a:off x="5319790" y="3919201"/>
            <a:ext cx="1777076" cy="6757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" name="Image 19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19" y="2142148"/>
            <a:ext cx="5904656" cy="366311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ZoneTexte 23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Relation enthalpie libre-potentiel chimique pour les solutions idéales</a:t>
            </a:r>
            <a:endParaRPr lang="fr-FR" sz="2800" i="1" baseline="-25000" dirty="0"/>
          </a:p>
        </p:txBody>
      </p:sp>
      <p:sp>
        <p:nvSpPr>
          <p:cNvPr id="6" name="ZoneTexte 5"/>
          <p:cNvSpPr txBox="1"/>
          <p:nvPr/>
        </p:nvSpPr>
        <p:spPr>
          <a:xfrm>
            <a:off x="1450637" y="6021288"/>
            <a:ext cx="7167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smtClean="0"/>
              <a:t>La tangente à G donne accès aux potentiels chimiques </a:t>
            </a:r>
            <a:endParaRPr lang="fr-FR" i="1" dirty="0"/>
          </a:p>
        </p:txBody>
      </p:sp>
      <p:sp>
        <p:nvSpPr>
          <p:cNvPr id="2" name="ZoneTexte 1"/>
          <p:cNvSpPr txBox="1"/>
          <p:nvPr/>
        </p:nvSpPr>
        <p:spPr>
          <a:xfrm>
            <a:off x="-288032" y="3923764"/>
            <a:ext cx="11876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-RT </a:t>
            </a:r>
            <a:r>
              <a:rPr lang="fr-FR" dirty="0" err="1" smtClean="0"/>
              <a:t>lnX</a:t>
            </a:r>
            <a:r>
              <a:rPr lang="fr-FR" baseline="-25000" dirty="0" err="1" smtClean="0"/>
              <a:t>A</a:t>
            </a:r>
            <a:endParaRPr lang="fr-FR" baseline="-25000" dirty="0"/>
          </a:p>
        </p:txBody>
      </p:sp>
      <p:sp>
        <p:nvSpPr>
          <p:cNvPr id="15" name="ZoneTexte 14"/>
          <p:cNvSpPr txBox="1"/>
          <p:nvPr/>
        </p:nvSpPr>
        <p:spPr>
          <a:xfrm>
            <a:off x="4211960" y="3501008"/>
            <a:ext cx="9665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-RT </a:t>
            </a:r>
            <a:r>
              <a:rPr lang="fr-FR" dirty="0" err="1" smtClean="0"/>
              <a:t>lnX</a:t>
            </a:r>
            <a:r>
              <a:rPr lang="fr-FR" baseline="-25000" dirty="0" err="1" smtClean="0"/>
              <a:t>B</a:t>
            </a:r>
            <a:endParaRPr lang="fr-FR" baseline="-25000" dirty="0"/>
          </a:p>
        </p:txBody>
      </p:sp>
    </p:spTree>
    <p:extLst>
      <p:ext uri="{BB962C8B-B14F-4D97-AF65-F5344CB8AC3E}">
        <p14:creationId xmlns:p14="http://schemas.microsoft.com/office/powerpoint/2010/main" val="165604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403648" y="2977788"/>
            <a:ext cx="6336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Solutions solides régulières</a:t>
            </a:r>
            <a:endParaRPr lang="fr-FR" sz="2800" dirty="0"/>
          </a:p>
        </p:txBody>
      </p:sp>
      <p:sp>
        <p:nvSpPr>
          <p:cNvPr id="2" name="Rectangle 1"/>
          <p:cNvSpPr/>
          <p:nvPr/>
        </p:nvSpPr>
        <p:spPr>
          <a:xfrm>
            <a:off x="395536" y="4437112"/>
            <a:ext cx="7920880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lvl="0" indent="-285750">
              <a:buFont typeface="Arial" charset="0"/>
              <a:buChar char="•"/>
            </a:pPr>
            <a:r>
              <a:rPr lang="fr-FR" i="1" dirty="0" err="1" smtClean="0"/>
              <a:t>ΔH</a:t>
            </a:r>
            <a:r>
              <a:rPr lang="fr-FR" i="1" baseline="-25000" dirty="0" err="1" smtClean="0"/>
              <a:t>m</a:t>
            </a:r>
            <a:r>
              <a:rPr lang="fr-FR" dirty="0" smtClean="0"/>
              <a:t> </a:t>
            </a:r>
            <a:r>
              <a:rPr lang="fr-FR" dirty="0"/>
              <a:t>dépend uniquement des énergies entre atomes proches voisins et chacun des atomes de la solution possède le même nombre de proches voisins. </a:t>
            </a:r>
            <a:endParaRPr lang="fr-FR" dirty="0" smtClean="0"/>
          </a:p>
          <a:p>
            <a:pPr marL="285750" lvl="0" indent="-285750">
              <a:buFont typeface="Arial" charset="0"/>
              <a:buChar char="•"/>
            </a:pPr>
            <a:endParaRPr lang="fr-FR" dirty="0"/>
          </a:p>
          <a:p>
            <a:pPr marL="285750" lvl="0" indent="-285750">
              <a:buFont typeface="Arial" charset="0"/>
              <a:buChar char="•"/>
            </a:pPr>
            <a:r>
              <a:rPr lang="fr-FR" dirty="0" smtClean="0"/>
              <a:t>Pas de différence de taille entre les atomes de A et B</a:t>
            </a:r>
          </a:p>
          <a:p>
            <a:pPr lvl="0"/>
            <a:endParaRPr lang="fr-FR" dirty="0" smtClean="0"/>
          </a:p>
          <a:p>
            <a:pPr marL="285750" lvl="0" indent="-285750">
              <a:buFont typeface="Arial" charset="0"/>
              <a:buChar char="•"/>
            </a:pPr>
            <a:r>
              <a:rPr lang="fr-FR" dirty="0" smtClean="0"/>
              <a:t>Le </a:t>
            </a:r>
            <a:r>
              <a:rPr lang="fr-FR" dirty="0"/>
              <a:t>mélange est parfaitement aléatoire</a:t>
            </a:r>
            <a:r>
              <a:rPr lang="fr-FR" dirty="0" smtClean="0"/>
              <a:t>.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40116" y="4121370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Hypothèses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265731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954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Enthalpie libre des solutions régulières</a:t>
            </a:r>
            <a:endParaRPr lang="fr-FR" sz="2800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372200" y="620688"/>
                <a:ext cx="234089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400" i="1">
                        <a:solidFill>
                          <a:schemeClr val="accent1"/>
                        </a:solidFill>
                        <a:latin typeface="Cambria Math"/>
                      </a:rPr>
                      <m:t>∆</m:t>
                    </m:r>
                    <m:sSub>
                      <m:sSubPr>
                        <m:ctrlPr>
                          <a:rPr lang="fr-FR" sz="2400" i="1">
                            <a:solidFill>
                              <a:schemeClr val="accent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chemeClr val="accent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fr-FR" sz="2400" i="1">
                            <a:solidFill>
                              <a:schemeClr val="accent1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fr-FR" sz="2400" dirty="0" smtClean="0">
                    <a:solidFill>
                      <a:schemeClr val="accent1"/>
                    </a:solidFill>
                    <a:sym typeface="Symbol"/>
                  </a:rPr>
                  <a:t>  0 </a:t>
                </a:r>
                <a:r>
                  <a:rPr lang="fr-FR" sz="2400" dirty="0" smtClean="0">
                    <a:solidFill>
                      <a:schemeClr val="accent1"/>
                    </a:solidFill>
                  </a:rPr>
                  <a:t>= </a:t>
                </a:r>
                <a:r>
                  <a:rPr lang="fr-FR" sz="2400" dirty="0">
                    <a:solidFill>
                      <a:schemeClr val="accent1"/>
                    </a:solidFill>
                    <a:sym typeface="Symbol"/>
                  </a:rPr>
                  <a:t>X</a:t>
                </a:r>
                <a:r>
                  <a:rPr lang="fr-FR" sz="2400" baseline="-25000" dirty="0">
                    <a:solidFill>
                      <a:schemeClr val="accent1"/>
                    </a:solidFill>
                    <a:sym typeface="Symbol"/>
                  </a:rPr>
                  <a:t>A</a:t>
                </a:r>
                <a:r>
                  <a:rPr lang="fr-FR" sz="2400" dirty="0">
                    <a:solidFill>
                      <a:schemeClr val="accent1"/>
                    </a:solidFill>
                    <a:sym typeface="Symbol"/>
                  </a:rPr>
                  <a:t>X</a:t>
                </a:r>
                <a:r>
                  <a:rPr lang="fr-FR" sz="2400" baseline="-25000" dirty="0">
                    <a:solidFill>
                      <a:schemeClr val="accent1"/>
                    </a:solidFill>
                    <a:sym typeface="Symbol"/>
                  </a:rPr>
                  <a:t>B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620688"/>
                <a:ext cx="2340897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521" t="-13158" r="-781" b="-289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 1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96752"/>
            <a:ext cx="5810250" cy="142113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51520" y="2996952"/>
                <a:ext cx="4323620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/>
                          </a:rPr>
                          <m:t>∆</m:t>
                        </m:r>
                        <m:sSub>
                          <m:sSubPr>
                            <m:ctrlPr>
                              <a:rPr lang="fr-FR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/>
                              </a:rPr>
                              <m:t>𝐻</m:t>
                            </m:r>
                          </m:e>
                          <m:sub>
                            <m:r>
                              <a:rPr lang="fr-FR" i="1"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  <m:r>
                          <a:rPr lang="fr-FR" i="1">
                            <a:latin typeface="Cambria Math"/>
                          </a:rPr>
                          <m:t>= </m:t>
                        </m:r>
                        <m:r>
                          <a:rPr lang="fr-FR" i="1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fr-FR" i="1">
                            <a:latin typeface="Cambria Math"/>
                          </a:rPr>
                          <m:t>𝐴𝐵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fr-FR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fr-FR" i="1">
                                <a:latin typeface="Cambria Math"/>
                              </a:rPr>
                              <m:t>𝐴𝐵</m:t>
                            </m:r>
                          </m:sub>
                        </m:sSub>
                        <m:r>
                          <a:rPr lang="fr-FR" i="1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fr-FR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fr-FR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fr-FR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fr-FR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fr-FR" i="1">
                                <a:latin typeface="Cambria Math"/>
                              </a:rPr>
                              <m:t>𝐴𝐴</m:t>
                            </m:r>
                          </m:sub>
                        </m:sSub>
                        <m:r>
                          <a:rPr lang="fr-FR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fr-FR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fr-FR" i="1">
                                <a:latin typeface="Cambria Math"/>
                              </a:rPr>
                              <m:t>𝐵𝐵</m:t>
                            </m:r>
                          </m:sub>
                        </m:sSub>
                        <m:r>
                          <a:rPr lang="fr-FR" i="1">
                            <a:latin typeface="Cambria Math"/>
                          </a:rPr>
                          <m:t>)</m:t>
                        </m:r>
                      </m:e>
                    </m:d>
                  </m:oMath>
                </a14:m>
                <a:r>
                  <a:rPr lang="fr-FR" dirty="0" smtClean="0"/>
                  <a:t> = </a:t>
                </a:r>
                <a:r>
                  <a:rPr lang="fr-FR" i="1" dirty="0" err="1" smtClean="0"/>
                  <a:t>n</a:t>
                </a:r>
                <a:r>
                  <a:rPr lang="fr-FR" i="1" baseline="-25000" dirty="0" err="1" smtClean="0"/>
                  <a:t>AB</a:t>
                </a:r>
                <a:r>
                  <a:rPr lang="fr-FR" i="1" dirty="0" smtClean="0"/>
                  <a:t> </a:t>
                </a:r>
                <a:r>
                  <a:rPr lang="fr-FR" i="1" dirty="0" smtClean="0">
                    <a:sym typeface="Symbol"/>
                  </a:rPr>
                  <a:t></a:t>
                </a:r>
                <a:endParaRPr lang="fr-FR" i="1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996952"/>
                <a:ext cx="4323620" cy="504818"/>
              </a:xfrm>
              <a:prstGeom prst="rect">
                <a:avLst/>
              </a:prstGeom>
              <a:blipFill rotWithShape="1">
                <a:blip r:embed="rId4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ccolade fermante 13"/>
          <p:cNvSpPr/>
          <p:nvPr/>
        </p:nvSpPr>
        <p:spPr>
          <a:xfrm>
            <a:off x="2610036" y="2708920"/>
            <a:ext cx="161764" cy="1913774"/>
          </a:xfrm>
          <a:prstGeom prst="rightBrace">
            <a:avLst/>
          </a:prstGeom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/>
          <p:cNvSpPr txBox="1"/>
          <p:nvPr/>
        </p:nvSpPr>
        <p:spPr>
          <a:xfrm>
            <a:off x="2538028" y="3645024"/>
            <a:ext cx="377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ym typeface="Symbol"/>
              </a:rPr>
              <a:t></a:t>
            </a:r>
            <a:endParaRPr lang="fr-FR" sz="2400" dirty="0"/>
          </a:p>
        </p:txBody>
      </p:sp>
      <p:pic>
        <p:nvPicPr>
          <p:cNvPr id="16" name="Image 1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156" y="2440409"/>
            <a:ext cx="4533364" cy="2428751"/>
          </a:xfrm>
          <a:prstGeom prst="rect">
            <a:avLst/>
          </a:prstGeom>
          <a:noFill/>
        </p:spPr>
      </p:pic>
      <p:sp>
        <p:nvSpPr>
          <p:cNvPr id="13" name="ZoneTexte 12"/>
          <p:cNvSpPr txBox="1"/>
          <p:nvPr/>
        </p:nvSpPr>
        <p:spPr>
          <a:xfrm>
            <a:off x="251520" y="4571836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err="1" smtClean="0"/>
              <a:t>n</a:t>
            </a:r>
            <a:r>
              <a:rPr lang="fr-FR" i="1" baseline="-25000" dirty="0" err="1" smtClean="0"/>
              <a:t>AB</a:t>
            </a:r>
            <a:r>
              <a:rPr lang="fr-FR" i="1" dirty="0" smtClean="0"/>
              <a:t> = </a:t>
            </a:r>
            <a:r>
              <a:rPr lang="fr-FR" i="1" dirty="0" smtClean="0">
                <a:latin typeface="Monotype Corsiva" panose="03010101010201010101" pitchFamily="66" charset="0"/>
              </a:rPr>
              <a:t>N</a:t>
            </a:r>
            <a:r>
              <a:rPr lang="fr-FR" i="1" baseline="-25000" dirty="0" smtClean="0"/>
              <a:t>AV</a:t>
            </a:r>
            <a:r>
              <a:rPr lang="fr-FR" i="1" dirty="0" smtClean="0"/>
              <a:t>ZX</a:t>
            </a:r>
            <a:r>
              <a:rPr lang="fr-FR" i="1" baseline="-25000" dirty="0" smtClean="0"/>
              <a:t>A</a:t>
            </a:r>
            <a:r>
              <a:rPr lang="fr-FR" i="1" dirty="0" smtClean="0"/>
              <a:t>X</a:t>
            </a:r>
            <a:r>
              <a:rPr lang="fr-FR" i="1" baseline="-25000" dirty="0" smtClean="0"/>
              <a:t>B</a:t>
            </a:r>
            <a:endParaRPr lang="fr-FR" i="1" baseline="-25000" dirty="0"/>
          </a:p>
        </p:txBody>
      </p:sp>
      <p:sp>
        <p:nvSpPr>
          <p:cNvPr id="17" name="ZoneTexte 16"/>
          <p:cNvSpPr txBox="1"/>
          <p:nvPr/>
        </p:nvSpPr>
        <p:spPr>
          <a:xfrm>
            <a:off x="237665" y="4294926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 smtClean="0"/>
              <a:t>Pour une solution aléatoire</a:t>
            </a:r>
            <a:endParaRPr lang="fr-FR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93367" y="5064770"/>
                <a:ext cx="4336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i="1">
                        <a:latin typeface="Cambria Math"/>
                      </a:rPr>
                      <m:t>∆</m:t>
                    </m:r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fr-FR" i="1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fr-FR" i="1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fr-FR" i="1">
                            <a:latin typeface="Cambria Math"/>
                          </a:rPr>
                          <m:t>𝑎𝑣</m:t>
                        </m:r>
                      </m:sub>
                    </m:sSub>
                    <m:r>
                      <a:rPr lang="fr-FR" i="1">
                        <a:latin typeface="Cambria Math"/>
                      </a:rPr>
                      <m:t>𝑍</m:t>
                    </m:r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/>
                          </a:rPr>
                          <m:t>𝜀</m:t>
                        </m:r>
                        <m:r>
                          <m:rPr>
                            <m:nor/>
                          </m:rPr>
                          <a:rPr lang="fr-FR" dirty="0"/>
                          <m:t> </m:t>
                        </m:r>
                        <m:r>
                          <a:rPr lang="fr-FR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fr-FR" i="1">
                            <a:latin typeface="Cambria Math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fr-FR" i="1">
                            <a:latin typeface="Cambria Math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fr-FR" dirty="0" smtClean="0"/>
                  <a:t>        =&gt;   </a:t>
                </a:r>
                <a:r>
                  <a:rPr lang="fr-FR" i="1" dirty="0" smtClean="0">
                    <a:sym typeface="Symbol"/>
                  </a:rPr>
                  <a:t>H</a:t>
                </a:r>
                <a:r>
                  <a:rPr lang="fr-FR" i="1" baseline="-25000" dirty="0" smtClean="0">
                    <a:sym typeface="Symbol"/>
                  </a:rPr>
                  <a:t>m</a:t>
                </a:r>
                <a:r>
                  <a:rPr lang="fr-FR" i="1" dirty="0" smtClean="0">
                    <a:sym typeface="Symbol"/>
                  </a:rPr>
                  <a:t> =</a:t>
                </a:r>
                <a:r>
                  <a:rPr lang="fr-FR" i="1" dirty="0" smtClean="0"/>
                  <a:t> </a:t>
                </a:r>
                <a:r>
                  <a:rPr lang="fr-FR" i="1" dirty="0" smtClean="0">
                    <a:sym typeface="Symbol"/>
                  </a:rPr>
                  <a:t>X</a:t>
                </a:r>
                <a:r>
                  <a:rPr lang="fr-FR" i="1" baseline="-25000" dirty="0" smtClean="0">
                    <a:sym typeface="Symbol"/>
                  </a:rPr>
                  <a:t>A</a:t>
                </a:r>
                <a:r>
                  <a:rPr lang="fr-FR" i="1" dirty="0" smtClean="0">
                    <a:sym typeface="Symbol"/>
                  </a:rPr>
                  <a:t>X</a:t>
                </a:r>
                <a:r>
                  <a:rPr lang="fr-FR" i="1" baseline="-25000" dirty="0" smtClean="0">
                    <a:sym typeface="Symbol"/>
                  </a:rPr>
                  <a:t>B</a:t>
                </a:r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67" y="5064770"/>
                <a:ext cx="4336187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11667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ccolade fermante 21"/>
          <p:cNvSpPr/>
          <p:nvPr/>
        </p:nvSpPr>
        <p:spPr>
          <a:xfrm>
            <a:off x="1348228" y="5112894"/>
            <a:ext cx="161764" cy="720627"/>
          </a:xfrm>
          <a:prstGeom prst="rightBrace">
            <a:avLst/>
          </a:prstGeom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1057463" y="5489522"/>
            <a:ext cx="70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</a:t>
            </a:r>
            <a:endParaRPr lang="fr-FR" dirty="0"/>
          </a:p>
        </p:txBody>
      </p:sp>
      <p:sp>
        <p:nvSpPr>
          <p:cNvPr id="23" name="Rectangle 22"/>
          <p:cNvSpPr/>
          <p:nvPr/>
        </p:nvSpPr>
        <p:spPr>
          <a:xfrm>
            <a:off x="3027943" y="5040886"/>
            <a:ext cx="1413896" cy="4469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98966" y="5992990"/>
                <a:ext cx="4737130" cy="400110"/>
              </a:xfrm>
              <a:prstGeom prst="rect">
                <a:avLst/>
              </a:prstGeom>
              <a:ln w="28575">
                <a:solidFill>
                  <a:srgbClr val="C0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fr-FR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fr-FR" sz="2000" i="1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fr-FR" sz="2000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sz="2000">
                          <a:latin typeface="Cambria Math"/>
                        </a:rPr>
                        <m:t>Ω</m:t>
                      </m:r>
                      <m:sSub>
                        <m:sSubPr>
                          <m:ctrlPr>
                            <a:rPr lang="fr-FR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sz="20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fr-FR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sz="2000" i="1"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fr-FR" sz="2000" i="1">
                          <a:latin typeface="Cambria Math"/>
                        </a:rPr>
                        <m:t>+ </m:t>
                      </m:r>
                      <m:r>
                        <a:rPr lang="fr-FR" sz="2000" i="1">
                          <a:latin typeface="Cambria Math"/>
                        </a:rPr>
                        <m:t>𝑅𝑇</m:t>
                      </m:r>
                      <m:r>
                        <a:rPr lang="fr-FR" sz="2000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fr-FR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sz="20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func>
                        <m:funcPr>
                          <m:ctrlPr>
                            <a:rPr lang="fr-FR" sz="20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2000">
                              <a:latin typeface="Cambria Math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fr-FR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sz="2000" i="1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  <m:r>
                            <a:rPr lang="fr-FR" sz="20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sz="2000" i="1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2000" i="1">
                              <a:latin typeface="Cambria Math"/>
                            </a:rPr>
                            <m:t>𝑙𝑛</m:t>
                          </m:r>
                          <m:sSub>
                            <m:sSubPr>
                              <m:ctrlPr>
                                <a:rPr lang="fr-FR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sz="2000" i="1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e>
                      </m:func>
                      <m:r>
                        <a:rPr lang="fr-FR" sz="20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66" y="5992990"/>
                <a:ext cx="4737130" cy="400110"/>
              </a:xfrm>
              <a:prstGeom prst="rect">
                <a:avLst/>
              </a:prstGeom>
              <a:blipFill rotWithShape="1">
                <a:blip r:embed="rId7"/>
                <a:stretch>
                  <a:fillRect b="-8451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ZoneTexte 24"/>
          <p:cNvSpPr txBox="1"/>
          <p:nvPr/>
        </p:nvSpPr>
        <p:spPr>
          <a:xfrm>
            <a:off x="179512" y="5949280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=&gt;</a:t>
            </a:r>
            <a:endParaRPr lang="fr-FR" sz="2400" dirty="0"/>
          </a:p>
        </p:txBody>
      </p:sp>
      <p:cxnSp>
        <p:nvCxnSpPr>
          <p:cNvPr id="27" name="Connecteur droit 26"/>
          <p:cNvCxnSpPr/>
          <p:nvPr/>
        </p:nvCxnSpPr>
        <p:spPr>
          <a:xfrm>
            <a:off x="179512" y="2996952"/>
            <a:ext cx="0" cy="3528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/>
          <p:cNvSpPr txBox="1"/>
          <p:nvPr/>
        </p:nvSpPr>
        <p:spPr>
          <a:xfrm>
            <a:off x="6156176" y="5264377"/>
            <a:ext cx="2556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2 cas à considérer:</a:t>
            </a:r>
          </a:p>
          <a:p>
            <a:r>
              <a:rPr lang="fr-FR" dirty="0" smtClean="0">
                <a:sym typeface="Symbol"/>
              </a:rPr>
              <a:t>, , Hm  0</a:t>
            </a:r>
          </a:p>
          <a:p>
            <a:r>
              <a:rPr lang="fr-FR" dirty="0">
                <a:sym typeface="Symbol"/>
              </a:rPr>
              <a:t>, , </a:t>
            </a:r>
            <a:r>
              <a:rPr lang="fr-FR" dirty="0" smtClean="0">
                <a:sym typeface="Symbol"/>
              </a:rPr>
              <a:t>Hm  </a:t>
            </a:r>
            <a:r>
              <a:rPr lang="fr-FR" dirty="0">
                <a:sym typeface="Symbol"/>
              </a:rPr>
              <a:t>0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322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954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Enthalpie libre des solutions régulières</a:t>
            </a:r>
            <a:endParaRPr lang="fr-FR" sz="2800" i="1" baseline="-25000" dirty="0"/>
          </a:p>
        </p:txBody>
      </p:sp>
      <p:sp>
        <p:nvSpPr>
          <p:cNvPr id="8" name="ZoneTexte 7"/>
          <p:cNvSpPr txBox="1"/>
          <p:nvPr/>
        </p:nvSpPr>
        <p:spPr>
          <a:xfrm>
            <a:off x="5854289" y="1726857"/>
            <a:ext cx="3262000" cy="70788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lIns="0" rIns="0" rtlCol="0">
            <a:spAutoFit/>
          </a:bodyPr>
          <a:lstStyle/>
          <a:p>
            <a:pPr algn="just"/>
            <a:r>
              <a:rPr lang="fr-FR" sz="2000" i="1" dirty="0" smtClean="0">
                <a:sym typeface="Symbol"/>
              </a:rPr>
              <a:t></a:t>
            </a:r>
            <a:r>
              <a:rPr lang="fr-FR" sz="2000" i="1" dirty="0" err="1" smtClean="0">
                <a:sym typeface="Symbol"/>
              </a:rPr>
              <a:t>G</a:t>
            </a:r>
            <a:r>
              <a:rPr lang="fr-FR" sz="2000" i="1" baseline="-25000" dirty="0" err="1" smtClean="0">
                <a:sym typeface="Symbol"/>
              </a:rPr>
              <a:t>m</a:t>
            </a:r>
            <a:r>
              <a:rPr lang="fr-FR" sz="2000" dirty="0" smtClean="0">
                <a:sym typeface="Symbol"/>
              </a:rPr>
              <a:t> toujours 0 : Le mélange est toujours favorable</a:t>
            </a:r>
            <a:endParaRPr lang="fr-FR" sz="2000" dirty="0"/>
          </a:p>
        </p:txBody>
      </p:sp>
      <p:pic>
        <p:nvPicPr>
          <p:cNvPr id="11" name="Image 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96752"/>
            <a:ext cx="5653147" cy="4392488"/>
          </a:xfrm>
          <a:prstGeom prst="rect">
            <a:avLst/>
          </a:prstGeom>
          <a:noFill/>
        </p:spPr>
      </p:pic>
      <p:sp>
        <p:nvSpPr>
          <p:cNvPr id="12" name="ZoneTexte 11"/>
          <p:cNvSpPr txBox="1"/>
          <p:nvPr/>
        </p:nvSpPr>
        <p:spPr>
          <a:xfrm>
            <a:off x="5823846" y="3933056"/>
            <a:ext cx="3262001" cy="101566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lIns="0" rIns="0" rtlCol="0">
            <a:spAutoFit/>
          </a:bodyPr>
          <a:lstStyle/>
          <a:p>
            <a:pPr algn="just"/>
            <a:r>
              <a:rPr lang="fr-FR" sz="2000" i="1" dirty="0" smtClean="0">
                <a:sym typeface="Symbol"/>
              </a:rPr>
              <a:t></a:t>
            </a:r>
            <a:r>
              <a:rPr lang="fr-FR" sz="2000" i="1" dirty="0" err="1" smtClean="0">
                <a:sym typeface="Symbol"/>
              </a:rPr>
              <a:t>G</a:t>
            </a:r>
            <a:r>
              <a:rPr lang="fr-FR" sz="2000" i="1" baseline="-25000" dirty="0" err="1" smtClean="0">
                <a:sym typeface="Symbol"/>
              </a:rPr>
              <a:t>m</a:t>
            </a:r>
            <a:r>
              <a:rPr lang="fr-FR" sz="2000" dirty="0" smtClean="0">
                <a:sym typeface="Symbol"/>
              </a:rPr>
              <a:t> pas toujours 0 : Le mélange peut être défavorable pour certaines compositions</a:t>
            </a:r>
            <a:endParaRPr lang="fr-FR" sz="2000" dirty="0"/>
          </a:p>
        </p:txBody>
      </p:sp>
      <p:sp>
        <p:nvSpPr>
          <p:cNvPr id="9" name="Rectangle 8"/>
          <p:cNvSpPr/>
          <p:nvPr/>
        </p:nvSpPr>
        <p:spPr>
          <a:xfrm>
            <a:off x="2425615" y="1224462"/>
            <a:ext cx="1152128" cy="216024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2442203" y="5301208"/>
            <a:ext cx="1152128" cy="216024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186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9" name="ZoneTexte 8"/>
          <p:cNvSpPr txBox="1"/>
          <p:nvPr/>
        </p:nvSpPr>
        <p:spPr>
          <a:xfrm>
            <a:off x="5178507" y="2411596"/>
            <a:ext cx="3897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Et enthalpie libre = énergie potentielle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148064" y="1772816"/>
                <a:ext cx="33130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AutoNum type="arabicParenR"/>
                </a:pPr>
                <a14:m>
                  <m:oMath xmlns:m="http://schemas.openxmlformats.org/officeDocument/2006/math">
                    <m:r>
                      <a:rPr lang="fr-FR" i="1" dirty="0">
                        <a:latin typeface="Cambria Math"/>
                      </a:rPr>
                      <m:t>𝐺</m:t>
                    </m:r>
                    <m:r>
                      <a:rPr lang="fr-FR" i="1">
                        <a:latin typeface="Cambria Math"/>
                      </a:rPr>
                      <m:t>=</m:t>
                    </m:r>
                    <m:r>
                      <a:rPr lang="fr-FR" b="0" i="1" smtClean="0">
                        <a:latin typeface="Cambria Math"/>
                      </a:rPr>
                      <m:t>𝐺</m:t>
                    </m:r>
                    <m:r>
                      <a:rPr lang="fr-FR" b="0" i="1" baseline="-25000" smtClean="0">
                        <a:latin typeface="Cambria Math"/>
                      </a:rPr>
                      <m:t>𝐴</m:t>
                    </m:r>
                    <m:r>
                      <a:rPr lang="fr-FR" b="0" i="1" smtClean="0">
                        <a:latin typeface="Cambria Math"/>
                      </a:rPr>
                      <m:t>𝑋</m:t>
                    </m:r>
                    <m:r>
                      <a:rPr lang="fr-FR" b="0" i="1" baseline="-25000" smtClean="0">
                        <a:latin typeface="Cambria Math"/>
                      </a:rPr>
                      <m:t>𝐴</m:t>
                    </m:r>
                    <m:r>
                      <a:rPr lang="fr-FR" b="0" i="1" smtClean="0">
                        <a:latin typeface="Cambria Math"/>
                      </a:rPr>
                      <m:t>+</m:t>
                    </m:r>
                    <m:r>
                      <a:rPr lang="fr-FR" b="0" i="1" smtClean="0">
                        <a:latin typeface="Cambria Math"/>
                      </a:rPr>
                      <m:t>𝐺𝐵𝑋𝐵</m:t>
                    </m:r>
                    <m:r>
                      <a:rPr lang="fr-FR" b="0" i="1" smtClean="0">
                        <a:latin typeface="Cambria Math"/>
                      </a:rPr>
                      <m:t>+ </m:t>
                    </m:r>
                    <m:r>
                      <m:rPr>
                        <m:sty m:val="p"/>
                      </m:rPr>
                      <a:rPr lang="fr-FR">
                        <a:latin typeface="Cambria Math"/>
                      </a:rPr>
                      <m:t>Ω</m:t>
                    </m:r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fr-FR" i="1">
                            <a:latin typeface="Cambria Math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fr-FR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fr-FR" i="1">
                            <a:latin typeface="Cambria Math"/>
                          </a:rPr>
                          <m:t>𝐵</m:t>
                        </m:r>
                      </m:sub>
                    </m:sSub>
                  </m:oMath>
                </a14:m>
                <a:endParaRPr lang="fr-FR" i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/>
                        </a:rPr>
                        <m:t>+ </m:t>
                      </m:r>
                      <m:r>
                        <a:rPr lang="fr-FR" i="1">
                          <a:latin typeface="Cambria Math"/>
                        </a:rPr>
                        <m:t>𝑅𝑇</m:t>
                      </m:r>
                      <m:r>
                        <a:rPr lang="fr-FR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fr-F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𝐴</m:t>
                          </m:r>
                        </m:sub>
                      </m:sSub>
                      <m:func>
                        <m:funcPr>
                          <m:ctrlPr>
                            <a:rPr lang="fr-FR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>
                              <a:latin typeface="Cambria Math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  <m:r>
                            <a:rPr lang="fr-FR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i="1">
                              <a:latin typeface="Cambria Math"/>
                            </a:rPr>
                            <m:t>𝑙𝑛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e>
                      </m:func>
                      <m:r>
                        <a:rPr lang="fr-FR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1772816"/>
                <a:ext cx="3313023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1287" t="-4717" b="-66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5220072" y="2708920"/>
            <a:ext cx="22328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dirty="0" smtClean="0"/>
              <a:t>=&gt; 2)  G </a:t>
            </a:r>
            <a:r>
              <a:rPr lang="fr-FR" i="1" dirty="0"/>
              <a:t>=</a:t>
            </a:r>
            <a:r>
              <a:rPr lang="fr-FR" dirty="0"/>
              <a:t>  </a:t>
            </a:r>
            <a:r>
              <a:rPr lang="fr-FR" i="1" dirty="0"/>
              <a:t>µ</a:t>
            </a:r>
            <a:r>
              <a:rPr lang="fr-FR" i="1" baseline="-25000" dirty="0"/>
              <a:t>A</a:t>
            </a:r>
            <a:r>
              <a:rPr lang="fr-FR" i="1" dirty="0"/>
              <a:t>X</a:t>
            </a:r>
            <a:r>
              <a:rPr lang="fr-FR" i="1" baseline="-25000" dirty="0"/>
              <a:t>A</a:t>
            </a:r>
            <a:r>
              <a:rPr lang="fr-FR" i="1" dirty="0"/>
              <a:t> + µ</a:t>
            </a:r>
            <a:r>
              <a:rPr lang="fr-FR" i="1" baseline="-25000" dirty="0"/>
              <a:t>B</a:t>
            </a:r>
            <a:r>
              <a:rPr lang="fr-FR" i="1" dirty="0"/>
              <a:t>X</a:t>
            </a:r>
            <a:r>
              <a:rPr lang="fr-FR" i="1" baseline="-25000" dirty="0"/>
              <a:t>B</a:t>
            </a:r>
            <a:endParaRPr lang="fr-FR" dirty="0"/>
          </a:p>
        </p:txBody>
      </p:sp>
      <p:cxnSp>
        <p:nvCxnSpPr>
          <p:cNvPr id="14" name="Connecteur droit 13"/>
          <p:cNvCxnSpPr/>
          <p:nvPr/>
        </p:nvCxnSpPr>
        <p:spPr>
          <a:xfrm>
            <a:off x="5220072" y="1628800"/>
            <a:ext cx="0" cy="4297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5220072" y="3492006"/>
            <a:ext cx="385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 partir de 1) et 2) on montre: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87619" y="3861338"/>
            <a:ext cx="1795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µ</a:t>
            </a:r>
            <a:r>
              <a:rPr lang="fr-FR" baseline="-25000" dirty="0" smtClean="0"/>
              <a:t>A</a:t>
            </a:r>
            <a:r>
              <a:rPr lang="fr-FR" dirty="0" smtClean="0"/>
              <a:t> = G</a:t>
            </a:r>
            <a:r>
              <a:rPr lang="fr-FR" baseline="-25000" dirty="0" smtClean="0"/>
              <a:t>A</a:t>
            </a:r>
            <a:r>
              <a:rPr lang="fr-FR" dirty="0" smtClean="0"/>
              <a:t> + RT ln </a:t>
            </a:r>
            <a:r>
              <a:rPr lang="fr-FR" dirty="0" err="1" smtClean="0"/>
              <a:t>a</a:t>
            </a:r>
            <a:r>
              <a:rPr lang="fr-FR" baseline="-25000" dirty="0" err="1" smtClean="0"/>
              <a:t>A</a:t>
            </a:r>
            <a:endParaRPr lang="fr-FR" dirty="0"/>
          </a:p>
        </p:txBody>
      </p:sp>
      <p:sp>
        <p:nvSpPr>
          <p:cNvPr id="18" name="Rectangle 17"/>
          <p:cNvSpPr/>
          <p:nvPr/>
        </p:nvSpPr>
        <p:spPr>
          <a:xfrm>
            <a:off x="5283381" y="4230670"/>
            <a:ext cx="17758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µ</a:t>
            </a:r>
            <a:r>
              <a:rPr lang="fr-FR" baseline="-25000" dirty="0"/>
              <a:t>B</a:t>
            </a:r>
            <a:r>
              <a:rPr lang="fr-FR" dirty="0"/>
              <a:t> = G</a:t>
            </a:r>
            <a:r>
              <a:rPr lang="fr-FR" baseline="-25000" dirty="0"/>
              <a:t>B</a:t>
            </a:r>
            <a:r>
              <a:rPr lang="fr-FR" dirty="0"/>
              <a:t> + RT ln </a:t>
            </a:r>
            <a:r>
              <a:rPr lang="fr-FR" dirty="0" err="1" smtClean="0"/>
              <a:t>a</a:t>
            </a:r>
            <a:r>
              <a:rPr lang="fr-FR" baseline="-25000" dirty="0" err="1" smtClean="0"/>
              <a:t>B</a:t>
            </a:r>
            <a:endParaRPr lang="fr-FR" dirty="0"/>
          </a:p>
        </p:txBody>
      </p:sp>
      <p:sp>
        <p:nvSpPr>
          <p:cNvPr id="21" name="Rectangle 20"/>
          <p:cNvSpPr/>
          <p:nvPr/>
        </p:nvSpPr>
        <p:spPr>
          <a:xfrm>
            <a:off x="5319790" y="3919201"/>
            <a:ext cx="1777076" cy="6757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5220072" y="4859868"/>
            <a:ext cx="385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Avec les activités chimiques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233927" y="5233251"/>
                <a:ext cx="2967544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fr-FR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𝐴</m:t>
                          </m:r>
                          <m:r>
                            <a:rPr lang="fr-FR" i="1">
                              <a:latin typeface="Cambria Math"/>
                            </a:rPr>
                            <m:t> </m:t>
                          </m:r>
                        </m:sub>
                      </m:sSub>
                      <m:func>
                        <m:funcPr>
                          <m:ctrlPr>
                            <a:rPr lang="fr-FR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a:rPr lang="fr-FR" i="1">
                              <a:latin typeface="Cambria Math"/>
                            </a:rPr>
                            <m:t>𝑒𝑥𝑝</m:t>
                          </m:r>
                        </m:fName>
                        <m:e>
                          <m:d>
                            <m:d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latin typeface="Cambria Math"/>
                                    </a:rPr>
                                    <m:t>𝛺</m:t>
                                  </m:r>
                                  <m:r>
                                    <a:rPr lang="fr-FR" i="1">
                                      <a:latin typeface="Cambria Math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fr-FR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i="1">
                                          <a:latin typeface="Cambria Math"/>
                                        </a:rPr>
                                        <m:t>(1−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fr-FR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fr-FR" i="1">
                                      <a:latin typeface="Cambria Math"/>
                                    </a:rPr>
                                    <m:t>𝑅𝑇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927" y="5233251"/>
                <a:ext cx="2967544" cy="71468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254767" y="5961789"/>
                <a:ext cx="2946704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fr-FR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𝐵</m:t>
                          </m:r>
                          <m:r>
                            <a:rPr lang="fr-FR" i="1">
                              <a:latin typeface="Cambria Math"/>
                            </a:rPr>
                            <m:t> </m:t>
                          </m:r>
                        </m:sub>
                      </m:sSub>
                      <m:func>
                        <m:funcPr>
                          <m:ctrlPr>
                            <a:rPr lang="fr-FR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/>
                                    </a:rPr>
                                    <m:t>Ω</m:t>
                                  </m:r>
                                  <m:r>
                                    <a:rPr lang="fr-FR">
                                      <a:latin typeface="Cambria Math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fr-FR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>
                                          <a:latin typeface="Cambria Math"/>
                                        </a:rPr>
                                        <m:t>(1</m:t>
                                      </m:r>
                                      <m:r>
                                        <a:rPr lang="fr-FR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>
                                              <a:latin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fr-FR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fr-FR" i="1">
                                      <a:latin typeface="Cambria Math"/>
                                    </a:rPr>
                                    <m:t>𝑅𝑇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767" y="5961789"/>
                <a:ext cx="2946704" cy="71468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5319611" y="5273498"/>
            <a:ext cx="2826440" cy="14029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Relation enthalpie libre-potentiel chimique et activité chimique pour les solutions régulières</a:t>
            </a:r>
            <a:endParaRPr lang="fr-FR" sz="2800" i="1" baseline="-25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2085548"/>
            <a:ext cx="5112568" cy="3719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7956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24" name="ZoneTexte 23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Conséquences de la forme des courbes d’enthalpie libre</a:t>
            </a:r>
            <a:endParaRPr lang="fr-FR" sz="2800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930262" y="1254369"/>
                <a:ext cx="1026114" cy="4055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fr-FR" i="1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𝐴</m:t>
                          </m:r>
                        </m:sub>
                        <m:sup>
                          <m:r>
                            <a:rPr lang="fr-FR" i="1">
                              <a:latin typeface="Cambria Math"/>
                            </a:rPr>
                            <m:t>1</m:t>
                          </m:r>
                        </m:sup>
                      </m:sSubSup>
                      <m:r>
                        <a:rPr lang="fr-FR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fr-FR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fr-FR" i="1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𝐴</m:t>
                          </m:r>
                        </m:sub>
                        <m:sup>
                          <m:r>
                            <a:rPr lang="fr-FR" i="1"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0262" y="1254369"/>
                <a:ext cx="1026114" cy="405560"/>
              </a:xfrm>
              <a:prstGeom prst="rect">
                <a:avLst/>
              </a:prstGeom>
              <a:blipFill rotWithShape="1">
                <a:blip r:embed="rId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923671" y="1799304"/>
                <a:ext cx="1032526" cy="4055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fr-FR" i="1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𝐵</m:t>
                          </m:r>
                        </m:sub>
                        <m:sup>
                          <m:r>
                            <a:rPr lang="fr-FR" i="1">
                              <a:latin typeface="Cambria Math"/>
                            </a:rPr>
                            <m:t>1</m:t>
                          </m:r>
                        </m:sup>
                      </m:sSubSup>
                      <m:r>
                        <a:rPr lang="fr-FR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fr-FR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fr-FR" i="1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𝐵</m:t>
                          </m:r>
                        </m:sub>
                        <m:sup>
                          <m:r>
                            <a:rPr lang="fr-FR" i="1"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671" y="1799304"/>
                <a:ext cx="1032526" cy="405560"/>
              </a:xfrm>
              <a:prstGeom prst="rect">
                <a:avLst/>
              </a:prstGeom>
              <a:blipFill rotWithShape="1">
                <a:blip r:embed="rId3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/>
          <p:cNvSpPr txBox="1"/>
          <p:nvPr/>
        </p:nvSpPr>
        <p:spPr>
          <a:xfrm>
            <a:off x="144016" y="1400218"/>
            <a:ext cx="6660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Règle 1: À l’équilibre stable ou métastable, les potentiels chimiques des éléments sont les mêmes dans toutes les phases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144016" y="2204864"/>
            <a:ext cx="6660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Règle 2: Une transformation s’effectue si </a:t>
            </a:r>
            <a:r>
              <a:rPr lang="fr-FR" dirty="0" smtClean="0">
                <a:sym typeface="Symbol"/>
              </a:rPr>
              <a:t></a:t>
            </a:r>
            <a:r>
              <a:rPr lang="fr-FR" dirty="0" err="1" smtClean="0">
                <a:sym typeface="Symbol"/>
              </a:rPr>
              <a:t>G</a:t>
            </a:r>
            <a:r>
              <a:rPr lang="fr-FR" baseline="-25000" dirty="0" err="1" smtClean="0">
                <a:sym typeface="Symbol"/>
              </a:rPr>
              <a:t>transfo</a:t>
            </a:r>
            <a:r>
              <a:rPr lang="fr-FR" dirty="0" smtClean="0">
                <a:sym typeface="Symbol"/>
              </a:rPr>
              <a:t>  0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179512" y="2852936"/>
            <a:ext cx="72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Cas 1</a:t>
            </a:r>
            <a:endParaRPr lang="fr-FR" dirty="0"/>
          </a:p>
        </p:txBody>
      </p:sp>
      <p:pic>
        <p:nvPicPr>
          <p:cNvPr id="25" name="Image 24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88" y="2627620"/>
            <a:ext cx="7401112" cy="324076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ZoneTexte 10"/>
          <p:cNvSpPr txBox="1"/>
          <p:nvPr/>
        </p:nvSpPr>
        <p:spPr>
          <a:xfrm>
            <a:off x="1043608" y="6021692"/>
            <a:ext cx="7128792" cy="40011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 smtClean="0"/>
              <a:t>Tous les alliages forment une solution solide monophasée stable</a:t>
            </a:r>
            <a:endParaRPr lang="fr-FR" sz="2000" dirty="0"/>
          </a:p>
        </p:txBody>
      </p:sp>
      <p:sp>
        <p:nvSpPr>
          <p:cNvPr id="13" name="ZoneTexte 12"/>
          <p:cNvSpPr txBox="1"/>
          <p:nvPr/>
        </p:nvSpPr>
        <p:spPr>
          <a:xfrm>
            <a:off x="144016" y="5579948"/>
            <a:ext cx="8999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Si perturbation: résistance par diffusion d’atomes de A(B) de la phase 1(2) vers la phase 2(1)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825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683568" y="2977788"/>
            <a:ext cx="7740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Lien entre la forme des courbes et la microstructure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35684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8" name="ZoneTexte 7"/>
          <p:cNvSpPr txBox="1"/>
          <p:nvPr/>
        </p:nvSpPr>
        <p:spPr>
          <a:xfrm>
            <a:off x="179512" y="1124744"/>
            <a:ext cx="72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Cas 2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144016" y="5013176"/>
            <a:ext cx="8999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P</a:t>
            </a:r>
            <a:r>
              <a:rPr lang="fr-FR" dirty="0" smtClean="0">
                <a:solidFill>
                  <a:srgbClr val="C00000"/>
                </a:solidFill>
              </a:rPr>
              <a:t>erturbation dans zone I</a:t>
            </a:r>
            <a:r>
              <a:rPr lang="fr-FR" dirty="0" smtClean="0"/>
              <a:t>: résistance par diffusion d’atomes de A(B) de la phase 1(2) vers la phase 2(1). Les alliages forment une solution solide monophasée </a:t>
            </a:r>
            <a:r>
              <a:rPr lang="fr-FR" dirty="0" smtClean="0">
                <a:solidFill>
                  <a:srgbClr val="C00000"/>
                </a:solidFill>
              </a:rPr>
              <a:t>stable</a:t>
            </a:r>
            <a:endParaRPr lang="fr-FR" dirty="0">
              <a:solidFill>
                <a:srgbClr val="C00000"/>
              </a:solidFill>
            </a:endParaRPr>
          </a:p>
        </p:txBody>
      </p:sp>
      <p:pic>
        <p:nvPicPr>
          <p:cNvPr id="12" name="Image 11"/>
          <p:cNvPicPr/>
          <p:nvPr/>
        </p:nvPicPr>
        <p:blipFill>
          <a:blip r:embed="rId2" cstate="print">
            <a:lum contrast="-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40" y="1124744"/>
            <a:ext cx="6048712" cy="381642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ZoneTexte 13"/>
          <p:cNvSpPr txBox="1"/>
          <p:nvPr/>
        </p:nvSpPr>
        <p:spPr>
          <a:xfrm>
            <a:off x="138963" y="5621424"/>
            <a:ext cx="8999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P</a:t>
            </a:r>
            <a:r>
              <a:rPr lang="fr-FR" dirty="0" smtClean="0">
                <a:solidFill>
                  <a:srgbClr val="C00000"/>
                </a:solidFill>
              </a:rPr>
              <a:t>erturbation dans zone III</a:t>
            </a:r>
            <a:r>
              <a:rPr lang="fr-FR" dirty="0" smtClean="0"/>
              <a:t>: les écarts de composition s’amplifient. Les alliages monophasés sont </a:t>
            </a:r>
            <a:r>
              <a:rPr lang="fr-FR" dirty="0" smtClean="0">
                <a:solidFill>
                  <a:srgbClr val="C00000"/>
                </a:solidFill>
              </a:rPr>
              <a:t>instables</a:t>
            </a:r>
            <a:r>
              <a:rPr lang="fr-FR" dirty="0" smtClean="0"/>
              <a:t> et se décomposent en deux phases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135214" y="6239053"/>
            <a:ext cx="8999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P</a:t>
            </a:r>
            <a:r>
              <a:rPr lang="fr-FR" dirty="0" smtClean="0">
                <a:solidFill>
                  <a:srgbClr val="C00000"/>
                </a:solidFill>
              </a:rPr>
              <a:t>erturbation dans zone II</a:t>
            </a:r>
            <a:r>
              <a:rPr lang="fr-FR" dirty="0" smtClean="0"/>
              <a:t>: Cela dépend de l’amplitude de la perturbation. Les alliages monophasés se décomposent au-delà d’un seuil de perturbation (ils sont </a:t>
            </a:r>
            <a:r>
              <a:rPr lang="fr-FR" dirty="0" smtClean="0">
                <a:solidFill>
                  <a:srgbClr val="C00000"/>
                </a:solidFill>
              </a:rPr>
              <a:t>métastables</a:t>
            </a:r>
            <a:r>
              <a:rPr lang="fr-FR" dirty="0" smtClean="0"/>
              <a:t>)</a:t>
            </a:r>
            <a:endParaRPr lang="fr-FR" dirty="0"/>
          </a:p>
        </p:txBody>
      </p:sp>
      <p:cxnSp>
        <p:nvCxnSpPr>
          <p:cNvPr id="3" name="Connecteur droit 2"/>
          <p:cNvCxnSpPr/>
          <p:nvPr/>
        </p:nvCxnSpPr>
        <p:spPr>
          <a:xfrm>
            <a:off x="179512" y="5013176"/>
            <a:ext cx="0" cy="1844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Conséquences de la forme des courbes d’enthalpie libre</a:t>
            </a:r>
            <a:endParaRPr lang="fr-FR" sz="2800" i="1" baseline="-25000" dirty="0"/>
          </a:p>
        </p:txBody>
      </p:sp>
    </p:spTree>
    <p:extLst>
      <p:ext uri="{BB962C8B-B14F-4D97-AF65-F5344CB8AC3E}">
        <p14:creationId xmlns:p14="http://schemas.microsoft.com/office/powerpoint/2010/main" val="80710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8" name="ZoneTexte 7"/>
          <p:cNvSpPr txBox="1"/>
          <p:nvPr/>
        </p:nvSpPr>
        <p:spPr>
          <a:xfrm>
            <a:off x="179512" y="1124744"/>
            <a:ext cx="28803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Influence </a:t>
            </a:r>
            <a:r>
              <a:rPr lang="fr-FR" dirty="0"/>
              <a:t>de la </a:t>
            </a:r>
            <a:r>
              <a:rPr lang="fr-FR" dirty="0" smtClean="0"/>
              <a:t>température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 rot="18841951">
            <a:off x="2671881" y="2330485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spinode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 rot="18841951">
            <a:off x="1008361" y="2402494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binode</a:t>
            </a:r>
            <a:endParaRPr lang="fr-FR" dirty="0"/>
          </a:p>
        </p:txBody>
      </p:sp>
      <p:grpSp>
        <p:nvGrpSpPr>
          <p:cNvPr id="28" name="Groupe 27"/>
          <p:cNvGrpSpPr/>
          <p:nvPr/>
        </p:nvGrpSpPr>
        <p:grpSpPr>
          <a:xfrm>
            <a:off x="611560" y="2754426"/>
            <a:ext cx="7200840" cy="3482886"/>
            <a:chOff x="611560" y="1818322"/>
            <a:chExt cx="7200840" cy="4130958"/>
          </a:xfrm>
        </p:grpSpPr>
        <p:pic>
          <p:nvPicPr>
            <p:cNvPr id="10" name="Image 9"/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560" y="1818322"/>
              <a:ext cx="7200840" cy="398694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" name="Connecteur droit 6"/>
            <p:cNvCxnSpPr/>
            <p:nvPr/>
          </p:nvCxnSpPr>
          <p:spPr>
            <a:xfrm>
              <a:off x="5422241" y="3027395"/>
              <a:ext cx="0" cy="1121685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/>
            <p:nvPr/>
          </p:nvCxnSpPr>
          <p:spPr>
            <a:xfrm>
              <a:off x="6098023" y="2996952"/>
              <a:ext cx="0" cy="112168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/>
            <p:cNvCxnSpPr/>
            <p:nvPr/>
          </p:nvCxnSpPr>
          <p:spPr>
            <a:xfrm flipH="1">
              <a:off x="3059832" y="2276872"/>
              <a:ext cx="72008" cy="36004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avec flèche 19"/>
            <p:cNvCxnSpPr/>
            <p:nvPr/>
          </p:nvCxnSpPr>
          <p:spPr>
            <a:xfrm flipH="1">
              <a:off x="1331640" y="2456892"/>
              <a:ext cx="72008" cy="5705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/>
            <p:cNvCxnSpPr/>
            <p:nvPr/>
          </p:nvCxnSpPr>
          <p:spPr>
            <a:xfrm>
              <a:off x="4572000" y="5949280"/>
              <a:ext cx="792088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Connecteur droit 24"/>
          <p:cNvCxnSpPr/>
          <p:nvPr/>
        </p:nvCxnSpPr>
        <p:spPr>
          <a:xfrm>
            <a:off x="4572000" y="6741368"/>
            <a:ext cx="7920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>
            <a:off x="5422242" y="6093296"/>
            <a:ext cx="391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Transfo par germination + croissance</a:t>
            </a:r>
            <a:endParaRPr lang="fr-FR" dirty="0"/>
          </a:p>
        </p:txBody>
      </p:sp>
      <p:sp>
        <p:nvSpPr>
          <p:cNvPr id="27" name="ZoneTexte 26"/>
          <p:cNvSpPr txBox="1"/>
          <p:nvPr/>
        </p:nvSpPr>
        <p:spPr>
          <a:xfrm>
            <a:off x="5422241" y="6516052"/>
            <a:ext cx="391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Transfo par décomposition </a:t>
            </a:r>
            <a:r>
              <a:rPr lang="fr-FR" dirty="0" err="1" smtClean="0"/>
              <a:t>spinodale</a:t>
            </a:r>
            <a:endParaRPr lang="fr-FR" dirty="0"/>
          </a:p>
        </p:txBody>
      </p:sp>
      <p:pic>
        <p:nvPicPr>
          <p:cNvPr id="2050" name="Picture 2" descr="http://pubs.rsc.org/services/images/RSCpubs.ePlatform.Service.FreeContent.ImageService.svc/ImageService/Articleimage/2014/CS/c3cs60451a/c3cs60451a-f3_hi-res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708057" y="1124744"/>
            <a:ext cx="3344510" cy="166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/>
          <p:cNvSpPr/>
          <p:nvPr/>
        </p:nvSpPr>
        <p:spPr>
          <a:xfrm>
            <a:off x="7410939" y="1126794"/>
            <a:ext cx="1656000" cy="1667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/>
          <p:cNvSpPr/>
          <p:nvPr/>
        </p:nvSpPr>
        <p:spPr>
          <a:xfrm>
            <a:off x="5724128" y="1124744"/>
            <a:ext cx="1656000" cy="165466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ZoneTexte 31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Conséquences de la forme des courbes d’enthalpie libre</a:t>
            </a:r>
            <a:endParaRPr lang="fr-FR" sz="2800" i="1" baseline="-25000" dirty="0"/>
          </a:p>
        </p:txBody>
      </p:sp>
    </p:spTree>
    <p:extLst>
      <p:ext uri="{BB962C8B-B14F-4D97-AF65-F5344CB8AC3E}">
        <p14:creationId xmlns:p14="http://schemas.microsoft.com/office/powerpoint/2010/main" val="216736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32" name="ZoneTexte 31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Conséquences de la forme des courbes d’enthalpie libre</a:t>
            </a:r>
            <a:endParaRPr lang="fr-FR" sz="2800" i="1" baseline="-25000" dirty="0"/>
          </a:p>
        </p:txBody>
      </p:sp>
      <p:pic>
        <p:nvPicPr>
          <p:cNvPr id="21" name="Image 2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529" y="1738312"/>
            <a:ext cx="5400759" cy="3850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162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32" name="ZoneTexte 31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Limites des hypothèses des solutions régulières</a:t>
            </a:r>
            <a:endParaRPr lang="fr-FR" sz="2800" i="1" baseline="-25000" dirty="0"/>
          </a:p>
        </p:txBody>
      </p:sp>
      <p:sp>
        <p:nvSpPr>
          <p:cNvPr id="2" name="Rectangle 1"/>
          <p:cNvSpPr/>
          <p:nvPr/>
        </p:nvSpPr>
        <p:spPr>
          <a:xfrm>
            <a:off x="251520" y="1340768"/>
            <a:ext cx="8712967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charset="0"/>
              <a:buChar char="•"/>
            </a:pPr>
            <a:r>
              <a:rPr lang="fr-FR" sz="2000" i="1" dirty="0" err="1"/>
              <a:t>ΔH</a:t>
            </a:r>
            <a:r>
              <a:rPr lang="fr-FR" sz="2000" i="1" baseline="-25000" dirty="0" err="1"/>
              <a:t>m</a:t>
            </a:r>
            <a:r>
              <a:rPr lang="fr-FR" sz="2000" dirty="0"/>
              <a:t> dépend uniquement des énergies entre atomes proches voisins et chacun des atomes de la solution possède le même nombre de proches voisins. </a:t>
            </a:r>
            <a:endParaRPr lang="fr-FR" sz="2000" dirty="0" smtClean="0"/>
          </a:p>
          <a:p>
            <a:pPr lvl="0"/>
            <a:endParaRPr lang="fr-FR" sz="900" dirty="0" smtClean="0"/>
          </a:p>
          <a:p>
            <a:pPr marL="285750" indent="-285750">
              <a:buFont typeface="Arial" charset="0"/>
              <a:buChar char="•"/>
            </a:pPr>
            <a:r>
              <a:rPr lang="fr-FR" sz="2000" dirty="0"/>
              <a:t>Le mélange est parfaitement aléatoire</a:t>
            </a:r>
            <a:r>
              <a:rPr lang="fr-FR" sz="2000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endParaRPr lang="fr-FR" sz="2000" dirty="0"/>
          </a:p>
          <a:p>
            <a:pPr marL="285750" indent="-285750">
              <a:buFont typeface="Arial" charset="0"/>
              <a:buChar char="•"/>
            </a:pPr>
            <a:endParaRPr lang="fr-FR" sz="2000" dirty="0" smtClean="0"/>
          </a:p>
          <a:p>
            <a:pPr marL="285750" indent="-285750">
              <a:buFont typeface="Arial" charset="0"/>
              <a:buChar char="•"/>
            </a:pPr>
            <a:endParaRPr lang="fr-FR" sz="2000" dirty="0"/>
          </a:p>
          <a:p>
            <a:pPr marL="285750" indent="-285750">
              <a:buFont typeface="Arial" charset="0"/>
              <a:buChar char="•"/>
            </a:pPr>
            <a:endParaRPr lang="fr-FR" sz="2000" dirty="0" smtClean="0"/>
          </a:p>
          <a:p>
            <a:endParaRPr lang="fr-FR" sz="2000" dirty="0" smtClean="0"/>
          </a:p>
          <a:p>
            <a:pPr marL="285750" lvl="0" indent="-285750">
              <a:buFont typeface="Arial" charset="0"/>
              <a:buChar char="•"/>
            </a:pPr>
            <a:r>
              <a:rPr lang="fr-FR" sz="2000" dirty="0"/>
              <a:t>Pas de différence de taille entre les atomes de A et B</a:t>
            </a:r>
          </a:p>
          <a:p>
            <a:pPr marL="285750" indent="-285750">
              <a:buFont typeface="Arial" charset="0"/>
              <a:buChar char="•"/>
            </a:pPr>
            <a:endParaRPr lang="fr-FR" sz="2000" dirty="0"/>
          </a:p>
        </p:txBody>
      </p:sp>
      <p:sp>
        <p:nvSpPr>
          <p:cNvPr id="3" name="ZoneTexte 2"/>
          <p:cNvSpPr txBox="1"/>
          <p:nvPr/>
        </p:nvSpPr>
        <p:spPr>
          <a:xfrm>
            <a:off x="539552" y="2636912"/>
            <a:ext cx="7560840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Problème: si </a:t>
            </a:r>
            <a:r>
              <a:rPr lang="fr-FR" dirty="0" smtClean="0">
                <a:sym typeface="Symbol"/>
              </a:rPr>
              <a:t>Hm  0, la solution tend soit à s’ordonner (</a:t>
            </a:r>
            <a:r>
              <a:rPr lang="fr-FR" dirty="0">
                <a:sym typeface="Symbol"/>
              </a:rPr>
              <a:t>Hm </a:t>
            </a:r>
            <a:r>
              <a:rPr lang="fr-FR" dirty="0" smtClean="0">
                <a:sym typeface="Symbol"/>
              </a:rPr>
              <a:t>&lt; 0) soit à se décomposer </a:t>
            </a:r>
            <a:r>
              <a:rPr lang="fr-FR" dirty="0">
                <a:sym typeface="Symbol"/>
              </a:rPr>
              <a:t>(Hm </a:t>
            </a:r>
            <a:r>
              <a:rPr lang="fr-FR" dirty="0" smtClean="0">
                <a:sym typeface="Symbol"/>
              </a:rPr>
              <a:t>&gt; </a:t>
            </a:r>
            <a:r>
              <a:rPr lang="fr-FR" dirty="0">
                <a:sym typeface="Symbol"/>
              </a:rPr>
              <a:t>0) 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539552" y="4438853"/>
            <a:ext cx="7560840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Pas réaliste. La variation de taille des atomes modifient l’enthalpie de mélange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858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683568" y="2977788"/>
            <a:ext cx="7740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Autres types de solutions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583590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32" name="ZoneTexte 31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Solutions solides ordonnées</a:t>
            </a:r>
            <a:endParaRPr lang="fr-FR" sz="2800" i="1" baseline="-25000" dirty="0"/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165" y="982469"/>
            <a:ext cx="6480720" cy="17281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ZoneTexte 4"/>
          <p:cNvSpPr txBox="1"/>
          <p:nvPr/>
        </p:nvSpPr>
        <p:spPr>
          <a:xfrm>
            <a:off x="1763688" y="2782669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Répartition aléatoire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4067944" y="2795245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Ordre local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6156176" y="2782669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Ordre à longue distance</a:t>
            </a:r>
            <a:endParaRPr lang="fr-FR" dirty="0"/>
          </a:p>
        </p:txBody>
      </p:sp>
      <p:pic>
        <p:nvPicPr>
          <p:cNvPr id="11" name="Image 1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3410218"/>
            <a:ext cx="3816425" cy="344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717" y="3356992"/>
            <a:ext cx="1572300" cy="1487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4725144"/>
            <a:ext cx="1597097" cy="1515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Connecteur droit 11"/>
          <p:cNvCxnSpPr/>
          <p:nvPr/>
        </p:nvCxnSpPr>
        <p:spPr>
          <a:xfrm flipH="1">
            <a:off x="2051720" y="4100559"/>
            <a:ext cx="1800200" cy="9126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>
            <a:stCxn id="6147" idx="1"/>
          </p:cNvCxnSpPr>
          <p:nvPr/>
        </p:nvCxnSpPr>
        <p:spPr>
          <a:xfrm flipH="1">
            <a:off x="2051720" y="5483089"/>
            <a:ext cx="1800200" cy="322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 17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933" y="4005064"/>
            <a:ext cx="2798547" cy="266801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ZoneTexte 14"/>
          <p:cNvSpPr txBox="1"/>
          <p:nvPr/>
        </p:nvSpPr>
        <p:spPr>
          <a:xfrm>
            <a:off x="6320292" y="3646765"/>
            <a:ext cx="2823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Paramètres d’ordre à courte (c) et longue (l) distance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075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Transformations d’</a:t>
            </a:r>
            <a:r>
              <a:rPr lang="fr-FR" sz="2800" dirty="0"/>
              <a:t>é</a:t>
            </a:r>
            <a:r>
              <a:rPr lang="fr-FR" sz="2800" dirty="0" smtClean="0"/>
              <a:t>quilibre dans les alliages</a:t>
            </a:r>
            <a:endParaRPr lang="fr-FR" sz="2800" dirty="0"/>
          </a:p>
        </p:txBody>
      </p:sp>
      <p:sp>
        <p:nvSpPr>
          <p:cNvPr id="32" name="ZoneTexte 31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Solutions solides intermédiaires et composés chimiquement définis</a:t>
            </a:r>
            <a:endParaRPr lang="fr-FR" sz="2800" i="1" baseline="-25000" dirty="0"/>
          </a:p>
        </p:txBody>
      </p:sp>
      <p:pic>
        <p:nvPicPr>
          <p:cNvPr id="16" name="Image 1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16" y="1390645"/>
            <a:ext cx="5760720" cy="23983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/>
          <p:cNvSpPr txBox="1"/>
          <p:nvPr/>
        </p:nvSpPr>
        <p:spPr>
          <a:xfrm>
            <a:off x="1979712" y="1227195"/>
            <a:ext cx="23762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Solution intermédiaire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5004048" y="1224462"/>
            <a:ext cx="32126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Composé chimiquement défini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1979712" y="1259468"/>
            <a:ext cx="23762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Solution intermédiaire</a:t>
            </a:r>
            <a:endParaRPr lang="fr-FR" dirty="0"/>
          </a:p>
        </p:txBody>
      </p:sp>
      <p:pic>
        <p:nvPicPr>
          <p:cNvPr id="9" name="Imag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789040"/>
            <a:ext cx="6840760" cy="29523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9612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683568" y="2977788"/>
            <a:ext cx="7740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02880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57" y="3026173"/>
            <a:ext cx="293321" cy="308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2" y="2957726"/>
            <a:ext cx="703592" cy="471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74" y="3860216"/>
            <a:ext cx="907177" cy="550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58" y="5043904"/>
            <a:ext cx="869385" cy="382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Connecteur droit avec flèche 7"/>
          <p:cNvCxnSpPr/>
          <p:nvPr/>
        </p:nvCxnSpPr>
        <p:spPr>
          <a:xfrm flipV="1">
            <a:off x="855779" y="1530151"/>
            <a:ext cx="0" cy="396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 rot="16200000">
            <a:off x="-319898" y="1552146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chemeClr val="tx2"/>
                </a:solidFill>
              </a:rPr>
              <a:t>Température</a:t>
            </a:r>
            <a:endParaRPr lang="fr-FR" dirty="0">
              <a:solidFill>
                <a:schemeClr val="tx2"/>
              </a:solidFill>
            </a:endParaRPr>
          </a:p>
        </p:txBody>
      </p:sp>
      <p:cxnSp>
        <p:nvCxnSpPr>
          <p:cNvPr id="10" name="Connecteur droit avec flèche 9"/>
          <p:cNvCxnSpPr/>
          <p:nvPr/>
        </p:nvCxnSpPr>
        <p:spPr>
          <a:xfrm>
            <a:off x="855779" y="5490230"/>
            <a:ext cx="4001615" cy="36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1521607" y="5399843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chemeClr val="tx2"/>
                </a:solidFill>
              </a:rPr>
              <a:t>composition</a:t>
            </a:r>
            <a:endParaRPr lang="fr-FR" dirty="0">
              <a:solidFill>
                <a:schemeClr val="tx2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256258" y="4942565"/>
            <a:ext cx="833263" cy="50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843" y="5062240"/>
            <a:ext cx="576064" cy="364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449695" y="4950655"/>
            <a:ext cx="576684" cy="49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ZoneTexte 14"/>
          <p:cNvSpPr txBox="1"/>
          <p:nvPr/>
        </p:nvSpPr>
        <p:spPr>
          <a:xfrm>
            <a:off x="567747" y="5418583"/>
            <a:ext cx="691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>
                <a:solidFill>
                  <a:schemeClr val="tx2"/>
                </a:solidFill>
              </a:rPr>
              <a:t>Corps pur A</a:t>
            </a:r>
            <a:endParaRPr lang="fr-FR" sz="1600" dirty="0">
              <a:solidFill>
                <a:schemeClr val="tx2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528919" y="5436513"/>
            <a:ext cx="691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>
                <a:solidFill>
                  <a:srgbClr val="FFC000"/>
                </a:solidFill>
              </a:rPr>
              <a:t>Corps pur B</a:t>
            </a:r>
            <a:endParaRPr lang="fr-FR" sz="1600" dirty="0">
              <a:solidFill>
                <a:srgbClr val="FFC000"/>
              </a:solidFill>
            </a:endParaRP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907" y="5058543"/>
            <a:ext cx="576064" cy="364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771180" y="4977570"/>
            <a:ext cx="576684" cy="49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9" name="Groupe 18"/>
          <p:cNvGrpSpPr>
            <a:grpSpLocks noChangeAspect="1"/>
          </p:cNvGrpSpPr>
          <p:nvPr/>
        </p:nvGrpSpPr>
        <p:grpSpPr>
          <a:xfrm>
            <a:off x="2555168" y="5173756"/>
            <a:ext cx="172819" cy="172819"/>
            <a:chOff x="6732240" y="4869160"/>
            <a:chExt cx="432048" cy="432048"/>
          </a:xfrm>
        </p:grpSpPr>
        <p:cxnSp>
          <p:nvCxnSpPr>
            <p:cNvPr id="20" name="Connecteur droit 19"/>
            <p:cNvCxnSpPr/>
            <p:nvPr/>
          </p:nvCxnSpPr>
          <p:spPr>
            <a:xfrm>
              <a:off x="6732240" y="5085003"/>
              <a:ext cx="432048" cy="181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/>
            <p:cNvCxnSpPr/>
            <p:nvPr/>
          </p:nvCxnSpPr>
          <p:spPr>
            <a:xfrm>
              <a:off x="6947946" y="4869160"/>
              <a:ext cx="0" cy="432048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Connecteur droit 21"/>
          <p:cNvCxnSpPr/>
          <p:nvPr/>
        </p:nvCxnSpPr>
        <p:spPr>
          <a:xfrm>
            <a:off x="3358129" y="4842519"/>
            <a:ext cx="0" cy="643703"/>
          </a:xfrm>
          <a:prstGeom prst="line">
            <a:avLst/>
          </a:prstGeom>
          <a:ln w="2857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2555776" y="3212976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chemeClr val="bg1">
                    <a:lumMod val="50000"/>
                  </a:schemeClr>
                </a:solidFill>
              </a:rPr>
              <a:t>?</a:t>
            </a:r>
            <a:endParaRPr lang="fr-FR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4" name="Groupe 23"/>
          <p:cNvGrpSpPr>
            <a:grpSpLocks noChangeAspect="1"/>
          </p:cNvGrpSpPr>
          <p:nvPr/>
        </p:nvGrpSpPr>
        <p:grpSpPr>
          <a:xfrm>
            <a:off x="1017448" y="1483227"/>
            <a:ext cx="981456" cy="563880"/>
            <a:chOff x="4038600" y="1474788"/>
            <a:chExt cx="2044700" cy="1174750"/>
          </a:xfrm>
        </p:grpSpPr>
        <p:sp>
          <p:nvSpPr>
            <p:cNvPr id="25" name="Oval 152"/>
            <p:cNvSpPr>
              <a:spLocks noChangeAspect="1" noChangeArrowheads="1"/>
            </p:cNvSpPr>
            <p:nvPr/>
          </p:nvSpPr>
          <p:spPr bwMode="auto">
            <a:xfrm>
              <a:off x="4083050" y="19653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" name="Oval 153"/>
            <p:cNvSpPr>
              <a:spLocks noChangeAspect="1" noChangeArrowheads="1"/>
            </p:cNvSpPr>
            <p:nvPr/>
          </p:nvSpPr>
          <p:spPr bwMode="auto">
            <a:xfrm>
              <a:off x="4479925" y="19558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" name="Oval 154"/>
            <p:cNvSpPr>
              <a:spLocks noChangeAspect="1" noChangeArrowheads="1"/>
            </p:cNvSpPr>
            <p:nvPr/>
          </p:nvSpPr>
          <p:spPr bwMode="auto">
            <a:xfrm>
              <a:off x="4748213" y="20193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" name="Oval 155"/>
            <p:cNvSpPr>
              <a:spLocks noChangeAspect="1" noChangeArrowheads="1"/>
            </p:cNvSpPr>
            <p:nvPr/>
          </p:nvSpPr>
          <p:spPr bwMode="auto">
            <a:xfrm>
              <a:off x="5092700" y="209867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" name="Oval 156"/>
            <p:cNvSpPr>
              <a:spLocks noChangeAspect="1" noChangeArrowheads="1"/>
            </p:cNvSpPr>
            <p:nvPr/>
          </p:nvSpPr>
          <p:spPr bwMode="auto">
            <a:xfrm>
              <a:off x="5362575" y="20034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" name="Oval 157"/>
            <p:cNvSpPr>
              <a:spLocks noChangeAspect="1" noChangeArrowheads="1"/>
            </p:cNvSpPr>
            <p:nvPr/>
          </p:nvSpPr>
          <p:spPr bwMode="auto">
            <a:xfrm>
              <a:off x="4159250" y="22225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" name="Oval 158"/>
            <p:cNvSpPr>
              <a:spLocks noChangeAspect="1" noChangeArrowheads="1"/>
            </p:cNvSpPr>
            <p:nvPr/>
          </p:nvSpPr>
          <p:spPr bwMode="auto">
            <a:xfrm>
              <a:off x="4446588" y="22066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" name="Oval 159"/>
            <p:cNvSpPr>
              <a:spLocks noChangeAspect="1" noChangeArrowheads="1"/>
            </p:cNvSpPr>
            <p:nvPr/>
          </p:nvSpPr>
          <p:spPr bwMode="auto">
            <a:xfrm>
              <a:off x="4876800" y="22304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3" name="Oval 160"/>
            <p:cNvSpPr>
              <a:spLocks noChangeAspect="1" noChangeArrowheads="1"/>
            </p:cNvSpPr>
            <p:nvPr/>
          </p:nvSpPr>
          <p:spPr bwMode="auto">
            <a:xfrm>
              <a:off x="5508625" y="22304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" name="Oval 161"/>
            <p:cNvSpPr>
              <a:spLocks noChangeAspect="1" noChangeArrowheads="1"/>
            </p:cNvSpPr>
            <p:nvPr/>
          </p:nvSpPr>
          <p:spPr bwMode="auto">
            <a:xfrm>
              <a:off x="5889625" y="21399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5" name="Oval 162"/>
            <p:cNvSpPr>
              <a:spLocks noChangeAspect="1" noChangeArrowheads="1"/>
            </p:cNvSpPr>
            <p:nvPr/>
          </p:nvSpPr>
          <p:spPr bwMode="auto">
            <a:xfrm>
              <a:off x="4646613" y="1795463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" name="Oval 163"/>
            <p:cNvSpPr>
              <a:spLocks noChangeAspect="1" noChangeArrowheads="1"/>
            </p:cNvSpPr>
            <p:nvPr/>
          </p:nvSpPr>
          <p:spPr bwMode="auto">
            <a:xfrm>
              <a:off x="4953000" y="1804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" name="Oval 164"/>
            <p:cNvSpPr>
              <a:spLocks noChangeAspect="1" noChangeArrowheads="1"/>
            </p:cNvSpPr>
            <p:nvPr/>
          </p:nvSpPr>
          <p:spPr bwMode="auto">
            <a:xfrm>
              <a:off x="5362575" y="17795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" name="Oval 165"/>
            <p:cNvSpPr>
              <a:spLocks noChangeAspect="1" noChangeArrowheads="1"/>
            </p:cNvSpPr>
            <p:nvPr/>
          </p:nvSpPr>
          <p:spPr bwMode="auto">
            <a:xfrm>
              <a:off x="5562600" y="18621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" name="Oval 166"/>
            <p:cNvSpPr>
              <a:spLocks noChangeAspect="1" noChangeArrowheads="1"/>
            </p:cNvSpPr>
            <p:nvPr/>
          </p:nvSpPr>
          <p:spPr bwMode="auto">
            <a:xfrm>
              <a:off x="4038600" y="16065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" name="Oval 167"/>
            <p:cNvSpPr>
              <a:spLocks noChangeAspect="1" noChangeArrowheads="1"/>
            </p:cNvSpPr>
            <p:nvPr/>
          </p:nvSpPr>
          <p:spPr bwMode="auto">
            <a:xfrm>
              <a:off x="4281488" y="14747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" name="Oval 168"/>
            <p:cNvSpPr>
              <a:spLocks noChangeAspect="1" noChangeArrowheads="1"/>
            </p:cNvSpPr>
            <p:nvPr/>
          </p:nvSpPr>
          <p:spPr bwMode="auto">
            <a:xfrm>
              <a:off x="4489450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2" name="Oval 169"/>
            <p:cNvSpPr>
              <a:spLocks noChangeAspect="1" noChangeArrowheads="1"/>
            </p:cNvSpPr>
            <p:nvPr/>
          </p:nvSpPr>
          <p:spPr bwMode="auto">
            <a:xfrm>
              <a:off x="4748213" y="15128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3" name="Oval 170"/>
            <p:cNvSpPr>
              <a:spLocks noChangeAspect="1" noChangeArrowheads="1"/>
            </p:cNvSpPr>
            <p:nvPr/>
          </p:nvSpPr>
          <p:spPr bwMode="auto">
            <a:xfrm>
              <a:off x="5092700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4" name="Oval 171"/>
            <p:cNvSpPr>
              <a:spLocks noChangeAspect="1" noChangeArrowheads="1"/>
            </p:cNvSpPr>
            <p:nvPr/>
          </p:nvSpPr>
          <p:spPr bwMode="auto">
            <a:xfrm>
              <a:off x="5362575" y="15049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5" name="Oval 172"/>
            <p:cNvSpPr>
              <a:spLocks noChangeAspect="1" noChangeArrowheads="1"/>
            </p:cNvSpPr>
            <p:nvPr/>
          </p:nvSpPr>
          <p:spPr bwMode="auto">
            <a:xfrm>
              <a:off x="5561013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" name="Oval 173"/>
            <p:cNvSpPr>
              <a:spLocks noChangeAspect="1" noChangeArrowheads="1"/>
            </p:cNvSpPr>
            <p:nvPr/>
          </p:nvSpPr>
          <p:spPr bwMode="auto">
            <a:xfrm>
              <a:off x="4248150" y="2455863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7" name="Oval 174"/>
            <p:cNvSpPr>
              <a:spLocks noChangeAspect="1" noChangeArrowheads="1"/>
            </p:cNvSpPr>
            <p:nvPr/>
          </p:nvSpPr>
          <p:spPr bwMode="auto">
            <a:xfrm>
              <a:off x="464185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8" name="Oval 175"/>
            <p:cNvSpPr>
              <a:spLocks noChangeAspect="1" noChangeArrowheads="1"/>
            </p:cNvSpPr>
            <p:nvPr/>
          </p:nvSpPr>
          <p:spPr bwMode="auto">
            <a:xfrm>
              <a:off x="495300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9" name="Oval 176"/>
            <p:cNvSpPr>
              <a:spLocks noChangeAspect="1" noChangeArrowheads="1"/>
            </p:cNvSpPr>
            <p:nvPr/>
          </p:nvSpPr>
          <p:spPr bwMode="auto">
            <a:xfrm>
              <a:off x="524510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" name="Oval 177"/>
            <p:cNvSpPr>
              <a:spLocks noChangeAspect="1" noChangeArrowheads="1"/>
            </p:cNvSpPr>
            <p:nvPr/>
          </p:nvSpPr>
          <p:spPr bwMode="auto">
            <a:xfrm>
              <a:off x="5737225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51" name="Groupe 50"/>
          <p:cNvGrpSpPr>
            <a:grpSpLocks noChangeAspect="1"/>
          </p:cNvGrpSpPr>
          <p:nvPr/>
        </p:nvGrpSpPr>
        <p:grpSpPr>
          <a:xfrm rot="506954">
            <a:off x="2042664" y="1758359"/>
            <a:ext cx="981456" cy="563880"/>
            <a:chOff x="4038600" y="1474788"/>
            <a:chExt cx="2044700" cy="1174750"/>
          </a:xfrm>
        </p:grpSpPr>
        <p:sp>
          <p:nvSpPr>
            <p:cNvPr id="52" name="Oval 152"/>
            <p:cNvSpPr>
              <a:spLocks noChangeAspect="1" noChangeArrowheads="1"/>
            </p:cNvSpPr>
            <p:nvPr/>
          </p:nvSpPr>
          <p:spPr bwMode="auto">
            <a:xfrm>
              <a:off x="4083050" y="19653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3" name="Oval 153"/>
            <p:cNvSpPr>
              <a:spLocks noChangeAspect="1" noChangeArrowheads="1"/>
            </p:cNvSpPr>
            <p:nvPr/>
          </p:nvSpPr>
          <p:spPr bwMode="auto">
            <a:xfrm>
              <a:off x="4479925" y="19558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4" name="Oval 154"/>
            <p:cNvSpPr>
              <a:spLocks noChangeAspect="1" noChangeArrowheads="1"/>
            </p:cNvSpPr>
            <p:nvPr/>
          </p:nvSpPr>
          <p:spPr bwMode="auto">
            <a:xfrm>
              <a:off x="4748213" y="20193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5" name="Oval 155"/>
            <p:cNvSpPr>
              <a:spLocks noChangeAspect="1" noChangeArrowheads="1"/>
            </p:cNvSpPr>
            <p:nvPr/>
          </p:nvSpPr>
          <p:spPr bwMode="auto">
            <a:xfrm>
              <a:off x="5092700" y="209867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6" name="Oval 156"/>
            <p:cNvSpPr>
              <a:spLocks noChangeAspect="1" noChangeArrowheads="1"/>
            </p:cNvSpPr>
            <p:nvPr/>
          </p:nvSpPr>
          <p:spPr bwMode="auto">
            <a:xfrm>
              <a:off x="5362575" y="20034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7" name="Oval 157"/>
            <p:cNvSpPr>
              <a:spLocks noChangeAspect="1" noChangeArrowheads="1"/>
            </p:cNvSpPr>
            <p:nvPr/>
          </p:nvSpPr>
          <p:spPr bwMode="auto">
            <a:xfrm>
              <a:off x="4159250" y="22225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8" name="Oval 158"/>
            <p:cNvSpPr>
              <a:spLocks noChangeAspect="1" noChangeArrowheads="1"/>
            </p:cNvSpPr>
            <p:nvPr/>
          </p:nvSpPr>
          <p:spPr bwMode="auto">
            <a:xfrm>
              <a:off x="4446588" y="22066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9" name="Oval 159"/>
            <p:cNvSpPr>
              <a:spLocks noChangeAspect="1" noChangeArrowheads="1"/>
            </p:cNvSpPr>
            <p:nvPr/>
          </p:nvSpPr>
          <p:spPr bwMode="auto">
            <a:xfrm>
              <a:off x="4876800" y="22304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0" name="Oval 160"/>
            <p:cNvSpPr>
              <a:spLocks noChangeAspect="1" noChangeArrowheads="1"/>
            </p:cNvSpPr>
            <p:nvPr/>
          </p:nvSpPr>
          <p:spPr bwMode="auto">
            <a:xfrm>
              <a:off x="5508625" y="22304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" name="Oval 161"/>
            <p:cNvSpPr>
              <a:spLocks noChangeAspect="1" noChangeArrowheads="1"/>
            </p:cNvSpPr>
            <p:nvPr/>
          </p:nvSpPr>
          <p:spPr bwMode="auto">
            <a:xfrm>
              <a:off x="5889625" y="21399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2" name="Oval 162"/>
            <p:cNvSpPr>
              <a:spLocks noChangeAspect="1" noChangeArrowheads="1"/>
            </p:cNvSpPr>
            <p:nvPr/>
          </p:nvSpPr>
          <p:spPr bwMode="auto">
            <a:xfrm>
              <a:off x="4646613" y="1795463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3" name="Oval 163"/>
            <p:cNvSpPr>
              <a:spLocks noChangeAspect="1" noChangeArrowheads="1"/>
            </p:cNvSpPr>
            <p:nvPr/>
          </p:nvSpPr>
          <p:spPr bwMode="auto">
            <a:xfrm>
              <a:off x="4953000" y="1804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4" name="Oval 164"/>
            <p:cNvSpPr>
              <a:spLocks noChangeAspect="1" noChangeArrowheads="1"/>
            </p:cNvSpPr>
            <p:nvPr/>
          </p:nvSpPr>
          <p:spPr bwMode="auto">
            <a:xfrm>
              <a:off x="5362575" y="17795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5" name="Oval 165"/>
            <p:cNvSpPr>
              <a:spLocks noChangeAspect="1" noChangeArrowheads="1"/>
            </p:cNvSpPr>
            <p:nvPr/>
          </p:nvSpPr>
          <p:spPr bwMode="auto">
            <a:xfrm>
              <a:off x="5562600" y="18621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6" name="Oval 166"/>
            <p:cNvSpPr>
              <a:spLocks noChangeAspect="1" noChangeArrowheads="1"/>
            </p:cNvSpPr>
            <p:nvPr/>
          </p:nvSpPr>
          <p:spPr bwMode="auto">
            <a:xfrm>
              <a:off x="4038600" y="16065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7" name="Oval 167"/>
            <p:cNvSpPr>
              <a:spLocks noChangeAspect="1" noChangeArrowheads="1"/>
            </p:cNvSpPr>
            <p:nvPr/>
          </p:nvSpPr>
          <p:spPr bwMode="auto">
            <a:xfrm>
              <a:off x="4281488" y="14747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8" name="Oval 168"/>
            <p:cNvSpPr>
              <a:spLocks noChangeAspect="1" noChangeArrowheads="1"/>
            </p:cNvSpPr>
            <p:nvPr/>
          </p:nvSpPr>
          <p:spPr bwMode="auto">
            <a:xfrm>
              <a:off x="4489450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9" name="Oval 169"/>
            <p:cNvSpPr>
              <a:spLocks noChangeAspect="1" noChangeArrowheads="1"/>
            </p:cNvSpPr>
            <p:nvPr/>
          </p:nvSpPr>
          <p:spPr bwMode="auto">
            <a:xfrm>
              <a:off x="4748213" y="15128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0" name="Oval 170"/>
            <p:cNvSpPr>
              <a:spLocks noChangeAspect="1" noChangeArrowheads="1"/>
            </p:cNvSpPr>
            <p:nvPr/>
          </p:nvSpPr>
          <p:spPr bwMode="auto">
            <a:xfrm>
              <a:off x="5092700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" name="Oval 171"/>
            <p:cNvSpPr>
              <a:spLocks noChangeAspect="1" noChangeArrowheads="1"/>
            </p:cNvSpPr>
            <p:nvPr/>
          </p:nvSpPr>
          <p:spPr bwMode="auto">
            <a:xfrm>
              <a:off x="5362575" y="15049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2" name="Oval 172"/>
            <p:cNvSpPr>
              <a:spLocks noChangeAspect="1" noChangeArrowheads="1"/>
            </p:cNvSpPr>
            <p:nvPr/>
          </p:nvSpPr>
          <p:spPr bwMode="auto">
            <a:xfrm>
              <a:off x="5561013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3" name="Oval 173"/>
            <p:cNvSpPr>
              <a:spLocks noChangeAspect="1" noChangeArrowheads="1"/>
            </p:cNvSpPr>
            <p:nvPr/>
          </p:nvSpPr>
          <p:spPr bwMode="auto">
            <a:xfrm>
              <a:off x="4248150" y="2455863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4" name="Oval 174"/>
            <p:cNvSpPr>
              <a:spLocks noChangeAspect="1" noChangeArrowheads="1"/>
            </p:cNvSpPr>
            <p:nvPr/>
          </p:nvSpPr>
          <p:spPr bwMode="auto">
            <a:xfrm>
              <a:off x="464185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5" name="Oval 175"/>
            <p:cNvSpPr>
              <a:spLocks noChangeAspect="1" noChangeArrowheads="1"/>
            </p:cNvSpPr>
            <p:nvPr/>
          </p:nvSpPr>
          <p:spPr bwMode="auto">
            <a:xfrm>
              <a:off x="495300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6" name="Oval 176"/>
            <p:cNvSpPr>
              <a:spLocks noChangeAspect="1" noChangeArrowheads="1"/>
            </p:cNvSpPr>
            <p:nvPr/>
          </p:nvSpPr>
          <p:spPr bwMode="auto">
            <a:xfrm>
              <a:off x="524510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7" name="Oval 177"/>
            <p:cNvSpPr>
              <a:spLocks noChangeAspect="1" noChangeArrowheads="1"/>
            </p:cNvSpPr>
            <p:nvPr/>
          </p:nvSpPr>
          <p:spPr bwMode="auto">
            <a:xfrm>
              <a:off x="5737225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78" name="Groupe 77"/>
          <p:cNvGrpSpPr>
            <a:grpSpLocks noChangeAspect="1"/>
          </p:cNvGrpSpPr>
          <p:nvPr/>
        </p:nvGrpSpPr>
        <p:grpSpPr>
          <a:xfrm>
            <a:off x="1863891" y="1236085"/>
            <a:ext cx="981456" cy="563880"/>
            <a:chOff x="4038600" y="1474788"/>
            <a:chExt cx="2044700" cy="1174750"/>
          </a:xfrm>
        </p:grpSpPr>
        <p:sp>
          <p:nvSpPr>
            <p:cNvPr id="79" name="Oval 152"/>
            <p:cNvSpPr>
              <a:spLocks noChangeAspect="1" noChangeArrowheads="1"/>
            </p:cNvSpPr>
            <p:nvPr/>
          </p:nvSpPr>
          <p:spPr bwMode="auto">
            <a:xfrm>
              <a:off x="4083050" y="19653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0" name="Oval 153"/>
            <p:cNvSpPr>
              <a:spLocks noChangeAspect="1" noChangeArrowheads="1"/>
            </p:cNvSpPr>
            <p:nvPr/>
          </p:nvSpPr>
          <p:spPr bwMode="auto">
            <a:xfrm>
              <a:off x="4479925" y="19558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" name="Oval 154"/>
            <p:cNvSpPr>
              <a:spLocks noChangeAspect="1" noChangeArrowheads="1"/>
            </p:cNvSpPr>
            <p:nvPr/>
          </p:nvSpPr>
          <p:spPr bwMode="auto">
            <a:xfrm>
              <a:off x="4748213" y="20193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" name="Oval 155"/>
            <p:cNvSpPr>
              <a:spLocks noChangeAspect="1" noChangeArrowheads="1"/>
            </p:cNvSpPr>
            <p:nvPr/>
          </p:nvSpPr>
          <p:spPr bwMode="auto">
            <a:xfrm>
              <a:off x="5092700" y="209867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3" name="Oval 156"/>
            <p:cNvSpPr>
              <a:spLocks noChangeAspect="1" noChangeArrowheads="1"/>
            </p:cNvSpPr>
            <p:nvPr/>
          </p:nvSpPr>
          <p:spPr bwMode="auto">
            <a:xfrm>
              <a:off x="5362575" y="20034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4" name="Oval 157"/>
            <p:cNvSpPr>
              <a:spLocks noChangeAspect="1" noChangeArrowheads="1"/>
            </p:cNvSpPr>
            <p:nvPr/>
          </p:nvSpPr>
          <p:spPr bwMode="auto">
            <a:xfrm>
              <a:off x="4159250" y="22225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5" name="Oval 158"/>
            <p:cNvSpPr>
              <a:spLocks noChangeAspect="1" noChangeArrowheads="1"/>
            </p:cNvSpPr>
            <p:nvPr/>
          </p:nvSpPr>
          <p:spPr bwMode="auto">
            <a:xfrm>
              <a:off x="4446588" y="22066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" name="Oval 159"/>
            <p:cNvSpPr>
              <a:spLocks noChangeAspect="1" noChangeArrowheads="1"/>
            </p:cNvSpPr>
            <p:nvPr/>
          </p:nvSpPr>
          <p:spPr bwMode="auto">
            <a:xfrm>
              <a:off x="4876800" y="22304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7" name="Oval 160"/>
            <p:cNvSpPr>
              <a:spLocks noChangeAspect="1" noChangeArrowheads="1"/>
            </p:cNvSpPr>
            <p:nvPr/>
          </p:nvSpPr>
          <p:spPr bwMode="auto">
            <a:xfrm>
              <a:off x="5508625" y="22304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8" name="Oval 161"/>
            <p:cNvSpPr>
              <a:spLocks noChangeAspect="1" noChangeArrowheads="1"/>
            </p:cNvSpPr>
            <p:nvPr/>
          </p:nvSpPr>
          <p:spPr bwMode="auto">
            <a:xfrm>
              <a:off x="5889625" y="21399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9" name="Oval 162"/>
            <p:cNvSpPr>
              <a:spLocks noChangeAspect="1" noChangeArrowheads="1"/>
            </p:cNvSpPr>
            <p:nvPr/>
          </p:nvSpPr>
          <p:spPr bwMode="auto">
            <a:xfrm>
              <a:off x="4646613" y="1795463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0" name="Oval 163"/>
            <p:cNvSpPr>
              <a:spLocks noChangeAspect="1" noChangeArrowheads="1"/>
            </p:cNvSpPr>
            <p:nvPr/>
          </p:nvSpPr>
          <p:spPr bwMode="auto">
            <a:xfrm>
              <a:off x="4953000" y="1804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1" name="Oval 164"/>
            <p:cNvSpPr>
              <a:spLocks noChangeAspect="1" noChangeArrowheads="1"/>
            </p:cNvSpPr>
            <p:nvPr/>
          </p:nvSpPr>
          <p:spPr bwMode="auto">
            <a:xfrm>
              <a:off x="5362575" y="17795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" name="Oval 165"/>
            <p:cNvSpPr>
              <a:spLocks noChangeAspect="1" noChangeArrowheads="1"/>
            </p:cNvSpPr>
            <p:nvPr/>
          </p:nvSpPr>
          <p:spPr bwMode="auto">
            <a:xfrm>
              <a:off x="5562600" y="18621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3" name="Oval 166"/>
            <p:cNvSpPr>
              <a:spLocks noChangeAspect="1" noChangeArrowheads="1"/>
            </p:cNvSpPr>
            <p:nvPr/>
          </p:nvSpPr>
          <p:spPr bwMode="auto">
            <a:xfrm>
              <a:off x="4038600" y="16065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4" name="Oval 167"/>
            <p:cNvSpPr>
              <a:spLocks noChangeAspect="1" noChangeArrowheads="1"/>
            </p:cNvSpPr>
            <p:nvPr/>
          </p:nvSpPr>
          <p:spPr bwMode="auto">
            <a:xfrm>
              <a:off x="4281488" y="14747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5" name="Oval 168"/>
            <p:cNvSpPr>
              <a:spLocks noChangeAspect="1" noChangeArrowheads="1"/>
            </p:cNvSpPr>
            <p:nvPr/>
          </p:nvSpPr>
          <p:spPr bwMode="auto">
            <a:xfrm>
              <a:off x="4489450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6" name="Oval 169"/>
            <p:cNvSpPr>
              <a:spLocks noChangeAspect="1" noChangeArrowheads="1"/>
            </p:cNvSpPr>
            <p:nvPr/>
          </p:nvSpPr>
          <p:spPr bwMode="auto">
            <a:xfrm>
              <a:off x="4748213" y="15128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7" name="Oval 170"/>
            <p:cNvSpPr>
              <a:spLocks noChangeAspect="1" noChangeArrowheads="1"/>
            </p:cNvSpPr>
            <p:nvPr/>
          </p:nvSpPr>
          <p:spPr bwMode="auto">
            <a:xfrm>
              <a:off x="5092700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8" name="Oval 171"/>
            <p:cNvSpPr>
              <a:spLocks noChangeAspect="1" noChangeArrowheads="1"/>
            </p:cNvSpPr>
            <p:nvPr/>
          </p:nvSpPr>
          <p:spPr bwMode="auto">
            <a:xfrm>
              <a:off x="5362575" y="15049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9" name="Oval 172"/>
            <p:cNvSpPr>
              <a:spLocks noChangeAspect="1" noChangeArrowheads="1"/>
            </p:cNvSpPr>
            <p:nvPr/>
          </p:nvSpPr>
          <p:spPr bwMode="auto">
            <a:xfrm>
              <a:off x="5561013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0" name="Oval 173"/>
            <p:cNvSpPr>
              <a:spLocks noChangeAspect="1" noChangeArrowheads="1"/>
            </p:cNvSpPr>
            <p:nvPr/>
          </p:nvSpPr>
          <p:spPr bwMode="auto">
            <a:xfrm>
              <a:off x="4248150" y="2455863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1" name="Oval 174"/>
            <p:cNvSpPr>
              <a:spLocks noChangeAspect="1" noChangeArrowheads="1"/>
            </p:cNvSpPr>
            <p:nvPr/>
          </p:nvSpPr>
          <p:spPr bwMode="auto">
            <a:xfrm>
              <a:off x="464185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" name="Oval 175"/>
            <p:cNvSpPr>
              <a:spLocks noChangeAspect="1" noChangeArrowheads="1"/>
            </p:cNvSpPr>
            <p:nvPr/>
          </p:nvSpPr>
          <p:spPr bwMode="auto">
            <a:xfrm>
              <a:off x="495300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3" name="Oval 176"/>
            <p:cNvSpPr>
              <a:spLocks noChangeAspect="1" noChangeArrowheads="1"/>
            </p:cNvSpPr>
            <p:nvPr/>
          </p:nvSpPr>
          <p:spPr bwMode="auto">
            <a:xfrm>
              <a:off x="524510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4" name="Oval 177"/>
            <p:cNvSpPr>
              <a:spLocks noChangeAspect="1" noChangeArrowheads="1"/>
            </p:cNvSpPr>
            <p:nvPr/>
          </p:nvSpPr>
          <p:spPr bwMode="auto">
            <a:xfrm>
              <a:off x="5737225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05" name="Groupe 104"/>
          <p:cNvGrpSpPr>
            <a:grpSpLocks noChangeAspect="1"/>
          </p:cNvGrpSpPr>
          <p:nvPr/>
        </p:nvGrpSpPr>
        <p:grpSpPr>
          <a:xfrm>
            <a:off x="2782353" y="1233442"/>
            <a:ext cx="981456" cy="563880"/>
            <a:chOff x="4038600" y="1474788"/>
            <a:chExt cx="2044700" cy="1174750"/>
          </a:xfrm>
        </p:grpSpPr>
        <p:sp>
          <p:nvSpPr>
            <p:cNvPr id="106" name="Oval 152"/>
            <p:cNvSpPr>
              <a:spLocks noChangeAspect="1" noChangeArrowheads="1"/>
            </p:cNvSpPr>
            <p:nvPr/>
          </p:nvSpPr>
          <p:spPr bwMode="auto">
            <a:xfrm>
              <a:off x="4083050" y="19653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7" name="Oval 153"/>
            <p:cNvSpPr>
              <a:spLocks noChangeAspect="1" noChangeArrowheads="1"/>
            </p:cNvSpPr>
            <p:nvPr/>
          </p:nvSpPr>
          <p:spPr bwMode="auto">
            <a:xfrm>
              <a:off x="4479925" y="19558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8" name="Oval 154"/>
            <p:cNvSpPr>
              <a:spLocks noChangeAspect="1" noChangeArrowheads="1"/>
            </p:cNvSpPr>
            <p:nvPr/>
          </p:nvSpPr>
          <p:spPr bwMode="auto">
            <a:xfrm>
              <a:off x="4748213" y="20193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9" name="Oval 155"/>
            <p:cNvSpPr>
              <a:spLocks noChangeAspect="1" noChangeArrowheads="1"/>
            </p:cNvSpPr>
            <p:nvPr/>
          </p:nvSpPr>
          <p:spPr bwMode="auto">
            <a:xfrm>
              <a:off x="5092700" y="209867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0" name="Oval 156"/>
            <p:cNvSpPr>
              <a:spLocks noChangeAspect="1" noChangeArrowheads="1"/>
            </p:cNvSpPr>
            <p:nvPr/>
          </p:nvSpPr>
          <p:spPr bwMode="auto">
            <a:xfrm>
              <a:off x="5362575" y="20034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1" name="Oval 157"/>
            <p:cNvSpPr>
              <a:spLocks noChangeAspect="1" noChangeArrowheads="1"/>
            </p:cNvSpPr>
            <p:nvPr/>
          </p:nvSpPr>
          <p:spPr bwMode="auto">
            <a:xfrm>
              <a:off x="4159250" y="22225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" name="Oval 158"/>
            <p:cNvSpPr>
              <a:spLocks noChangeAspect="1" noChangeArrowheads="1"/>
            </p:cNvSpPr>
            <p:nvPr/>
          </p:nvSpPr>
          <p:spPr bwMode="auto">
            <a:xfrm>
              <a:off x="4446588" y="22066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3" name="Oval 159"/>
            <p:cNvSpPr>
              <a:spLocks noChangeAspect="1" noChangeArrowheads="1"/>
            </p:cNvSpPr>
            <p:nvPr/>
          </p:nvSpPr>
          <p:spPr bwMode="auto">
            <a:xfrm>
              <a:off x="4876800" y="22304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4" name="Oval 160"/>
            <p:cNvSpPr>
              <a:spLocks noChangeAspect="1" noChangeArrowheads="1"/>
            </p:cNvSpPr>
            <p:nvPr/>
          </p:nvSpPr>
          <p:spPr bwMode="auto">
            <a:xfrm>
              <a:off x="5508625" y="22304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5" name="Oval 161"/>
            <p:cNvSpPr>
              <a:spLocks noChangeAspect="1" noChangeArrowheads="1"/>
            </p:cNvSpPr>
            <p:nvPr/>
          </p:nvSpPr>
          <p:spPr bwMode="auto">
            <a:xfrm>
              <a:off x="5889625" y="21399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6" name="Oval 162"/>
            <p:cNvSpPr>
              <a:spLocks noChangeAspect="1" noChangeArrowheads="1"/>
            </p:cNvSpPr>
            <p:nvPr/>
          </p:nvSpPr>
          <p:spPr bwMode="auto">
            <a:xfrm>
              <a:off x="4646613" y="1795463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7" name="Oval 163"/>
            <p:cNvSpPr>
              <a:spLocks noChangeAspect="1" noChangeArrowheads="1"/>
            </p:cNvSpPr>
            <p:nvPr/>
          </p:nvSpPr>
          <p:spPr bwMode="auto">
            <a:xfrm>
              <a:off x="4953000" y="1804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8" name="Oval 164"/>
            <p:cNvSpPr>
              <a:spLocks noChangeAspect="1" noChangeArrowheads="1"/>
            </p:cNvSpPr>
            <p:nvPr/>
          </p:nvSpPr>
          <p:spPr bwMode="auto">
            <a:xfrm>
              <a:off x="5362575" y="17795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9" name="Oval 165"/>
            <p:cNvSpPr>
              <a:spLocks noChangeAspect="1" noChangeArrowheads="1"/>
            </p:cNvSpPr>
            <p:nvPr/>
          </p:nvSpPr>
          <p:spPr bwMode="auto">
            <a:xfrm>
              <a:off x="5562600" y="18621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" name="Oval 166"/>
            <p:cNvSpPr>
              <a:spLocks noChangeAspect="1" noChangeArrowheads="1"/>
            </p:cNvSpPr>
            <p:nvPr/>
          </p:nvSpPr>
          <p:spPr bwMode="auto">
            <a:xfrm>
              <a:off x="4038600" y="16065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1" name="Oval 167"/>
            <p:cNvSpPr>
              <a:spLocks noChangeAspect="1" noChangeArrowheads="1"/>
            </p:cNvSpPr>
            <p:nvPr/>
          </p:nvSpPr>
          <p:spPr bwMode="auto">
            <a:xfrm>
              <a:off x="4281488" y="14747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" name="Oval 168"/>
            <p:cNvSpPr>
              <a:spLocks noChangeAspect="1" noChangeArrowheads="1"/>
            </p:cNvSpPr>
            <p:nvPr/>
          </p:nvSpPr>
          <p:spPr bwMode="auto">
            <a:xfrm>
              <a:off x="4489450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3" name="Oval 169"/>
            <p:cNvSpPr>
              <a:spLocks noChangeAspect="1" noChangeArrowheads="1"/>
            </p:cNvSpPr>
            <p:nvPr/>
          </p:nvSpPr>
          <p:spPr bwMode="auto">
            <a:xfrm>
              <a:off x="4748213" y="15128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4" name="Oval 170"/>
            <p:cNvSpPr>
              <a:spLocks noChangeAspect="1" noChangeArrowheads="1"/>
            </p:cNvSpPr>
            <p:nvPr/>
          </p:nvSpPr>
          <p:spPr bwMode="auto">
            <a:xfrm>
              <a:off x="5092700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5" name="Oval 171"/>
            <p:cNvSpPr>
              <a:spLocks noChangeAspect="1" noChangeArrowheads="1"/>
            </p:cNvSpPr>
            <p:nvPr/>
          </p:nvSpPr>
          <p:spPr bwMode="auto">
            <a:xfrm>
              <a:off x="5362575" y="15049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6" name="Oval 172"/>
            <p:cNvSpPr>
              <a:spLocks noChangeAspect="1" noChangeArrowheads="1"/>
            </p:cNvSpPr>
            <p:nvPr/>
          </p:nvSpPr>
          <p:spPr bwMode="auto">
            <a:xfrm>
              <a:off x="5561013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7" name="Oval 173"/>
            <p:cNvSpPr>
              <a:spLocks noChangeAspect="1" noChangeArrowheads="1"/>
            </p:cNvSpPr>
            <p:nvPr/>
          </p:nvSpPr>
          <p:spPr bwMode="auto">
            <a:xfrm>
              <a:off x="4248150" y="2455863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8" name="Oval 174"/>
            <p:cNvSpPr>
              <a:spLocks noChangeAspect="1" noChangeArrowheads="1"/>
            </p:cNvSpPr>
            <p:nvPr/>
          </p:nvSpPr>
          <p:spPr bwMode="auto">
            <a:xfrm>
              <a:off x="464185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9" name="Oval 175"/>
            <p:cNvSpPr>
              <a:spLocks noChangeAspect="1" noChangeArrowheads="1"/>
            </p:cNvSpPr>
            <p:nvPr/>
          </p:nvSpPr>
          <p:spPr bwMode="auto">
            <a:xfrm>
              <a:off x="495300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0" name="Oval 176"/>
            <p:cNvSpPr>
              <a:spLocks noChangeAspect="1" noChangeArrowheads="1"/>
            </p:cNvSpPr>
            <p:nvPr/>
          </p:nvSpPr>
          <p:spPr bwMode="auto">
            <a:xfrm>
              <a:off x="524510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1" name="Oval 177"/>
            <p:cNvSpPr>
              <a:spLocks noChangeAspect="1" noChangeArrowheads="1"/>
            </p:cNvSpPr>
            <p:nvPr/>
          </p:nvSpPr>
          <p:spPr bwMode="auto">
            <a:xfrm>
              <a:off x="5737225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32" name="Groupe 131"/>
          <p:cNvGrpSpPr>
            <a:grpSpLocks noChangeAspect="1"/>
          </p:cNvGrpSpPr>
          <p:nvPr/>
        </p:nvGrpSpPr>
        <p:grpSpPr>
          <a:xfrm rot="21053078">
            <a:off x="2961941" y="1767900"/>
            <a:ext cx="981456" cy="563880"/>
            <a:chOff x="4038600" y="1474788"/>
            <a:chExt cx="2044700" cy="1174750"/>
          </a:xfrm>
        </p:grpSpPr>
        <p:sp>
          <p:nvSpPr>
            <p:cNvPr id="133" name="Oval 152"/>
            <p:cNvSpPr>
              <a:spLocks noChangeAspect="1" noChangeArrowheads="1"/>
            </p:cNvSpPr>
            <p:nvPr/>
          </p:nvSpPr>
          <p:spPr bwMode="auto">
            <a:xfrm>
              <a:off x="4083050" y="19653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4" name="Oval 153"/>
            <p:cNvSpPr>
              <a:spLocks noChangeAspect="1" noChangeArrowheads="1"/>
            </p:cNvSpPr>
            <p:nvPr/>
          </p:nvSpPr>
          <p:spPr bwMode="auto">
            <a:xfrm>
              <a:off x="4479925" y="19558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5" name="Oval 154"/>
            <p:cNvSpPr>
              <a:spLocks noChangeAspect="1" noChangeArrowheads="1"/>
            </p:cNvSpPr>
            <p:nvPr/>
          </p:nvSpPr>
          <p:spPr bwMode="auto">
            <a:xfrm>
              <a:off x="4748213" y="20193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6" name="Oval 155"/>
            <p:cNvSpPr>
              <a:spLocks noChangeAspect="1" noChangeArrowheads="1"/>
            </p:cNvSpPr>
            <p:nvPr/>
          </p:nvSpPr>
          <p:spPr bwMode="auto">
            <a:xfrm>
              <a:off x="5092700" y="209867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7" name="Oval 156"/>
            <p:cNvSpPr>
              <a:spLocks noChangeAspect="1" noChangeArrowheads="1"/>
            </p:cNvSpPr>
            <p:nvPr/>
          </p:nvSpPr>
          <p:spPr bwMode="auto">
            <a:xfrm>
              <a:off x="5362575" y="20034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8" name="Oval 157"/>
            <p:cNvSpPr>
              <a:spLocks noChangeAspect="1" noChangeArrowheads="1"/>
            </p:cNvSpPr>
            <p:nvPr/>
          </p:nvSpPr>
          <p:spPr bwMode="auto">
            <a:xfrm>
              <a:off x="4159250" y="22225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9" name="Oval 158"/>
            <p:cNvSpPr>
              <a:spLocks noChangeAspect="1" noChangeArrowheads="1"/>
            </p:cNvSpPr>
            <p:nvPr/>
          </p:nvSpPr>
          <p:spPr bwMode="auto">
            <a:xfrm>
              <a:off x="4446588" y="22066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0" name="Oval 159"/>
            <p:cNvSpPr>
              <a:spLocks noChangeAspect="1" noChangeArrowheads="1"/>
            </p:cNvSpPr>
            <p:nvPr/>
          </p:nvSpPr>
          <p:spPr bwMode="auto">
            <a:xfrm>
              <a:off x="4876800" y="22304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1" name="Oval 160"/>
            <p:cNvSpPr>
              <a:spLocks noChangeAspect="1" noChangeArrowheads="1"/>
            </p:cNvSpPr>
            <p:nvPr/>
          </p:nvSpPr>
          <p:spPr bwMode="auto">
            <a:xfrm>
              <a:off x="5508625" y="22304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2" name="Oval 161"/>
            <p:cNvSpPr>
              <a:spLocks noChangeAspect="1" noChangeArrowheads="1"/>
            </p:cNvSpPr>
            <p:nvPr/>
          </p:nvSpPr>
          <p:spPr bwMode="auto">
            <a:xfrm>
              <a:off x="5889625" y="21399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" name="Oval 162"/>
            <p:cNvSpPr>
              <a:spLocks noChangeAspect="1" noChangeArrowheads="1"/>
            </p:cNvSpPr>
            <p:nvPr/>
          </p:nvSpPr>
          <p:spPr bwMode="auto">
            <a:xfrm>
              <a:off x="4646613" y="1795463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" name="Oval 163"/>
            <p:cNvSpPr>
              <a:spLocks noChangeAspect="1" noChangeArrowheads="1"/>
            </p:cNvSpPr>
            <p:nvPr/>
          </p:nvSpPr>
          <p:spPr bwMode="auto">
            <a:xfrm>
              <a:off x="4953000" y="1804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5" name="Oval 164"/>
            <p:cNvSpPr>
              <a:spLocks noChangeAspect="1" noChangeArrowheads="1"/>
            </p:cNvSpPr>
            <p:nvPr/>
          </p:nvSpPr>
          <p:spPr bwMode="auto">
            <a:xfrm>
              <a:off x="5362575" y="17795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6" name="Oval 165"/>
            <p:cNvSpPr>
              <a:spLocks noChangeAspect="1" noChangeArrowheads="1"/>
            </p:cNvSpPr>
            <p:nvPr/>
          </p:nvSpPr>
          <p:spPr bwMode="auto">
            <a:xfrm>
              <a:off x="5562600" y="18621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7" name="Oval 166"/>
            <p:cNvSpPr>
              <a:spLocks noChangeAspect="1" noChangeArrowheads="1"/>
            </p:cNvSpPr>
            <p:nvPr/>
          </p:nvSpPr>
          <p:spPr bwMode="auto">
            <a:xfrm>
              <a:off x="4038600" y="16065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8" name="Oval 167"/>
            <p:cNvSpPr>
              <a:spLocks noChangeAspect="1" noChangeArrowheads="1"/>
            </p:cNvSpPr>
            <p:nvPr/>
          </p:nvSpPr>
          <p:spPr bwMode="auto">
            <a:xfrm>
              <a:off x="4281488" y="14747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9" name="Oval 168"/>
            <p:cNvSpPr>
              <a:spLocks noChangeAspect="1" noChangeArrowheads="1"/>
            </p:cNvSpPr>
            <p:nvPr/>
          </p:nvSpPr>
          <p:spPr bwMode="auto">
            <a:xfrm>
              <a:off x="4489450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0" name="Oval 169"/>
            <p:cNvSpPr>
              <a:spLocks noChangeAspect="1" noChangeArrowheads="1"/>
            </p:cNvSpPr>
            <p:nvPr/>
          </p:nvSpPr>
          <p:spPr bwMode="auto">
            <a:xfrm>
              <a:off x="4748213" y="15128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1" name="Oval 170"/>
            <p:cNvSpPr>
              <a:spLocks noChangeAspect="1" noChangeArrowheads="1"/>
            </p:cNvSpPr>
            <p:nvPr/>
          </p:nvSpPr>
          <p:spPr bwMode="auto">
            <a:xfrm>
              <a:off x="5092700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2" name="Oval 171"/>
            <p:cNvSpPr>
              <a:spLocks noChangeAspect="1" noChangeArrowheads="1"/>
            </p:cNvSpPr>
            <p:nvPr/>
          </p:nvSpPr>
          <p:spPr bwMode="auto">
            <a:xfrm>
              <a:off x="5362575" y="15049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" name="Oval 172"/>
            <p:cNvSpPr>
              <a:spLocks noChangeAspect="1" noChangeArrowheads="1"/>
            </p:cNvSpPr>
            <p:nvPr/>
          </p:nvSpPr>
          <p:spPr bwMode="auto">
            <a:xfrm>
              <a:off x="5561013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" name="Oval 173"/>
            <p:cNvSpPr>
              <a:spLocks noChangeAspect="1" noChangeArrowheads="1"/>
            </p:cNvSpPr>
            <p:nvPr/>
          </p:nvSpPr>
          <p:spPr bwMode="auto">
            <a:xfrm>
              <a:off x="4248150" y="2455863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5" name="Oval 174"/>
            <p:cNvSpPr>
              <a:spLocks noChangeAspect="1" noChangeArrowheads="1"/>
            </p:cNvSpPr>
            <p:nvPr/>
          </p:nvSpPr>
          <p:spPr bwMode="auto">
            <a:xfrm>
              <a:off x="464185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6" name="Oval 175"/>
            <p:cNvSpPr>
              <a:spLocks noChangeAspect="1" noChangeArrowheads="1"/>
            </p:cNvSpPr>
            <p:nvPr/>
          </p:nvSpPr>
          <p:spPr bwMode="auto">
            <a:xfrm>
              <a:off x="495300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7" name="Oval 176"/>
            <p:cNvSpPr>
              <a:spLocks noChangeAspect="1" noChangeArrowheads="1"/>
            </p:cNvSpPr>
            <p:nvPr/>
          </p:nvSpPr>
          <p:spPr bwMode="auto">
            <a:xfrm>
              <a:off x="524510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8" name="Oval 177"/>
            <p:cNvSpPr>
              <a:spLocks noChangeAspect="1" noChangeArrowheads="1"/>
            </p:cNvSpPr>
            <p:nvPr/>
          </p:nvSpPr>
          <p:spPr bwMode="auto">
            <a:xfrm>
              <a:off x="5737225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59" name="Groupe 158"/>
          <p:cNvGrpSpPr>
            <a:grpSpLocks noChangeAspect="1"/>
          </p:cNvGrpSpPr>
          <p:nvPr/>
        </p:nvGrpSpPr>
        <p:grpSpPr>
          <a:xfrm>
            <a:off x="3736148" y="1395118"/>
            <a:ext cx="981456" cy="563880"/>
            <a:chOff x="4038600" y="1474788"/>
            <a:chExt cx="2044700" cy="1174750"/>
          </a:xfrm>
        </p:grpSpPr>
        <p:sp>
          <p:nvSpPr>
            <p:cNvPr id="160" name="Oval 152"/>
            <p:cNvSpPr>
              <a:spLocks noChangeAspect="1" noChangeArrowheads="1"/>
            </p:cNvSpPr>
            <p:nvPr/>
          </p:nvSpPr>
          <p:spPr bwMode="auto">
            <a:xfrm>
              <a:off x="4083050" y="19653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1" name="Oval 153"/>
            <p:cNvSpPr>
              <a:spLocks noChangeAspect="1" noChangeArrowheads="1"/>
            </p:cNvSpPr>
            <p:nvPr/>
          </p:nvSpPr>
          <p:spPr bwMode="auto">
            <a:xfrm>
              <a:off x="4479925" y="19558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2" name="Oval 154"/>
            <p:cNvSpPr>
              <a:spLocks noChangeAspect="1" noChangeArrowheads="1"/>
            </p:cNvSpPr>
            <p:nvPr/>
          </p:nvSpPr>
          <p:spPr bwMode="auto">
            <a:xfrm>
              <a:off x="4748213" y="20193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" name="Oval 155"/>
            <p:cNvSpPr>
              <a:spLocks noChangeAspect="1" noChangeArrowheads="1"/>
            </p:cNvSpPr>
            <p:nvPr/>
          </p:nvSpPr>
          <p:spPr bwMode="auto">
            <a:xfrm>
              <a:off x="5092700" y="209867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4" name="Oval 156"/>
            <p:cNvSpPr>
              <a:spLocks noChangeAspect="1" noChangeArrowheads="1"/>
            </p:cNvSpPr>
            <p:nvPr/>
          </p:nvSpPr>
          <p:spPr bwMode="auto">
            <a:xfrm>
              <a:off x="5362575" y="20034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5" name="Oval 157"/>
            <p:cNvSpPr>
              <a:spLocks noChangeAspect="1" noChangeArrowheads="1"/>
            </p:cNvSpPr>
            <p:nvPr/>
          </p:nvSpPr>
          <p:spPr bwMode="auto">
            <a:xfrm>
              <a:off x="4159250" y="222250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6" name="Oval 158"/>
            <p:cNvSpPr>
              <a:spLocks noChangeAspect="1" noChangeArrowheads="1"/>
            </p:cNvSpPr>
            <p:nvPr/>
          </p:nvSpPr>
          <p:spPr bwMode="auto">
            <a:xfrm>
              <a:off x="4446588" y="2206625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7" name="Oval 159"/>
            <p:cNvSpPr>
              <a:spLocks noChangeAspect="1" noChangeArrowheads="1"/>
            </p:cNvSpPr>
            <p:nvPr/>
          </p:nvSpPr>
          <p:spPr bwMode="auto">
            <a:xfrm>
              <a:off x="4876800" y="22304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8" name="Oval 160"/>
            <p:cNvSpPr>
              <a:spLocks noChangeAspect="1" noChangeArrowheads="1"/>
            </p:cNvSpPr>
            <p:nvPr/>
          </p:nvSpPr>
          <p:spPr bwMode="auto">
            <a:xfrm>
              <a:off x="5508625" y="22304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9" name="Oval 161"/>
            <p:cNvSpPr>
              <a:spLocks noChangeAspect="1" noChangeArrowheads="1"/>
            </p:cNvSpPr>
            <p:nvPr/>
          </p:nvSpPr>
          <p:spPr bwMode="auto">
            <a:xfrm>
              <a:off x="5889625" y="21399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0" name="Oval 162"/>
            <p:cNvSpPr>
              <a:spLocks noChangeAspect="1" noChangeArrowheads="1"/>
            </p:cNvSpPr>
            <p:nvPr/>
          </p:nvSpPr>
          <p:spPr bwMode="auto">
            <a:xfrm>
              <a:off x="4646613" y="1795463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1" name="Oval 163"/>
            <p:cNvSpPr>
              <a:spLocks noChangeAspect="1" noChangeArrowheads="1"/>
            </p:cNvSpPr>
            <p:nvPr/>
          </p:nvSpPr>
          <p:spPr bwMode="auto">
            <a:xfrm>
              <a:off x="4953000" y="1804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2" name="Oval 164"/>
            <p:cNvSpPr>
              <a:spLocks noChangeAspect="1" noChangeArrowheads="1"/>
            </p:cNvSpPr>
            <p:nvPr/>
          </p:nvSpPr>
          <p:spPr bwMode="auto">
            <a:xfrm>
              <a:off x="5362575" y="17795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3" name="Oval 165"/>
            <p:cNvSpPr>
              <a:spLocks noChangeAspect="1" noChangeArrowheads="1"/>
            </p:cNvSpPr>
            <p:nvPr/>
          </p:nvSpPr>
          <p:spPr bwMode="auto">
            <a:xfrm>
              <a:off x="5562600" y="186213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" name="Oval 166"/>
            <p:cNvSpPr>
              <a:spLocks noChangeAspect="1" noChangeArrowheads="1"/>
            </p:cNvSpPr>
            <p:nvPr/>
          </p:nvSpPr>
          <p:spPr bwMode="auto">
            <a:xfrm>
              <a:off x="4038600" y="16065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5" name="Oval 167"/>
            <p:cNvSpPr>
              <a:spLocks noChangeAspect="1" noChangeArrowheads="1"/>
            </p:cNvSpPr>
            <p:nvPr/>
          </p:nvSpPr>
          <p:spPr bwMode="auto">
            <a:xfrm>
              <a:off x="4281488" y="14747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6" name="Oval 168"/>
            <p:cNvSpPr>
              <a:spLocks noChangeAspect="1" noChangeArrowheads="1"/>
            </p:cNvSpPr>
            <p:nvPr/>
          </p:nvSpPr>
          <p:spPr bwMode="auto">
            <a:xfrm>
              <a:off x="4489450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7" name="Oval 169"/>
            <p:cNvSpPr>
              <a:spLocks noChangeAspect="1" noChangeArrowheads="1"/>
            </p:cNvSpPr>
            <p:nvPr/>
          </p:nvSpPr>
          <p:spPr bwMode="auto">
            <a:xfrm>
              <a:off x="4748213" y="15128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8" name="Oval 170"/>
            <p:cNvSpPr>
              <a:spLocks noChangeAspect="1" noChangeArrowheads="1"/>
            </p:cNvSpPr>
            <p:nvPr/>
          </p:nvSpPr>
          <p:spPr bwMode="auto">
            <a:xfrm>
              <a:off x="5092700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9" name="Oval 171"/>
            <p:cNvSpPr>
              <a:spLocks noChangeAspect="1" noChangeArrowheads="1"/>
            </p:cNvSpPr>
            <p:nvPr/>
          </p:nvSpPr>
          <p:spPr bwMode="auto">
            <a:xfrm>
              <a:off x="5362575" y="15049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0" name="Oval 172"/>
            <p:cNvSpPr>
              <a:spLocks noChangeAspect="1" noChangeArrowheads="1"/>
            </p:cNvSpPr>
            <p:nvPr/>
          </p:nvSpPr>
          <p:spPr bwMode="auto">
            <a:xfrm>
              <a:off x="5561013" y="1568450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1" name="Oval 173"/>
            <p:cNvSpPr>
              <a:spLocks noChangeAspect="1" noChangeArrowheads="1"/>
            </p:cNvSpPr>
            <p:nvPr/>
          </p:nvSpPr>
          <p:spPr bwMode="auto">
            <a:xfrm>
              <a:off x="4248150" y="2455863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2" name="Oval 174"/>
            <p:cNvSpPr>
              <a:spLocks noChangeAspect="1" noChangeArrowheads="1"/>
            </p:cNvSpPr>
            <p:nvPr/>
          </p:nvSpPr>
          <p:spPr bwMode="auto">
            <a:xfrm>
              <a:off x="464185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3" name="Oval 175"/>
            <p:cNvSpPr>
              <a:spLocks noChangeAspect="1" noChangeArrowheads="1"/>
            </p:cNvSpPr>
            <p:nvPr/>
          </p:nvSpPr>
          <p:spPr bwMode="auto">
            <a:xfrm>
              <a:off x="495300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" name="Oval 176"/>
            <p:cNvSpPr>
              <a:spLocks noChangeAspect="1" noChangeArrowheads="1"/>
            </p:cNvSpPr>
            <p:nvPr/>
          </p:nvSpPr>
          <p:spPr bwMode="auto">
            <a:xfrm>
              <a:off x="5245100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5" name="Oval 177"/>
            <p:cNvSpPr>
              <a:spLocks noChangeAspect="1" noChangeArrowheads="1"/>
            </p:cNvSpPr>
            <p:nvPr/>
          </p:nvSpPr>
          <p:spPr bwMode="auto">
            <a:xfrm>
              <a:off x="5737225" y="2439988"/>
              <a:ext cx="193675" cy="19367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2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17171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6" name="Forme libre 185"/>
          <p:cNvSpPr/>
          <p:nvPr/>
        </p:nvSpPr>
        <p:spPr>
          <a:xfrm>
            <a:off x="907535" y="1952817"/>
            <a:ext cx="3783106" cy="490485"/>
          </a:xfrm>
          <a:custGeom>
            <a:avLst/>
            <a:gdLst>
              <a:gd name="connsiteX0" fmla="*/ 0 w 3783106"/>
              <a:gd name="connsiteY0" fmla="*/ 116541 h 490485"/>
              <a:gd name="connsiteX1" fmla="*/ 986117 w 3783106"/>
              <a:gd name="connsiteY1" fmla="*/ 277906 h 490485"/>
              <a:gd name="connsiteX2" fmla="*/ 1658470 w 3783106"/>
              <a:gd name="connsiteY2" fmla="*/ 475129 h 490485"/>
              <a:gd name="connsiteX3" fmla="*/ 2402541 w 3783106"/>
              <a:gd name="connsiteY3" fmla="*/ 457200 h 490485"/>
              <a:gd name="connsiteX4" fmla="*/ 3128682 w 3783106"/>
              <a:gd name="connsiteY4" fmla="*/ 295835 h 490485"/>
              <a:gd name="connsiteX5" fmla="*/ 3783106 w 3783106"/>
              <a:gd name="connsiteY5" fmla="*/ 0 h 49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83106" h="490485">
                <a:moveTo>
                  <a:pt x="0" y="116541"/>
                </a:moveTo>
                <a:cubicBezTo>
                  <a:pt x="354852" y="167341"/>
                  <a:pt x="709705" y="218141"/>
                  <a:pt x="986117" y="277906"/>
                </a:cubicBezTo>
                <a:cubicBezTo>
                  <a:pt x="1262529" y="337671"/>
                  <a:pt x="1422399" y="445247"/>
                  <a:pt x="1658470" y="475129"/>
                </a:cubicBezTo>
                <a:cubicBezTo>
                  <a:pt x="1894541" y="505011"/>
                  <a:pt x="2157506" y="487082"/>
                  <a:pt x="2402541" y="457200"/>
                </a:cubicBezTo>
                <a:cubicBezTo>
                  <a:pt x="2647576" y="427318"/>
                  <a:pt x="2898588" y="372035"/>
                  <a:pt x="3128682" y="295835"/>
                </a:cubicBezTo>
                <a:cubicBezTo>
                  <a:pt x="3358776" y="219635"/>
                  <a:pt x="3570941" y="109817"/>
                  <a:pt x="3783106" y="0"/>
                </a:cubicBezTo>
              </a:path>
            </a:pathLst>
          </a:cu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7" name="Forme libre 186"/>
          <p:cNvSpPr/>
          <p:nvPr/>
        </p:nvSpPr>
        <p:spPr>
          <a:xfrm>
            <a:off x="889605" y="2114182"/>
            <a:ext cx="950259" cy="555811"/>
          </a:xfrm>
          <a:custGeom>
            <a:avLst/>
            <a:gdLst>
              <a:gd name="connsiteX0" fmla="*/ 0 w 950259"/>
              <a:gd name="connsiteY0" fmla="*/ 0 h 555811"/>
              <a:gd name="connsiteX1" fmla="*/ 331694 w 950259"/>
              <a:gd name="connsiteY1" fmla="*/ 439270 h 555811"/>
              <a:gd name="connsiteX2" fmla="*/ 950259 w 950259"/>
              <a:gd name="connsiteY2" fmla="*/ 555811 h 555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259" h="555811">
                <a:moveTo>
                  <a:pt x="0" y="0"/>
                </a:moveTo>
                <a:cubicBezTo>
                  <a:pt x="86659" y="173317"/>
                  <a:pt x="173318" y="346635"/>
                  <a:pt x="331694" y="439270"/>
                </a:cubicBezTo>
                <a:cubicBezTo>
                  <a:pt x="490071" y="531905"/>
                  <a:pt x="720165" y="543858"/>
                  <a:pt x="950259" y="555811"/>
                </a:cubicBezTo>
              </a:path>
            </a:pathLst>
          </a:custGeom>
          <a:noFill/>
          <a:ln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8" name="Connecteur droit avec flèche 187"/>
          <p:cNvCxnSpPr/>
          <p:nvPr/>
        </p:nvCxnSpPr>
        <p:spPr>
          <a:xfrm>
            <a:off x="859898" y="3735765"/>
            <a:ext cx="1003993" cy="0"/>
          </a:xfrm>
          <a:prstGeom prst="straightConnector1">
            <a:avLst/>
          </a:prstGeom>
          <a:ln w="28575">
            <a:solidFill>
              <a:schemeClr val="tx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Forme libre 188"/>
          <p:cNvSpPr/>
          <p:nvPr/>
        </p:nvSpPr>
        <p:spPr>
          <a:xfrm>
            <a:off x="952358" y="4382252"/>
            <a:ext cx="537883" cy="322730"/>
          </a:xfrm>
          <a:custGeom>
            <a:avLst/>
            <a:gdLst>
              <a:gd name="connsiteX0" fmla="*/ 0 w 537883"/>
              <a:gd name="connsiteY0" fmla="*/ 322730 h 322730"/>
              <a:gd name="connsiteX1" fmla="*/ 537883 w 537883"/>
              <a:gd name="connsiteY1" fmla="*/ 0 h 322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7883" h="322730">
                <a:moveTo>
                  <a:pt x="0" y="322730"/>
                </a:moveTo>
                <a:lnTo>
                  <a:pt x="537883" y="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Forme libre 189"/>
          <p:cNvSpPr/>
          <p:nvPr/>
        </p:nvSpPr>
        <p:spPr>
          <a:xfrm>
            <a:off x="1947441" y="4758770"/>
            <a:ext cx="98273" cy="717176"/>
          </a:xfrm>
          <a:custGeom>
            <a:avLst/>
            <a:gdLst>
              <a:gd name="connsiteX0" fmla="*/ 0 w 98273"/>
              <a:gd name="connsiteY0" fmla="*/ 717176 h 717176"/>
              <a:gd name="connsiteX1" fmla="*/ 89647 w 98273"/>
              <a:gd name="connsiteY1" fmla="*/ 322729 h 717176"/>
              <a:gd name="connsiteX2" fmla="*/ 89647 w 98273"/>
              <a:gd name="connsiteY2" fmla="*/ 0 h 71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273" h="717176">
                <a:moveTo>
                  <a:pt x="0" y="717176"/>
                </a:moveTo>
                <a:cubicBezTo>
                  <a:pt x="37353" y="579717"/>
                  <a:pt x="74706" y="442258"/>
                  <a:pt x="89647" y="322729"/>
                </a:cubicBezTo>
                <a:cubicBezTo>
                  <a:pt x="104588" y="203200"/>
                  <a:pt x="97117" y="101600"/>
                  <a:pt x="89647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1" name="ZoneTexte 190"/>
          <p:cNvSpPr txBox="1"/>
          <p:nvPr/>
        </p:nvSpPr>
        <p:spPr>
          <a:xfrm>
            <a:off x="2241019" y="1389378"/>
            <a:ext cx="13276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rgbClr val="C00000"/>
                </a:solidFill>
              </a:rPr>
              <a:t>Liquide</a:t>
            </a:r>
            <a:endParaRPr lang="fr-FR" dirty="0">
              <a:solidFill>
                <a:srgbClr val="C00000"/>
              </a:solidFill>
            </a:endParaRPr>
          </a:p>
        </p:txBody>
      </p:sp>
      <p:cxnSp>
        <p:nvCxnSpPr>
          <p:cNvPr id="192" name="Connecteur droit avec flèche 191"/>
          <p:cNvCxnSpPr/>
          <p:nvPr/>
        </p:nvCxnSpPr>
        <p:spPr>
          <a:xfrm flipV="1">
            <a:off x="4851154" y="1530518"/>
            <a:ext cx="0" cy="396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ZoneTexte 193"/>
          <p:cNvSpPr txBox="1"/>
          <p:nvPr/>
        </p:nvSpPr>
        <p:spPr>
          <a:xfrm>
            <a:off x="0" y="616704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C00000"/>
                </a:solidFill>
              </a:rPr>
              <a:t>Quelle(s) phase(s) et dans quelles proportions pour T et compositions  données ? Forme des limites ? 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195" name="ZoneTexte 194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  <p:sp>
        <p:nvSpPr>
          <p:cNvPr id="196" name="ZoneTexte 195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Diagrammes binaires - Questions générales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032060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ZoneTexte 195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Diagrammes binaires - Lien entre diagrammes et courbes d’enthalpie libre</a:t>
            </a:r>
            <a:endParaRPr lang="fr-FR" sz="2800" dirty="0"/>
          </a:p>
        </p:txBody>
      </p:sp>
      <p:cxnSp>
        <p:nvCxnSpPr>
          <p:cNvPr id="197" name="Connecteur droit avec flèche 196"/>
          <p:cNvCxnSpPr/>
          <p:nvPr/>
        </p:nvCxnSpPr>
        <p:spPr>
          <a:xfrm flipV="1">
            <a:off x="1301617" y="1628800"/>
            <a:ext cx="0" cy="35283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avec flèche 197"/>
          <p:cNvCxnSpPr/>
          <p:nvPr/>
        </p:nvCxnSpPr>
        <p:spPr>
          <a:xfrm flipV="1">
            <a:off x="5478081" y="1628800"/>
            <a:ext cx="0" cy="35283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eur droit 198"/>
          <p:cNvCxnSpPr/>
          <p:nvPr/>
        </p:nvCxnSpPr>
        <p:spPr>
          <a:xfrm>
            <a:off x="1301617" y="5157192"/>
            <a:ext cx="41764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eur droit 199"/>
          <p:cNvCxnSpPr>
            <a:cxnSpLocks noChangeAspect="1"/>
          </p:cNvCxnSpPr>
          <p:nvPr/>
        </p:nvCxnSpPr>
        <p:spPr>
          <a:xfrm flipV="1">
            <a:off x="1321830" y="3775205"/>
            <a:ext cx="4186274" cy="5043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79" y="5215509"/>
            <a:ext cx="5760640" cy="1597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2" name="ZoneTexte 201"/>
          <p:cNvSpPr txBox="1"/>
          <p:nvPr/>
        </p:nvSpPr>
        <p:spPr>
          <a:xfrm>
            <a:off x="1502561" y="335699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tx2"/>
                </a:solidFill>
              </a:rPr>
              <a:t>G</a:t>
            </a:r>
            <a:r>
              <a:rPr lang="fr-FR" sz="2000" baseline="-25000" dirty="0" smtClean="0">
                <a:solidFill>
                  <a:schemeClr val="tx2"/>
                </a:solidFill>
                <a:sym typeface="Symbol"/>
              </a:rPr>
              <a:t></a:t>
            </a:r>
            <a:endParaRPr lang="fr-FR" sz="2000" baseline="-25000" dirty="0">
              <a:solidFill>
                <a:schemeClr val="tx2"/>
              </a:solidFill>
            </a:endParaRPr>
          </a:p>
        </p:txBody>
      </p:sp>
      <p:sp>
        <p:nvSpPr>
          <p:cNvPr id="203" name="Forme libre 202"/>
          <p:cNvSpPr/>
          <p:nvPr/>
        </p:nvSpPr>
        <p:spPr>
          <a:xfrm>
            <a:off x="1300603" y="2425718"/>
            <a:ext cx="4180115" cy="1723362"/>
          </a:xfrm>
          <a:custGeom>
            <a:avLst/>
            <a:gdLst>
              <a:gd name="connsiteX0" fmla="*/ 0 w 4180115"/>
              <a:gd name="connsiteY0" fmla="*/ 990600 h 1723362"/>
              <a:gd name="connsiteX1" fmla="*/ 1338943 w 4180115"/>
              <a:gd name="connsiteY1" fmla="*/ 1687285 h 1723362"/>
              <a:gd name="connsiteX2" fmla="*/ 4180115 w 4180115"/>
              <a:gd name="connsiteY2" fmla="*/ 0 h 172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80115" h="1723362">
                <a:moveTo>
                  <a:pt x="0" y="990600"/>
                </a:moveTo>
                <a:cubicBezTo>
                  <a:pt x="321128" y="1421492"/>
                  <a:pt x="642257" y="1852385"/>
                  <a:pt x="1338943" y="1687285"/>
                </a:cubicBezTo>
                <a:cubicBezTo>
                  <a:pt x="2035629" y="1522185"/>
                  <a:pt x="3107872" y="761092"/>
                  <a:pt x="418011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4" name="ZoneTexte 203"/>
          <p:cNvSpPr txBox="1"/>
          <p:nvPr/>
        </p:nvSpPr>
        <p:spPr>
          <a:xfrm>
            <a:off x="4685993" y="3212976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rgbClr val="FF6600"/>
                </a:solidFill>
              </a:rPr>
              <a:t>G</a:t>
            </a:r>
            <a:r>
              <a:rPr lang="fr-FR" sz="2000" baseline="-25000" dirty="0" smtClean="0">
                <a:solidFill>
                  <a:srgbClr val="FF6600"/>
                </a:solidFill>
                <a:sym typeface="Symbol"/>
              </a:rPr>
              <a:t></a:t>
            </a:r>
            <a:endParaRPr lang="fr-FR" sz="2000" baseline="-25000" dirty="0">
              <a:solidFill>
                <a:srgbClr val="FF6600"/>
              </a:solidFill>
            </a:endParaRPr>
          </a:p>
        </p:txBody>
      </p:sp>
      <p:sp>
        <p:nvSpPr>
          <p:cNvPr id="205" name="ZoneTexte 204"/>
          <p:cNvSpPr txBox="1"/>
          <p:nvPr/>
        </p:nvSpPr>
        <p:spPr>
          <a:xfrm>
            <a:off x="911554" y="1444714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G</a:t>
            </a:r>
            <a:endParaRPr lang="fr-FR" sz="20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ZoneTexte 205"/>
              <p:cNvSpPr txBox="1"/>
              <p:nvPr/>
            </p:nvSpPr>
            <p:spPr>
              <a:xfrm>
                <a:off x="107504" y="4077072"/>
                <a:ext cx="1266121" cy="383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 smtClean="0">
                              <a:latin typeface="Cambria Math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𝐴</m:t>
                              </m:r>
                            </m:sub>
                            <m:sup/>
                          </m:sSubSup>
                        </m:e>
                        <m:sup>
                          <m:r>
                            <a:rPr lang="fr-FR" i="1" smtClean="0">
                              <a:latin typeface="Cambria Math"/>
                              <a:ea typeface="Cambria Math"/>
                            </a:rPr>
                            <m:t>𝛼</m:t>
                          </m:r>
                        </m:sup>
                      </m:sSup>
                      <m:r>
                        <a:rPr lang="fr-FR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fr-FR" i="1">
                              <a:latin typeface="Cambria Math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𝐴</m:t>
                              </m:r>
                            </m:sub>
                            <m:sup/>
                          </m:sSubSup>
                        </m:e>
                        <m:sup>
                          <m:r>
                            <a:rPr lang="fr-FR" i="1" smtClean="0">
                              <a:latin typeface="Cambria Math"/>
                              <a:ea typeface="Cambria Math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6" name="ZoneTexte 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077072"/>
                <a:ext cx="1266121" cy="383310"/>
              </a:xfrm>
              <a:prstGeom prst="rect">
                <a:avLst/>
              </a:prstGeom>
              <a:blipFill rotWithShape="1"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ZoneTexte 206"/>
              <p:cNvSpPr txBox="1"/>
              <p:nvPr/>
            </p:nvSpPr>
            <p:spPr>
              <a:xfrm>
                <a:off x="5508104" y="3573016"/>
                <a:ext cx="1266121" cy="382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 smtClean="0">
                              <a:latin typeface="Cambria Math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/>
                                </a:rPr>
                                <m:t>𝐵</m:t>
                              </m:r>
                            </m:sub>
                            <m:sup/>
                          </m:sSubSup>
                        </m:e>
                        <m:sup>
                          <m:r>
                            <a:rPr lang="fr-FR" i="1" smtClean="0">
                              <a:latin typeface="Cambria Math"/>
                              <a:ea typeface="Cambria Math"/>
                            </a:rPr>
                            <m:t>𝛼</m:t>
                          </m:r>
                        </m:sup>
                      </m:sSup>
                      <m:r>
                        <a:rPr lang="fr-FR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fr-FR" i="1">
                              <a:latin typeface="Cambria Math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/>
                                </a:rPr>
                                <m:t>𝐵</m:t>
                              </m:r>
                            </m:sub>
                            <m:sup/>
                          </m:sSubSup>
                        </m:e>
                        <m:sup>
                          <m:r>
                            <a:rPr lang="fr-FR" i="1" smtClean="0">
                              <a:latin typeface="Cambria Math"/>
                              <a:ea typeface="Cambria Math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7" name="ZoneTexte 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3573016"/>
                <a:ext cx="1266121" cy="382605"/>
              </a:xfrm>
              <a:prstGeom prst="rect">
                <a:avLst/>
              </a:prstGeom>
              <a:blipFill rotWithShape="1">
                <a:blip r:embed="rId4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" name="Ellipse 207"/>
          <p:cNvSpPr/>
          <p:nvPr/>
        </p:nvSpPr>
        <p:spPr>
          <a:xfrm>
            <a:off x="2368676" y="4105536"/>
            <a:ext cx="45719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9" name="Ellipse 208"/>
          <p:cNvSpPr/>
          <p:nvPr/>
        </p:nvSpPr>
        <p:spPr>
          <a:xfrm>
            <a:off x="4430942" y="3871934"/>
            <a:ext cx="45719" cy="72008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0" name="Forme libre 209"/>
          <p:cNvSpPr/>
          <p:nvPr/>
        </p:nvSpPr>
        <p:spPr>
          <a:xfrm>
            <a:off x="1311489" y="3015343"/>
            <a:ext cx="4169229" cy="903794"/>
          </a:xfrm>
          <a:custGeom>
            <a:avLst/>
            <a:gdLst>
              <a:gd name="connsiteX0" fmla="*/ 4169229 w 4169229"/>
              <a:gd name="connsiteY0" fmla="*/ 76200 h 903794"/>
              <a:gd name="connsiteX1" fmla="*/ 2906486 w 4169229"/>
              <a:gd name="connsiteY1" fmla="*/ 903514 h 903794"/>
              <a:gd name="connsiteX2" fmla="*/ 0 w 4169229"/>
              <a:gd name="connsiteY2" fmla="*/ 0 h 90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69229" h="903794">
                <a:moveTo>
                  <a:pt x="4169229" y="76200"/>
                </a:moveTo>
                <a:cubicBezTo>
                  <a:pt x="3885293" y="496207"/>
                  <a:pt x="3601357" y="916214"/>
                  <a:pt x="2906486" y="903514"/>
                </a:cubicBezTo>
                <a:cubicBezTo>
                  <a:pt x="2211615" y="890814"/>
                  <a:pt x="1105807" y="445407"/>
                  <a:pt x="0" y="0"/>
                </a:cubicBezTo>
              </a:path>
            </a:pathLst>
          </a:cu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1" name="Connecteur droit 210"/>
          <p:cNvCxnSpPr/>
          <p:nvPr/>
        </p:nvCxnSpPr>
        <p:spPr>
          <a:xfrm>
            <a:off x="4453801" y="3971856"/>
            <a:ext cx="0" cy="1152000"/>
          </a:xfrm>
          <a:prstGeom prst="line">
            <a:avLst/>
          </a:prstGeom>
          <a:ln>
            <a:solidFill>
              <a:srgbClr val="FF66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eur droit 211"/>
          <p:cNvCxnSpPr/>
          <p:nvPr/>
        </p:nvCxnSpPr>
        <p:spPr>
          <a:xfrm>
            <a:off x="2385931" y="4167800"/>
            <a:ext cx="0" cy="972000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ZoneTexte 1"/>
          <p:cNvSpPr txBox="1"/>
          <p:nvPr/>
        </p:nvSpPr>
        <p:spPr>
          <a:xfrm>
            <a:off x="2627784" y="1628800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À T = </a:t>
            </a:r>
            <a:r>
              <a:rPr lang="fr-FR" dirty="0" err="1" smtClean="0"/>
              <a:t>cst</a:t>
            </a:r>
            <a:endParaRPr lang="fr-FR" dirty="0"/>
          </a:p>
        </p:txBody>
      </p:sp>
      <p:sp>
        <p:nvSpPr>
          <p:cNvPr id="213" name="ZoneTexte 212"/>
          <p:cNvSpPr txBox="1"/>
          <p:nvPr/>
        </p:nvSpPr>
        <p:spPr>
          <a:xfrm>
            <a:off x="6516216" y="5478323"/>
            <a:ext cx="2483768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FF0000"/>
                </a:solidFill>
              </a:rPr>
              <a:t>En faisant varier T</a:t>
            </a:r>
          </a:p>
          <a:p>
            <a:pPr marL="342900" indent="-342900">
              <a:buFont typeface="Symbol"/>
              <a:buChar char="Þ"/>
            </a:pPr>
            <a:r>
              <a:rPr lang="fr-FR" sz="2400" dirty="0" smtClean="0">
                <a:solidFill>
                  <a:srgbClr val="FF0000"/>
                </a:solidFill>
              </a:rPr>
              <a:t>Diagramme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53255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ZoneTexte 195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Règles de construction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863588" y="1681673"/>
            <a:ext cx="77048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à partir de la règle de la variance  V = C + n - </a:t>
            </a:r>
            <a:r>
              <a:rPr lang="fr-FR" dirty="0" smtClean="0">
                <a:sym typeface="Symbol"/>
              </a:rPr>
              <a:t></a:t>
            </a:r>
            <a:r>
              <a:rPr lang="fr-FR" dirty="0" smtClean="0"/>
              <a:t> </a:t>
            </a:r>
          </a:p>
          <a:p>
            <a:r>
              <a:rPr lang="fr-FR" dirty="0" smtClean="0"/>
              <a:t>V: variance = nb de paramètres que l’on peut faire varier indépendamment</a:t>
            </a:r>
          </a:p>
          <a:p>
            <a:r>
              <a:rPr lang="fr-FR" dirty="0" smtClean="0"/>
              <a:t>c: nb de constituants (1: corps pur, 2 alliage binaire)</a:t>
            </a:r>
          </a:p>
          <a:p>
            <a:r>
              <a:rPr lang="fr-FR" dirty="0" smtClean="0"/>
              <a:t>n: nb de paramètres thermodynamique = 1 car P= </a:t>
            </a:r>
            <a:r>
              <a:rPr lang="fr-FR" dirty="0" err="1" smtClean="0"/>
              <a:t>Cst</a:t>
            </a:r>
            <a:endParaRPr lang="fr-FR" dirty="0" smtClean="0"/>
          </a:p>
          <a:p>
            <a:r>
              <a:rPr lang="fr-FR" dirty="0" smtClean="0">
                <a:sym typeface="Symbol"/>
              </a:rPr>
              <a:t>: nb de phases en équilibre</a:t>
            </a:r>
            <a:endParaRPr lang="fr-FR" dirty="0" smtClean="0"/>
          </a:p>
          <a:p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93929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ZoneTexte 195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Diagrammes binaires - Lien entre diagrammes et courbes d’enthalpie libre</a:t>
            </a:r>
            <a:endParaRPr lang="fr-FR" sz="2800" dirty="0"/>
          </a:p>
        </p:txBody>
      </p:sp>
      <p:pic>
        <p:nvPicPr>
          <p:cNvPr id="22" name="Image 2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132856"/>
            <a:ext cx="6048712" cy="441045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/>
          <p:cNvSpPr txBox="1"/>
          <p:nvPr/>
        </p:nvSpPr>
        <p:spPr>
          <a:xfrm>
            <a:off x="2051720" y="1772816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 smtClean="0"/>
              <a:t>Diagramme à miscibilité totale</a:t>
            </a:r>
            <a:endParaRPr lang="fr-FR" i="1" dirty="0"/>
          </a:p>
        </p:txBody>
      </p:sp>
      <p:sp>
        <p:nvSpPr>
          <p:cNvPr id="6" name="ZoneTexte 5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69045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ZoneTexte 195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Diagrammes binaires – Solidification/Fusion d’un corps pur</a:t>
            </a:r>
            <a:endParaRPr lang="fr-FR" sz="2800" dirty="0"/>
          </a:p>
        </p:txBody>
      </p:sp>
      <p:pic>
        <p:nvPicPr>
          <p:cNvPr id="6" name="Imag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76872"/>
            <a:ext cx="5038303" cy="39861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/>
          <p:cNvSpPr txBox="1"/>
          <p:nvPr/>
        </p:nvSpPr>
        <p:spPr>
          <a:xfrm>
            <a:off x="5292079" y="1484784"/>
            <a:ext cx="34563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Règle de la variance:</a:t>
            </a:r>
          </a:p>
          <a:p>
            <a:r>
              <a:rPr lang="fr-FR" sz="2800" dirty="0" smtClean="0"/>
              <a:t>V = C+1-</a:t>
            </a:r>
            <a:r>
              <a:rPr lang="fr-FR" sz="2800" dirty="0" smtClean="0">
                <a:sym typeface="Symbol"/>
              </a:rPr>
              <a:t></a:t>
            </a:r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5292080" y="2348880"/>
            <a:ext cx="3744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V: nb de paramètres pouvant varier de façon indépendante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5292080" y="2996952"/>
            <a:ext cx="3744416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C</a:t>
            </a:r>
            <a:r>
              <a:rPr lang="fr-FR" dirty="0" smtClean="0"/>
              <a:t>: nb de constituants (corps pur = 1, binaire = 2, ternaire = 3)</a:t>
            </a:r>
          </a:p>
          <a:p>
            <a:r>
              <a:rPr lang="fr-FR" dirty="0" smtClean="0">
                <a:sym typeface="Symbol"/>
              </a:rPr>
              <a:t>: nb de phases en équilibre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611560" y="1884893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Courbe de refroidissement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21663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ZoneTexte 195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Diagrammes binaires – Règle des segments inverses</a:t>
            </a:r>
            <a:endParaRPr lang="fr-FR" sz="2800" dirty="0"/>
          </a:p>
        </p:txBody>
      </p:sp>
      <p:pic>
        <p:nvPicPr>
          <p:cNvPr id="10" name="Image 9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1" y="2388294"/>
            <a:ext cx="8748463" cy="41370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755576" y="1118569"/>
            <a:ext cx="6514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dirty="0" smtClean="0"/>
              <a:t>Conservation de la matière: </a:t>
            </a:r>
            <a:r>
              <a:rPr lang="fr-FR" i="1" dirty="0" err="1" smtClean="0"/>
              <a:t>X</a:t>
            </a:r>
            <a:r>
              <a:rPr lang="fr-FR" i="1" baseline="-25000" dirty="0" err="1" smtClean="0"/>
              <a:t>All</a:t>
            </a:r>
            <a:r>
              <a:rPr lang="fr-FR" i="1" dirty="0" smtClean="0"/>
              <a:t> </a:t>
            </a:r>
            <a:r>
              <a:rPr lang="fr-FR" i="1" dirty="0"/>
              <a:t>= f</a:t>
            </a:r>
            <a:r>
              <a:rPr lang="fr-FR" i="1" baseline="-25000" dirty="0"/>
              <a:t>1</a:t>
            </a:r>
            <a:r>
              <a:rPr lang="fr-FR" i="1" dirty="0"/>
              <a:t> X</a:t>
            </a:r>
            <a:r>
              <a:rPr lang="fr-FR" i="1" baseline="-25000" dirty="0"/>
              <a:t>1</a:t>
            </a:r>
            <a:r>
              <a:rPr lang="fr-FR" i="1" dirty="0"/>
              <a:t> + f</a:t>
            </a:r>
            <a:r>
              <a:rPr lang="fr-FR" i="1" baseline="-25000" dirty="0"/>
              <a:t>2</a:t>
            </a:r>
            <a:r>
              <a:rPr lang="fr-FR" i="1" dirty="0"/>
              <a:t> </a:t>
            </a:r>
            <a:r>
              <a:rPr lang="fr-FR" i="1" dirty="0" smtClean="0"/>
              <a:t>X</a:t>
            </a:r>
            <a:r>
              <a:rPr lang="fr-FR" i="1" baseline="-25000" dirty="0" smtClean="0"/>
              <a:t>2                             </a:t>
            </a:r>
            <a:r>
              <a:rPr lang="fr-FR" i="1" dirty="0" smtClean="0"/>
              <a:t>et f</a:t>
            </a:r>
            <a:r>
              <a:rPr lang="fr-FR" i="1" baseline="-25000" dirty="0" smtClean="0"/>
              <a:t>1</a:t>
            </a:r>
            <a:r>
              <a:rPr lang="fr-FR" i="1" dirty="0" smtClean="0"/>
              <a:t> </a:t>
            </a:r>
            <a:r>
              <a:rPr lang="fr-FR" i="1" dirty="0"/>
              <a:t>+ f</a:t>
            </a:r>
            <a:r>
              <a:rPr lang="fr-FR" i="1" baseline="-25000" dirty="0"/>
              <a:t>2</a:t>
            </a:r>
            <a:r>
              <a:rPr lang="fr-FR" i="1" dirty="0"/>
              <a:t> </a:t>
            </a:r>
            <a:r>
              <a:rPr lang="fr-FR" i="1" dirty="0" smtClean="0"/>
              <a:t>= 1 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547664" y="1729569"/>
                <a:ext cx="1718547" cy="656205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fr-FR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𝐴𝑙𝑙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1729569"/>
                <a:ext cx="1718547" cy="6562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004048" y="1729568"/>
                <a:ext cx="1718547" cy="656205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fr-F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fr-FR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𝐴𝑙𝑙</m:t>
                              </m:r>
                            </m:sub>
                          </m:sSub>
                          <m:r>
                            <a:rPr lang="fr-FR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1729568"/>
                <a:ext cx="1718547" cy="6562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823603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ZoneTexte 195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Diagrammes binaires - Lien entre diagrammes et courbes d’enthalpie libre</a:t>
            </a:r>
            <a:endParaRPr lang="fr-FR" sz="2800" dirty="0"/>
          </a:p>
        </p:txBody>
      </p:sp>
      <p:sp>
        <p:nvSpPr>
          <p:cNvPr id="3" name="ZoneTexte 2"/>
          <p:cNvSpPr txBox="1"/>
          <p:nvPr/>
        </p:nvSpPr>
        <p:spPr>
          <a:xfrm>
            <a:off x="2051720" y="1772816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 smtClean="0"/>
              <a:t>Diagramme à miscibilité totale</a:t>
            </a:r>
            <a:endParaRPr lang="fr-FR" i="1" dirty="0"/>
          </a:p>
        </p:txBody>
      </p:sp>
      <p:pic>
        <p:nvPicPr>
          <p:cNvPr id="6" name="Imag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2148896"/>
            <a:ext cx="6912767" cy="459247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ZoneTexte 6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582754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ZoneTexte 195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Diagrammes binaires - Lien entre diagrammes et courbes d’enthalpie libre</a:t>
            </a:r>
            <a:endParaRPr lang="fr-FR" sz="2800" dirty="0"/>
          </a:p>
        </p:txBody>
      </p:sp>
      <p:sp>
        <p:nvSpPr>
          <p:cNvPr id="3" name="ZoneTexte 2"/>
          <p:cNvSpPr txBox="1"/>
          <p:nvPr/>
        </p:nvSpPr>
        <p:spPr>
          <a:xfrm>
            <a:off x="2051720" y="1772816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 smtClean="0"/>
              <a:t>Diagramme eutectique</a:t>
            </a:r>
            <a:endParaRPr lang="fr-FR" i="1" dirty="0"/>
          </a:p>
        </p:txBody>
      </p:sp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2">
            <a:lum brigh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237" y="2126659"/>
            <a:ext cx="7004050" cy="4570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51809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ZoneTexte 195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Diagrammes binaires - Lien entre diagrammes et courbes d’enthalpie libre</a:t>
            </a:r>
            <a:endParaRPr lang="fr-FR" sz="2800" dirty="0"/>
          </a:p>
        </p:txBody>
      </p:sp>
      <p:sp>
        <p:nvSpPr>
          <p:cNvPr id="3" name="ZoneTexte 2"/>
          <p:cNvSpPr txBox="1"/>
          <p:nvPr/>
        </p:nvSpPr>
        <p:spPr>
          <a:xfrm>
            <a:off x="2051720" y="1403484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 smtClean="0"/>
              <a:t>Diagramme eutectique</a:t>
            </a:r>
            <a:endParaRPr lang="fr-FR" i="1" dirty="0"/>
          </a:p>
        </p:txBody>
      </p:sp>
      <p:pic>
        <p:nvPicPr>
          <p:cNvPr id="7" name="Imag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72816"/>
            <a:ext cx="6408752" cy="496366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231108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ZoneTexte 195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Diagrammes binaires - </a:t>
            </a:r>
            <a:r>
              <a:rPr lang="fr-FR" sz="2800" dirty="0" err="1" smtClean="0"/>
              <a:t>Tammann</a:t>
            </a:r>
            <a:endParaRPr lang="fr-FR" sz="2800" dirty="0"/>
          </a:p>
        </p:txBody>
      </p:sp>
      <p:pic>
        <p:nvPicPr>
          <p:cNvPr id="12" name="Image 1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29453"/>
            <a:ext cx="7488832" cy="48300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ZoneTexte 4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8581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ZoneTexte 195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Diagrammes binaires - microstructure</a:t>
            </a:r>
            <a:endParaRPr lang="fr-FR" sz="2800" dirty="0"/>
          </a:p>
        </p:txBody>
      </p:sp>
      <p:sp>
        <p:nvSpPr>
          <p:cNvPr id="7" name="Rectangle 6"/>
          <p:cNvSpPr/>
          <p:nvPr/>
        </p:nvSpPr>
        <p:spPr>
          <a:xfrm>
            <a:off x="6686617" y="3342703"/>
            <a:ext cx="517021" cy="123582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accent1"/>
                </a:solidFill>
                <a:latin typeface="Symbol" pitchFamily="18" charset="2"/>
              </a:rPr>
              <a:t>a</a:t>
            </a:r>
            <a:endParaRPr lang="fr-FR" dirty="0">
              <a:solidFill>
                <a:schemeClr val="accent1"/>
              </a:solidFill>
              <a:latin typeface="Symbol" pitchFamily="18" charset="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64983" y="2011403"/>
            <a:ext cx="517021" cy="133653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latin typeface="Symbol" pitchFamily="18" charset="2"/>
              </a:rPr>
              <a:t>b</a:t>
            </a:r>
            <a:endParaRPr lang="fr-FR" dirty="0">
              <a:latin typeface="Symbol" pitchFamily="18" charset="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24213" y="2011403"/>
            <a:ext cx="517021" cy="133653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latin typeface="Symbol" pitchFamily="18" charset="2"/>
              </a:rPr>
              <a:t>b</a:t>
            </a:r>
            <a:endParaRPr lang="fr-FR" dirty="0">
              <a:latin typeface="Symbol" pitchFamily="18" charset="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48946" y="3335213"/>
            <a:ext cx="517021" cy="12358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latin typeface="Symbol" pitchFamily="18" charset="2"/>
              </a:rPr>
              <a:t>a</a:t>
            </a:r>
            <a:endParaRPr lang="fr-FR" dirty="0">
              <a:latin typeface="Symbol" pitchFamily="18" charset="2"/>
            </a:endParaRPr>
          </a:p>
        </p:txBody>
      </p:sp>
      <p:pic>
        <p:nvPicPr>
          <p:cNvPr id="11" name="Picture 20"/>
          <p:cNvPicPr>
            <a:picLocks noChangeAspect="1" noChangeArrowheads="1"/>
          </p:cNvPicPr>
          <p:nvPr/>
        </p:nvPicPr>
        <p:blipFill>
          <a:blip r:embed="rId2">
            <a:lum brigh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818" y="5219105"/>
            <a:ext cx="1439862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2" name="ZoneTexte 11"/>
          <p:cNvSpPr txBox="1"/>
          <p:nvPr/>
        </p:nvSpPr>
        <p:spPr>
          <a:xfrm>
            <a:off x="5248536" y="5569081"/>
            <a:ext cx="8640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>
                <a:solidFill>
                  <a:schemeClr val="bg1"/>
                </a:solidFill>
              </a:rPr>
              <a:t>Rejet de B</a:t>
            </a:r>
            <a:endParaRPr lang="fr-FR" sz="1100" dirty="0">
              <a:solidFill>
                <a:schemeClr val="bg1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5868144" y="5518845"/>
            <a:ext cx="8640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Rejet de A</a:t>
            </a:r>
            <a:endParaRPr lang="fr-FR" sz="1100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331439" y="1203648"/>
            <a:ext cx="4670425" cy="3792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Connecteur droit 15"/>
          <p:cNvCxnSpPr/>
          <p:nvPr/>
        </p:nvCxnSpPr>
        <p:spPr>
          <a:xfrm>
            <a:off x="4133260" y="1712485"/>
            <a:ext cx="0" cy="32403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4133260" y="1712485"/>
            <a:ext cx="3823116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/>
        </p:nvCxnSpPr>
        <p:spPr>
          <a:xfrm>
            <a:off x="4139952" y="4952845"/>
            <a:ext cx="381642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4133260" y="2011403"/>
            <a:ext cx="3679100" cy="0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>
            <a:off x="4144142" y="4571033"/>
            <a:ext cx="3679100" cy="0"/>
          </a:xfrm>
          <a:prstGeom prst="line">
            <a:avLst/>
          </a:prstGeom>
          <a:ln w="190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4133260" y="3332665"/>
            <a:ext cx="36791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6588224" y="4931073"/>
            <a:ext cx="2555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Position x dans le liquide</a:t>
            </a:r>
            <a:endParaRPr lang="fr-FR" dirty="0"/>
          </a:p>
        </p:txBody>
      </p:sp>
      <p:grpSp>
        <p:nvGrpSpPr>
          <p:cNvPr id="23" name="Groupe 22"/>
          <p:cNvGrpSpPr/>
          <p:nvPr/>
        </p:nvGrpSpPr>
        <p:grpSpPr>
          <a:xfrm>
            <a:off x="4125686" y="3249677"/>
            <a:ext cx="1548000" cy="176920"/>
            <a:chOff x="4125686" y="2971740"/>
            <a:chExt cx="2459228" cy="162594"/>
          </a:xfrm>
        </p:grpSpPr>
        <p:sp>
          <p:nvSpPr>
            <p:cNvPr id="24" name="Forme libre 23"/>
            <p:cNvSpPr/>
            <p:nvPr/>
          </p:nvSpPr>
          <p:spPr>
            <a:xfrm>
              <a:off x="4125686" y="2971740"/>
              <a:ext cx="838200" cy="87146"/>
            </a:xfrm>
            <a:custGeom>
              <a:avLst/>
              <a:gdLst>
                <a:gd name="connsiteX0" fmla="*/ 0 w 838200"/>
                <a:gd name="connsiteY0" fmla="*/ 76260 h 87146"/>
                <a:gd name="connsiteX1" fmla="*/ 402771 w 838200"/>
                <a:gd name="connsiteY1" fmla="*/ 60 h 87146"/>
                <a:gd name="connsiteX2" fmla="*/ 838200 w 838200"/>
                <a:gd name="connsiteY2" fmla="*/ 87146 h 8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8200" h="87146">
                  <a:moveTo>
                    <a:pt x="0" y="76260"/>
                  </a:moveTo>
                  <a:cubicBezTo>
                    <a:pt x="131535" y="37253"/>
                    <a:pt x="263071" y="-1754"/>
                    <a:pt x="402771" y="60"/>
                  </a:cubicBezTo>
                  <a:cubicBezTo>
                    <a:pt x="542471" y="1874"/>
                    <a:pt x="690335" y="44510"/>
                    <a:pt x="838200" y="87146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Forme libre 24"/>
            <p:cNvSpPr/>
            <p:nvPr/>
          </p:nvSpPr>
          <p:spPr>
            <a:xfrm flipV="1">
              <a:off x="4947050" y="3047188"/>
              <a:ext cx="838200" cy="87146"/>
            </a:xfrm>
            <a:custGeom>
              <a:avLst/>
              <a:gdLst>
                <a:gd name="connsiteX0" fmla="*/ 0 w 838200"/>
                <a:gd name="connsiteY0" fmla="*/ 76260 h 87146"/>
                <a:gd name="connsiteX1" fmla="*/ 402771 w 838200"/>
                <a:gd name="connsiteY1" fmla="*/ 60 h 87146"/>
                <a:gd name="connsiteX2" fmla="*/ 838200 w 838200"/>
                <a:gd name="connsiteY2" fmla="*/ 87146 h 8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8200" h="87146">
                  <a:moveTo>
                    <a:pt x="0" y="76260"/>
                  </a:moveTo>
                  <a:cubicBezTo>
                    <a:pt x="131535" y="37253"/>
                    <a:pt x="263071" y="-1754"/>
                    <a:pt x="402771" y="60"/>
                  </a:cubicBezTo>
                  <a:cubicBezTo>
                    <a:pt x="542471" y="1874"/>
                    <a:pt x="690335" y="44510"/>
                    <a:pt x="838200" y="87146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Forme libre 25"/>
            <p:cNvSpPr/>
            <p:nvPr/>
          </p:nvSpPr>
          <p:spPr>
            <a:xfrm>
              <a:off x="5746714" y="2986066"/>
              <a:ext cx="838200" cy="87146"/>
            </a:xfrm>
            <a:custGeom>
              <a:avLst/>
              <a:gdLst>
                <a:gd name="connsiteX0" fmla="*/ 0 w 838200"/>
                <a:gd name="connsiteY0" fmla="*/ 76260 h 87146"/>
                <a:gd name="connsiteX1" fmla="*/ 402771 w 838200"/>
                <a:gd name="connsiteY1" fmla="*/ 60 h 87146"/>
                <a:gd name="connsiteX2" fmla="*/ 838200 w 838200"/>
                <a:gd name="connsiteY2" fmla="*/ 87146 h 8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8200" h="87146">
                  <a:moveTo>
                    <a:pt x="0" y="76260"/>
                  </a:moveTo>
                  <a:cubicBezTo>
                    <a:pt x="131535" y="37253"/>
                    <a:pt x="263071" y="-1754"/>
                    <a:pt x="402771" y="60"/>
                  </a:cubicBezTo>
                  <a:cubicBezTo>
                    <a:pt x="542471" y="1874"/>
                    <a:pt x="690335" y="44510"/>
                    <a:pt x="838200" y="87146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7" name="Groupe 26"/>
          <p:cNvGrpSpPr/>
          <p:nvPr/>
        </p:nvGrpSpPr>
        <p:grpSpPr>
          <a:xfrm flipV="1">
            <a:off x="5648946" y="3253117"/>
            <a:ext cx="1548000" cy="176920"/>
            <a:chOff x="4125686" y="2971740"/>
            <a:chExt cx="2459228" cy="162594"/>
          </a:xfrm>
        </p:grpSpPr>
        <p:sp>
          <p:nvSpPr>
            <p:cNvPr id="28" name="Forme libre 27"/>
            <p:cNvSpPr/>
            <p:nvPr/>
          </p:nvSpPr>
          <p:spPr>
            <a:xfrm>
              <a:off x="4125686" y="2971740"/>
              <a:ext cx="838200" cy="87146"/>
            </a:xfrm>
            <a:custGeom>
              <a:avLst/>
              <a:gdLst>
                <a:gd name="connsiteX0" fmla="*/ 0 w 838200"/>
                <a:gd name="connsiteY0" fmla="*/ 76260 h 87146"/>
                <a:gd name="connsiteX1" fmla="*/ 402771 w 838200"/>
                <a:gd name="connsiteY1" fmla="*/ 60 h 87146"/>
                <a:gd name="connsiteX2" fmla="*/ 838200 w 838200"/>
                <a:gd name="connsiteY2" fmla="*/ 87146 h 8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8200" h="87146">
                  <a:moveTo>
                    <a:pt x="0" y="76260"/>
                  </a:moveTo>
                  <a:cubicBezTo>
                    <a:pt x="131535" y="37253"/>
                    <a:pt x="263071" y="-1754"/>
                    <a:pt x="402771" y="60"/>
                  </a:cubicBezTo>
                  <a:cubicBezTo>
                    <a:pt x="542471" y="1874"/>
                    <a:pt x="690335" y="44510"/>
                    <a:pt x="838200" y="87146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Forme libre 28"/>
            <p:cNvSpPr/>
            <p:nvPr/>
          </p:nvSpPr>
          <p:spPr>
            <a:xfrm flipV="1">
              <a:off x="4947050" y="3047188"/>
              <a:ext cx="838200" cy="87146"/>
            </a:xfrm>
            <a:custGeom>
              <a:avLst/>
              <a:gdLst>
                <a:gd name="connsiteX0" fmla="*/ 0 w 838200"/>
                <a:gd name="connsiteY0" fmla="*/ 76260 h 87146"/>
                <a:gd name="connsiteX1" fmla="*/ 402771 w 838200"/>
                <a:gd name="connsiteY1" fmla="*/ 60 h 87146"/>
                <a:gd name="connsiteX2" fmla="*/ 838200 w 838200"/>
                <a:gd name="connsiteY2" fmla="*/ 87146 h 8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8200" h="87146">
                  <a:moveTo>
                    <a:pt x="0" y="76260"/>
                  </a:moveTo>
                  <a:cubicBezTo>
                    <a:pt x="131535" y="37253"/>
                    <a:pt x="263071" y="-1754"/>
                    <a:pt x="402771" y="60"/>
                  </a:cubicBezTo>
                  <a:cubicBezTo>
                    <a:pt x="542471" y="1874"/>
                    <a:pt x="690335" y="44510"/>
                    <a:pt x="838200" y="87146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Forme libre 29"/>
            <p:cNvSpPr/>
            <p:nvPr/>
          </p:nvSpPr>
          <p:spPr>
            <a:xfrm>
              <a:off x="5746714" y="2986066"/>
              <a:ext cx="838200" cy="87146"/>
            </a:xfrm>
            <a:custGeom>
              <a:avLst/>
              <a:gdLst>
                <a:gd name="connsiteX0" fmla="*/ 0 w 838200"/>
                <a:gd name="connsiteY0" fmla="*/ 76260 h 87146"/>
                <a:gd name="connsiteX1" fmla="*/ 402771 w 838200"/>
                <a:gd name="connsiteY1" fmla="*/ 60 h 87146"/>
                <a:gd name="connsiteX2" fmla="*/ 838200 w 838200"/>
                <a:gd name="connsiteY2" fmla="*/ 87146 h 8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8200" h="87146">
                  <a:moveTo>
                    <a:pt x="0" y="76260"/>
                  </a:moveTo>
                  <a:cubicBezTo>
                    <a:pt x="131535" y="37253"/>
                    <a:pt x="263071" y="-1754"/>
                    <a:pt x="402771" y="60"/>
                  </a:cubicBezTo>
                  <a:cubicBezTo>
                    <a:pt x="542471" y="1874"/>
                    <a:pt x="690335" y="44510"/>
                    <a:pt x="838200" y="87146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1" name="Forme libre 30"/>
          <p:cNvSpPr/>
          <p:nvPr/>
        </p:nvSpPr>
        <p:spPr>
          <a:xfrm>
            <a:off x="7129840" y="3264003"/>
            <a:ext cx="527618" cy="94824"/>
          </a:xfrm>
          <a:custGeom>
            <a:avLst/>
            <a:gdLst>
              <a:gd name="connsiteX0" fmla="*/ 0 w 838200"/>
              <a:gd name="connsiteY0" fmla="*/ 76260 h 87146"/>
              <a:gd name="connsiteX1" fmla="*/ 402771 w 838200"/>
              <a:gd name="connsiteY1" fmla="*/ 60 h 87146"/>
              <a:gd name="connsiteX2" fmla="*/ 838200 w 838200"/>
              <a:gd name="connsiteY2" fmla="*/ 87146 h 8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8200" h="87146">
                <a:moveTo>
                  <a:pt x="0" y="76260"/>
                </a:moveTo>
                <a:cubicBezTo>
                  <a:pt x="131535" y="37253"/>
                  <a:pt x="263071" y="-1754"/>
                  <a:pt x="402771" y="60"/>
                </a:cubicBezTo>
                <a:cubicBezTo>
                  <a:pt x="542471" y="1874"/>
                  <a:pt x="690335" y="44510"/>
                  <a:pt x="838200" y="87146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2" name="Connecteur droit avec flèche 31"/>
          <p:cNvCxnSpPr/>
          <p:nvPr/>
        </p:nvCxnSpPr>
        <p:spPr>
          <a:xfrm flipH="1">
            <a:off x="7524328" y="2914849"/>
            <a:ext cx="576064" cy="3348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/>
          <p:cNvSpPr txBox="1"/>
          <p:nvPr/>
        </p:nvSpPr>
        <p:spPr>
          <a:xfrm>
            <a:off x="8064895" y="2410793"/>
            <a:ext cx="1331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Fluctuations autour de la composition moyenne</a:t>
            </a:r>
            <a:endParaRPr lang="fr-FR" sz="1400" dirty="0"/>
          </a:p>
        </p:txBody>
      </p:sp>
      <p:sp>
        <p:nvSpPr>
          <p:cNvPr id="34" name="Forme libre 33"/>
          <p:cNvSpPr/>
          <p:nvPr/>
        </p:nvSpPr>
        <p:spPr>
          <a:xfrm>
            <a:off x="6172200" y="4107140"/>
            <a:ext cx="206829" cy="413657"/>
          </a:xfrm>
          <a:custGeom>
            <a:avLst/>
            <a:gdLst>
              <a:gd name="connsiteX0" fmla="*/ 0 w 206829"/>
              <a:gd name="connsiteY0" fmla="*/ 413657 h 413657"/>
              <a:gd name="connsiteX1" fmla="*/ 141514 w 206829"/>
              <a:gd name="connsiteY1" fmla="*/ 250372 h 413657"/>
              <a:gd name="connsiteX2" fmla="*/ 206829 w 206829"/>
              <a:gd name="connsiteY2" fmla="*/ 0 h 413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829" h="413657">
                <a:moveTo>
                  <a:pt x="0" y="413657"/>
                </a:moveTo>
                <a:cubicBezTo>
                  <a:pt x="53521" y="366486"/>
                  <a:pt x="107043" y="319315"/>
                  <a:pt x="141514" y="250372"/>
                </a:cubicBezTo>
                <a:cubicBezTo>
                  <a:pt x="175985" y="181429"/>
                  <a:pt x="191407" y="90714"/>
                  <a:pt x="206829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Forme libre 34"/>
          <p:cNvSpPr/>
          <p:nvPr/>
        </p:nvSpPr>
        <p:spPr>
          <a:xfrm flipH="1">
            <a:off x="5425210" y="4126410"/>
            <a:ext cx="206829" cy="413657"/>
          </a:xfrm>
          <a:custGeom>
            <a:avLst/>
            <a:gdLst>
              <a:gd name="connsiteX0" fmla="*/ 0 w 206829"/>
              <a:gd name="connsiteY0" fmla="*/ 413657 h 413657"/>
              <a:gd name="connsiteX1" fmla="*/ 141514 w 206829"/>
              <a:gd name="connsiteY1" fmla="*/ 250372 h 413657"/>
              <a:gd name="connsiteX2" fmla="*/ 206829 w 206829"/>
              <a:gd name="connsiteY2" fmla="*/ 0 h 413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829" h="413657">
                <a:moveTo>
                  <a:pt x="0" y="413657"/>
                </a:moveTo>
                <a:cubicBezTo>
                  <a:pt x="53521" y="366486"/>
                  <a:pt x="107043" y="319315"/>
                  <a:pt x="141514" y="250372"/>
                </a:cubicBezTo>
                <a:cubicBezTo>
                  <a:pt x="175985" y="181429"/>
                  <a:pt x="191407" y="90714"/>
                  <a:pt x="206829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Forme libre 35"/>
          <p:cNvSpPr/>
          <p:nvPr/>
        </p:nvSpPr>
        <p:spPr>
          <a:xfrm flipV="1">
            <a:off x="5652120" y="2100989"/>
            <a:ext cx="206829" cy="413657"/>
          </a:xfrm>
          <a:custGeom>
            <a:avLst/>
            <a:gdLst>
              <a:gd name="connsiteX0" fmla="*/ 0 w 206829"/>
              <a:gd name="connsiteY0" fmla="*/ 413657 h 413657"/>
              <a:gd name="connsiteX1" fmla="*/ 141514 w 206829"/>
              <a:gd name="connsiteY1" fmla="*/ 250372 h 413657"/>
              <a:gd name="connsiteX2" fmla="*/ 206829 w 206829"/>
              <a:gd name="connsiteY2" fmla="*/ 0 h 413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829" h="413657">
                <a:moveTo>
                  <a:pt x="0" y="413657"/>
                </a:moveTo>
                <a:cubicBezTo>
                  <a:pt x="53521" y="366486"/>
                  <a:pt x="107043" y="319315"/>
                  <a:pt x="141514" y="250372"/>
                </a:cubicBezTo>
                <a:cubicBezTo>
                  <a:pt x="175985" y="181429"/>
                  <a:pt x="191407" y="90714"/>
                  <a:pt x="206829" y="0"/>
                </a:cubicBezTo>
              </a:path>
            </a:pathLst>
          </a:custGeom>
          <a:noFill/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Forme libre 36"/>
          <p:cNvSpPr/>
          <p:nvPr/>
        </p:nvSpPr>
        <p:spPr>
          <a:xfrm flipV="1">
            <a:off x="6692890" y="2122761"/>
            <a:ext cx="206829" cy="413657"/>
          </a:xfrm>
          <a:custGeom>
            <a:avLst/>
            <a:gdLst>
              <a:gd name="connsiteX0" fmla="*/ 0 w 206829"/>
              <a:gd name="connsiteY0" fmla="*/ 413657 h 413657"/>
              <a:gd name="connsiteX1" fmla="*/ 141514 w 206829"/>
              <a:gd name="connsiteY1" fmla="*/ 250372 h 413657"/>
              <a:gd name="connsiteX2" fmla="*/ 206829 w 206829"/>
              <a:gd name="connsiteY2" fmla="*/ 0 h 413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829" h="413657">
                <a:moveTo>
                  <a:pt x="0" y="413657"/>
                </a:moveTo>
                <a:cubicBezTo>
                  <a:pt x="53521" y="366486"/>
                  <a:pt x="107043" y="319315"/>
                  <a:pt x="141514" y="250372"/>
                </a:cubicBezTo>
                <a:cubicBezTo>
                  <a:pt x="175985" y="181429"/>
                  <a:pt x="191407" y="90714"/>
                  <a:pt x="206829" y="0"/>
                </a:cubicBezTo>
              </a:path>
            </a:pathLst>
          </a:custGeom>
          <a:noFill/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Forme libre 37"/>
          <p:cNvSpPr/>
          <p:nvPr/>
        </p:nvSpPr>
        <p:spPr>
          <a:xfrm flipH="1" flipV="1">
            <a:off x="5929266" y="2111875"/>
            <a:ext cx="206829" cy="413657"/>
          </a:xfrm>
          <a:custGeom>
            <a:avLst/>
            <a:gdLst>
              <a:gd name="connsiteX0" fmla="*/ 0 w 206829"/>
              <a:gd name="connsiteY0" fmla="*/ 413657 h 413657"/>
              <a:gd name="connsiteX1" fmla="*/ 141514 w 206829"/>
              <a:gd name="connsiteY1" fmla="*/ 250372 h 413657"/>
              <a:gd name="connsiteX2" fmla="*/ 206829 w 206829"/>
              <a:gd name="connsiteY2" fmla="*/ 0 h 413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829" h="413657">
                <a:moveTo>
                  <a:pt x="0" y="413657"/>
                </a:moveTo>
                <a:cubicBezTo>
                  <a:pt x="53521" y="366486"/>
                  <a:pt x="107043" y="319315"/>
                  <a:pt x="141514" y="250372"/>
                </a:cubicBezTo>
                <a:cubicBezTo>
                  <a:pt x="175985" y="181429"/>
                  <a:pt x="191407" y="90714"/>
                  <a:pt x="206829" y="0"/>
                </a:cubicBezTo>
              </a:path>
            </a:pathLst>
          </a:custGeom>
          <a:noFill/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Forme libre 38"/>
          <p:cNvSpPr/>
          <p:nvPr/>
        </p:nvSpPr>
        <p:spPr>
          <a:xfrm flipH="1" flipV="1">
            <a:off x="4903576" y="2094297"/>
            <a:ext cx="206829" cy="413657"/>
          </a:xfrm>
          <a:custGeom>
            <a:avLst/>
            <a:gdLst>
              <a:gd name="connsiteX0" fmla="*/ 0 w 206829"/>
              <a:gd name="connsiteY0" fmla="*/ 413657 h 413657"/>
              <a:gd name="connsiteX1" fmla="*/ 141514 w 206829"/>
              <a:gd name="connsiteY1" fmla="*/ 250372 h 413657"/>
              <a:gd name="connsiteX2" fmla="*/ 206829 w 206829"/>
              <a:gd name="connsiteY2" fmla="*/ 0 h 413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829" h="413657">
                <a:moveTo>
                  <a:pt x="0" y="413657"/>
                </a:moveTo>
                <a:cubicBezTo>
                  <a:pt x="53521" y="366486"/>
                  <a:pt x="107043" y="319315"/>
                  <a:pt x="141514" y="250372"/>
                </a:cubicBezTo>
                <a:cubicBezTo>
                  <a:pt x="175985" y="181429"/>
                  <a:pt x="191407" y="90714"/>
                  <a:pt x="206829" y="0"/>
                </a:cubicBezTo>
              </a:path>
            </a:pathLst>
          </a:custGeom>
          <a:noFill/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/>
          <p:cNvSpPr txBox="1"/>
          <p:nvPr/>
        </p:nvSpPr>
        <p:spPr>
          <a:xfrm rot="16200000">
            <a:off x="5804845" y="3580179"/>
            <a:ext cx="1206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chemeClr val="accent1"/>
                </a:solidFill>
              </a:rPr>
              <a:t>Rejet de B</a:t>
            </a:r>
            <a:endParaRPr lang="fr-FR" sz="1400" dirty="0">
              <a:solidFill>
                <a:schemeClr val="accent1"/>
              </a:solidFill>
            </a:endParaRPr>
          </a:p>
        </p:txBody>
      </p:sp>
      <p:sp>
        <p:nvSpPr>
          <p:cNvPr id="41" name="ZoneTexte 40"/>
          <p:cNvSpPr txBox="1"/>
          <p:nvPr/>
        </p:nvSpPr>
        <p:spPr>
          <a:xfrm rot="16200000">
            <a:off x="5276850" y="2744716"/>
            <a:ext cx="1206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rgbClr val="00B050"/>
                </a:solidFill>
              </a:rPr>
              <a:t>Rejet de A</a:t>
            </a:r>
            <a:endParaRPr lang="fr-FR" sz="1400" dirty="0">
              <a:solidFill>
                <a:srgbClr val="00B05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611350" y="3331813"/>
            <a:ext cx="517021" cy="123582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accent1"/>
                </a:solidFill>
                <a:latin typeface="Symbol" pitchFamily="18" charset="2"/>
              </a:rPr>
              <a:t>a</a:t>
            </a:r>
            <a:endParaRPr lang="fr-FR" dirty="0">
              <a:solidFill>
                <a:schemeClr val="accent1"/>
              </a:solidFill>
              <a:latin typeface="Symbol" pitchFamily="18" charset="2"/>
            </a:endParaRPr>
          </a:p>
        </p:txBody>
      </p:sp>
      <p:sp>
        <p:nvSpPr>
          <p:cNvPr id="43" name="Forme libre 42"/>
          <p:cNvSpPr/>
          <p:nvPr/>
        </p:nvSpPr>
        <p:spPr>
          <a:xfrm flipH="1">
            <a:off x="6472672" y="4106327"/>
            <a:ext cx="206829" cy="413657"/>
          </a:xfrm>
          <a:custGeom>
            <a:avLst/>
            <a:gdLst>
              <a:gd name="connsiteX0" fmla="*/ 0 w 206829"/>
              <a:gd name="connsiteY0" fmla="*/ 413657 h 413657"/>
              <a:gd name="connsiteX1" fmla="*/ 141514 w 206829"/>
              <a:gd name="connsiteY1" fmla="*/ 250372 h 413657"/>
              <a:gd name="connsiteX2" fmla="*/ 206829 w 206829"/>
              <a:gd name="connsiteY2" fmla="*/ 0 h 413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829" h="413657">
                <a:moveTo>
                  <a:pt x="0" y="413657"/>
                </a:moveTo>
                <a:cubicBezTo>
                  <a:pt x="53521" y="366486"/>
                  <a:pt x="107043" y="319315"/>
                  <a:pt x="141514" y="250372"/>
                </a:cubicBezTo>
                <a:cubicBezTo>
                  <a:pt x="175985" y="181429"/>
                  <a:pt x="191407" y="90714"/>
                  <a:pt x="206829" y="0"/>
                </a:cubicBezTo>
              </a:path>
            </a:pathLst>
          </a:custGeom>
          <a:noFill/>
          <a:ln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 flipH="1">
            <a:off x="4377748" y="4110521"/>
            <a:ext cx="206829" cy="413657"/>
          </a:xfrm>
          <a:custGeom>
            <a:avLst/>
            <a:gdLst>
              <a:gd name="connsiteX0" fmla="*/ 0 w 206829"/>
              <a:gd name="connsiteY0" fmla="*/ 413657 h 413657"/>
              <a:gd name="connsiteX1" fmla="*/ 141514 w 206829"/>
              <a:gd name="connsiteY1" fmla="*/ 250372 h 413657"/>
              <a:gd name="connsiteX2" fmla="*/ 206829 w 206829"/>
              <a:gd name="connsiteY2" fmla="*/ 0 h 413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829" h="413657">
                <a:moveTo>
                  <a:pt x="0" y="413657"/>
                </a:moveTo>
                <a:cubicBezTo>
                  <a:pt x="53521" y="366486"/>
                  <a:pt x="107043" y="319315"/>
                  <a:pt x="141514" y="250372"/>
                </a:cubicBezTo>
                <a:cubicBezTo>
                  <a:pt x="175985" y="181429"/>
                  <a:pt x="191407" y="90714"/>
                  <a:pt x="206829" y="0"/>
                </a:cubicBezTo>
              </a:path>
            </a:pathLst>
          </a:custGeom>
          <a:noFill/>
          <a:ln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7223719" y="4107140"/>
            <a:ext cx="206829" cy="413657"/>
          </a:xfrm>
          <a:custGeom>
            <a:avLst/>
            <a:gdLst>
              <a:gd name="connsiteX0" fmla="*/ 0 w 206829"/>
              <a:gd name="connsiteY0" fmla="*/ 413657 h 413657"/>
              <a:gd name="connsiteX1" fmla="*/ 141514 w 206829"/>
              <a:gd name="connsiteY1" fmla="*/ 250372 h 413657"/>
              <a:gd name="connsiteX2" fmla="*/ 206829 w 206829"/>
              <a:gd name="connsiteY2" fmla="*/ 0 h 413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829" h="413657">
                <a:moveTo>
                  <a:pt x="0" y="413657"/>
                </a:moveTo>
                <a:cubicBezTo>
                  <a:pt x="53521" y="366486"/>
                  <a:pt x="107043" y="319315"/>
                  <a:pt x="141514" y="250372"/>
                </a:cubicBezTo>
                <a:cubicBezTo>
                  <a:pt x="175985" y="181429"/>
                  <a:pt x="191407" y="90714"/>
                  <a:pt x="206829" y="0"/>
                </a:cubicBezTo>
              </a:path>
            </a:pathLst>
          </a:custGeom>
          <a:noFill/>
          <a:ln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>
            <a:off x="5148064" y="4128912"/>
            <a:ext cx="206829" cy="413657"/>
          </a:xfrm>
          <a:custGeom>
            <a:avLst/>
            <a:gdLst>
              <a:gd name="connsiteX0" fmla="*/ 0 w 206829"/>
              <a:gd name="connsiteY0" fmla="*/ 413657 h 413657"/>
              <a:gd name="connsiteX1" fmla="*/ 141514 w 206829"/>
              <a:gd name="connsiteY1" fmla="*/ 250372 h 413657"/>
              <a:gd name="connsiteX2" fmla="*/ 206829 w 206829"/>
              <a:gd name="connsiteY2" fmla="*/ 0 h 413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829" h="413657">
                <a:moveTo>
                  <a:pt x="0" y="413657"/>
                </a:moveTo>
                <a:cubicBezTo>
                  <a:pt x="53521" y="366486"/>
                  <a:pt x="107043" y="319315"/>
                  <a:pt x="141514" y="250372"/>
                </a:cubicBezTo>
                <a:cubicBezTo>
                  <a:pt x="175985" y="181429"/>
                  <a:pt x="191407" y="90714"/>
                  <a:pt x="206829" y="0"/>
                </a:cubicBezTo>
              </a:path>
            </a:pathLst>
          </a:custGeom>
          <a:noFill/>
          <a:ln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ZoneTexte 46"/>
          <p:cNvSpPr txBox="1"/>
          <p:nvPr/>
        </p:nvSpPr>
        <p:spPr>
          <a:xfrm>
            <a:off x="5446982" y="4477253"/>
            <a:ext cx="9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chemeClr val="accent1"/>
                </a:solidFill>
              </a:rPr>
              <a:t>Premier germe</a:t>
            </a:r>
            <a:endParaRPr lang="fr-FR" sz="1400" dirty="0">
              <a:solidFill>
                <a:schemeClr val="accent1"/>
              </a:solidFill>
            </a:endParaRPr>
          </a:p>
        </p:txBody>
      </p:sp>
      <p:sp>
        <p:nvSpPr>
          <p:cNvPr id="48" name="ZoneTexte 47"/>
          <p:cNvSpPr txBox="1"/>
          <p:nvPr/>
        </p:nvSpPr>
        <p:spPr>
          <a:xfrm>
            <a:off x="7308304" y="2318703"/>
            <a:ext cx="538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/>
              <a:t>…</a:t>
            </a:r>
            <a:endParaRPr lang="fr-FR" sz="2400" dirty="0"/>
          </a:p>
        </p:txBody>
      </p:sp>
      <p:sp>
        <p:nvSpPr>
          <p:cNvPr id="49" name="ZoneTexte 48"/>
          <p:cNvSpPr txBox="1"/>
          <p:nvPr/>
        </p:nvSpPr>
        <p:spPr>
          <a:xfrm>
            <a:off x="4067944" y="2277663"/>
            <a:ext cx="538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/>
              <a:t>…</a:t>
            </a:r>
            <a:endParaRPr lang="fr-FR" sz="2400" dirty="0"/>
          </a:p>
        </p:txBody>
      </p:sp>
      <p:sp>
        <p:nvSpPr>
          <p:cNvPr id="50" name="ZoneTexte 49"/>
          <p:cNvSpPr txBox="1"/>
          <p:nvPr/>
        </p:nvSpPr>
        <p:spPr>
          <a:xfrm>
            <a:off x="683568" y="5580886"/>
            <a:ext cx="30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/>
              <a:t>Réaction eutectique</a:t>
            </a:r>
          </a:p>
          <a:p>
            <a:pPr algn="ctr"/>
            <a:r>
              <a:rPr lang="fr-FR" sz="2400" dirty="0" smtClean="0"/>
              <a:t>L </a:t>
            </a:r>
            <a:r>
              <a:rPr lang="fr-FR" sz="2400" dirty="0" smtClean="0">
                <a:sym typeface="Wingdings" pitchFamily="2" charset="2"/>
              </a:rPr>
              <a:t> </a:t>
            </a:r>
            <a:r>
              <a:rPr lang="fr-FR" sz="2400" dirty="0" smtClean="0">
                <a:solidFill>
                  <a:schemeClr val="accent1"/>
                </a:solidFill>
                <a:sym typeface="Symbol"/>
              </a:rPr>
              <a:t></a:t>
            </a:r>
            <a:r>
              <a:rPr lang="fr-FR" sz="2400" dirty="0" smtClean="0">
                <a:sym typeface="Symbol"/>
              </a:rPr>
              <a:t> + </a:t>
            </a:r>
            <a:r>
              <a:rPr lang="fr-FR" sz="2400" dirty="0" smtClean="0">
                <a:solidFill>
                  <a:srgbClr val="00B050"/>
                </a:solidFill>
                <a:sym typeface="Symbol"/>
              </a:rPr>
              <a:t></a:t>
            </a:r>
            <a:endParaRPr lang="fr-FR" sz="2400" dirty="0">
              <a:solidFill>
                <a:srgbClr val="00B050"/>
              </a:solidFill>
            </a:endParaRPr>
          </a:p>
        </p:txBody>
      </p:sp>
      <p:cxnSp>
        <p:nvCxnSpPr>
          <p:cNvPr id="51" name="Connecteur droit avec flèche 50"/>
          <p:cNvCxnSpPr/>
          <p:nvPr/>
        </p:nvCxnSpPr>
        <p:spPr>
          <a:xfrm>
            <a:off x="5006990" y="6543713"/>
            <a:ext cx="1662338" cy="720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ZoneTexte 51"/>
          <p:cNvSpPr txBox="1"/>
          <p:nvPr/>
        </p:nvSpPr>
        <p:spPr>
          <a:xfrm>
            <a:off x="6422436" y="6299225"/>
            <a:ext cx="530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x</a:t>
            </a:r>
            <a:endParaRPr lang="fr-FR" dirty="0"/>
          </a:p>
        </p:txBody>
      </p:sp>
      <p:sp>
        <p:nvSpPr>
          <p:cNvPr id="53" name="ZoneTexte 52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51339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ZoneTexte 195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Diagrammes binaires - microstructure</a:t>
            </a:r>
            <a:endParaRPr lang="fr-FR" sz="2800" dirty="0"/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124200"/>
            <a:ext cx="8922136" cy="2465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564027" y="2204864"/>
            <a:ext cx="84253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b="1" dirty="0" err="1" smtClean="0">
                <a:latin typeface="Tahoma" charset="0"/>
              </a:rPr>
              <a:t>Hypoeutectique</a:t>
            </a:r>
            <a:r>
              <a:rPr lang="fr-FR" b="1" dirty="0">
                <a:latin typeface="Tahoma" charset="0"/>
              </a:rPr>
              <a:t>	 </a:t>
            </a:r>
            <a:r>
              <a:rPr lang="fr-FR" b="1" dirty="0" smtClean="0">
                <a:latin typeface="Tahoma" charset="0"/>
              </a:rPr>
              <a:t>                    </a:t>
            </a:r>
            <a:r>
              <a:rPr lang="fr-FR" b="1" dirty="0">
                <a:latin typeface="Tahoma" charset="0"/>
              </a:rPr>
              <a:t>eutectique 	</a:t>
            </a:r>
            <a:r>
              <a:rPr lang="fr-FR" b="1" dirty="0" smtClean="0">
                <a:latin typeface="Tahoma" charset="0"/>
              </a:rPr>
              <a:t>                 </a:t>
            </a:r>
            <a:r>
              <a:rPr lang="fr-FR" b="1" dirty="0" err="1" smtClean="0">
                <a:latin typeface="Tahoma" charset="0"/>
              </a:rPr>
              <a:t>hypereutectique</a:t>
            </a:r>
            <a:endParaRPr lang="fr-FR" b="1" dirty="0">
              <a:latin typeface="Tahoma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3848" y="3124200"/>
            <a:ext cx="2952328" cy="7368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/>
          <p:cNvSpPr txBox="1"/>
          <p:nvPr/>
        </p:nvSpPr>
        <p:spPr>
          <a:xfrm>
            <a:off x="1979712" y="1503948"/>
            <a:ext cx="554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Exemple dans le diagramme Pb-Sn</a:t>
            </a:r>
            <a:endParaRPr lang="fr-FR" sz="2800" dirty="0"/>
          </a:p>
        </p:txBody>
      </p:sp>
      <p:sp>
        <p:nvSpPr>
          <p:cNvPr id="12" name="ZoneTexte 11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53415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ZoneTexte 195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Diagrammes eutectique</a:t>
            </a:r>
            <a:endParaRPr lang="fr-FR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615689"/>
            <a:ext cx="5066581" cy="4407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ZoneTexte 12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72868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ZoneTexte 195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Diagrammes binaires - Lien entre diagrammes et courbes d’enthalpie libre</a:t>
            </a:r>
            <a:endParaRPr lang="fr-FR" sz="2800" dirty="0"/>
          </a:p>
        </p:txBody>
      </p:sp>
      <p:sp>
        <p:nvSpPr>
          <p:cNvPr id="3" name="ZoneTexte 2"/>
          <p:cNvSpPr txBox="1"/>
          <p:nvPr/>
        </p:nvSpPr>
        <p:spPr>
          <a:xfrm>
            <a:off x="2051720" y="1403484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 smtClean="0"/>
              <a:t>Diagramme </a:t>
            </a:r>
            <a:r>
              <a:rPr lang="fr-FR" i="1" dirty="0" err="1" smtClean="0"/>
              <a:t>peritectique</a:t>
            </a:r>
            <a:endParaRPr lang="fr-FR" i="1" dirty="0"/>
          </a:p>
        </p:txBody>
      </p:sp>
      <p:pic>
        <p:nvPicPr>
          <p:cNvPr id="6" name="Imag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800912"/>
            <a:ext cx="7344816" cy="50570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ZoneTexte 7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61641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ZoneTexte 195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Diagrammes binaires - Lien entre diagrammes et courbes d’enthalpie libre</a:t>
            </a:r>
            <a:endParaRPr lang="fr-FR" sz="2800" dirty="0"/>
          </a:p>
        </p:txBody>
      </p:sp>
      <p:sp>
        <p:nvSpPr>
          <p:cNvPr id="3" name="ZoneTexte 2"/>
          <p:cNvSpPr txBox="1"/>
          <p:nvPr/>
        </p:nvSpPr>
        <p:spPr>
          <a:xfrm>
            <a:off x="2051720" y="1403484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 smtClean="0"/>
              <a:t>Diagramme </a:t>
            </a:r>
            <a:r>
              <a:rPr lang="fr-FR" i="1" dirty="0" err="1" smtClean="0"/>
              <a:t>peritectique</a:t>
            </a:r>
            <a:endParaRPr lang="fr-FR" i="1" dirty="0"/>
          </a:p>
        </p:txBody>
      </p:sp>
      <p:pic>
        <p:nvPicPr>
          <p:cNvPr id="7" name="Imag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060848"/>
            <a:ext cx="8064896" cy="367240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ZoneTexte 7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10467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40" y="954722"/>
            <a:ext cx="5760720" cy="494855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ZoneTexte 7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44515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36"/>
          <p:cNvSpPr>
            <a:spLocks noChangeArrowheads="1"/>
          </p:cNvSpPr>
          <p:nvPr/>
        </p:nvSpPr>
        <p:spPr bwMode="auto">
          <a:xfrm>
            <a:off x="467544" y="116632"/>
            <a:ext cx="86764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fr-FR" sz="2800" i="1" u="sng" dirty="0" smtClean="0">
                <a:solidFill>
                  <a:schemeClr val="accent1">
                    <a:lumMod val="75000"/>
                  </a:schemeClr>
                </a:solidFill>
              </a:rPr>
              <a:t>Le diagramme Fe-C</a:t>
            </a:r>
            <a:endParaRPr lang="fr-FR" sz="2800" i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049982"/>
            <a:ext cx="7278389" cy="5465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ZoneTexte 2"/>
          <p:cNvSpPr txBox="1"/>
          <p:nvPr/>
        </p:nvSpPr>
        <p:spPr>
          <a:xfrm>
            <a:off x="4938732" y="3922170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fr-FR" sz="1400" b="1" dirty="0" err="1" smtClean="0">
                <a:solidFill>
                  <a:schemeClr val="bg1">
                    <a:lumMod val="50000"/>
                  </a:schemeClr>
                </a:solidFill>
              </a:rPr>
              <a:t>Lédéburite</a:t>
            </a:r>
            <a:r>
              <a:rPr lang="fr-FR" sz="1400" b="1" dirty="0" smtClean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fr-FR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3847726" y="5364357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smtClean="0">
                <a:solidFill>
                  <a:schemeClr val="bg1">
                    <a:lumMod val="50000"/>
                  </a:schemeClr>
                </a:solidFill>
              </a:rPr>
              <a:t>(Perlite)</a:t>
            </a:r>
            <a:endParaRPr lang="fr-FR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" name="Connecteur droit 4"/>
          <p:cNvCxnSpPr/>
          <p:nvPr/>
        </p:nvCxnSpPr>
        <p:spPr>
          <a:xfrm>
            <a:off x="3563888" y="1423662"/>
            <a:ext cx="0" cy="522000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>
            <a:off x="1475656" y="5759222"/>
            <a:ext cx="2088232" cy="0"/>
          </a:xfrm>
          <a:prstGeom prst="line">
            <a:avLst/>
          </a:prstGeom>
          <a:ln w="9525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2045028" y="5463815"/>
            <a:ext cx="86409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rgbClr val="FF0000"/>
                </a:solidFill>
              </a:rPr>
              <a:t>Aciers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572000" y="4768688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rgbClr val="FF0000"/>
                </a:solidFill>
              </a:rPr>
              <a:t>Fontes blanches</a:t>
            </a:r>
            <a:endParaRPr lang="fr-FR" dirty="0">
              <a:solidFill>
                <a:srgbClr val="FF0000"/>
              </a:solidFill>
            </a:endParaRPr>
          </a:p>
        </p:txBody>
      </p:sp>
      <p:cxnSp>
        <p:nvCxnSpPr>
          <p:cNvPr id="15" name="Connecteur droit 14"/>
          <p:cNvCxnSpPr/>
          <p:nvPr/>
        </p:nvCxnSpPr>
        <p:spPr>
          <a:xfrm>
            <a:off x="2195736" y="495335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217508" y="4912704"/>
            <a:ext cx="0" cy="14401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>
            <a:off x="2217508" y="5188990"/>
            <a:ext cx="0" cy="871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>
            <a:off x="2217508" y="5447690"/>
            <a:ext cx="0" cy="871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2217508" y="5833696"/>
            <a:ext cx="0" cy="79200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1475656" y="6489352"/>
            <a:ext cx="0" cy="14400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1475656" y="6586466"/>
            <a:ext cx="741852" cy="0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>
            <a:off x="2239280" y="6597352"/>
            <a:ext cx="1324608" cy="0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1440500" y="625557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rgbClr val="FF0000"/>
                </a:solidFill>
              </a:rPr>
              <a:t>hypo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2483768" y="625908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rgbClr val="FF0000"/>
                </a:solidFill>
              </a:rPr>
              <a:t>hyper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1582014" y="6537824"/>
            <a:ext cx="151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 smtClean="0">
                <a:solidFill>
                  <a:srgbClr val="FF0000"/>
                </a:solidFill>
              </a:rPr>
              <a:t>eutectoide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6948264" y="2658684"/>
            <a:ext cx="10189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smtClean="0">
                <a:solidFill>
                  <a:schemeClr val="bg1">
                    <a:lumMod val="50000"/>
                  </a:schemeClr>
                </a:solidFill>
              </a:rPr>
              <a:t>L + Fe</a:t>
            </a:r>
            <a:r>
              <a:rPr lang="fr-FR" sz="1400" b="1" baseline="-25000" dirty="0" smtClean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fr-FR" sz="1400" b="1" dirty="0" smtClean="0">
                <a:solidFill>
                  <a:schemeClr val="bg1">
                    <a:lumMod val="50000"/>
                  </a:schemeClr>
                </a:solidFill>
              </a:rPr>
              <a:t>C</a:t>
            </a:r>
            <a:endParaRPr lang="fr-FR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Forme libre 30"/>
          <p:cNvSpPr/>
          <p:nvPr/>
        </p:nvSpPr>
        <p:spPr>
          <a:xfrm>
            <a:off x="5682343" y="2547257"/>
            <a:ext cx="2307771" cy="424543"/>
          </a:xfrm>
          <a:custGeom>
            <a:avLst/>
            <a:gdLst>
              <a:gd name="connsiteX0" fmla="*/ 0 w 2307771"/>
              <a:gd name="connsiteY0" fmla="*/ 424543 h 424543"/>
              <a:gd name="connsiteX1" fmla="*/ 1328057 w 2307771"/>
              <a:gd name="connsiteY1" fmla="*/ 119743 h 424543"/>
              <a:gd name="connsiteX2" fmla="*/ 2307771 w 2307771"/>
              <a:gd name="connsiteY2" fmla="*/ 0 h 424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7771" h="424543">
                <a:moveTo>
                  <a:pt x="0" y="424543"/>
                </a:moveTo>
                <a:cubicBezTo>
                  <a:pt x="471714" y="307521"/>
                  <a:pt x="943429" y="190500"/>
                  <a:pt x="1328057" y="119743"/>
                </a:cubicBezTo>
                <a:cubicBezTo>
                  <a:pt x="1712686" y="48986"/>
                  <a:pt x="2010228" y="24493"/>
                  <a:pt x="2307771" y="0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676" name="Connecteur droit 28675"/>
          <p:cNvCxnSpPr/>
          <p:nvPr/>
        </p:nvCxnSpPr>
        <p:spPr>
          <a:xfrm>
            <a:off x="7990114" y="2982686"/>
            <a:ext cx="974374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78" name="Connecteur droit 28677"/>
          <p:cNvCxnSpPr/>
          <p:nvPr/>
        </p:nvCxnSpPr>
        <p:spPr>
          <a:xfrm>
            <a:off x="7990114" y="6093296"/>
            <a:ext cx="974374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80" name="Connecteur droit 28679"/>
          <p:cNvCxnSpPr/>
          <p:nvPr/>
        </p:nvCxnSpPr>
        <p:spPr>
          <a:xfrm flipV="1">
            <a:off x="8964488" y="82960"/>
            <a:ext cx="0" cy="601033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 flipH="1">
            <a:off x="8194172" y="2741578"/>
            <a:ext cx="72008" cy="421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/>
          <p:cNvCxnSpPr/>
          <p:nvPr/>
        </p:nvCxnSpPr>
        <p:spPr>
          <a:xfrm flipH="1">
            <a:off x="8266180" y="2763350"/>
            <a:ext cx="72008" cy="421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 flipH="1">
            <a:off x="8244408" y="5888158"/>
            <a:ext cx="72008" cy="421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81" name="ZoneTexte 28680"/>
          <p:cNvSpPr txBox="1"/>
          <p:nvPr/>
        </p:nvSpPr>
        <p:spPr>
          <a:xfrm>
            <a:off x="8460432" y="6093296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100 % C</a:t>
            </a:r>
            <a:endParaRPr lang="fr-FR" sz="1400" dirty="0"/>
          </a:p>
        </p:txBody>
      </p:sp>
      <p:sp>
        <p:nvSpPr>
          <p:cNvPr id="28682" name="Forme libre 28681"/>
          <p:cNvSpPr/>
          <p:nvPr/>
        </p:nvSpPr>
        <p:spPr>
          <a:xfrm>
            <a:off x="5660571" y="32657"/>
            <a:ext cx="1643743" cy="2950029"/>
          </a:xfrm>
          <a:custGeom>
            <a:avLst/>
            <a:gdLst>
              <a:gd name="connsiteX0" fmla="*/ 0 w 1643743"/>
              <a:gd name="connsiteY0" fmla="*/ 2950029 h 2950029"/>
              <a:gd name="connsiteX1" fmla="*/ 968829 w 1643743"/>
              <a:gd name="connsiteY1" fmla="*/ 881743 h 2950029"/>
              <a:gd name="connsiteX2" fmla="*/ 1643743 w 1643743"/>
              <a:gd name="connsiteY2" fmla="*/ 0 h 2950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743" h="2950029">
                <a:moveTo>
                  <a:pt x="0" y="2950029"/>
                </a:moveTo>
                <a:cubicBezTo>
                  <a:pt x="347436" y="2161721"/>
                  <a:pt x="694872" y="1373414"/>
                  <a:pt x="968829" y="881743"/>
                </a:cubicBezTo>
                <a:cubicBezTo>
                  <a:pt x="1242786" y="390072"/>
                  <a:pt x="1443264" y="195036"/>
                  <a:pt x="1643743" y="0"/>
                </a:cubicBezTo>
              </a:path>
            </a:pathLst>
          </a:custGeom>
          <a:noFill/>
          <a:ln w="9525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683" name="ZoneTexte 28682"/>
          <p:cNvSpPr txBox="1"/>
          <p:nvPr/>
        </p:nvSpPr>
        <p:spPr>
          <a:xfrm>
            <a:off x="7236296" y="-27384"/>
            <a:ext cx="1839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bg1">
                    <a:lumMod val="50000"/>
                  </a:schemeClr>
                </a:solidFill>
              </a:rPr>
              <a:t>3350°C, 100 % C</a:t>
            </a:r>
            <a:endParaRPr lang="fr-FR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684" name="ZoneTexte 28683"/>
          <p:cNvSpPr txBox="1"/>
          <p:nvPr/>
        </p:nvSpPr>
        <p:spPr>
          <a:xfrm>
            <a:off x="7647652" y="3841303"/>
            <a:ext cx="974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smtClean="0">
                <a:solidFill>
                  <a:schemeClr val="accent1"/>
                </a:solidFill>
                <a:sym typeface="Symbol"/>
              </a:rPr>
              <a:t> + Graph</a:t>
            </a:r>
            <a:endParaRPr lang="fr-FR" sz="1400" b="1" dirty="0">
              <a:solidFill>
                <a:schemeClr val="accent1"/>
              </a:solidFill>
            </a:endParaRPr>
          </a:p>
        </p:txBody>
      </p:sp>
      <p:cxnSp>
        <p:nvCxnSpPr>
          <p:cNvPr id="60" name="Connecteur droit 59"/>
          <p:cNvCxnSpPr/>
          <p:nvPr/>
        </p:nvCxnSpPr>
        <p:spPr>
          <a:xfrm>
            <a:off x="8006612" y="4710878"/>
            <a:ext cx="974374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/>
          <p:cNvCxnSpPr/>
          <p:nvPr/>
        </p:nvCxnSpPr>
        <p:spPr>
          <a:xfrm flipH="1">
            <a:off x="8210670" y="4469770"/>
            <a:ext cx="72008" cy="421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/>
          <p:cNvCxnSpPr/>
          <p:nvPr/>
        </p:nvCxnSpPr>
        <p:spPr>
          <a:xfrm flipH="1">
            <a:off x="8282678" y="4491542"/>
            <a:ext cx="72008" cy="421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7734268" y="5637595"/>
            <a:ext cx="974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accent1"/>
                </a:solidFill>
                <a:sym typeface="Symbol"/>
              </a:rPr>
              <a:t></a:t>
            </a:r>
            <a:r>
              <a:rPr lang="fr-FR" sz="1400" b="1" dirty="0" smtClean="0">
                <a:solidFill>
                  <a:schemeClr val="accent1"/>
                </a:solidFill>
                <a:sym typeface="Symbol"/>
              </a:rPr>
              <a:t> + Graph</a:t>
            </a:r>
            <a:endParaRPr lang="fr-FR" sz="1400" b="1" dirty="0">
              <a:solidFill>
                <a:schemeClr val="accent1"/>
              </a:solidFill>
            </a:endParaRPr>
          </a:p>
        </p:txBody>
      </p:sp>
      <p:sp>
        <p:nvSpPr>
          <p:cNvPr id="65" name="ZoneTexte 64"/>
          <p:cNvSpPr txBox="1"/>
          <p:nvPr/>
        </p:nvSpPr>
        <p:spPr>
          <a:xfrm>
            <a:off x="7020272" y="4783768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chemeClr val="accent1"/>
                </a:solidFill>
              </a:rPr>
              <a:t>Fontes grises</a:t>
            </a:r>
            <a:endParaRPr lang="fr-FR" dirty="0">
              <a:solidFill>
                <a:schemeClr val="accent1"/>
              </a:solidFill>
            </a:endParaRPr>
          </a:p>
        </p:txBody>
      </p:sp>
      <p:cxnSp>
        <p:nvCxnSpPr>
          <p:cNvPr id="64" name="Connecteur droit 63"/>
          <p:cNvCxnSpPr/>
          <p:nvPr/>
        </p:nvCxnSpPr>
        <p:spPr>
          <a:xfrm>
            <a:off x="3548808" y="5117842"/>
            <a:ext cx="5400000" cy="0"/>
          </a:xfrm>
          <a:prstGeom prst="line">
            <a:avLst/>
          </a:prstGeom>
          <a:ln w="9525">
            <a:solidFill>
              <a:schemeClr val="accent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>
            <a:off x="3585660" y="5117842"/>
            <a:ext cx="4392488" cy="0"/>
          </a:xfrm>
          <a:prstGeom prst="line">
            <a:avLst/>
          </a:prstGeom>
          <a:ln w="9525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H="1">
            <a:off x="8172400" y="5866386"/>
            <a:ext cx="72008" cy="421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88" name="Connecteur droit 28687"/>
          <p:cNvCxnSpPr/>
          <p:nvPr/>
        </p:nvCxnSpPr>
        <p:spPr>
          <a:xfrm>
            <a:off x="3851920" y="280393"/>
            <a:ext cx="7987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851920" y="692696"/>
            <a:ext cx="79878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89" name="ZoneTexte 28688"/>
          <p:cNvSpPr txBox="1"/>
          <p:nvPr/>
        </p:nvSpPr>
        <p:spPr>
          <a:xfrm>
            <a:off x="4588052" y="82960"/>
            <a:ext cx="2430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Diagramme métastable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72" name="ZoneTexte 71"/>
          <p:cNvSpPr txBox="1"/>
          <p:nvPr/>
        </p:nvSpPr>
        <p:spPr>
          <a:xfrm>
            <a:off x="4593772" y="485738"/>
            <a:ext cx="2430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accent1"/>
                </a:solidFill>
              </a:rPr>
              <a:t>Diagramme stable</a:t>
            </a:r>
            <a:endParaRPr lang="fr-FR" dirty="0">
              <a:solidFill>
                <a:schemeClr val="accent1"/>
              </a:solidFill>
            </a:endParaRPr>
          </a:p>
        </p:txBody>
      </p:sp>
      <p:sp>
        <p:nvSpPr>
          <p:cNvPr id="73" name="ZoneTexte 72"/>
          <p:cNvSpPr txBox="1"/>
          <p:nvPr/>
        </p:nvSpPr>
        <p:spPr>
          <a:xfrm>
            <a:off x="7646572" y="1465039"/>
            <a:ext cx="974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accent1"/>
                </a:solidFill>
                <a:sym typeface="Symbol"/>
              </a:rPr>
              <a:t>L</a:t>
            </a:r>
            <a:r>
              <a:rPr lang="fr-FR" sz="1400" b="1" dirty="0" smtClean="0">
                <a:solidFill>
                  <a:schemeClr val="accent1"/>
                </a:solidFill>
                <a:sym typeface="Symbol"/>
              </a:rPr>
              <a:t> + Graph</a:t>
            </a:r>
            <a:endParaRPr lang="fr-FR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58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ZoneTexte 195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Règles de construction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863588" y="1681673"/>
            <a:ext cx="7704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à partir de la règle de la variance  V = C + n - </a:t>
            </a:r>
            <a:r>
              <a:rPr lang="fr-FR" dirty="0" smtClean="0">
                <a:sym typeface="Symbol"/>
              </a:rPr>
              <a:t></a:t>
            </a:r>
            <a:r>
              <a:rPr lang="fr-FR" dirty="0" smtClean="0"/>
              <a:t> </a:t>
            </a:r>
          </a:p>
          <a:p>
            <a:r>
              <a:rPr lang="fr-FR" dirty="0" smtClean="0"/>
              <a:t>V: variance = nb de paramètres que l’on peut faire varier indépendamment</a:t>
            </a:r>
          </a:p>
          <a:p>
            <a:r>
              <a:rPr lang="fr-FR" dirty="0" smtClean="0"/>
              <a:t>c: nb de constituants (1: corps pur, 2 alliage binaire)</a:t>
            </a:r>
          </a:p>
          <a:p>
            <a:r>
              <a:rPr lang="fr-FR" dirty="0" smtClean="0"/>
              <a:t>n: nb de paramètres thermodynamique = 1 car P= </a:t>
            </a:r>
            <a:r>
              <a:rPr lang="fr-FR" dirty="0" err="1" smtClean="0"/>
              <a:t>Cst</a:t>
            </a:r>
            <a:endParaRPr lang="fr-FR" dirty="0" smtClean="0"/>
          </a:p>
          <a:p>
            <a:r>
              <a:rPr lang="fr-FR" dirty="0" smtClean="0">
                <a:sym typeface="Symbol"/>
              </a:rPr>
              <a:t>: nb de phases en équilibre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On établi les règles de construction suivantes </a:t>
            </a:r>
            <a:r>
              <a:rPr lang="fr-FR" u="sng" dirty="0" smtClean="0"/>
              <a:t>pour un diagramme binaire</a:t>
            </a:r>
            <a:endParaRPr lang="fr-FR" u="sng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04800" y="3896221"/>
            <a:ext cx="838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1.   Les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domaines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monophasés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sont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séparés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 par des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domaines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biphasés</a:t>
            </a:r>
            <a:endParaRPr lang="en-US" sz="2000" b="0" dirty="0">
              <a:solidFill>
                <a:schemeClr val="accent2">
                  <a:lumMod val="75000"/>
                </a:schemeClr>
              </a:solidFill>
              <a:latin typeface="Tahoma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304800" y="4455517"/>
            <a:ext cx="838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2.    Les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frontières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 des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domaines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biphasés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doivent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, par extrapolation,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pénétrer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 (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s’étendre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)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dans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 des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domaines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biphasés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.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304800" y="5247605"/>
            <a:ext cx="838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3.   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L’équilibre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 entre 3 phases se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produit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seulement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 à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température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 </a:t>
            </a:r>
            <a:r>
              <a:rPr lang="en-US" sz="2000" b="0" dirty="0" err="1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constante</a:t>
            </a:r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, T.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304800" y="5895677"/>
            <a:ext cx="8610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sz="2000" b="0" dirty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4.    </a:t>
            </a:r>
            <a:r>
              <a:rPr lang="en-US" sz="2000" b="0" dirty="0" smtClean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Il </a:t>
            </a:r>
            <a:r>
              <a:rPr lang="en-US" sz="2000" b="0" dirty="0" err="1" smtClean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n’existe</a:t>
            </a:r>
            <a:r>
              <a:rPr lang="en-US" sz="2000" b="0" dirty="0" smtClean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 pas plus de 3 phases en </a:t>
            </a:r>
            <a:r>
              <a:rPr lang="en-US" sz="2000" b="0" dirty="0" err="1" smtClean="0">
                <a:solidFill>
                  <a:schemeClr val="accent2">
                    <a:lumMod val="75000"/>
                  </a:schemeClr>
                </a:solidFill>
                <a:latin typeface="Tahoma" charset="0"/>
              </a:rPr>
              <a:t>équilibre</a:t>
            </a:r>
            <a:endParaRPr lang="en-US" sz="2000" b="0" dirty="0">
              <a:solidFill>
                <a:schemeClr val="accent2">
                  <a:lumMod val="75000"/>
                </a:schemeClr>
              </a:solidFill>
              <a:latin typeface="Tahoma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binaires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89134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ZoneTexte 194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</a:t>
            </a:r>
            <a:endParaRPr lang="fr-FR" sz="2800" dirty="0"/>
          </a:p>
        </p:txBody>
      </p:sp>
      <p:pic>
        <p:nvPicPr>
          <p:cNvPr id="4" name="Imag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36712"/>
            <a:ext cx="8280919" cy="52565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200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683568" y="2977788"/>
            <a:ext cx="7740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Diagrammes ternaires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22951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cxnSp>
        <p:nvCxnSpPr>
          <p:cNvPr id="11" name="Connecteur droit avec flèche 10"/>
          <p:cNvCxnSpPr/>
          <p:nvPr/>
        </p:nvCxnSpPr>
        <p:spPr>
          <a:xfrm flipV="1">
            <a:off x="1475656" y="2483604"/>
            <a:ext cx="0" cy="29523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179512" y="2042264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température</a:t>
            </a:r>
            <a:endParaRPr lang="fr-FR" dirty="0"/>
          </a:p>
        </p:txBody>
      </p:sp>
      <p:cxnSp>
        <p:nvCxnSpPr>
          <p:cNvPr id="13" name="Connecteur droit 12"/>
          <p:cNvCxnSpPr/>
          <p:nvPr/>
        </p:nvCxnSpPr>
        <p:spPr>
          <a:xfrm>
            <a:off x="1475656" y="5426640"/>
            <a:ext cx="30963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 flipV="1">
            <a:off x="4572000" y="2483604"/>
            <a:ext cx="0" cy="29523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971600" y="536392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B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355976" y="536392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C</a:t>
            </a:r>
            <a:endParaRPr lang="fr-FR" dirty="0"/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2616354" y="5564242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1752258" y="5554950"/>
            <a:ext cx="2585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% ou titre de C</a:t>
            </a:r>
          </a:p>
          <a:p>
            <a:pPr algn="ctr"/>
            <a:r>
              <a:rPr lang="fr-FR" dirty="0" smtClean="0"/>
              <a:t>(atomique ou massique)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2496912" y="2638492"/>
            <a:ext cx="16561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dirty="0" smtClean="0"/>
              <a:t>?</a:t>
            </a:r>
            <a:endParaRPr lang="fr-FR" sz="6000" dirty="0"/>
          </a:p>
        </p:txBody>
      </p:sp>
      <p:cxnSp>
        <p:nvCxnSpPr>
          <p:cNvPr id="20" name="Connecteur droit avec flèche 19"/>
          <p:cNvCxnSpPr/>
          <p:nvPr/>
        </p:nvCxnSpPr>
        <p:spPr>
          <a:xfrm flipV="1">
            <a:off x="3059832" y="1196752"/>
            <a:ext cx="0" cy="29523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3059832" y="4149080"/>
            <a:ext cx="1512168" cy="1277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 flipH="1">
            <a:off x="1475656" y="4149080"/>
            <a:ext cx="1584176" cy="1277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2604924" y="387247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>
            <a:off x="5076056" y="1772816"/>
            <a:ext cx="40324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b="1" dirty="0" smtClean="0">
                <a:solidFill>
                  <a:schemeClr val="accent6">
                    <a:lumMod val="75000"/>
                  </a:schemeClr>
                </a:solidFill>
              </a:rPr>
              <a:t>3 éléments</a:t>
            </a:r>
          </a:p>
          <a:p>
            <a:pPr marL="342900" indent="-342900">
              <a:buFont typeface="Symbol" pitchFamily="18" charset="2"/>
              <a:buChar char="Þ"/>
            </a:pPr>
            <a:r>
              <a:rPr lang="fr-FR" sz="2200" b="1" dirty="0" smtClean="0">
                <a:solidFill>
                  <a:schemeClr val="accent6">
                    <a:lumMod val="75000"/>
                  </a:schemeClr>
                </a:solidFill>
              </a:rPr>
              <a:t>Représentation volumique à base triangulaire </a:t>
            </a:r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</a:rPr>
              <a:t>(en général équilatérale)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5292080" y="3667671"/>
            <a:ext cx="38164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b="1" u="sng" dirty="0" smtClean="0">
                <a:solidFill>
                  <a:schemeClr val="accent6">
                    <a:lumMod val="75000"/>
                  </a:schemeClr>
                </a:solidFill>
              </a:rPr>
              <a:t>Chaque côté est un diagramme binaire</a:t>
            </a:r>
            <a:r>
              <a:rPr lang="fr-FR" sz="22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cxnSp>
        <p:nvCxnSpPr>
          <p:cNvPr id="26" name="Connecteur droit avec flèche 25"/>
          <p:cNvCxnSpPr>
            <a:cxnSpLocks noChangeAspect="1"/>
          </p:cNvCxnSpPr>
          <p:nvPr/>
        </p:nvCxnSpPr>
        <p:spPr>
          <a:xfrm flipH="1">
            <a:off x="1999145" y="4448546"/>
            <a:ext cx="522606" cy="4234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>
          <a:xfrm rot="19288139">
            <a:off x="1405981" y="4245208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% ou titre de </a:t>
            </a:r>
            <a:r>
              <a:rPr lang="fr-FR" sz="1600" dirty="0"/>
              <a:t>B</a:t>
            </a:r>
          </a:p>
        </p:txBody>
      </p:sp>
      <p:cxnSp>
        <p:nvCxnSpPr>
          <p:cNvPr id="28" name="Connecteur droit avec flèche 27"/>
          <p:cNvCxnSpPr>
            <a:cxnSpLocks noChangeAspect="1"/>
          </p:cNvCxnSpPr>
          <p:nvPr/>
        </p:nvCxnSpPr>
        <p:spPr>
          <a:xfrm flipH="1" flipV="1">
            <a:off x="3533026" y="4414252"/>
            <a:ext cx="522606" cy="4234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 rot="2318243">
            <a:off x="3208428" y="4424272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% ou titre de A</a:t>
            </a:r>
            <a:endParaRPr lang="fr-FR" sz="1600" dirty="0"/>
          </a:p>
        </p:txBody>
      </p:sp>
      <p:sp>
        <p:nvSpPr>
          <p:cNvPr id="31" name="ZoneTexte 30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Diagrammes ternaires: quelle représentation ?</a:t>
            </a:r>
          </a:p>
        </p:txBody>
      </p:sp>
    </p:spTree>
    <p:extLst>
      <p:ext uri="{BB962C8B-B14F-4D97-AF65-F5344CB8AC3E}">
        <p14:creationId xmlns:p14="http://schemas.microsoft.com/office/powerpoint/2010/main" val="357041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30" name="AutoShape 6"/>
          <p:cNvSpPr>
            <a:spLocks noChangeAspect="1" noChangeArrowheads="1"/>
          </p:cNvSpPr>
          <p:nvPr/>
        </p:nvSpPr>
        <p:spPr bwMode="auto">
          <a:xfrm>
            <a:off x="2270125" y="1840607"/>
            <a:ext cx="4545013" cy="3933825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1" name="Line 39"/>
          <p:cNvSpPr>
            <a:spLocks noChangeShapeType="1"/>
          </p:cNvSpPr>
          <p:nvPr/>
        </p:nvSpPr>
        <p:spPr bwMode="auto">
          <a:xfrm>
            <a:off x="2514600" y="5380732"/>
            <a:ext cx="4114800" cy="0"/>
          </a:xfrm>
          <a:prstGeom prst="line">
            <a:avLst/>
          </a:prstGeom>
          <a:noFill/>
          <a:ln w="9525">
            <a:solidFill>
              <a:srgbClr val="140FE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2" name="Line 40"/>
          <p:cNvSpPr>
            <a:spLocks noChangeShapeType="1"/>
          </p:cNvSpPr>
          <p:nvPr/>
        </p:nvSpPr>
        <p:spPr bwMode="auto">
          <a:xfrm>
            <a:off x="2717800" y="5012432"/>
            <a:ext cx="3681413" cy="0"/>
          </a:xfrm>
          <a:prstGeom prst="line">
            <a:avLst/>
          </a:prstGeom>
          <a:noFill/>
          <a:ln w="9525">
            <a:solidFill>
              <a:srgbClr val="140FE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3" name="Line 41"/>
          <p:cNvSpPr>
            <a:spLocks noChangeShapeType="1"/>
          </p:cNvSpPr>
          <p:nvPr/>
        </p:nvSpPr>
        <p:spPr bwMode="auto">
          <a:xfrm>
            <a:off x="2935288" y="4631432"/>
            <a:ext cx="3213100" cy="0"/>
          </a:xfrm>
          <a:prstGeom prst="line">
            <a:avLst/>
          </a:prstGeom>
          <a:noFill/>
          <a:ln w="9525">
            <a:solidFill>
              <a:srgbClr val="140FE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4" name="Line 42"/>
          <p:cNvSpPr>
            <a:spLocks noChangeShapeType="1"/>
          </p:cNvSpPr>
          <p:nvPr/>
        </p:nvSpPr>
        <p:spPr bwMode="auto">
          <a:xfrm>
            <a:off x="3178175" y="4212332"/>
            <a:ext cx="2746375" cy="0"/>
          </a:xfrm>
          <a:prstGeom prst="line">
            <a:avLst/>
          </a:prstGeom>
          <a:noFill/>
          <a:ln w="9525">
            <a:solidFill>
              <a:srgbClr val="140FE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5" name="Line 43"/>
          <p:cNvSpPr>
            <a:spLocks noChangeShapeType="1"/>
          </p:cNvSpPr>
          <p:nvPr/>
        </p:nvSpPr>
        <p:spPr bwMode="auto">
          <a:xfrm>
            <a:off x="3408363" y="3818632"/>
            <a:ext cx="2278062" cy="0"/>
          </a:xfrm>
          <a:prstGeom prst="line">
            <a:avLst/>
          </a:prstGeom>
          <a:noFill/>
          <a:ln w="9525">
            <a:solidFill>
              <a:srgbClr val="140FE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6" name="Line 44"/>
          <p:cNvSpPr>
            <a:spLocks noChangeShapeType="1"/>
          </p:cNvSpPr>
          <p:nvPr/>
        </p:nvSpPr>
        <p:spPr bwMode="auto">
          <a:xfrm>
            <a:off x="3625850" y="3450332"/>
            <a:ext cx="1846263" cy="0"/>
          </a:xfrm>
          <a:prstGeom prst="line">
            <a:avLst/>
          </a:prstGeom>
          <a:noFill/>
          <a:ln w="9525">
            <a:solidFill>
              <a:srgbClr val="140FE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7" name="Line 45"/>
          <p:cNvSpPr>
            <a:spLocks noChangeShapeType="1"/>
          </p:cNvSpPr>
          <p:nvPr/>
        </p:nvSpPr>
        <p:spPr bwMode="auto">
          <a:xfrm>
            <a:off x="3843338" y="3043932"/>
            <a:ext cx="1414462" cy="0"/>
          </a:xfrm>
          <a:prstGeom prst="line">
            <a:avLst/>
          </a:prstGeom>
          <a:noFill/>
          <a:ln w="9525">
            <a:solidFill>
              <a:srgbClr val="140FE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8" name="Line 46"/>
          <p:cNvSpPr>
            <a:spLocks noChangeShapeType="1"/>
          </p:cNvSpPr>
          <p:nvPr/>
        </p:nvSpPr>
        <p:spPr bwMode="auto">
          <a:xfrm>
            <a:off x="4086225" y="2637532"/>
            <a:ext cx="946150" cy="0"/>
          </a:xfrm>
          <a:prstGeom prst="line">
            <a:avLst/>
          </a:prstGeom>
          <a:noFill/>
          <a:ln w="9525">
            <a:solidFill>
              <a:srgbClr val="140FE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9" name="Line 47"/>
          <p:cNvSpPr>
            <a:spLocks noChangeShapeType="1"/>
          </p:cNvSpPr>
          <p:nvPr/>
        </p:nvSpPr>
        <p:spPr bwMode="auto">
          <a:xfrm>
            <a:off x="4303713" y="2269232"/>
            <a:ext cx="479425" cy="0"/>
          </a:xfrm>
          <a:prstGeom prst="line">
            <a:avLst/>
          </a:prstGeom>
          <a:noFill/>
          <a:ln w="9525">
            <a:solidFill>
              <a:srgbClr val="140FE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0" name="Line 48"/>
          <p:cNvSpPr>
            <a:spLocks noChangeAspect="1" noChangeShapeType="1"/>
          </p:cNvSpPr>
          <p:nvPr/>
        </p:nvSpPr>
        <p:spPr bwMode="auto">
          <a:xfrm flipH="1">
            <a:off x="2743200" y="2224782"/>
            <a:ext cx="2047875" cy="3540125"/>
          </a:xfrm>
          <a:prstGeom prst="line">
            <a:avLst/>
          </a:prstGeom>
          <a:noFill/>
          <a:ln w="9525">
            <a:solidFill>
              <a:srgbClr val="FF121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" name="Line 49"/>
          <p:cNvSpPr>
            <a:spLocks noChangeAspect="1" noChangeShapeType="1"/>
          </p:cNvSpPr>
          <p:nvPr/>
        </p:nvSpPr>
        <p:spPr bwMode="auto">
          <a:xfrm flipH="1">
            <a:off x="3171825" y="2612132"/>
            <a:ext cx="1831975" cy="3165475"/>
          </a:xfrm>
          <a:prstGeom prst="line">
            <a:avLst/>
          </a:prstGeom>
          <a:noFill/>
          <a:ln w="9525">
            <a:solidFill>
              <a:srgbClr val="FF121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2" name="Line 50"/>
          <p:cNvSpPr>
            <a:spLocks noChangeAspect="1" noChangeShapeType="1"/>
          </p:cNvSpPr>
          <p:nvPr/>
        </p:nvSpPr>
        <p:spPr bwMode="auto">
          <a:xfrm flipH="1">
            <a:off x="3638550" y="3050282"/>
            <a:ext cx="1579563" cy="2727325"/>
          </a:xfrm>
          <a:prstGeom prst="line">
            <a:avLst/>
          </a:prstGeom>
          <a:noFill/>
          <a:ln w="9525">
            <a:solidFill>
              <a:srgbClr val="FF121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3" name="Line 51"/>
          <p:cNvSpPr>
            <a:spLocks noChangeAspect="1" noChangeShapeType="1"/>
          </p:cNvSpPr>
          <p:nvPr/>
        </p:nvSpPr>
        <p:spPr bwMode="auto">
          <a:xfrm flipH="1">
            <a:off x="4102100" y="3472557"/>
            <a:ext cx="1328738" cy="2292350"/>
          </a:xfrm>
          <a:prstGeom prst="line">
            <a:avLst/>
          </a:prstGeom>
          <a:noFill/>
          <a:ln w="9525">
            <a:solidFill>
              <a:srgbClr val="FF121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4" name="Line 52"/>
          <p:cNvSpPr>
            <a:spLocks noChangeAspect="1" noChangeShapeType="1"/>
          </p:cNvSpPr>
          <p:nvPr/>
        </p:nvSpPr>
        <p:spPr bwMode="auto">
          <a:xfrm flipH="1">
            <a:off x="4551363" y="3796407"/>
            <a:ext cx="1147762" cy="1978025"/>
          </a:xfrm>
          <a:prstGeom prst="line">
            <a:avLst/>
          </a:prstGeom>
          <a:noFill/>
          <a:ln w="9525">
            <a:solidFill>
              <a:srgbClr val="FF121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5" name="Line 53"/>
          <p:cNvSpPr>
            <a:spLocks noChangeAspect="1" noChangeShapeType="1"/>
          </p:cNvSpPr>
          <p:nvPr/>
        </p:nvSpPr>
        <p:spPr bwMode="auto">
          <a:xfrm flipH="1">
            <a:off x="5013325" y="4234557"/>
            <a:ext cx="895350" cy="1539875"/>
          </a:xfrm>
          <a:prstGeom prst="line">
            <a:avLst/>
          </a:prstGeom>
          <a:noFill/>
          <a:ln w="9525">
            <a:solidFill>
              <a:srgbClr val="FF121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6" name="Line 54"/>
          <p:cNvSpPr>
            <a:spLocks noChangeAspect="1" noChangeShapeType="1"/>
          </p:cNvSpPr>
          <p:nvPr/>
        </p:nvSpPr>
        <p:spPr bwMode="auto">
          <a:xfrm flipH="1">
            <a:off x="5437188" y="4621907"/>
            <a:ext cx="679450" cy="1166813"/>
          </a:xfrm>
          <a:prstGeom prst="line">
            <a:avLst/>
          </a:prstGeom>
          <a:noFill/>
          <a:ln w="9525">
            <a:solidFill>
              <a:srgbClr val="FF121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7" name="Line 55"/>
          <p:cNvSpPr>
            <a:spLocks noChangeAspect="1" noChangeShapeType="1"/>
          </p:cNvSpPr>
          <p:nvPr/>
        </p:nvSpPr>
        <p:spPr bwMode="auto">
          <a:xfrm flipH="1">
            <a:off x="5899150" y="4974332"/>
            <a:ext cx="463550" cy="795338"/>
          </a:xfrm>
          <a:prstGeom prst="line">
            <a:avLst/>
          </a:prstGeom>
          <a:noFill/>
          <a:ln w="9525">
            <a:solidFill>
              <a:srgbClr val="FF121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8" name="Line 56"/>
          <p:cNvSpPr>
            <a:spLocks noChangeAspect="1" noChangeShapeType="1"/>
          </p:cNvSpPr>
          <p:nvPr/>
        </p:nvSpPr>
        <p:spPr bwMode="auto">
          <a:xfrm flipH="1">
            <a:off x="6361113" y="5352157"/>
            <a:ext cx="247650" cy="425450"/>
          </a:xfrm>
          <a:prstGeom prst="line">
            <a:avLst/>
          </a:prstGeom>
          <a:noFill/>
          <a:ln w="9525">
            <a:solidFill>
              <a:srgbClr val="FF121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9" name="Line 58"/>
          <p:cNvSpPr>
            <a:spLocks noChangeAspect="1" noChangeShapeType="1"/>
          </p:cNvSpPr>
          <p:nvPr/>
        </p:nvSpPr>
        <p:spPr bwMode="auto">
          <a:xfrm>
            <a:off x="4325938" y="2248595"/>
            <a:ext cx="2038350" cy="3544887"/>
          </a:xfrm>
          <a:prstGeom prst="line">
            <a:avLst/>
          </a:prstGeom>
          <a:noFill/>
          <a:ln w="9525">
            <a:solidFill>
              <a:srgbClr val="08F40A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0" name="Line 59"/>
          <p:cNvSpPr>
            <a:spLocks noChangeAspect="1" noChangeShapeType="1"/>
          </p:cNvSpPr>
          <p:nvPr/>
        </p:nvSpPr>
        <p:spPr bwMode="auto">
          <a:xfrm>
            <a:off x="4090988" y="2642295"/>
            <a:ext cx="1811337" cy="3149600"/>
          </a:xfrm>
          <a:prstGeom prst="line">
            <a:avLst/>
          </a:prstGeom>
          <a:noFill/>
          <a:ln w="9525">
            <a:solidFill>
              <a:srgbClr val="08F40A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1" name="Line 60"/>
          <p:cNvSpPr>
            <a:spLocks noChangeAspect="1" noChangeShapeType="1"/>
          </p:cNvSpPr>
          <p:nvPr/>
        </p:nvSpPr>
        <p:spPr bwMode="auto">
          <a:xfrm>
            <a:off x="3868738" y="3035995"/>
            <a:ext cx="1584325" cy="2752725"/>
          </a:xfrm>
          <a:prstGeom prst="line">
            <a:avLst/>
          </a:prstGeom>
          <a:noFill/>
          <a:ln w="9525">
            <a:solidFill>
              <a:srgbClr val="08F40A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2" name="Line 61"/>
          <p:cNvSpPr>
            <a:spLocks noChangeAspect="1" noChangeShapeType="1"/>
          </p:cNvSpPr>
          <p:nvPr/>
        </p:nvSpPr>
        <p:spPr bwMode="auto">
          <a:xfrm>
            <a:off x="3646488" y="3429695"/>
            <a:ext cx="1357312" cy="2357437"/>
          </a:xfrm>
          <a:prstGeom prst="line">
            <a:avLst/>
          </a:prstGeom>
          <a:noFill/>
          <a:ln w="9525">
            <a:solidFill>
              <a:srgbClr val="08F40A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3" name="Line 62"/>
          <p:cNvSpPr>
            <a:spLocks noChangeAspect="1" noChangeShapeType="1"/>
          </p:cNvSpPr>
          <p:nvPr/>
        </p:nvSpPr>
        <p:spPr bwMode="auto">
          <a:xfrm>
            <a:off x="3424238" y="3823395"/>
            <a:ext cx="1130300" cy="1962150"/>
          </a:xfrm>
          <a:prstGeom prst="line">
            <a:avLst/>
          </a:prstGeom>
          <a:noFill/>
          <a:ln w="9525">
            <a:solidFill>
              <a:srgbClr val="08F40A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4" name="Line 63"/>
          <p:cNvSpPr>
            <a:spLocks noChangeAspect="1" noChangeShapeType="1"/>
          </p:cNvSpPr>
          <p:nvPr/>
        </p:nvSpPr>
        <p:spPr bwMode="auto">
          <a:xfrm>
            <a:off x="3201988" y="4217095"/>
            <a:ext cx="903287" cy="1565275"/>
          </a:xfrm>
          <a:prstGeom prst="line">
            <a:avLst/>
          </a:prstGeom>
          <a:noFill/>
          <a:ln w="9525">
            <a:solidFill>
              <a:srgbClr val="08F40A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5" name="Line 64"/>
          <p:cNvSpPr>
            <a:spLocks noChangeAspect="1" noChangeShapeType="1"/>
          </p:cNvSpPr>
          <p:nvPr/>
        </p:nvSpPr>
        <p:spPr bwMode="auto">
          <a:xfrm>
            <a:off x="2967038" y="4610795"/>
            <a:ext cx="676275" cy="1169987"/>
          </a:xfrm>
          <a:prstGeom prst="line">
            <a:avLst/>
          </a:prstGeom>
          <a:noFill/>
          <a:ln w="9525">
            <a:solidFill>
              <a:srgbClr val="08F40A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6" name="Line 65"/>
          <p:cNvSpPr>
            <a:spLocks noChangeAspect="1" noChangeShapeType="1"/>
          </p:cNvSpPr>
          <p:nvPr/>
        </p:nvSpPr>
        <p:spPr bwMode="auto">
          <a:xfrm>
            <a:off x="2732088" y="5004495"/>
            <a:ext cx="449262" cy="773112"/>
          </a:xfrm>
          <a:prstGeom prst="line">
            <a:avLst/>
          </a:prstGeom>
          <a:noFill/>
          <a:ln w="9525">
            <a:solidFill>
              <a:srgbClr val="08F40A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7" name="Line 66"/>
          <p:cNvSpPr>
            <a:spLocks noChangeAspect="1" noChangeShapeType="1"/>
          </p:cNvSpPr>
          <p:nvPr/>
        </p:nvSpPr>
        <p:spPr bwMode="auto">
          <a:xfrm>
            <a:off x="2522538" y="5398195"/>
            <a:ext cx="222250" cy="377825"/>
          </a:xfrm>
          <a:prstGeom prst="line">
            <a:avLst/>
          </a:prstGeom>
          <a:noFill/>
          <a:ln w="9525">
            <a:solidFill>
              <a:srgbClr val="08F40A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8" name="Line 19"/>
          <p:cNvSpPr>
            <a:spLocks noChangeShapeType="1"/>
          </p:cNvSpPr>
          <p:nvPr/>
        </p:nvSpPr>
        <p:spPr bwMode="auto">
          <a:xfrm>
            <a:off x="2743200" y="5710932"/>
            <a:ext cx="0" cy="125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9" name="Line 20"/>
          <p:cNvSpPr>
            <a:spLocks noChangeShapeType="1"/>
          </p:cNvSpPr>
          <p:nvPr/>
        </p:nvSpPr>
        <p:spPr bwMode="auto">
          <a:xfrm>
            <a:off x="3175000" y="5710932"/>
            <a:ext cx="0" cy="125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0" name="Line 21"/>
          <p:cNvSpPr>
            <a:spLocks noChangeShapeType="1"/>
          </p:cNvSpPr>
          <p:nvPr/>
        </p:nvSpPr>
        <p:spPr bwMode="auto">
          <a:xfrm>
            <a:off x="3644900" y="5710932"/>
            <a:ext cx="0" cy="125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1" name="Line 22"/>
          <p:cNvSpPr>
            <a:spLocks noChangeShapeType="1"/>
          </p:cNvSpPr>
          <p:nvPr/>
        </p:nvSpPr>
        <p:spPr bwMode="auto">
          <a:xfrm>
            <a:off x="4102100" y="5710932"/>
            <a:ext cx="0" cy="125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2" name="Line 23"/>
          <p:cNvSpPr>
            <a:spLocks noChangeShapeType="1"/>
          </p:cNvSpPr>
          <p:nvPr/>
        </p:nvSpPr>
        <p:spPr bwMode="auto">
          <a:xfrm>
            <a:off x="4559300" y="5710932"/>
            <a:ext cx="0" cy="125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3" name="Line 24"/>
          <p:cNvSpPr>
            <a:spLocks noChangeShapeType="1"/>
          </p:cNvSpPr>
          <p:nvPr/>
        </p:nvSpPr>
        <p:spPr bwMode="auto">
          <a:xfrm>
            <a:off x="5016500" y="5710932"/>
            <a:ext cx="0" cy="125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4" name="Line 25"/>
          <p:cNvSpPr>
            <a:spLocks noChangeShapeType="1"/>
          </p:cNvSpPr>
          <p:nvPr/>
        </p:nvSpPr>
        <p:spPr bwMode="auto">
          <a:xfrm>
            <a:off x="5448300" y="5710932"/>
            <a:ext cx="0" cy="125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5" name="Line 26"/>
          <p:cNvSpPr>
            <a:spLocks noChangeShapeType="1"/>
          </p:cNvSpPr>
          <p:nvPr/>
        </p:nvSpPr>
        <p:spPr bwMode="auto">
          <a:xfrm>
            <a:off x="5905500" y="5710932"/>
            <a:ext cx="0" cy="125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6" name="Line 27"/>
          <p:cNvSpPr>
            <a:spLocks noChangeShapeType="1"/>
          </p:cNvSpPr>
          <p:nvPr/>
        </p:nvSpPr>
        <p:spPr bwMode="auto">
          <a:xfrm>
            <a:off x="6362700" y="5710932"/>
            <a:ext cx="0" cy="125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grpSp>
        <p:nvGrpSpPr>
          <p:cNvPr id="67" name="Group 28"/>
          <p:cNvGrpSpPr>
            <a:grpSpLocks/>
          </p:cNvGrpSpPr>
          <p:nvPr/>
        </p:nvGrpSpPr>
        <p:grpSpPr bwMode="auto">
          <a:xfrm>
            <a:off x="2438400" y="2232720"/>
            <a:ext cx="1955800" cy="3201987"/>
            <a:chOff x="1536" y="1225"/>
            <a:chExt cx="1232" cy="2017"/>
          </a:xfrm>
        </p:grpSpPr>
        <p:sp>
          <p:nvSpPr>
            <p:cNvPr id="68" name="Line 7"/>
            <p:cNvSpPr>
              <a:spLocks noChangeAspect="1" noChangeShapeType="1"/>
            </p:cNvSpPr>
            <p:nvPr/>
          </p:nvSpPr>
          <p:spPr bwMode="auto">
            <a:xfrm flipH="1" flipV="1">
              <a:off x="2112" y="2205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9" name="Line 9"/>
            <p:cNvSpPr>
              <a:spLocks noChangeAspect="1" noChangeShapeType="1"/>
            </p:cNvSpPr>
            <p:nvPr/>
          </p:nvSpPr>
          <p:spPr bwMode="auto">
            <a:xfrm flipH="1" flipV="1">
              <a:off x="2248" y="1976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0" name="Line 10"/>
            <p:cNvSpPr>
              <a:spLocks noChangeAspect="1" noChangeShapeType="1"/>
            </p:cNvSpPr>
            <p:nvPr/>
          </p:nvSpPr>
          <p:spPr bwMode="auto">
            <a:xfrm flipH="1" flipV="1">
              <a:off x="2392" y="1715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" name="Line 11"/>
            <p:cNvSpPr>
              <a:spLocks noChangeAspect="1" noChangeShapeType="1"/>
            </p:cNvSpPr>
            <p:nvPr/>
          </p:nvSpPr>
          <p:spPr bwMode="auto">
            <a:xfrm flipH="1" flipV="1">
              <a:off x="2536" y="1462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2" name="Line 12"/>
            <p:cNvSpPr>
              <a:spLocks noChangeAspect="1" noChangeShapeType="1"/>
            </p:cNvSpPr>
            <p:nvPr/>
          </p:nvSpPr>
          <p:spPr bwMode="auto">
            <a:xfrm flipH="1" flipV="1">
              <a:off x="2680" y="1225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3" name="Line 13"/>
            <p:cNvSpPr>
              <a:spLocks noChangeAspect="1" noChangeShapeType="1"/>
            </p:cNvSpPr>
            <p:nvPr/>
          </p:nvSpPr>
          <p:spPr bwMode="auto">
            <a:xfrm flipH="1" flipV="1">
              <a:off x="1968" y="2456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4" name="Line 14"/>
            <p:cNvSpPr>
              <a:spLocks noChangeAspect="1" noChangeShapeType="1"/>
            </p:cNvSpPr>
            <p:nvPr/>
          </p:nvSpPr>
          <p:spPr bwMode="auto">
            <a:xfrm flipH="1" flipV="1">
              <a:off x="1816" y="2712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5" name="Line 15"/>
            <p:cNvSpPr>
              <a:spLocks noChangeAspect="1" noChangeShapeType="1"/>
            </p:cNvSpPr>
            <p:nvPr/>
          </p:nvSpPr>
          <p:spPr bwMode="auto">
            <a:xfrm flipH="1" flipV="1">
              <a:off x="1680" y="2960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6" name="Line 16"/>
            <p:cNvSpPr>
              <a:spLocks noChangeAspect="1" noChangeShapeType="1"/>
            </p:cNvSpPr>
            <p:nvPr/>
          </p:nvSpPr>
          <p:spPr bwMode="auto">
            <a:xfrm flipH="1" flipV="1">
              <a:off x="1536" y="3192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77" name="Group 29"/>
          <p:cNvGrpSpPr>
            <a:grpSpLocks/>
          </p:cNvGrpSpPr>
          <p:nvPr/>
        </p:nvGrpSpPr>
        <p:grpSpPr bwMode="auto">
          <a:xfrm rot="-3628926">
            <a:off x="4698207" y="2233513"/>
            <a:ext cx="1955800" cy="3201987"/>
            <a:chOff x="1536" y="1225"/>
            <a:chExt cx="1232" cy="2017"/>
          </a:xfrm>
        </p:grpSpPr>
        <p:sp>
          <p:nvSpPr>
            <p:cNvPr id="78" name="Line 30"/>
            <p:cNvSpPr>
              <a:spLocks noChangeAspect="1" noChangeShapeType="1"/>
            </p:cNvSpPr>
            <p:nvPr/>
          </p:nvSpPr>
          <p:spPr bwMode="auto">
            <a:xfrm flipH="1" flipV="1">
              <a:off x="2112" y="2205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9" name="Line 31"/>
            <p:cNvSpPr>
              <a:spLocks noChangeAspect="1" noChangeShapeType="1"/>
            </p:cNvSpPr>
            <p:nvPr/>
          </p:nvSpPr>
          <p:spPr bwMode="auto">
            <a:xfrm flipH="1" flipV="1">
              <a:off x="2248" y="1976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0" name="Line 32"/>
            <p:cNvSpPr>
              <a:spLocks noChangeAspect="1" noChangeShapeType="1"/>
            </p:cNvSpPr>
            <p:nvPr/>
          </p:nvSpPr>
          <p:spPr bwMode="auto">
            <a:xfrm flipH="1" flipV="1">
              <a:off x="2392" y="1715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" name="Line 33"/>
            <p:cNvSpPr>
              <a:spLocks noChangeAspect="1" noChangeShapeType="1"/>
            </p:cNvSpPr>
            <p:nvPr/>
          </p:nvSpPr>
          <p:spPr bwMode="auto">
            <a:xfrm flipH="1" flipV="1">
              <a:off x="2536" y="1462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" name="Line 34"/>
            <p:cNvSpPr>
              <a:spLocks noChangeAspect="1" noChangeShapeType="1"/>
            </p:cNvSpPr>
            <p:nvPr/>
          </p:nvSpPr>
          <p:spPr bwMode="auto">
            <a:xfrm flipH="1" flipV="1">
              <a:off x="2680" y="1225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3" name="Line 35"/>
            <p:cNvSpPr>
              <a:spLocks noChangeAspect="1" noChangeShapeType="1"/>
            </p:cNvSpPr>
            <p:nvPr/>
          </p:nvSpPr>
          <p:spPr bwMode="auto">
            <a:xfrm flipH="1" flipV="1">
              <a:off x="1968" y="2456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4" name="Line 36"/>
            <p:cNvSpPr>
              <a:spLocks noChangeAspect="1" noChangeShapeType="1"/>
            </p:cNvSpPr>
            <p:nvPr/>
          </p:nvSpPr>
          <p:spPr bwMode="auto">
            <a:xfrm flipH="1" flipV="1">
              <a:off x="1816" y="2712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5" name="Line 37"/>
            <p:cNvSpPr>
              <a:spLocks noChangeAspect="1" noChangeShapeType="1"/>
            </p:cNvSpPr>
            <p:nvPr/>
          </p:nvSpPr>
          <p:spPr bwMode="auto">
            <a:xfrm flipH="1" flipV="1">
              <a:off x="1680" y="2960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" name="Line 38"/>
            <p:cNvSpPr>
              <a:spLocks noChangeAspect="1" noChangeShapeType="1"/>
            </p:cNvSpPr>
            <p:nvPr/>
          </p:nvSpPr>
          <p:spPr bwMode="auto">
            <a:xfrm flipH="1" flipV="1">
              <a:off x="1536" y="3192"/>
              <a:ext cx="88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7" name="Rectangle 67"/>
          <p:cNvSpPr>
            <a:spLocks noChangeArrowheads="1"/>
          </p:cNvSpPr>
          <p:nvPr/>
        </p:nvSpPr>
        <p:spPr bwMode="auto">
          <a:xfrm>
            <a:off x="4343400" y="1340545"/>
            <a:ext cx="366713" cy="4572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0">
                <a:solidFill>
                  <a:srgbClr val="140FE3"/>
                </a:solidFill>
                <a:latin typeface="Tahoma" charset="0"/>
                <a:ea typeface="ＭＳ Ｐゴシック" charset="0"/>
              </a:rPr>
              <a:t>A</a:t>
            </a:r>
          </a:p>
        </p:txBody>
      </p:sp>
      <p:sp>
        <p:nvSpPr>
          <p:cNvPr id="88" name="Rectangle 68"/>
          <p:cNvSpPr>
            <a:spLocks noChangeArrowheads="1"/>
          </p:cNvSpPr>
          <p:nvPr/>
        </p:nvSpPr>
        <p:spPr bwMode="auto">
          <a:xfrm>
            <a:off x="1828800" y="5622032"/>
            <a:ext cx="363538" cy="4572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0">
                <a:solidFill>
                  <a:srgbClr val="08F40A"/>
                </a:solidFill>
                <a:latin typeface="Tahoma" charset="0"/>
                <a:ea typeface="ＭＳ Ｐゴシック" charset="0"/>
              </a:rPr>
              <a:t>B</a:t>
            </a:r>
          </a:p>
        </p:txBody>
      </p:sp>
      <p:sp>
        <p:nvSpPr>
          <p:cNvPr id="89" name="Rectangle 69"/>
          <p:cNvSpPr>
            <a:spLocks noChangeArrowheads="1"/>
          </p:cNvSpPr>
          <p:nvPr/>
        </p:nvSpPr>
        <p:spPr bwMode="auto">
          <a:xfrm>
            <a:off x="6934200" y="5622032"/>
            <a:ext cx="366713" cy="4572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0">
                <a:solidFill>
                  <a:srgbClr val="FF1212"/>
                </a:solidFill>
                <a:latin typeface="Tahoma" charset="0"/>
                <a:ea typeface="ＭＳ Ｐゴシック" charset="0"/>
              </a:rPr>
              <a:t>C</a:t>
            </a:r>
          </a:p>
        </p:txBody>
      </p:sp>
      <p:sp>
        <p:nvSpPr>
          <p:cNvPr id="90" name="Text Box 72"/>
          <p:cNvSpPr txBox="1">
            <a:spLocks noChangeArrowheads="1"/>
          </p:cNvSpPr>
          <p:nvPr/>
        </p:nvSpPr>
        <p:spPr bwMode="auto">
          <a:xfrm>
            <a:off x="3003550" y="6188794"/>
            <a:ext cx="31654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fr-FR" sz="1600" b="0">
                <a:latin typeface="Tahoma" pitchFamily="34" charset="0"/>
              </a:rPr>
              <a:t>Accroissement du % C (X</a:t>
            </a:r>
            <a:r>
              <a:rPr lang="fr-FR" sz="1600" b="0" baseline="-25000">
                <a:latin typeface="Tahoma" pitchFamily="34" charset="0"/>
              </a:rPr>
              <a:t>C </a:t>
            </a:r>
            <a:r>
              <a:rPr lang="fr-FR" sz="1600" b="0">
                <a:latin typeface="Tahoma" pitchFamily="34" charset="0"/>
              </a:rPr>
              <a:t>ou C</a:t>
            </a:r>
            <a:r>
              <a:rPr lang="fr-FR" sz="1600" b="0" baseline="-25000">
                <a:latin typeface="Tahoma" pitchFamily="34" charset="0"/>
              </a:rPr>
              <a:t>C</a:t>
            </a:r>
            <a:r>
              <a:rPr lang="fr-FR" sz="1600" b="0">
                <a:latin typeface="Tahoma" pitchFamily="34" charset="0"/>
              </a:rPr>
              <a:t>)</a:t>
            </a:r>
          </a:p>
        </p:txBody>
      </p:sp>
      <p:sp>
        <p:nvSpPr>
          <p:cNvPr id="91" name="AutoShape 73"/>
          <p:cNvSpPr>
            <a:spLocks noChangeArrowheads="1"/>
          </p:cNvSpPr>
          <p:nvPr/>
        </p:nvSpPr>
        <p:spPr bwMode="auto">
          <a:xfrm>
            <a:off x="3206750" y="5979244"/>
            <a:ext cx="2743200" cy="228600"/>
          </a:xfrm>
          <a:prstGeom prst="rightArrow">
            <a:avLst>
              <a:gd name="adj1" fmla="val 50000"/>
              <a:gd name="adj2" fmla="val 300000"/>
            </a:avLst>
          </a:prstGeom>
          <a:solidFill>
            <a:srgbClr val="FF121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92" name="Text Box 74"/>
          <p:cNvSpPr txBox="1">
            <a:spLocks noChangeArrowheads="1"/>
          </p:cNvSpPr>
          <p:nvPr/>
        </p:nvSpPr>
        <p:spPr bwMode="auto">
          <a:xfrm rot="3629476" flipH="1">
            <a:off x="4596606" y="3208239"/>
            <a:ext cx="33543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FR" sz="1600" b="0"/>
              <a:t>Accroissement du % A (X</a:t>
            </a:r>
            <a:r>
              <a:rPr lang="fr-FR" sz="1600" b="0" baseline="-25000"/>
              <a:t>A </a:t>
            </a:r>
            <a:r>
              <a:rPr lang="fr-FR" sz="1600" b="0"/>
              <a:t>ou C</a:t>
            </a:r>
            <a:r>
              <a:rPr lang="fr-FR" sz="1600" b="0" baseline="-25000"/>
              <a:t>A</a:t>
            </a:r>
            <a:r>
              <a:rPr lang="fr-FR" sz="1600" b="0"/>
              <a:t>)</a:t>
            </a:r>
          </a:p>
        </p:txBody>
      </p:sp>
      <p:sp>
        <p:nvSpPr>
          <p:cNvPr id="93" name="AutoShape 75"/>
          <p:cNvSpPr>
            <a:spLocks noChangeArrowheads="1"/>
          </p:cNvSpPr>
          <p:nvPr/>
        </p:nvSpPr>
        <p:spPr bwMode="auto">
          <a:xfrm rot="9024982" flipH="1">
            <a:off x="5903913" y="2269232"/>
            <a:ext cx="228600" cy="2743200"/>
          </a:xfrm>
          <a:prstGeom prst="downArrow">
            <a:avLst>
              <a:gd name="adj1" fmla="val 50000"/>
              <a:gd name="adj2" fmla="val 300000"/>
            </a:avLst>
          </a:prstGeom>
          <a:solidFill>
            <a:srgbClr val="140FE3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94" name="Text Box 76"/>
          <p:cNvSpPr txBox="1">
            <a:spLocks noChangeArrowheads="1"/>
          </p:cNvSpPr>
          <p:nvPr/>
        </p:nvSpPr>
        <p:spPr bwMode="auto">
          <a:xfrm rot="17970524">
            <a:off x="1065212" y="3240783"/>
            <a:ext cx="3476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FR" sz="1600" b="0"/>
              <a:t>Accroissement du % B (X</a:t>
            </a:r>
            <a:r>
              <a:rPr lang="fr-FR" sz="1600" b="0" baseline="-25000"/>
              <a:t>B </a:t>
            </a:r>
            <a:r>
              <a:rPr lang="fr-FR" sz="1600" b="0"/>
              <a:t>ou C</a:t>
            </a:r>
            <a:r>
              <a:rPr lang="fr-FR" sz="1600" b="0" baseline="-25000"/>
              <a:t>B</a:t>
            </a:r>
            <a:r>
              <a:rPr lang="fr-FR" sz="1600" b="0"/>
              <a:t>)</a:t>
            </a:r>
          </a:p>
        </p:txBody>
      </p:sp>
      <p:sp>
        <p:nvSpPr>
          <p:cNvPr id="95" name="AutoShape 77"/>
          <p:cNvSpPr>
            <a:spLocks noChangeArrowheads="1"/>
          </p:cNvSpPr>
          <p:nvPr/>
        </p:nvSpPr>
        <p:spPr bwMode="auto">
          <a:xfrm rot="1802660">
            <a:off x="2895600" y="2345432"/>
            <a:ext cx="228600" cy="2743200"/>
          </a:xfrm>
          <a:prstGeom prst="downArrow">
            <a:avLst>
              <a:gd name="adj1" fmla="val 50000"/>
              <a:gd name="adj2" fmla="val 300000"/>
            </a:avLst>
          </a:prstGeom>
          <a:solidFill>
            <a:srgbClr val="08F40A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96" name="ZoneTexte 95"/>
          <p:cNvSpPr txBox="1"/>
          <p:nvPr/>
        </p:nvSpPr>
        <p:spPr>
          <a:xfrm>
            <a:off x="2472338" y="5756116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chemeClr val="accent6">
                    <a:lumMod val="75000"/>
                  </a:schemeClr>
                </a:solidFill>
              </a:rPr>
              <a:t>10</a:t>
            </a:r>
            <a:endParaRPr lang="fr-FR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7" name="ZoneTexte 96"/>
          <p:cNvSpPr txBox="1"/>
          <p:nvPr/>
        </p:nvSpPr>
        <p:spPr>
          <a:xfrm>
            <a:off x="2876198" y="5756116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fr-FR" sz="1400" dirty="0" smtClean="0">
                <a:solidFill>
                  <a:schemeClr val="accent6">
                    <a:lumMod val="75000"/>
                  </a:schemeClr>
                </a:solidFill>
              </a:rPr>
              <a:t>0</a:t>
            </a:r>
            <a:endParaRPr lang="fr-FR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8" name="ZoneTexte 97"/>
          <p:cNvSpPr txBox="1"/>
          <p:nvPr/>
        </p:nvSpPr>
        <p:spPr>
          <a:xfrm>
            <a:off x="3360068" y="5756116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chemeClr val="accent6">
                    <a:lumMod val="75000"/>
                  </a:schemeClr>
                </a:solidFill>
              </a:rPr>
              <a:t>30</a:t>
            </a:r>
            <a:endParaRPr lang="fr-FR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9" name="ZoneTexte 98"/>
          <p:cNvSpPr txBox="1"/>
          <p:nvPr/>
        </p:nvSpPr>
        <p:spPr>
          <a:xfrm>
            <a:off x="3821078" y="5748114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4</a:t>
            </a:r>
            <a:r>
              <a:rPr lang="fr-FR" sz="1400" dirty="0" smtClean="0">
                <a:solidFill>
                  <a:schemeClr val="accent6">
                    <a:lumMod val="75000"/>
                  </a:schemeClr>
                </a:solidFill>
              </a:rPr>
              <a:t>0</a:t>
            </a:r>
            <a:endParaRPr lang="fr-FR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0" name="ZoneTexte 99"/>
          <p:cNvSpPr txBox="1"/>
          <p:nvPr/>
        </p:nvSpPr>
        <p:spPr>
          <a:xfrm>
            <a:off x="4270658" y="5756116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chemeClr val="accent6">
                    <a:lumMod val="75000"/>
                  </a:schemeClr>
                </a:solidFill>
              </a:rPr>
              <a:t>50</a:t>
            </a:r>
            <a:endParaRPr lang="fr-FR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1" name="ZoneTexte 100"/>
          <p:cNvSpPr txBox="1"/>
          <p:nvPr/>
        </p:nvSpPr>
        <p:spPr>
          <a:xfrm>
            <a:off x="4743098" y="5756116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lang="fr-FR" sz="1400" dirty="0" smtClean="0">
                <a:solidFill>
                  <a:schemeClr val="accent6">
                    <a:lumMod val="75000"/>
                  </a:schemeClr>
                </a:solidFill>
              </a:rPr>
              <a:t>0</a:t>
            </a:r>
            <a:endParaRPr lang="fr-FR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2" name="ZoneTexte 101"/>
          <p:cNvSpPr txBox="1"/>
          <p:nvPr/>
        </p:nvSpPr>
        <p:spPr>
          <a:xfrm>
            <a:off x="5166792" y="5756116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chemeClr val="accent6">
                    <a:lumMod val="75000"/>
                  </a:schemeClr>
                </a:solidFill>
              </a:rPr>
              <a:t>70</a:t>
            </a:r>
            <a:endParaRPr lang="fr-FR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3" name="ZoneTexte 102"/>
          <p:cNvSpPr txBox="1"/>
          <p:nvPr/>
        </p:nvSpPr>
        <p:spPr>
          <a:xfrm>
            <a:off x="5627802" y="5756116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8</a:t>
            </a:r>
            <a:r>
              <a:rPr lang="fr-FR" sz="1400" dirty="0" smtClean="0">
                <a:solidFill>
                  <a:schemeClr val="accent6">
                    <a:lumMod val="75000"/>
                  </a:schemeClr>
                </a:solidFill>
              </a:rPr>
              <a:t>0</a:t>
            </a:r>
            <a:endParaRPr lang="fr-FR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4" name="ZoneTexte 103"/>
          <p:cNvSpPr txBox="1"/>
          <p:nvPr/>
        </p:nvSpPr>
        <p:spPr>
          <a:xfrm>
            <a:off x="6095598" y="5756116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chemeClr val="accent6">
                    <a:lumMod val="75000"/>
                  </a:schemeClr>
                </a:solidFill>
              </a:rPr>
              <a:t>90</a:t>
            </a:r>
            <a:endParaRPr lang="fr-FR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5" name="ZoneTexte 104"/>
          <p:cNvSpPr txBox="1"/>
          <p:nvPr/>
        </p:nvSpPr>
        <p:spPr>
          <a:xfrm>
            <a:off x="6473220" y="5194910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chemeClr val="tx2"/>
                </a:solidFill>
              </a:rPr>
              <a:t>10</a:t>
            </a:r>
            <a:endParaRPr lang="fr-FR" sz="1400" dirty="0">
              <a:solidFill>
                <a:schemeClr val="tx2"/>
              </a:solidFill>
            </a:endParaRPr>
          </a:p>
        </p:txBody>
      </p:sp>
      <p:sp>
        <p:nvSpPr>
          <p:cNvPr id="106" name="ZoneTexte 105"/>
          <p:cNvSpPr txBox="1"/>
          <p:nvPr/>
        </p:nvSpPr>
        <p:spPr>
          <a:xfrm>
            <a:off x="6257900" y="4804008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tx2"/>
                </a:solidFill>
              </a:rPr>
              <a:t>2</a:t>
            </a:r>
            <a:r>
              <a:rPr lang="fr-FR" sz="1400" dirty="0" smtClean="0">
                <a:solidFill>
                  <a:schemeClr val="tx2"/>
                </a:solidFill>
              </a:rPr>
              <a:t>0</a:t>
            </a:r>
            <a:endParaRPr lang="fr-FR" sz="1400" dirty="0">
              <a:solidFill>
                <a:schemeClr val="tx2"/>
              </a:solidFill>
            </a:endParaRPr>
          </a:p>
        </p:txBody>
      </p:sp>
      <p:sp>
        <p:nvSpPr>
          <p:cNvPr id="107" name="ZoneTexte 106"/>
          <p:cNvSpPr txBox="1"/>
          <p:nvPr/>
        </p:nvSpPr>
        <p:spPr>
          <a:xfrm>
            <a:off x="6027018" y="4430256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chemeClr val="tx2"/>
                </a:solidFill>
              </a:rPr>
              <a:t>30</a:t>
            </a:r>
            <a:endParaRPr lang="fr-FR" sz="1400" dirty="0">
              <a:solidFill>
                <a:schemeClr val="tx2"/>
              </a:solidFill>
            </a:endParaRPr>
          </a:p>
        </p:txBody>
      </p:sp>
      <p:sp>
        <p:nvSpPr>
          <p:cNvPr id="108" name="ZoneTexte 107"/>
          <p:cNvSpPr txBox="1"/>
          <p:nvPr/>
        </p:nvSpPr>
        <p:spPr>
          <a:xfrm>
            <a:off x="5781278" y="4019922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tx2"/>
                </a:solidFill>
              </a:rPr>
              <a:t>4</a:t>
            </a:r>
            <a:r>
              <a:rPr lang="fr-FR" sz="1400" dirty="0" smtClean="0">
                <a:solidFill>
                  <a:schemeClr val="tx2"/>
                </a:solidFill>
              </a:rPr>
              <a:t>0</a:t>
            </a:r>
            <a:endParaRPr lang="fr-FR" sz="1400" dirty="0">
              <a:solidFill>
                <a:schemeClr val="tx2"/>
              </a:solidFill>
            </a:endParaRPr>
          </a:p>
        </p:txBody>
      </p:sp>
      <p:sp>
        <p:nvSpPr>
          <p:cNvPr id="109" name="ZoneTexte 108"/>
          <p:cNvSpPr txBox="1"/>
          <p:nvPr/>
        </p:nvSpPr>
        <p:spPr>
          <a:xfrm>
            <a:off x="5557252" y="3595876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chemeClr val="tx2"/>
                </a:solidFill>
              </a:rPr>
              <a:t>50</a:t>
            </a:r>
            <a:endParaRPr lang="fr-FR" sz="1400" dirty="0">
              <a:solidFill>
                <a:schemeClr val="tx2"/>
              </a:solidFill>
            </a:endParaRPr>
          </a:p>
        </p:txBody>
      </p:sp>
      <p:sp>
        <p:nvSpPr>
          <p:cNvPr id="110" name="ZoneTexte 109"/>
          <p:cNvSpPr txBox="1"/>
          <p:nvPr/>
        </p:nvSpPr>
        <p:spPr>
          <a:xfrm>
            <a:off x="5344656" y="3242379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tx2"/>
                </a:solidFill>
              </a:rPr>
              <a:t>6</a:t>
            </a:r>
            <a:r>
              <a:rPr lang="fr-FR" sz="1400" dirty="0" smtClean="0">
                <a:solidFill>
                  <a:schemeClr val="tx2"/>
                </a:solidFill>
              </a:rPr>
              <a:t>0</a:t>
            </a:r>
            <a:endParaRPr lang="fr-FR" sz="1400" dirty="0">
              <a:solidFill>
                <a:schemeClr val="tx2"/>
              </a:solidFill>
            </a:endParaRPr>
          </a:p>
        </p:txBody>
      </p:sp>
      <p:sp>
        <p:nvSpPr>
          <p:cNvPr id="111" name="ZoneTexte 110"/>
          <p:cNvSpPr txBox="1"/>
          <p:nvPr/>
        </p:nvSpPr>
        <p:spPr>
          <a:xfrm>
            <a:off x="5113774" y="2852936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chemeClr val="tx2"/>
                </a:solidFill>
              </a:rPr>
              <a:t>70</a:t>
            </a:r>
            <a:endParaRPr lang="fr-FR" sz="1400" dirty="0">
              <a:solidFill>
                <a:schemeClr val="tx2"/>
              </a:solidFill>
            </a:endParaRPr>
          </a:p>
        </p:txBody>
      </p:sp>
      <p:sp>
        <p:nvSpPr>
          <p:cNvPr id="112" name="ZoneTexte 111"/>
          <p:cNvSpPr txBox="1"/>
          <p:nvPr/>
        </p:nvSpPr>
        <p:spPr>
          <a:xfrm>
            <a:off x="4871462" y="2443748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tx2"/>
                </a:solidFill>
              </a:rPr>
              <a:t>8</a:t>
            </a:r>
            <a:r>
              <a:rPr lang="fr-FR" sz="1400" dirty="0" smtClean="0">
                <a:solidFill>
                  <a:schemeClr val="tx2"/>
                </a:solidFill>
              </a:rPr>
              <a:t>0</a:t>
            </a:r>
            <a:endParaRPr lang="fr-FR" sz="1400" dirty="0">
              <a:solidFill>
                <a:schemeClr val="tx2"/>
              </a:solidFill>
            </a:endParaRPr>
          </a:p>
        </p:txBody>
      </p:sp>
      <p:sp>
        <p:nvSpPr>
          <p:cNvPr id="113" name="ZoneTexte 112"/>
          <p:cNvSpPr txBox="1"/>
          <p:nvPr/>
        </p:nvSpPr>
        <p:spPr>
          <a:xfrm>
            <a:off x="4662294" y="2064276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chemeClr val="tx2"/>
                </a:solidFill>
              </a:rPr>
              <a:t>90</a:t>
            </a:r>
            <a:endParaRPr lang="fr-FR" sz="1400" dirty="0">
              <a:solidFill>
                <a:schemeClr val="tx2"/>
              </a:solidFill>
            </a:endParaRPr>
          </a:p>
        </p:txBody>
      </p:sp>
      <p:sp>
        <p:nvSpPr>
          <p:cNvPr id="114" name="ZoneTexte 113"/>
          <p:cNvSpPr txBox="1"/>
          <p:nvPr/>
        </p:nvSpPr>
        <p:spPr>
          <a:xfrm>
            <a:off x="3835212" y="2060848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rgbClr val="00B050"/>
                </a:solidFill>
              </a:rPr>
              <a:t>10</a:t>
            </a:r>
            <a:endParaRPr lang="fr-FR" sz="1400" dirty="0">
              <a:solidFill>
                <a:srgbClr val="00B050"/>
              </a:solidFill>
            </a:endParaRPr>
          </a:p>
        </p:txBody>
      </p:sp>
      <p:sp>
        <p:nvSpPr>
          <p:cNvPr id="115" name="ZoneTexte 114"/>
          <p:cNvSpPr txBox="1"/>
          <p:nvPr/>
        </p:nvSpPr>
        <p:spPr>
          <a:xfrm>
            <a:off x="3624466" y="2420575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00B050"/>
                </a:solidFill>
              </a:rPr>
              <a:t>2</a:t>
            </a:r>
            <a:r>
              <a:rPr lang="fr-FR" sz="1400" dirty="0" smtClean="0">
                <a:solidFill>
                  <a:srgbClr val="00B050"/>
                </a:solidFill>
              </a:rPr>
              <a:t>0</a:t>
            </a:r>
            <a:endParaRPr lang="fr-FR" sz="1400" dirty="0">
              <a:solidFill>
                <a:srgbClr val="00B050"/>
              </a:solidFill>
            </a:endParaRPr>
          </a:p>
        </p:txBody>
      </p:sp>
      <p:sp>
        <p:nvSpPr>
          <p:cNvPr id="116" name="ZoneTexte 115"/>
          <p:cNvSpPr txBox="1"/>
          <p:nvPr/>
        </p:nvSpPr>
        <p:spPr>
          <a:xfrm>
            <a:off x="3408442" y="2829763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rgbClr val="00B050"/>
                </a:solidFill>
              </a:rPr>
              <a:t>30</a:t>
            </a:r>
            <a:endParaRPr lang="fr-FR" sz="1400" dirty="0">
              <a:solidFill>
                <a:srgbClr val="00B050"/>
              </a:solidFill>
            </a:endParaRPr>
          </a:p>
        </p:txBody>
      </p:sp>
      <p:sp>
        <p:nvSpPr>
          <p:cNvPr id="117" name="ZoneTexte 116"/>
          <p:cNvSpPr txBox="1"/>
          <p:nvPr/>
        </p:nvSpPr>
        <p:spPr>
          <a:xfrm>
            <a:off x="3180988" y="3238951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00B050"/>
                </a:solidFill>
              </a:rPr>
              <a:t>4</a:t>
            </a:r>
            <a:r>
              <a:rPr lang="fr-FR" sz="1400" dirty="0" smtClean="0">
                <a:solidFill>
                  <a:srgbClr val="00B050"/>
                </a:solidFill>
              </a:rPr>
              <a:t>0</a:t>
            </a:r>
            <a:endParaRPr lang="fr-FR" sz="1400" dirty="0">
              <a:solidFill>
                <a:srgbClr val="00B050"/>
              </a:solidFill>
            </a:endParaRPr>
          </a:p>
        </p:txBody>
      </p:sp>
      <p:sp>
        <p:nvSpPr>
          <p:cNvPr id="118" name="ZoneTexte 117"/>
          <p:cNvSpPr txBox="1"/>
          <p:nvPr/>
        </p:nvSpPr>
        <p:spPr>
          <a:xfrm>
            <a:off x="2964964" y="3598991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rgbClr val="00B050"/>
                </a:solidFill>
              </a:rPr>
              <a:t>50</a:t>
            </a:r>
            <a:endParaRPr lang="fr-FR" sz="1400" dirty="0">
              <a:solidFill>
                <a:srgbClr val="00B050"/>
              </a:solidFill>
            </a:endParaRPr>
          </a:p>
        </p:txBody>
      </p:sp>
      <p:sp>
        <p:nvSpPr>
          <p:cNvPr id="119" name="ZoneTexte 118"/>
          <p:cNvSpPr txBox="1"/>
          <p:nvPr/>
        </p:nvSpPr>
        <p:spPr>
          <a:xfrm>
            <a:off x="2722652" y="3988747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00B050"/>
                </a:solidFill>
              </a:rPr>
              <a:t>6</a:t>
            </a:r>
            <a:r>
              <a:rPr lang="fr-FR" sz="1400" dirty="0" smtClean="0">
                <a:solidFill>
                  <a:srgbClr val="00B050"/>
                </a:solidFill>
              </a:rPr>
              <a:t>0</a:t>
            </a:r>
            <a:endParaRPr lang="fr-FR" sz="1400" dirty="0">
              <a:solidFill>
                <a:srgbClr val="00B050"/>
              </a:solidFill>
            </a:endParaRPr>
          </a:p>
        </p:txBody>
      </p:sp>
      <p:sp>
        <p:nvSpPr>
          <p:cNvPr id="120" name="ZoneTexte 119"/>
          <p:cNvSpPr txBox="1"/>
          <p:nvPr/>
        </p:nvSpPr>
        <p:spPr>
          <a:xfrm>
            <a:off x="2487196" y="4413939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rgbClr val="00B050"/>
                </a:solidFill>
              </a:rPr>
              <a:t>70</a:t>
            </a:r>
            <a:endParaRPr lang="fr-FR" sz="1400" dirty="0">
              <a:solidFill>
                <a:srgbClr val="00B050"/>
              </a:solidFill>
            </a:endParaRPr>
          </a:p>
        </p:txBody>
      </p:sp>
      <p:sp>
        <p:nvSpPr>
          <p:cNvPr id="121" name="ZoneTexte 120"/>
          <p:cNvSpPr txBox="1"/>
          <p:nvPr/>
        </p:nvSpPr>
        <p:spPr>
          <a:xfrm>
            <a:off x="2273896" y="4788837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00B050"/>
                </a:solidFill>
              </a:rPr>
              <a:t>8</a:t>
            </a:r>
            <a:r>
              <a:rPr lang="fr-FR" sz="1400" dirty="0" smtClean="0">
                <a:solidFill>
                  <a:srgbClr val="00B050"/>
                </a:solidFill>
              </a:rPr>
              <a:t>0</a:t>
            </a:r>
            <a:endParaRPr lang="fr-FR" sz="1400" dirty="0">
              <a:solidFill>
                <a:srgbClr val="00B050"/>
              </a:solidFill>
            </a:endParaRPr>
          </a:p>
        </p:txBody>
      </p:sp>
      <p:sp>
        <p:nvSpPr>
          <p:cNvPr id="122" name="ZoneTexte 121"/>
          <p:cNvSpPr txBox="1"/>
          <p:nvPr/>
        </p:nvSpPr>
        <p:spPr>
          <a:xfrm>
            <a:off x="2048292" y="5152305"/>
            <a:ext cx="56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rgbClr val="00B050"/>
                </a:solidFill>
              </a:rPr>
              <a:t>90</a:t>
            </a:r>
            <a:endParaRPr lang="fr-FR" sz="1400" dirty="0">
              <a:solidFill>
                <a:srgbClr val="00B050"/>
              </a:solidFill>
            </a:endParaRPr>
          </a:p>
        </p:txBody>
      </p:sp>
      <p:sp>
        <p:nvSpPr>
          <p:cNvPr id="123" name="ZoneTexte 122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Graduation du plan de base: Le triangle de Gibbs</a:t>
            </a:r>
          </a:p>
        </p:txBody>
      </p:sp>
    </p:spTree>
    <p:extLst>
      <p:ext uri="{BB962C8B-B14F-4D97-AF65-F5344CB8AC3E}">
        <p14:creationId xmlns:p14="http://schemas.microsoft.com/office/powerpoint/2010/main" val="407022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123" name="ZoneTexte 122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Repérage et composition d’un alliage M (A,B,C)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418" y="1143908"/>
            <a:ext cx="8823029" cy="5669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998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123" name="ZoneTexte 122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Graduation du plan de base</a:t>
            </a:r>
          </a:p>
        </p:txBody>
      </p:sp>
      <p:sp>
        <p:nvSpPr>
          <p:cNvPr id="124" name="Rectangle 2"/>
          <p:cNvSpPr>
            <a:spLocks noChangeArrowheads="1"/>
          </p:cNvSpPr>
          <p:nvPr/>
        </p:nvSpPr>
        <p:spPr bwMode="auto">
          <a:xfrm>
            <a:off x="468313" y="1412106"/>
            <a:ext cx="4572000" cy="200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fr-FR" b="0">
                <a:latin typeface="Tahoma" pitchFamily="34" charset="0"/>
              </a:rPr>
              <a:t> Les éléments A, B et C </a:t>
            </a:r>
            <a:r>
              <a:rPr lang="fr-FR" sz="2000" b="0">
                <a:latin typeface="Tahoma" pitchFamily="34" charset="0"/>
              </a:rPr>
              <a:t>peuvent </a:t>
            </a:r>
            <a:r>
              <a:rPr lang="fr-FR" altLang="ja-JP" sz="2000" b="0">
                <a:latin typeface="Tahoma" pitchFamily="34" charset="0"/>
              </a:rPr>
              <a:t>être des composés (Céramiques) : </a:t>
            </a:r>
          </a:p>
          <a:p>
            <a:endParaRPr lang="fr-FR" altLang="ja-JP" sz="2000" b="0">
              <a:latin typeface="Tahoma" pitchFamily="34" charset="0"/>
              <a:cs typeface="Tahoma" pitchFamily="34" charset="0"/>
            </a:endParaRPr>
          </a:p>
          <a:p>
            <a:pPr>
              <a:buFontTx/>
              <a:buBlip>
                <a:blip r:embed="rId2"/>
              </a:buBlip>
            </a:pPr>
            <a:r>
              <a:rPr lang="fr-FR" sz="2000" b="0">
                <a:latin typeface="Tahoma" pitchFamily="34" charset="0"/>
                <a:cs typeface="Tahoma" pitchFamily="34" charset="0"/>
              </a:rPr>
              <a:t> CaAl</a:t>
            </a:r>
            <a:r>
              <a:rPr lang="fr-FR" sz="2000" b="0" baseline="-25000">
                <a:latin typeface="Tahoma" pitchFamily="34" charset="0"/>
                <a:cs typeface="Tahoma" pitchFamily="34" charset="0"/>
              </a:rPr>
              <a:t>2</a:t>
            </a:r>
            <a:r>
              <a:rPr lang="fr-FR" sz="2000" b="0">
                <a:latin typeface="Tahoma" pitchFamily="34" charset="0"/>
                <a:cs typeface="Tahoma" pitchFamily="34" charset="0"/>
              </a:rPr>
              <a:t>Si</a:t>
            </a:r>
            <a:r>
              <a:rPr lang="fr-FR" sz="2000" b="0" baseline="-25000">
                <a:latin typeface="Tahoma" pitchFamily="34" charset="0"/>
                <a:cs typeface="Tahoma" pitchFamily="34" charset="0"/>
              </a:rPr>
              <a:t>2</a:t>
            </a:r>
            <a:r>
              <a:rPr lang="fr-FR" sz="2000" b="0">
                <a:latin typeface="Tahoma" pitchFamily="34" charset="0"/>
                <a:cs typeface="Tahoma" pitchFamily="34" charset="0"/>
              </a:rPr>
              <a:t>O</a:t>
            </a:r>
            <a:r>
              <a:rPr lang="fr-FR" sz="2000" b="0" baseline="-25000">
                <a:latin typeface="Tahoma" pitchFamily="34" charset="0"/>
                <a:cs typeface="Tahoma" pitchFamily="34" charset="0"/>
              </a:rPr>
              <a:t>8 </a:t>
            </a:r>
            <a:r>
              <a:rPr lang="fr-FR" sz="2000" b="0">
                <a:latin typeface="Tahoma" pitchFamily="34" charset="0"/>
                <a:cs typeface="Tahoma" pitchFamily="34" charset="0"/>
              </a:rPr>
              <a:t>= anorthite</a:t>
            </a:r>
          </a:p>
          <a:p>
            <a:pPr>
              <a:buFontTx/>
              <a:buBlip>
                <a:blip r:embed="rId2"/>
              </a:buBlip>
            </a:pPr>
            <a:r>
              <a:rPr lang="fr-FR" sz="2000" b="0">
                <a:latin typeface="Tahoma" pitchFamily="34" charset="0"/>
                <a:cs typeface="Tahoma" pitchFamily="34" charset="0"/>
              </a:rPr>
              <a:t> Mg</a:t>
            </a:r>
            <a:r>
              <a:rPr lang="fr-FR" sz="2000" b="0" baseline="-25000">
                <a:latin typeface="Tahoma" pitchFamily="34" charset="0"/>
                <a:cs typeface="Tahoma" pitchFamily="34" charset="0"/>
              </a:rPr>
              <a:t>2</a:t>
            </a:r>
            <a:r>
              <a:rPr lang="fr-FR" sz="2000" b="0">
                <a:latin typeface="Tahoma" pitchFamily="34" charset="0"/>
                <a:cs typeface="Tahoma" pitchFamily="34" charset="0"/>
              </a:rPr>
              <a:t>SiO</a:t>
            </a:r>
            <a:r>
              <a:rPr lang="fr-FR" sz="2000" b="0" baseline="-25000">
                <a:latin typeface="Tahoma" pitchFamily="34" charset="0"/>
                <a:cs typeface="Tahoma" pitchFamily="34" charset="0"/>
              </a:rPr>
              <a:t>4</a:t>
            </a:r>
            <a:r>
              <a:rPr lang="fr-FR" sz="2000" b="0">
                <a:latin typeface="Tahoma" pitchFamily="34" charset="0"/>
                <a:cs typeface="Tahoma" pitchFamily="34" charset="0"/>
              </a:rPr>
              <a:t> =</a:t>
            </a:r>
            <a:r>
              <a:rPr lang="fr-FR" sz="2000" b="0" baseline="-25000">
                <a:latin typeface="Tahoma" pitchFamily="34" charset="0"/>
                <a:cs typeface="Tahoma" pitchFamily="34" charset="0"/>
              </a:rPr>
              <a:t> </a:t>
            </a:r>
            <a:r>
              <a:rPr lang="fr-FR" sz="2000" b="0">
                <a:latin typeface="Tahoma" pitchFamily="34" charset="0"/>
                <a:cs typeface="Tahoma" pitchFamily="34" charset="0"/>
              </a:rPr>
              <a:t>Forsterite</a:t>
            </a:r>
            <a:r>
              <a:rPr lang="fr-FR" sz="2000"/>
              <a:t>	</a:t>
            </a:r>
          </a:p>
          <a:p>
            <a:pPr>
              <a:buFontTx/>
              <a:buBlip>
                <a:blip r:embed="rId2"/>
              </a:buBlip>
            </a:pPr>
            <a:r>
              <a:rPr lang="fr-FR" altLang="ja-JP" sz="2000" b="0">
                <a:latin typeface="Tahoma" pitchFamily="34" charset="0"/>
              </a:rPr>
              <a:t> SiO</a:t>
            </a:r>
            <a:r>
              <a:rPr lang="fr-FR" altLang="ja-JP" sz="2000" b="0" baseline="-25000">
                <a:latin typeface="Tahoma" pitchFamily="34" charset="0"/>
              </a:rPr>
              <a:t>2</a:t>
            </a:r>
            <a:r>
              <a:rPr lang="fr-FR" altLang="ja-JP" sz="2000" b="0">
                <a:latin typeface="Tahoma" pitchFamily="34" charset="0"/>
              </a:rPr>
              <a:t> = cristob</a:t>
            </a:r>
            <a:r>
              <a:rPr lang="fr-FR" altLang="ja-JP" sz="2000" b="0">
                <a:latin typeface="Tahoma" pitchFamily="34" charset="0"/>
                <a:cs typeface="Tahoma" pitchFamily="34" charset="0"/>
              </a:rPr>
              <a:t>alite </a:t>
            </a:r>
            <a:endParaRPr lang="fr-FR" sz="2000"/>
          </a:p>
        </p:txBody>
      </p:sp>
      <p:pic>
        <p:nvPicPr>
          <p:cNvPr id="12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5085581"/>
            <a:ext cx="998537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3788594"/>
            <a:ext cx="1057275" cy="131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7" name="Image 6" descr="images-1.jpe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5085581"/>
            <a:ext cx="10795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" name="Image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3717156"/>
            <a:ext cx="3881438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" name="Imag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950" y="1268760"/>
            <a:ext cx="275272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041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123" name="ZoneTexte 122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Diagramme ternaire isomorphe - Diagramme ternaire le plus </a:t>
            </a:r>
            <a:r>
              <a:rPr lang="fr-FR" sz="2800" dirty="0" smtClean="0"/>
              <a:t>simple</a:t>
            </a:r>
            <a:endParaRPr lang="fr-FR" sz="2800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67544" y="1675284"/>
            <a:ext cx="2130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fr-FR" b="0" u="sng" dirty="0">
                <a:latin typeface="Tahoma" pitchFamily="34" charset="0"/>
              </a:rPr>
              <a:t>Terminologie :</a:t>
            </a:r>
            <a:endParaRPr lang="fr-FR" b="0" dirty="0">
              <a:latin typeface="Tahoma" pitchFamily="34" charset="0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457200" y="2196976"/>
            <a:ext cx="80756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fr-FR" sz="2000" i="1" dirty="0">
                <a:latin typeface="Tahoma" pitchFamily="34" charset="0"/>
              </a:rPr>
              <a:t>Isomorphe :</a:t>
            </a:r>
            <a:r>
              <a:rPr lang="fr-FR" sz="2000" b="0" dirty="0">
                <a:latin typeface="Tahoma" pitchFamily="34" charset="0"/>
              </a:rPr>
              <a:t> (m</a:t>
            </a:r>
            <a:r>
              <a:rPr lang="fr-FR" altLang="ja-JP" sz="2000" b="0" dirty="0">
                <a:latin typeface="Tahoma" pitchFamily="34" charset="0"/>
              </a:rPr>
              <a:t>ême forme cristalline)</a:t>
            </a:r>
            <a:endParaRPr lang="fr-FR" sz="2000" b="0" dirty="0">
              <a:latin typeface="Tahoma" pitchFamily="34" charset="0"/>
            </a:endParaRPr>
          </a:p>
          <a:p>
            <a:pPr algn="just"/>
            <a:r>
              <a:rPr lang="fr-FR" sz="2000" b="0" dirty="0">
                <a:latin typeface="Tahoma" pitchFamily="34" charset="0"/>
              </a:rPr>
              <a:t>	Une seule solution solide, </a:t>
            </a:r>
            <a:r>
              <a:rPr lang="fr-FR" sz="2000" b="0" dirty="0">
                <a:latin typeface="Symbol" pitchFamily="18" charset="2"/>
                <a:sym typeface="Symbol" pitchFamily="18" charset="2"/>
              </a:rPr>
              <a:t></a:t>
            </a:r>
            <a:endParaRPr lang="fr-FR" sz="2000" b="0" dirty="0">
              <a:latin typeface="Tahoma" pitchFamily="34" charset="0"/>
            </a:endParaRPr>
          </a:p>
          <a:p>
            <a:pPr algn="just"/>
            <a:r>
              <a:rPr lang="fr-FR" sz="2000" b="0" dirty="0">
                <a:latin typeface="Tahoma" pitchFamily="34" charset="0"/>
              </a:rPr>
              <a:t>	Les 3 éléments (A, B et C) sont totalement miscibles.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457200" y="3395305"/>
            <a:ext cx="815340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fr-FR" sz="2000" u="sng" dirty="0">
                <a:solidFill>
                  <a:srgbClr val="FF0000"/>
                </a:solidFill>
                <a:latin typeface="Tahoma" pitchFamily="34" charset="0"/>
              </a:rPr>
              <a:t>Nappe du </a:t>
            </a:r>
            <a:r>
              <a:rPr lang="fr-FR" sz="2000" u="sng" dirty="0" err="1">
                <a:solidFill>
                  <a:srgbClr val="FF0000"/>
                </a:solidFill>
                <a:latin typeface="Tahoma" pitchFamily="34" charset="0"/>
              </a:rPr>
              <a:t>liquidus</a:t>
            </a:r>
            <a:r>
              <a:rPr lang="fr-FR" sz="2000" u="sng" dirty="0">
                <a:solidFill>
                  <a:srgbClr val="FF0000"/>
                </a:solidFill>
                <a:latin typeface="Tahoma" pitchFamily="34" charset="0"/>
              </a:rPr>
              <a:t> </a:t>
            </a:r>
            <a:r>
              <a:rPr lang="fr-FR" sz="2000" dirty="0" smtClean="0">
                <a:solidFill>
                  <a:srgbClr val="FF0000"/>
                </a:solidFill>
                <a:latin typeface="Tahoma" pitchFamily="34" charset="0"/>
              </a:rPr>
              <a:t>=</a:t>
            </a:r>
            <a:r>
              <a:rPr lang="fr-FR" sz="2000" b="0" dirty="0" smtClean="0">
                <a:solidFill>
                  <a:srgbClr val="FF0000"/>
                </a:solidFill>
                <a:latin typeface="Tahoma" pitchFamily="34" charset="0"/>
              </a:rPr>
              <a:t> </a:t>
            </a:r>
            <a:r>
              <a:rPr lang="fr-FR" sz="2000" dirty="0">
                <a:solidFill>
                  <a:srgbClr val="FF0000"/>
                </a:solidFill>
                <a:latin typeface="Tahoma" pitchFamily="34" charset="0"/>
              </a:rPr>
              <a:t>Nappe primaire</a:t>
            </a:r>
            <a:r>
              <a:rPr lang="fr-FR" sz="2000" b="0" dirty="0">
                <a:solidFill>
                  <a:srgbClr val="FF0000"/>
                </a:solidFill>
                <a:latin typeface="Tahoma" pitchFamily="34" charset="0"/>
              </a:rPr>
              <a:t> : surface de températures au dessus de laquelle se forme une solution homogène liquide (</a:t>
            </a:r>
            <a:r>
              <a:rPr lang="fr-FR" sz="2000" b="0" i="1" dirty="0">
                <a:solidFill>
                  <a:srgbClr val="FF0000"/>
                </a:solidFill>
                <a:latin typeface="Tahoma" pitchFamily="34" charset="0"/>
              </a:rPr>
              <a:t>l</a:t>
            </a:r>
            <a:r>
              <a:rPr lang="fr-FR" sz="2000" b="0" dirty="0">
                <a:solidFill>
                  <a:srgbClr val="FF0000"/>
                </a:solidFill>
                <a:latin typeface="Tahoma" pitchFamily="34" charset="0"/>
              </a:rPr>
              <a:t>), quelle que soit la composition chimique de l</a:t>
            </a:r>
            <a:r>
              <a:rPr lang="ja-JP" altLang="fr-FR" sz="2000" b="0" dirty="0">
                <a:solidFill>
                  <a:srgbClr val="FF0000"/>
                </a:solidFill>
                <a:latin typeface="Tahoma" pitchFamily="34" charset="0"/>
              </a:rPr>
              <a:t>’</a:t>
            </a:r>
            <a:r>
              <a:rPr lang="fr-FR" altLang="ja-JP" sz="2000" b="0" dirty="0">
                <a:solidFill>
                  <a:srgbClr val="FF0000"/>
                </a:solidFill>
                <a:latin typeface="Tahoma" pitchFamily="34" charset="0"/>
              </a:rPr>
              <a:t>alliage M(A, B, C) </a:t>
            </a:r>
            <a:endParaRPr lang="fr-FR" sz="2000" b="0" dirty="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0" y="4725144"/>
            <a:ext cx="8153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fr-FR" sz="2000" u="sng" dirty="0">
                <a:solidFill>
                  <a:schemeClr val="tx2"/>
                </a:solidFill>
                <a:latin typeface="Tahoma" pitchFamily="34" charset="0"/>
              </a:rPr>
              <a:t>Nappe du solidus </a:t>
            </a:r>
            <a:r>
              <a:rPr lang="fr-FR" sz="2000" b="0" dirty="0">
                <a:solidFill>
                  <a:schemeClr val="tx2"/>
                </a:solidFill>
                <a:latin typeface="Tahoma" pitchFamily="34" charset="0"/>
              </a:rPr>
              <a:t>= </a:t>
            </a:r>
            <a:r>
              <a:rPr lang="fr-FR" sz="2000" dirty="0">
                <a:solidFill>
                  <a:schemeClr val="tx2"/>
                </a:solidFill>
                <a:latin typeface="Tahoma" pitchFamily="34" charset="0"/>
              </a:rPr>
              <a:t>Nappe secondaire</a:t>
            </a:r>
            <a:r>
              <a:rPr lang="fr-FR" sz="2000" b="0" dirty="0">
                <a:solidFill>
                  <a:schemeClr val="tx2"/>
                </a:solidFill>
                <a:latin typeface="Tahoma" pitchFamily="34" charset="0"/>
              </a:rPr>
              <a:t> : surface de températures en dessous de laquelle se forme une solution homogène solide (</a:t>
            </a:r>
            <a:r>
              <a:rPr lang="fr-FR" sz="2000" b="0" dirty="0">
                <a:solidFill>
                  <a:schemeClr val="tx2"/>
                </a:solidFill>
                <a:latin typeface="Symbol" pitchFamily="18" charset="2"/>
                <a:sym typeface="Symbol" pitchFamily="18" charset="2"/>
              </a:rPr>
              <a:t></a:t>
            </a:r>
            <a:r>
              <a:rPr lang="fr-FR" sz="2000" b="0" dirty="0">
                <a:solidFill>
                  <a:schemeClr val="tx2"/>
                </a:solidFill>
                <a:latin typeface="Tahoma" pitchFamily="34" charset="0"/>
              </a:rPr>
              <a:t>), quelle que soit la composition chimique de l</a:t>
            </a:r>
            <a:r>
              <a:rPr lang="ja-JP" altLang="fr-FR" sz="2000" b="0" dirty="0">
                <a:solidFill>
                  <a:schemeClr val="tx2"/>
                </a:solidFill>
                <a:latin typeface="Tahoma" pitchFamily="34" charset="0"/>
              </a:rPr>
              <a:t>’</a:t>
            </a:r>
            <a:r>
              <a:rPr lang="fr-FR" altLang="ja-JP" sz="2000" b="0" dirty="0">
                <a:solidFill>
                  <a:schemeClr val="tx2"/>
                </a:solidFill>
                <a:latin typeface="Tahoma" pitchFamily="34" charset="0"/>
              </a:rPr>
              <a:t>alliage M(A, B, C) </a:t>
            </a:r>
            <a:endParaRPr lang="fr-FR" sz="2000" b="0" dirty="0">
              <a:solidFill>
                <a:schemeClr val="tx2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22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12" name="ZoneTexte 11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Diagramme ternaire isomorphe - Diagramme ternaire le plus </a:t>
            </a:r>
            <a:r>
              <a:rPr lang="fr-FR" sz="2800" dirty="0" smtClean="0"/>
              <a:t>simple</a:t>
            </a:r>
            <a:endParaRPr lang="fr-FR" sz="2800" dirty="0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855663" y="1871812"/>
            <a:ext cx="0" cy="2198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3036888" y="1871812"/>
            <a:ext cx="0" cy="2198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3635375" y="1871812"/>
            <a:ext cx="0" cy="2198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5748338" y="1871812"/>
            <a:ext cx="0" cy="2198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>
            <a:off x="6300788" y="1871812"/>
            <a:ext cx="0" cy="2198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8469313" y="1871812"/>
            <a:ext cx="0" cy="2198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850900" y="4070499"/>
            <a:ext cx="2197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>
            <a:off x="3646488" y="4070499"/>
            <a:ext cx="20970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" name="Line 16"/>
          <p:cNvSpPr>
            <a:spLocks noChangeShapeType="1"/>
          </p:cNvSpPr>
          <p:nvPr/>
        </p:nvSpPr>
        <p:spPr bwMode="auto">
          <a:xfrm>
            <a:off x="6299200" y="4070499"/>
            <a:ext cx="2181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2" name="Freeform 17"/>
          <p:cNvSpPr>
            <a:spLocks/>
          </p:cNvSpPr>
          <p:nvPr/>
        </p:nvSpPr>
        <p:spPr bwMode="auto">
          <a:xfrm>
            <a:off x="866775" y="2605237"/>
            <a:ext cx="2170113" cy="790575"/>
          </a:xfrm>
          <a:custGeom>
            <a:avLst/>
            <a:gdLst>
              <a:gd name="T0" fmla="*/ 0 w 997"/>
              <a:gd name="T1" fmla="*/ 777508 h 363"/>
              <a:gd name="T2" fmla="*/ 289494 w 997"/>
              <a:gd name="T3" fmla="*/ 790575 h 363"/>
              <a:gd name="T4" fmla="*/ 557221 w 997"/>
              <a:gd name="T5" fmla="*/ 766618 h 363"/>
              <a:gd name="T6" fmla="*/ 824948 w 997"/>
              <a:gd name="T7" fmla="*/ 720882 h 363"/>
              <a:gd name="T8" fmla="*/ 975136 w 997"/>
              <a:gd name="T9" fmla="*/ 672969 h 363"/>
              <a:gd name="T10" fmla="*/ 1160151 w 997"/>
              <a:gd name="T11" fmla="*/ 627233 h 363"/>
              <a:gd name="T12" fmla="*/ 1451821 w 997"/>
              <a:gd name="T13" fmla="*/ 511805 h 363"/>
              <a:gd name="T14" fmla="*/ 1660779 w 997"/>
              <a:gd name="T15" fmla="*/ 407266 h 363"/>
              <a:gd name="T16" fmla="*/ 1904563 w 997"/>
              <a:gd name="T17" fmla="*/ 254813 h 363"/>
              <a:gd name="T18" fmla="*/ 2170113 w 997"/>
              <a:gd name="T19" fmla="*/ 0 h 363"/>
              <a:gd name="T20" fmla="*/ 1926329 w 997"/>
              <a:gd name="T21" fmla="*/ 0 h 363"/>
              <a:gd name="T22" fmla="*/ 1717371 w 997"/>
              <a:gd name="T23" fmla="*/ 45736 h 363"/>
              <a:gd name="T24" fmla="*/ 1312516 w 997"/>
              <a:gd name="T25" fmla="*/ 163342 h 363"/>
              <a:gd name="T26" fmla="*/ 801005 w 997"/>
              <a:gd name="T27" fmla="*/ 372420 h 363"/>
              <a:gd name="T28" fmla="*/ 324320 w 997"/>
              <a:gd name="T29" fmla="*/ 592387 h 363"/>
              <a:gd name="T30" fmla="*/ 0 w 997"/>
              <a:gd name="T31" fmla="*/ 777508 h 36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997" h="363">
                <a:moveTo>
                  <a:pt x="0" y="357"/>
                </a:moveTo>
                <a:lnTo>
                  <a:pt x="133" y="363"/>
                </a:lnTo>
                <a:lnTo>
                  <a:pt x="256" y="352"/>
                </a:lnTo>
                <a:lnTo>
                  <a:pt x="379" y="331"/>
                </a:lnTo>
                <a:lnTo>
                  <a:pt x="448" y="309"/>
                </a:lnTo>
                <a:lnTo>
                  <a:pt x="533" y="288"/>
                </a:lnTo>
                <a:lnTo>
                  <a:pt x="667" y="235"/>
                </a:lnTo>
                <a:lnTo>
                  <a:pt x="763" y="187"/>
                </a:lnTo>
                <a:lnTo>
                  <a:pt x="875" y="117"/>
                </a:lnTo>
                <a:lnTo>
                  <a:pt x="997" y="0"/>
                </a:lnTo>
                <a:lnTo>
                  <a:pt x="885" y="0"/>
                </a:lnTo>
                <a:lnTo>
                  <a:pt x="789" y="21"/>
                </a:lnTo>
                <a:lnTo>
                  <a:pt x="603" y="75"/>
                </a:lnTo>
                <a:lnTo>
                  <a:pt x="368" y="171"/>
                </a:lnTo>
                <a:lnTo>
                  <a:pt x="149" y="272"/>
                </a:lnTo>
                <a:lnTo>
                  <a:pt x="0" y="357"/>
                </a:lnTo>
                <a:close/>
              </a:path>
            </a:pathLst>
          </a:custGeom>
          <a:gradFill>
            <a:gsLst>
              <a:gs pos="7000">
                <a:srgbClr val="FF0000"/>
              </a:gs>
              <a:gs pos="68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4200000" scaled="0"/>
          </a:gradFill>
          <a:ln w="19050" cmpd="sng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23" name="Freeform 18"/>
          <p:cNvSpPr>
            <a:spLocks/>
          </p:cNvSpPr>
          <p:nvPr/>
        </p:nvSpPr>
        <p:spPr bwMode="auto">
          <a:xfrm>
            <a:off x="3652838" y="2255987"/>
            <a:ext cx="2090737" cy="407987"/>
          </a:xfrm>
          <a:custGeom>
            <a:avLst/>
            <a:gdLst>
              <a:gd name="T0" fmla="*/ 0 w 960"/>
              <a:gd name="T1" fmla="*/ 338171 h 187"/>
              <a:gd name="T2" fmla="*/ 372413 w 960"/>
              <a:gd name="T3" fmla="*/ 394897 h 187"/>
              <a:gd name="T4" fmla="*/ 603265 w 960"/>
              <a:gd name="T5" fmla="*/ 407987 h 187"/>
              <a:gd name="T6" fmla="*/ 905986 w 960"/>
              <a:gd name="T7" fmla="*/ 407987 h 187"/>
              <a:gd name="T8" fmla="*/ 1056258 w 960"/>
              <a:gd name="T9" fmla="*/ 394897 h 187"/>
              <a:gd name="T10" fmla="*/ 1184751 w 960"/>
              <a:gd name="T11" fmla="*/ 373079 h 187"/>
              <a:gd name="T12" fmla="*/ 1393825 w 960"/>
              <a:gd name="T13" fmla="*/ 325081 h 187"/>
              <a:gd name="T14" fmla="*/ 1683479 w 960"/>
              <a:gd name="T15" fmla="*/ 220357 h 187"/>
              <a:gd name="T16" fmla="*/ 2090737 w 960"/>
              <a:gd name="T17" fmla="*/ 34908 h 187"/>
              <a:gd name="T18" fmla="*/ 1696546 w 960"/>
              <a:gd name="T19" fmla="*/ 0 h 187"/>
              <a:gd name="T20" fmla="*/ 1313244 w 960"/>
              <a:gd name="T21" fmla="*/ 23999 h 187"/>
              <a:gd name="T22" fmla="*/ 1021412 w 960"/>
              <a:gd name="T23" fmla="*/ 69816 h 187"/>
              <a:gd name="T24" fmla="*/ 731758 w 960"/>
              <a:gd name="T25" fmla="*/ 128723 h 187"/>
              <a:gd name="T26" fmla="*/ 407258 w 960"/>
              <a:gd name="T27" fmla="*/ 198539 h 187"/>
              <a:gd name="T28" fmla="*/ 0 w 960"/>
              <a:gd name="T29" fmla="*/ 338171 h 187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960" h="187">
                <a:moveTo>
                  <a:pt x="0" y="155"/>
                </a:moveTo>
                <a:lnTo>
                  <a:pt x="171" y="181"/>
                </a:lnTo>
                <a:lnTo>
                  <a:pt x="277" y="187"/>
                </a:lnTo>
                <a:lnTo>
                  <a:pt x="416" y="187"/>
                </a:lnTo>
                <a:lnTo>
                  <a:pt x="485" y="181"/>
                </a:lnTo>
                <a:lnTo>
                  <a:pt x="544" y="171"/>
                </a:lnTo>
                <a:lnTo>
                  <a:pt x="640" y="149"/>
                </a:lnTo>
                <a:lnTo>
                  <a:pt x="773" y="101"/>
                </a:lnTo>
                <a:lnTo>
                  <a:pt x="960" y="16"/>
                </a:lnTo>
                <a:lnTo>
                  <a:pt x="779" y="0"/>
                </a:lnTo>
                <a:lnTo>
                  <a:pt x="603" y="11"/>
                </a:lnTo>
                <a:lnTo>
                  <a:pt x="469" y="32"/>
                </a:lnTo>
                <a:lnTo>
                  <a:pt x="336" y="59"/>
                </a:lnTo>
                <a:lnTo>
                  <a:pt x="187" y="91"/>
                </a:lnTo>
                <a:lnTo>
                  <a:pt x="0" y="155"/>
                </a:lnTo>
                <a:close/>
              </a:path>
            </a:pathLst>
          </a:custGeom>
          <a:gradFill flip="none" rotWithShape="1">
            <a:gsLst>
              <a:gs pos="0">
                <a:srgbClr val="FF0000"/>
              </a:gs>
              <a:gs pos="6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 cmpd="sng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24" name="Freeform 19"/>
          <p:cNvSpPr>
            <a:spLocks/>
          </p:cNvSpPr>
          <p:nvPr/>
        </p:nvSpPr>
        <p:spPr bwMode="auto">
          <a:xfrm>
            <a:off x="6311900" y="2255987"/>
            <a:ext cx="2159000" cy="1116012"/>
          </a:xfrm>
          <a:custGeom>
            <a:avLst/>
            <a:gdLst>
              <a:gd name="T0" fmla="*/ 0 w 992"/>
              <a:gd name="T1" fmla="*/ 34875 h 512"/>
              <a:gd name="T2" fmla="*/ 291639 w 992"/>
              <a:gd name="T3" fmla="*/ 0 h 512"/>
              <a:gd name="T4" fmla="*/ 557161 w 992"/>
              <a:gd name="T5" fmla="*/ 23977 h 512"/>
              <a:gd name="T6" fmla="*/ 824860 w 992"/>
              <a:gd name="T7" fmla="*/ 69751 h 512"/>
              <a:gd name="T8" fmla="*/ 1162204 w 992"/>
              <a:gd name="T9" fmla="*/ 174377 h 512"/>
              <a:gd name="T10" fmla="*/ 1590957 w 992"/>
              <a:gd name="T11" fmla="*/ 429403 h 512"/>
              <a:gd name="T12" fmla="*/ 1775952 w 992"/>
              <a:gd name="T13" fmla="*/ 592881 h 512"/>
              <a:gd name="T14" fmla="*/ 1928300 w 992"/>
              <a:gd name="T15" fmla="*/ 767258 h 512"/>
              <a:gd name="T16" fmla="*/ 2043650 w 992"/>
              <a:gd name="T17" fmla="*/ 906760 h 512"/>
              <a:gd name="T18" fmla="*/ 2159000 w 992"/>
              <a:gd name="T19" fmla="*/ 1116012 h 512"/>
              <a:gd name="T20" fmla="*/ 1904360 w 992"/>
              <a:gd name="T21" fmla="*/ 1046261 h 512"/>
              <a:gd name="T22" fmla="*/ 1347199 w 992"/>
              <a:gd name="T23" fmla="*/ 813032 h 512"/>
              <a:gd name="T24" fmla="*/ 696452 w 992"/>
              <a:gd name="T25" fmla="*/ 488255 h 512"/>
              <a:gd name="T26" fmla="*/ 267699 w 992"/>
              <a:gd name="T27" fmla="*/ 209252 h 512"/>
              <a:gd name="T28" fmla="*/ 0 w 992"/>
              <a:gd name="T29" fmla="*/ 34875 h 51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992" h="512">
                <a:moveTo>
                  <a:pt x="0" y="16"/>
                </a:moveTo>
                <a:lnTo>
                  <a:pt x="134" y="0"/>
                </a:lnTo>
                <a:lnTo>
                  <a:pt x="256" y="11"/>
                </a:lnTo>
                <a:lnTo>
                  <a:pt x="379" y="32"/>
                </a:lnTo>
                <a:lnTo>
                  <a:pt x="534" y="80"/>
                </a:lnTo>
                <a:lnTo>
                  <a:pt x="731" y="197"/>
                </a:lnTo>
                <a:lnTo>
                  <a:pt x="816" y="272"/>
                </a:lnTo>
                <a:lnTo>
                  <a:pt x="886" y="352"/>
                </a:lnTo>
                <a:lnTo>
                  <a:pt x="939" y="416"/>
                </a:lnTo>
                <a:lnTo>
                  <a:pt x="992" y="512"/>
                </a:lnTo>
                <a:lnTo>
                  <a:pt x="875" y="480"/>
                </a:lnTo>
                <a:lnTo>
                  <a:pt x="619" y="373"/>
                </a:lnTo>
                <a:lnTo>
                  <a:pt x="320" y="224"/>
                </a:lnTo>
                <a:lnTo>
                  <a:pt x="123" y="96"/>
                </a:lnTo>
                <a:lnTo>
                  <a:pt x="0" y="16"/>
                </a:lnTo>
                <a:close/>
              </a:path>
            </a:pathLst>
          </a:custGeom>
          <a:gradFill>
            <a:gsLst>
              <a:gs pos="7000">
                <a:srgbClr val="FF0000"/>
              </a:gs>
              <a:gs pos="56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6600000" scaled="0"/>
          </a:gradFill>
          <a:ln w="19050" cmpd="sng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>
            <a:off x="3025775" y="2595712"/>
            <a:ext cx="6270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6" name="Line 21"/>
          <p:cNvSpPr>
            <a:spLocks noChangeShapeType="1"/>
          </p:cNvSpPr>
          <p:nvPr/>
        </p:nvSpPr>
        <p:spPr bwMode="auto">
          <a:xfrm>
            <a:off x="854075" y="3394224"/>
            <a:ext cx="76279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7" name="Line 22"/>
          <p:cNvSpPr>
            <a:spLocks noChangeShapeType="1"/>
          </p:cNvSpPr>
          <p:nvPr/>
        </p:nvSpPr>
        <p:spPr bwMode="auto">
          <a:xfrm>
            <a:off x="5699125" y="2286149"/>
            <a:ext cx="6270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>
            <a:off x="381000" y="3799037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fr-FR" sz="1800" b="0"/>
              <a:t>A</a:t>
            </a:r>
            <a:endParaRPr lang="fr-FR" b="0"/>
          </a:p>
        </p:txBody>
      </p:sp>
      <p:sp>
        <p:nvSpPr>
          <p:cNvPr id="29" name="Text Box 24"/>
          <p:cNvSpPr txBox="1">
            <a:spLocks noChangeArrowheads="1"/>
          </p:cNvSpPr>
          <p:nvPr/>
        </p:nvSpPr>
        <p:spPr bwMode="auto">
          <a:xfrm>
            <a:off x="3119438" y="3833962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fr-FR" sz="1800" b="0"/>
              <a:t>B</a:t>
            </a:r>
            <a:endParaRPr lang="fr-FR" b="0"/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5786438" y="3802212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fr-FR" sz="1800" b="0"/>
              <a:t>C</a:t>
            </a:r>
            <a:endParaRPr lang="fr-FR" b="0"/>
          </a:p>
        </p:txBody>
      </p:sp>
      <p:sp>
        <p:nvSpPr>
          <p:cNvPr id="31" name="Text Box 26"/>
          <p:cNvSpPr txBox="1">
            <a:spLocks noChangeArrowheads="1"/>
          </p:cNvSpPr>
          <p:nvPr/>
        </p:nvSpPr>
        <p:spPr bwMode="auto">
          <a:xfrm>
            <a:off x="8515350" y="3791099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fr-FR" sz="1800" b="0"/>
              <a:t>A</a:t>
            </a:r>
            <a:endParaRPr lang="fr-FR" b="0"/>
          </a:p>
        </p:txBody>
      </p:sp>
      <p:graphicFrame>
        <p:nvGraphicFramePr>
          <p:cNvPr id="32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898861"/>
              </p:ext>
            </p:extLst>
          </p:nvPr>
        </p:nvGraphicFramePr>
        <p:xfrm>
          <a:off x="434975" y="3175149"/>
          <a:ext cx="3556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2" name="Équation" r:id="rId3" imgW="165100" imgH="177800" progId="Equation.3">
                  <p:embed/>
                </p:oleObj>
              </mc:Choice>
              <mc:Fallback>
                <p:oleObj name="Équation" r:id="rId3" imgW="165100" imgH="17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75" y="3175149"/>
                        <a:ext cx="35560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903388"/>
              </p:ext>
            </p:extLst>
          </p:nvPr>
        </p:nvGraphicFramePr>
        <p:xfrm>
          <a:off x="3170238" y="2403624"/>
          <a:ext cx="354012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3" name="Équation" r:id="rId5" imgW="165100" imgH="177800" progId="Equation.3">
                  <p:embed/>
                </p:oleObj>
              </mc:Choice>
              <mc:Fallback>
                <p:oleObj name="Équation" r:id="rId5" imgW="165100" imgH="17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0238" y="2403624"/>
                        <a:ext cx="354012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92145"/>
              </p:ext>
            </p:extLst>
          </p:nvPr>
        </p:nvGraphicFramePr>
        <p:xfrm>
          <a:off x="5842000" y="2114699"/>
          <a:ext cx="3540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4" name="Équation" r:id="rId7" imgW="165100" imgH="177800" progId="Equation.3">
                  <p:embed/>
                </p:oleObj>
              </mc:Choice>
              <mc:Fallback>
                <p:oleObj name="Équation" r:id="rId7" imgW="165100" imgH="17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2114699"/>
                        <a:ext cx="3540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42"/>
          <p:cNvSpPr>
            <a:spLocks noChangeArrowheads="1"/>
          </p:cNvSpPr>
          <p:nvPr/>
        </p:nvSpPr>
        <p:spPr bwMode="auto">
          <a:xfrm>
            <a:off x="1812925" y="1906737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endParaRPr lang="fr-FR" b="0"/>
          </a:p>
        </p:txBody>
      </p:sp>
      <p:graphicFrame>
        <p:nvGraphicFramePr>
          <p:cNvPr id="36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631240"/>
              </p:ext>
            </p:extLst>
          </p:nvPr>
        </p:nvGraphicFramePr>
        <p:xfrm>
          <a:off x="1828800" y="1844824"/>
          <a:ext cx="2190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5" name="Équation" r:id="rId9" imgW="76200" imgH="114300" progId="Equation.3">
                  <p:embed/>
                </p:oleObj>
              </mc:Choice>
              <mc:Fallback>
                <p:oleObj name="Équation" r:id="rId9" imgW="76200" imgH="114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844824"/>
                        <a:ext cx="219075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410315"/>
              </p:ext>
            </p:extLst>
          </p:nvPr>
        </p:nvGraphicFramePr>
        <p:xfrm>
          <a:off x="4584700" y="1844824"/>
          <a:ext cx="2190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6" name="Équation" r:id="rId11" imgW="76200" imgH="114300" progId="Equation.3">
                  <p:embed/>
                </p:oleObj>
              </mc:Choice>
              <mc:Fallback>
                <p:oleObj name="Équation" r:id="rId11" imgW="76200" imgH="114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700" y="1844824"/>
                        <a:ext cx="219075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420621"/>
              </p:ext>
            </p:extLst>
          </p:nvPr>
        </p:nvGraphicFramePr>
        <p:xfrm>
          <a:off x="7264400" y="1844824"/>
          <a:ext cx="2190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7" name="Équation" r:id="rId13" imgW="76200" imgH="114300" progId="Equation.3">
                  <p:embed/>
                </p:oleObj>
              </mc:Choice>
              <mc:Fallback>
                <p:oleObj name="Équation" r:id="rId13" imgW="76200" imgH="114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4400" y="1844824"/>
                        <a:ext cx="219075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552140"/>
              </p:ext>
            </p:extLst>
          </p:nvPr>
        </p:nvGraphicFramePr>
        <p:xfrm>
          <a:off x="1774825" y="3624412"/>
          <a:ext cx="328613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8" name="Équation" r:id="rId15" imgW="114300" imgH="88900" progId="Equation.3">
                  <p:embed/>
                </p:oleObj>
              </mc:Choice>
              <mc:Fallback>
                <p:oleObj name="Équation" r:id="rId15" imgW="114300" imgH="88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3624412"/>
                        <a:ext cx="328613" cy="25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64542"/>
              </p:ext>
            </p:extLst>
          </p:nvPr>
        </p:nvGraphicFramePr>
        <p:xfrm>
          <a:off x="4530725" y="3624412"/>
          <a:ext cx="328613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9" name="Équation" r:id="rId17" imgW="114300" imgH="88900" progId="Equation.3">
                  <p:embed/>
                </p:oleObj>
              </mc:Choice>
              <mc:Fallback>
                <p:oleObj name="Équation" r:id="rId17" imgW="114300" imgH="88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725" y="3624412"/>
                        <a:ext cx="328613" cy="25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404732"/>
              </p:ext>
            </p:extLst>
          </p:nvPr>
        </p:nvGraphicFramePr>
        <p:xfrm>
          <a:off x="7210425" y="3624412"/>
          <a:ext cx="328613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0" name="Équation" r:id="rId19" imgW="114300" imgH="88900" progId="Equation.3">
                  <p:embed/>
                </p:oleObj>
              </mc:Choice>
              <mc:Fallback>
                <p:oleObj name="Équation" r:id="rId19" imgW="114300" imgH="88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0425" y="3624412"/>
                        <a:ext cx="328613" cy="25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791828"/>
              </p:ext>
            </p:extLst>
          </p:nvPr>
        </p:nvGraphicFramePr>
        <p:xfrm>
          <a:off x="1722438" y="2938612"/>
          <a:ext cx="436562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" name="Équation" r:id="rId21" imgW="266700" imgH="114300" progId="Equation.3">
                  <p:embed/>
                </p:oleObj>
              </mc:Choice>
              <mc:Fallback>
                <p:oleObj name="Équation" r:id="rId21" imgW="266700" imgH="114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438" y="2938612"/>
                        <a:ext cx="436562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185537"/>
              </p:ext>
            </p:extLst>
          </p:nvPr>
        </p:nvGraphicFramePr>
        <p:xfrm>
          <a:off x="4483100" y="2379812"/>
          <a:ext cx="436563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2" name="Équation" r:id="rId23" imgW="266700" imgH="114300" progId="Equation.3">
                  <p:embed/>
                </p:oleObj>
              </mc:Choice>
              <mc:Fallback>
                <p:oleObj name="Équation" r:id="rId23" imgW="266700" imgH="114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2379812"/>
                        <a:ext cx="436563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387072"/>
              </p:ext>
            </p:extLst>
          </p:nvPr>
        </p:nvGraphicFramePr>
        <p:xfrm>
          <a:off x="7162800" y="2570312"/>
          <a:ext cx="436563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3" name="Équation" r:id="rId25" imgW="266700" imgH="114300" progId="Equation.3">
                  <p:embed/>
                </p:oleObj>
              </mc:Choice>
              <mc:Fallback>
                <p:oleObj name="Équation" r:id="rId25" imgW="266700" imgH="114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570312"/>
                        <a:ext cx="436563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58"/>
          <p:cNvSpPr>
            <a:spLocks noChangeArrowheads="1"/>
          </p:cNvSpPr>
          <p:nvPr/>
        </p:nvSpPr>
        <p:spPr bwMode="auto">
          <a:xfrm>
            <a:off x="103188" y="4702324"/>
            <a:ext cx="8964612" cy="336550"/>
          </a:xfrm>
          <a:prstGeom prst="rect">
            <a:avLst/>
          </a:prstGeom>
          <a:solidFill>
            <a:srgbClr val="F9D073"/>
          </a:solidFill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fr-FR" sz="1600" b="0">
                <a:latin typeface="Tahoma" pitchFamily="34" charset="0"/>
              </a:rPr>
              <a:t>1 diagramme ternaire isomorphe, ABC dérive de 3 diagrammes binaires isomorphes, AB, BC et CA</a:t>
            </a:r>
            <a:endParaRPr lang="fr-FR" sz="1800" b="0"/>
          </a:p>
        </p:txBody>
      </p:sp>
      <p:sp>
        <p:nvSpPr>
          <p:cNvPr id="47" name="Rectangle 7"/>
          <p:cNvSpPr>
            <a:spLocks noChangeArrowheads="1"/>
          </p:cNvSpPr>
          <p:nvPr/>
        </p:nvSpPr>
        <p:spPr bwMode="auto">
          <a:xfrm>
            <a:off x="457200" y="5391026"/>
            <a:ext cx="80756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fr-FR" sz="2000" i="1" dirty="0">
                <a:latin typeface="Tahoma" pitchFamily="34" charset="0"/>
              </a:rPr>
              <a:t>Isomorphe :</a:t>
            </a:r>
            <a:r>
              <a:rPr lang="fr-FR" sz="2000" b="0" dirty="0">
                <a:latin typeface="Tahoma" pitchFamily="34" charset="0"/>
              </a:rPr>
              <a:t> (m</a:t>
            </a:r>
            <a:r>
              <a:rPr lang="fr-FR" altLang="ja-JP" sz="2000" b="0" dirty="0">
                <a:latin typeface="Tahoma" pitchFamily="34" charset="0"/>
              </a:rPr>
              <a:t>ême forme cristalline)</a:t>
            </a:r>
            <a:endParaRPr lang="fr-FR" sz="2000" b="0" dirty="0">
              <a:latin typeface="Tahoma" pitchFamily="34" charset="0"/>
            </a:endParaRPr>
          </a:p>
          <a:p>
            <a:pPr algn="just"/>
            <a:r>
              <a:rPr lang="fr-FR" sz="2000" b="0" dirty="0">
                <a:latin typeface="Tahoma" pitchFamily="34" charset="0"/>
              </a:rPr>
              <a:t>	Une seule solution solide, </a:t>
            </a:r>
            <a:r>
              <a:rPr lang="fr-FR" sz="2000" b="0" dirty="0">
                <a:latin typeface="Symbol" pitchFamily="18" charset="2"/>
                <a:sym typeface="Symbol" pitchFamily="18" charset="2"/>
              </a:rPr>
              <a:t></a:t>
            </a:r>
            <a:endParaRPr lang="fr-FR" sz="2000" b="0" dirty="0">
              <a:latin typeface="Tahoma" pitchFamily="34" charset="0"/>
            </a:endParaRPr>
          </a:p>
          <a:p>
            <a:pPr algn="just"/>
            <a:r>
              <a:rPr lang="fr-FR" sz="2000" b="0" dirty="0">
                <a:latin typeface="Tahoma" pitchFamily="34" charset="0"/>
              </a:rPr>
              <a:t>	Les 3 éléments (A, B et C) sont totalement miscibles.</a:t>
            </a:r>
          </a:p>
        </p:txBody>
      </p:sp>
    </p:spTree>
    <p:extLst>
      <p:ext uri="{BB962C8B-B14F-4D97-AF65-F5344CB8AC3E}">
        <p14:creationId xmlns:p14="http://schemas.microsoft.com/office/powerpoint/2010/main" val="30385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12" name="ZoneTexte 11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Diagramme ternaire isomorphe - Diagramme ternaire le plus </a:t>
            </a:r>
            <a:r>
              <a:rPr lang="fr-FR" sz="2800" dirty="0" smtClean="0"/>
              <a:t>simple</a:t>
            </a:r>
            <a:endParaRPr lang="fr-FR" sz="2800" dirty="0"/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4281268" y="5425901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fr-FR" sz="1800" b="0"/>
              <a:t>A</a:t>
            </a:r>
            <a:endParaRPr lang="fr-FR" b="0"/>
          </a:p>
        </p:txBody>
      </p:sp>
      <p:sp>
        <p:nvSpPr>
          <p:cNvPr id="48" name="AutoShape 5" descr="80%"/>
          <p:cNvSpPr>
            <a:spLocks noChangeAspect="1" noChangeArrowheads="1"/>
          </p:cNvSpPr>
          <p:nvPr/>
        </p:nvSpPr>
        <p:spPr bwMode="auto">
          <a:xfrm flipV="1">
            <a:off x="3341468" y="3582814"/>
            <a:ext cx="2162175" cy="1868487"/>
          </a:xfrm>
          <a:prstGeom prst="triangle">
            <a:avLst>
              <a:gd name="adj" fmla="val 50000"/>
            </a:avLst>
          </a:prstGeom>
          <a:pattFill prst="pct80">
            <a:fgClr>
              <a:schemeClr val="bg2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pSp>
        <p:nvGrpSpPr>
          <p:cNvPr id="49" name="Group 6"/>
          <p:cNvGrpSpPr>
            <a:grpSpLocks noChangeAspect="1"/>
          </p:cNvGrpSpPr>
          <p:nvPr/>
        </p:nvGrpSpPr>
        <p:grpSpPr bwMode="auto">
          <a:xfrm rot="-7228421">
            <a:off x="1862712" y="3978895"/>
            <a:ext cx="2160587" cy="2162175"/>
            <a:chOff x="536" y="1680"/>
            <a:chExt cx="1384" cy="1385"/>
          </a:xfrm>
        </p:grpSpPr>
        <p:sp>
          <p:nvSpPr>
            <p:cNvPr id="50" name="Line 7"/>
            <p:cNvSpPr>
              <a:spLocks noChangeShapeType="1"/>
            </p:cNvSpPr>
            <p:nvPr/>
          </p:nvSpPr>
          <p:spPr bwMode="auto">
            <a:xfrm>
              <a:off x="538" y="1678"/>
              <a:ext cx="0" cy="13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51" name="Line 8"/>
            <p:cNvSpPr>
              <a:spLocks noChangeShapeType="1"/>
            </p:cNvSpPr>
            <p:nvPr/>
          </p:nvSpPr>
          <p:spPr bwMode="auto">
            <a:xfrm>
              <a:off x="1913" y="1680"/>
              <a:ext cx="0" cy="13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52" name="Line 9"/>
            <p:cNvSpPr>
              <a:spLocks noChangeShapeType="1"/>
            </p:cNvSpPr>
            <p:nvPr/>
          </p:nvSpPr>
          <p:spPr bwMode="auto">
            <a:xfrm>
              <a:off x="539" y="3065"/>
              <a:ext cx="1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53" name="Freeform 10"/>
            <p:cNvSpPr>
              <a:spLocks/>
            </p:cNvSpPr>
            <p:nvPr/>
          </p:nvSpPr>
          <p:spPr bwMode="auto">
            <a:xfrm>
              <a:off x="545" y="2140"/>
              <a:ext cx="1367" cy="498"/>
            </a:xfrm>
            <a:custGeom>
              <a:avLst/>
              <a:gdLst>
                <a:gd name="T0" fmla="*/ 0 w 997"/>
                <a:gd name="T1" fmla="*/ 490 h 363"/>
                <a:gd name="T2" fmla="*/ 182 w 997"/>
                <a:gd name="T3" fmla="*/ 498 h 363"/>
                <a:gd name="T4" fmla="*/ 351 w 997"/>
                <a:gd name="T5" fmla="*/ 483 h 363"/>
                <a:gd name="T6" fmla="*/ 520 w 997"/>
                <a:gd name="T7" fmla="*/ 454 h 363"/>
                <a:gd name="T8" fmla="*/ 614 w 997"/>
                <a:gd name="T9" fmla="*/ 424 h 363"/>
                <a:gd name="T10" fmla="*/ 731 w 997"/>
                <a:gd name="T11" fmla="*/ 395 h 363"/>
                <a:gd name="T12" fmla="*/ 915 w 997"/>
                <a:gd name="T13" fmla="*/ 322 h 363"/>
                <a:gd name="T14" fmla="*/ 1046 w 997"/>
                <a:gd name="T15" fmla="*/ 257 h 363"/>
                <a:gd name="T16" fmla="*/ 1200 w 997"/>
                <a:gd name="T17" fmla="*/ 161 h 363"/>
                <a:gd name="T18" fmla="*/ 1367 w 997"/>
                <a:gd name="T19" fmla="*/ 0 h 363"/>
                <a:gd name="T20" fmla="*/ 1213 w 997"/>
                <a:gd name="T21" fmla="*/ 0 h 363"/>
                <a:gd name="T22" fmla="*/ 1082 w 997"/>
                <a:gd name="T23" fmla="*/ 29 h 363"/>
                <a:gd name="T24" fmla="*/ 827 w 997"/>
                <a:gd name="T25" fmla="*/ 103 h 363"/>
                <a:gd name="T26" fmla="*/ 505 w 997"/>
                <a:gd name="T27" fmla="*/ 235 h 363"/>
                <a:gd name="T28" fmla="*/ 204 w 997"/>
                <a:gd name="T29" fmla="*/ 373 h 363"/>
                <a:gd name="T30" fmla="*/ 0 w 997"/>
                <a:gd name="T31" fmla="*/ 490 h 36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97" h="363">
                  <a:moveTo>
                    <a:pt x="0" y="357"/>
                  </a:moveTo>
                  <a:lnTo>
                    <a:pt x="133" y="363"/>
                  </a:lnTo>
                  <a:lnTo>
                    <a:pt x="256" y="352"/>
                  </a:lnTo>
                  <a:lnTo>
                    <a:pt x="379" y="331"/>
                  </a:lnTo>
                  <a:lnTo>
                    <a:pt x="448" y="309"/>
                  </a:lnTo>
                  <a:lnTo>
                    <a:pt x="533" y="288"/>
                  </a:lnTo>
                  <a:lnTo>
                    <a:pt x="667" y="235"/>
                  </a:lnTo>
                  <a:lnTo>
                    <a:pt x="763" y="187"/>
                  </a:lnTo>
                  <a:lnTo>
                    <a:pt x="875" y="117"/>
                  </a:lnTo>
                  <a:lnTo>
                    <a:pt x="997" y="0"/>
                  </a:lnTo>
                  <a:lnTo>
                    <a:pt x="885" y="0"/>
                  </a:lnTo>
                  <a:lnTo>
                    <a:pt x="789" y="21"/>
                  </a:lnTo>
                  <a:lnTo>
                    <a:pt x="603" y="75"/>
                  </a:lnTo>
                  <a:lnTo>
                    <a:pt x="368" y="171"/>
                  </a:lnTo>
                  <a:lnTo>
                    <a:pt x="149" y="272"/>
                  </a:lnTo>
                  <a:lnTo>
                    <a:pt x="0" y="357"/>
                  </a:lnTo>
                  <a:close/>
                </a:path>
              </a:pathLst>
            </a:custGeom>
            <a:gradFill rotWithShape="0">
              <a:gsLst>
                <a:gs pos="0">
                  <a:srgbClr val="140FE3"/>
                </a:gs>
                <a:gs pos="100000">
                  <a:srgbClr val="FF1212"/>
                </a:gs>
              </a:gsLst>
              <a:path path="rect">
                <a:fillToRect l="100000" b="100000"/>
              </a:path>
            </a:gradFill>
            <a:ln w="28575" cmpd="sng">
              <a:solidFill>
                <a:schemeClr val="tx1"/>
              </a:solidFill>
              <a:round/>
              <a:headEnd/>
              <a:tailEnd/>
            </a:ln>
            <a:effectLst>
              <a:outerShdw blurRad="63500" dist="38099" dir="2700000" algn="ctr" rotWithShape="0">
                <a:srgbClr val="000000">
                  <a:alpha val="74997"/>
                </a:srgbClr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54" name="Group 13"/>
          <p:cNvGrpSpPr>
            <a:grpSpLocks noChangeAspect="1"/>
          </p:cNvGrpSpPr>
          <p:nvPr/>
        </p:nvGrpSpPr>
        <p:grpSpPr bwMode="auto">
          <a:xfrm rot="10793911" flipH="1" flipV="1">
            <a:off x="3339881" y="1349201"/>
            <a:ext cx="2147887" cy="2235200"/>
            <a:chOff x="3545" y="775"/>
            <a:chExt cx="1331" cy="1385"/>
          </a:xfrm>
        </p:grpSpPr>
        <p:sp>
          <p:nvSpPr>
            <p:cNvPr id="55" name="Line 14"/>
            <p:cNvSpPr>
              <a:spLocks noChangeShapeType="1"/>
            </p:cNvSpPr>
            <p:nvPr/>
          </p:nvSpPr>
          <p:spPr bwMode="auto">
            <a:xfrm>
              <a:off x="3548" y="775"/>
              <a:ext cx="0" cy="13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56" name="Line 15"/>
            <p:cNvSpPr>
              <a:spLocks noChangeShapeType="1"/>
            </p:cNvSpPr>
            <p:nvPr/>
          </p:nvSpPr>
          <p:spPr bwMode="auto">
            <a:xfrm>
              <a:off x="4876" y="772"/>
              <a:ext cx="0" cy="13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57" name="Line 16"/>
            <p:cNvSpPr>
              <a:spLocks noChangeShapeType="1"/>
            </p:cNvSpPr>
            <p:nvPr/>
          </p:nvSpPr>
          <p:spPr bwMode="auto">
            <a:xfrm>
              <a:off x="3552" y="2157"/>
              <a:ext cx="13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58" name="Freeform 17"/>
            <p:cNvSpPr>
              <a:spLocks/>
            </p:cNvSpPr>
            <p:nvPr/>
          </p:nvSpPr>
          <p:spPr bwMode="auto">
            <a:xfrm>
              <a:off x="3554" y="1013"/>
              <a:ext cx="1317" cy="257"/>
            </a:xfrm>
            <a:custGeom>
              <a:avLst/>
              <a:gdLst>
                <a:gd name="T0" fmla="*/ 0 w 960"/>
                <a:gd name="T1" fmla="*/ 213 h 187"/>
                <a:gd name="T2" fmla="*/ 235 w 960"/>
                <a:gd name="T3" fmla="*/ 249 h 187"/>
                <a:gd name="T4" fmla="*/ 380 w 960"/>
                <a:gd name="T5" fmla="*/ 257 h 187"/>
                <a:gd name="T6" fmla="*/ 571 w 960"/>
                <a:gd name="T7" fmla="*/ 257 h 187"/>
                <a:gd name="T8" fmla="*/ 665 w 960"/>
                <a:gd name="T9" fmla="*/ 249 h 187"/>
                <a:gd name="T10" fmla="*/ 746 w 960"/>
                <a:gd name="T11" fmla="*/ 235 h 187"/>
                <a:gd name="T12" fmla="*/ 878 w 960"/>
                <a:gd name="T13" fmla="*/ 205 h 187"/>
                <a:gd name="T14" fmla="*/ 1060 w 960"/>
                <a:gd name="T15" fmla="*/ 139 h 187"/>
                <a:gd name="T16" fmla="*/ 1317 w 960"/>
                <a:gd name="T17" fmla="*/ 22 h 187"/>
                <a:gd name="T18" fmla="*/ 1069 w 960"/>
                <a:gd name="T19" fmla="*/ 0 h 187"/>
                <a:gd name="T20" fmla="*/ 827 w 960"/>
                <a:gd name="T21" fmla="*/ 15 h 187"/>
                <a:gd name="T22" fmla="*/ 643 w 960"/>
                <a:gd name="T23" fmla="*/ 44 h 187"/>
                <a:gd name="T24" fmla="*/ 461 w 960"/>
                <a:gd name="T25" fmla="*/ 81 h 187"/>
                <a:gd name="T26" fmla="*/ 257 w 960"/>
                <a:gd name="T27" fmla="*/ 125 h 187"/>
                <a:gd name="T28" fmla="*/ 0 w 960"/>
                <a:gd name="T29" fmla="*/ 213 h 18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960" h="187">
                  <a:moveTo>
                    <a:pt x="0" y="155"/>
                  </a:moveTo>
                  <a:lnTo>
                    <a:pt x="171" y="181"/>
                  </a:lnTo>
                  <a:lnTo>
                    <a:pt x="277" y="187"/>
                  </a:lnTo>
                  <a:lnTo>
                    <a:pt x="416" y="187"/>
                  </a:lnTo>
                  <a:lnTo>
                    <a:pt x="485" y="181"/>
                  </a:lnTo>
                  <a:lnTo>
                    <a:pt x="544" y="171"/>
                  </a:lnTo>
                  <a:lnTo>
                    <a:pt x="640" y="149"/>
                  </a:lnTo>
                  <a:lnTo>
                    <a:pt x="773" y="101"/>
                  </a:lnTo>
                  <a:lnTo>
                    <a:pt x="960" y="16"/>
                  </a:lnTo>
                  <a:lnTo>
                    <a:pt x="779" y="0"/>
                  </a:lnTo>
                  <a:lnTo>
                    <a:pt x="603" y="11"/>
                  </a:lnTo>
                  <a:lnTo>
                    <a:pt x="469" y="32"/>
                  </a:lnTo>
                  <a:lnTo>
                    <a:pt x="336" y="59"/>
                  </a:lnTo>
                  <a:lnTo>
                    <a:pt x="187" y="91"/>
                  </a:lnTo>
                  <a:lnTo>
                    <a:pt x="0" y="155"/>
                  </a:lnTo>
                  <a:close/>
                </a:path>
              </a:pathLst>
            </a:custGeom>
            <a:gradFill rotWithShape="0">
              <a:gsLst>
                <a:gs pos="0">
                  <a:srgbClr val="FF1212"/>
                </a:gs>
                <a:gs pos="100000">
                  <a:srgbClr val="140FE3"/>
                </a:gs>
              </a:gsLst>
              <a:lin ang="5400000" scaled="1"/>
            </a:gradFill>
            <a:ln w="28575" cmpd="sng">
              <a:solidFill>
                <a:schemeClr val="tx1"/>
              </a:solidFill>
              <a:round/>
              <a:headEnd/>
              <a:tailEnd/>
            </a:ln>
            <a:effectLst>
              <a:outerShdw blurRad="63500" dist="38099" dir="2700000" algn="ctr" rotWithShape="0">
                <a:srgbClr val="000000">
                  <a:alpha val="74997"/>
                </a:srgbClr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59" name="Group 18"/>
          <p:cNvGrpSpPr>
            <a:grpSpLocks noChangeAspect="1"/>
          </p:cNvGrpSpPr>
          <p:nvPr/>
        </p:nvGrpSpPr>
        <p:grpSpPr bwMode="auto">
          <a:xfrm rot="-3605053" flipH="1" flipV="1">
            <a:off x="4836100" y="3958257"/>
            <a:ext cx="2144712" cy="2162175"/>
            <a:chOff x="3968" y="1680"/>
            <a:chExt cx="1374" cy="1385"/>
          </a:xfrm>
        </p:grpSpPr>
        <p:sp>
          <p:nvSpPr>
            <p:cNvPr id="60" name="Line 19"/>
            <p:cNvSpPr>
              <a:spLocks noChangeShapeType="1"/>
            </p:cNvSpPr>
            <p:nvPr/>
          </p:nvSpPr>
          <p:spPr bwMode="auto">
            <a:xfrm>
              <a:off x="3969" y="1680"/>
              <a:ext cx="0" cy="13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61" name="Line 20"/>
            <p:cNvSpPr>
              <a:spLocks noChangeShapeType="1"/>
            </p:cNvSpPr>
            <p:nvPr/>
          </p:nvSpPr>
          <p:spPr bwMode="auto">
            <a:xfrm>
              <a:off x="5335" y="1680"/>
              <a:ext cx="0" cy="13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62" name="Line 21"/>
            <p:cNvSpPr>
              <a:spLocks noChangeShapeType="1"/>
            </p:cNvSpPr>
            <p:nvPr/>
          </p:nvSpPr>
          <p:spPr bwMode="auto">
            <a:xfrm>
              <a:off x="3968" y="3067"/>
              <a:ext cx="13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63" name="Freeform 22"/>
            <p:cNvSpPr>
              <a:spLocks/>
            </p:cNvSpPr>
            <p:nvPr/>
          </p:nvSpPr>
          <p:spPr bwMode="auto">
            <a:xfrm>
              <a:off x="3976" y="1924"/>
              <a:ext cx="1360" cy="703"/>
            </a:xfrm>
            <a:custGeom>
              <a:avLst/>
              <a:gdLst>
                <a:gd name="T0" fmla="*/ 0 w 992"/>
                <a:gd name="T1" fmla="*/ 22 h 512"/>
                <a:gd name="T2" fmla="*/ 184 w 992"/>
                <a:gd name="T3" fmla="*/ 0 h 512"/>
                <a:gd name="T4" fmla="*/ 351 w 992"/>
                <a:gd name="T5" fmla="*/ 15 h 512"/>
                <a:gd name="T6" fmla="*/ 520 w 992"/>
                <a:gd name="T7" fmla="*/ 44 h 512"/>
                <a:gd name="T8" fmla="*/ 732 w 992"/>
                <a:gd name="T9" fmla="*/ 110 h 512"/>
                <a:gd name="T10" fmla="*/ 1002 w 992"/>
                <a:gd name="T11" fmla="*/ 270 h 512"/>
                <a:gd name="T12" fmla="*/ 1119 w 992"/>
                <a:gd name="T13" fmla="*/ 373 h 512"/>
                <a:gd name="T14" fmla="*/ 1215 w 992"/>
                <a:gd name="T15" fmla="*/ 483 h 512"/>
                <a:gd name="T16" fmla="*/ 1287 w 992"/>
                <a:gd name="T17" fmla="*/ 571 h 512"/>
                <a:gd name="T18" fmla="*/ 1360 w 992"/>
                <a:gd name="T19" fmla="*/ 703 h 512"/>
                <a:gd name="T20" fmla="*/ 1200 w 992"/>
                <a:gd name="T21" fmla="*/ 659 h 512"/>
                <a:gd name="T22" fmla="*/ 849 w 992"/>
                <a:gd name="T23" fmla="*/ 512 h 512"/>
                <a:gd name="T24" fmla="*/ 439 w 992"/>
                <a:gd name="T25" fmla="*/ 308 h 512"/>
                <a:gd name="T26" fmla="*/ 169 w 992"/>
                <a:gd name="T27" fmla="*/ 132 h 512"/>
                <a:gd name="T28" fmla="*/ 0 w 992"/>
                <a:gd name="T29" fmla="*/ 22 h 51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992" h="512">
                  <a:moveTo>
                    <a:pt x="0" y="16"/>
                  </a:moveTo>
                  <a:lnTo>
                    <a:pt x="134" y="0"/>
                  </a:lnTo>
                  <a:lnTo>
                    <a:pt x="256" y="11"/>
                  </a:lnTo>
                  <a:lnTo>
                    <a:pt x="379" y="32"/>
                  </a:lnTo>
                  <a:lnTo>
                    <a:pt x="534" y="80"/>
                  </a:lnTo>
                  <a:lnTo>
                    <a:pt x="731" y="197"/>
                  </a:lnTo>
                  <a:lnTo>
                    <a:pt x="816" y="272"/>
                  </a:lnTo>
                  <a:lnTo>
                    <a:pt x="886" y="352"/>
                  </a:lnTo>
                  <a:lnTo>
                    <a:pt x="939" y="416"/>
                  </a:lnTo>
                  <a:lnTo>
                    <a:pt x="992" y="512"/>
                  </a:lnTo>
                  <a:lnTo>
                    <a:pt x="875" y="480"/>
                  </a:lnTo>
                  <a:lnTo>
                    <a:pt x="619" y="373"/>
                  </a:lnTo>
                  <a:lnTo>
                    <a:pt x="320" y="224"/>
                  </a:lnTo>
                  <a:lnTo>
                    <a:pt x="123" y="96"/>
                  </a:lnTo>
                  <a:lnTo>
                    <a:pt x="0" y="16"/>
                  </a:lnTo>
                  <a:close/>
                </a:path>
              </a:pathLst>
            </a:custGeom>
            <a:gradFill rotWithShape="0">
              <a:gsLst>
                <a:gs pos="0">
                  <a:srgbClr val="140FE3"/>
                </a:gs>
                <a:gs pos="100000">
                  <a:srgbClr val="FF1212"/>
                </a:gs>
              </a:gsLst>
              <a:lin ang="2700000" scaled="1"/>
            </a:gradFill>
            <a:ln w="28575" cmpd="sng">
              <a:solidFill>
                <a:schemeClr val="tx1"/>
              </a:solidFill>
              <a:round/>
              <a:headEnd/>
              <a:tailEnd/>
            </a:ln>
            <a:effectLst>
              <a:outerShdw blurRad="63500" dist="38099" dir="2700000" algn="ctr" rotWithShape="0">
                <a:srgbClr val="000000">
                  <a:alpha val="74997"/>
                </a:srgbClr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4" name="Text Box 23"/>
          <p:cNvSpPr txBox="1">
            <a:spLocks noChangeArrowheads="1"/>
          </p:cNvSpPr>
          <p:nvPr/>
        </p:nvSpPr>
        <p:spPr bwMode="auto">
          <a:xfrm>
            <a:off x="5500468" y="3343101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fr-FR" sz="1800" b="0"/>
              <a:t>C</a:t>
            </a:r>
            <a:endParaRPr lang="fr-FR" b="0"/>
          </a:p>
        </p:txBody>
      </p:sp>
      <p:sp>
        <p:nvSpPr>
          <p:cNvPr id="65" name="Text Box 24"/>
          <p:cNvSpPr txBox="1">
            <a:spLocks noChangeArrowheads="1"/>
          </p:cNvSpPr>
          <p:nvPr/>
        </p:nvSpPr>
        <p:spPr bwMode="auto">
          <a:xfrm>
            <a:off x="2954118" y="3343101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fr-FR" sz="1800" b="0"/>
              <a:t>B</a:t>
            </a:r>
            <a:endParaRPr lang="fr-FR" b="0"/>
          </a:p>
        </p:txBody>
      </p:sp>
      <p:graphicFrame>
        <p:nvGraphicFramePr>
          <p:cNvPr id="6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964986"/>
              </p:ext>
            </p:extLst>
          </p:nvPr>
        </p:nvGraphicFramePr>
        <p:xfrm>
          <a:off x="3824068" y="5781501"/>
          <a:ext cx="3556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3" name="Équation" r:id="rId3" imgW="165100" imgH="177800" progId="Equation.3">
                  <p:embed/>
                </p:oleObj>
              </mc:Choice>
              <mc:Fallback>
                <p:oleObj name="Équation" r:id="rId3" imgW="165100" imgH="17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068" y="5781501"/>
                        <a:ext cx="35560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81696"/>
              </p:ext>
            </p:extLst>
          </p:nvPr>
        </p:nvGraphicFramePr>
        <p:xfrm>
          <a:off x="7011768" y="4140026"/>
          <a:ext cx="3556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4" name="Équation" r:id="rId5" imgW="165100" imgH="177800" progId="Equation.3">
                  <p:embed/>
                </p:oleObj>
              </mc:Choice>
              <mc:Fallback>
                <p:oleObj name="Équation" r:id="rId5" imgW="165100" imgH="17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1768" y="4140026"/>
                        <a:ext cx="35560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782417"/>
              </p:ext>
            </p:extLst>
          </p:nvPr>
        </p:nvGraphicFramePr>
        <p:xfrm>
          <a:off x="2935068" y="1866726"/>
          <a:ext cx="3556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5" name="Équation" r:id="rId7" imgW="165100" imgH="177800" progId="Equation.3">
                  <p:embed/>
                </p:oleObj>
              </mc:Choice>
              <mc:Fallback>
                <p:oleObj name="Équation" r:id="rId7" imgW="165100" imgH="17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068" y="1866726"/>
                        <a:ext cx="35560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100102"/>
              </p:ext>
            </p:extLst>
          </p:nvPr>
        </p:nvGraphicFramePr>
        <p:xfrm>
          <a:off x="2223868" y="5159201"/>
          <a:ext cx="165100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6" name="Équation" r:id="rId9" imgW="76200" imgH="114300" progId="Equation.3">
                  <p:embed/>
                </p:oleObj>
              </mc:Choice>
              <mc:Fallback>
                <p:oleObj name="Équation" r:id="rId9" imgW="76200" imgH="114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3868" y="5159201"/>
                        <a:ext cx="165100" cy="24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115839"/>
              </p:ext>
            </p:extLst>
          </p:nvPr>
        </p:nvGraphicFramePr>
        <p:xfrm>
          <a:off x="4433668" y="1425401"/>
          <a:ext cx="165100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7" name="Équation" r:id="rId11" imgW="76200" imgH="114300" progId="Equation.3">
                  <p:embed/>
                </p:oleObj>
              </mc:Choice>
              <mc:Fallback>
                <p:oleObj name="Équation" r:id="rId11" imgW="76200" imgH="114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3668" y="1425401"/>
                        <a:ext cx="165100" cy="24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916435"/>
              </p:ext>
            </p:extLst>
          </p:nvPr>
        </p:nvGraphicFramePr>
        <p:xfrm>
          <a:off x="6795868" y="5235401"/>
          <a:ext cx="165100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8" name="Équation" r:id="rId13" imgW="76200" imgH="114300" progId="Equation.3">
                  <p:embed/>
                </p:oleObj>
              </mc:Choice>
              <mc:Fallback>
                <p:oleObj name="Équation" r:id="rId13" imgW="76200" imgH="114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5868" y="5235401"/>
                        <a:ext cx="165100" cy="24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415031"/>
              </p:ext>
            </p:extLst>
          </p:nvPr>
        </p:nvGraphicFramePr>
        <p:xfrm>
          <a:off x="2681068" y="4854401"/>
          <a:ext cx="488950" cy="20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9" name="Équation" r:id="rId15" imgW="266700" imgH="114300" progId="Equation.3">
                  <p:embed/>
                </p:oleObj>
              </mc:Choice>
              <mc:Fallback>
                <p:oleObj name="Équation" r:id="rId15" imgW="266700" imgH="114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1068" y="4854401"/>
                        <a:ext cx="488950" cy="20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7706939"/>
              </p:ext>
            </p:extLst>
          </p:nvPr>
        </p:nvGraphicFramePr>
        <p:xfrm>
          <a:off x="4128868" y="1806401"/>
          <a:ext cx="488950" cy="20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0" name="Équation" r:id="rId17" imgW="266700" imgH="114300" progId="Equation.3">
                  <p:embed/>
                </p:oleObj>
              </mc:Choice>
              <mc:Fallback>
                <p:oleObj name="Équation" r:id="rId17" imgW="266700" imgH="114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8868" y="1806401"/>
                        <a:ext cx="488950" cy="20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777915"/>
              </p:ext>
            </p:extLst>
          </p:nvPr>
        </p:nvGraphicFramePr>
        <p:xfrm>
          <a:off x="5881468" y="5083001"/>
          <a:ext cx="488950" cy="20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1" name="Équation" r:id="rId19" imgW="266700" imgH="114300" progId="Equation.3">
                  <p:embed/>
                </p:oleObj>
              </mc:Choice>
              <mc:Fallback>
                <p:oleObj name="Équation" r:id="rId19" imgW="266700" imgH="114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1468" y="5083001"/>
                        <a:ext cx="488950" cy="20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3175764"/>
              </p:ext>
            </p:extLst>
          </p:nvPr>
        </p:nvGraphicFramePr>
        <p:xfrm>
          <a:off x="5500468" y="4702001"/>
          <a:ext cx="209550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2" name="Équation" r:id="rId21" imgW="114300" imgH="88900" progId="Equation.3">
                  <p:embed/>
                </p:oleObj>
              </mc:Choice>
              <mc:Fallback>
                <p:oleObj name="Équation" r:id="rId21" imgW="114300" imgH="88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468" y="4702001"/>
                        <a:ext cx="209550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677302"/>
              </p:ext>
            </p:extLst>
          </p:nvPr>
        </p:nvGraphicFramePr>
        <p:xfrm>
          <a:off x="4357468" y="4844876"/>
          <a:ext cx="209550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3" name="Équation" r:id="rId23" imgW="114300" imgH="88900" progId="Equation.3">
                  <p:embed/>
                </p:oleObj>
              </mc:Choice>
              <mc:Fallback>
                <p:oleObj name="Équation" r:id="rId23" imgW="114300" imgH="88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468" y="4844876"/>
                        <a:ext cx="209550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630281"/>
              </p:ext>
            </p:extLst>
          </p:nvPr>
        </p:nvGraphicFramePr>
        <p:xfrm>
          <a:off x="4205068" y="2644601"/>
          <a:ext cx="209550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4" name="Équation" r:id="rId25" imgW="114300" imgH="88900" progId="Equation.3">
                  <p:embed/>
                </p:oleObj>
              </mc:Choice>
              <mc:Fallback>
                <p:oleObj name="Équation" r:id="rId25" imgW="114300" imgH="88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5068" y="2644601"/>
                        <a:ext cx="209550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Oval 42"/>
          <p:cNvSpPr>
            <a:spLocks noChangeAspect="1" noChangeArrowheads="1"/>
          </p:cNvSpPr>
          <p:nvPr/>
        </p:nvSpPr>
        <p:spPr bwMode="auto">
          <a:xfrm>
            <a:off x="1779368" y="1552401"/>
            <a:ext cx="5260975" cy="5260975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9" name="Oval 43"/>
          <p:cNvSpPr>
            <a:spLocks noChangeAspect="1" noChangeArrowheads="1"/>
          </p:cNvSpPr>
          <p:nvPr/>
        </p:nvSpPr>
        <p:spPr bwMode="auto">
          <a:xfrm>
            <a:off x="2084168" y="1828626"/>
            <a:ext cx="4721225" cy="4721225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80" name="Oval 44"/>
          <p:cNvSpPr>
            <a:spLocks noChangeAspect="1" noChangeArrowheads="1"/>
          </p:cNvSpPr>
          <p:nvPr/>
        </p:nvSpPr>
        <p:spPr bwMode="auto">
          <a:xfrm>
            <a:off x="2836643" y="2635076"/>
            <a:ext cx="3246438" cy="3246438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81" name="AutoShape 49"/>
          <p:cNvSpPr>
            <a:spLocks noChangeArrowheads="1"/>
          </p:cNvSpPr>
          <p:nvPr/>
        </p:nvSpPr>
        <p:spPr bwMode="auto">
          <a:xfrm rot="17603926" flipV="1">
            <a:off x="4865468" y="4155901"/>
            <a:ext cx="381000" cy="457200"/>
          </a:xfrm>
          <a:prstGeom prst="curvedDownArrow">
            <a:avLst>
              <a:gd name="adj1" fmla="val 20000"/>
              <a:gd name="adj2" fmla="val 40000"/>
              <a:gd name="adj3" fmla="val 40000"/>
            </a:avLst>
          </a:prstGeom>
          <a:solidFill>
            <a:srgbClr val="FF10E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2" name="AutoShape 50"/>
          <p:cNvSpPr>
            <a:spLocks noChangeArrowheads="1"/>
          </p:cNvSpPr>
          <p:nvPr/>
        </p:nvSpPr>
        <p:spPr bwMode="auto">
          <a:xfrm rot="3443668" flipV="1">
            <a:off x="3633568" y="4206701"/>
            <a:ext cx="381000" cy="457200"/>
          </a:xfrm>
          <a:prstGeom prst="curvedDownArrow">
            <a:avLst>
              <a:gd name="adj1" fmla="val 20000"/>
              <a:gd name="adj2" fmla="val 40000"/>
              <a:gd name="adj3" fmla="val 40000"/>
            </a:avLst>
          </a:prstGeom>
          <a:solidFill>
            <a:srgbClr val="FF10E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3" name="AutoShape 51"/>
          <p:cNvSpPr>
            <a:spLocks noChangeArrowheads="1"/>
          </p:cNvSpPr>
          <p:nvPr/>
        </p:nvSpPr>
        <p:spPr bwMode="auto">
          <a:xfrm rot="10920659" flipH="1" flipV="1">
            <a:off x="4255868" y="3330401"/>
            <a:ext cx="381000" cy="457200"/>
          </a:xfrm>
          <a:prstGeom prst="curvedDownArrow">
            <a:avLst>
              <a:gd name="adj1" fmla="val 20000"/>
              <a:gd name="adj2" fmla="val 40000"/>
              <a:gd name="adj3" fmla="val 40000"/>
            </a:avLst>
          </a:prstGeom>
          <a:solidFill>
            <a:srgbClr val="FF10E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graphicFrame>
        <p:nvGraphicFramePr>
          <p:cNvPr id="84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2481863"/>
              </p:ext>
            </p:extLst>
          </p:nvPr>
        </p:nvGraphicFramePr>
        <p:xfrm>
          <a:off x="5563968" y="1514301"/>
          <a:ext cx="3556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5" name="Équation" r:id="rId27" imgW="165100" imgH="177800" progId="Equation.3">
                  <p:embed/>
                </p:oleObj>
              </mc:Choice>
              <mc:Fallback>
                <p:oleObj name="Équation" r:id="rId27" imgW="165100" imgH="17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3968" y="1514301"/>
                        <a:ext cx="35560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5563006"/>
              </p:ext>
            </p:extLst>
          </p:nvPr>
        </p:nvGraphicFramePr>
        <p:xfrm>
          <a:off x="1728568" y="3990801"/>
          <a:ext cx="3556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6" name="Équation" r:id="rId29" imgW="165100" imgH="177800" progId="Equation.3">
                  <p:embed/>
                </p:oleObj>
              </mc:Choice>
              <mc:Fallback>
                <p:oleObj name="Équation" r:id="rId29" imgW="165100" imgH="17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568" y="3990801"/>
                        <a:ext cx="35560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562892"/>
              </p:ext>
            </p:extLst>
          </p:nvPr>
        </p:nvGraphicFramePr>
        <p:xfrm>
          <a:off x="4700368" y="5794201"/>
          <a:ext cx="3556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7" name="Équation" r:id="rId31" imgW="165100" imgH="177800" progId="Equation.3">
                  <p:embed/>
                </p:oleObj>
              </mc:Choice>
              <mc:Fallback>
                <p:oleObj name="Équation" r:id="rId31" imgW="165100" imgH="17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368" y="5794201"/>
                        <a:ext cx="35560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873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12" name="ZoneTexte 11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Diagramme ternaire isomorphe - Diagramme ternaire le plus </a:t>
            </a:r>
            <a:r>
              <a:rPr lang="fr-FR" sz="2800" dirty="0" smtClean="0"/>
              <a:t>simple</a:t>
            </a:r>
            <a:endParaRPr lang="fr-FR" sz="2800" dirty="0"/>
          </a:p>
        </p:txBody>
      </p:sp>
      <p:sp>
        <p:nvSpPr>
          <p:cNvPr id="44" name="Rectangle 25"/>
          <p:cNvSpPr>
            <a:spLocks noChangeArrowheads="1"/>
          </p:cNvSpPr>
          <p:nvPr/>
        </p:nvSpPr>
        <p:spPr bwMode="auto">
          <a:xfrm>
            <a:off x="6708899" y="4975428"/>
            <a:ext cx="26876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fr-FR" sz="1800" b="0" dirty="0"/>
              <a:t>Nappes </a:t>
            </a:r>
          </a:p>
          <a:p>
            <a:pPr algn="ctr"/>
            <a:r>
              <a:rPr lang="fr-FR" sz="1800" b="0" dirty="0"/>
              <a:t>du </a:t>
            </a:r>
            <a:r>
              <a:rPr lang="fr-FR" sz="1800" b="0" dirty="0" err="1">
                <a:solidFill>
                  <a:srgbClr val="FF1212"/>
                </a:solidFill>
              </a:rPr>
              <a:t>liquidus</a:t>
            </a:r>
            <a:r>
              <a:rPr lang="fr-FR" sz="1800" b="0" dirty="0"/>
              <a:t> et du </a:t>
            </a:r>
            <a:r>
              <a:rPr lang="fr-FR" sz="1800" b="0" dirty="0">
                <a:solidFill>
                  <a:srgbClr val="140FE3"/>
                </a:solidFill>
              </a:rPr>
              <a:t>solidus </a:t>
            </a:r>
            <a:endParaRPr lang="fr-FR" sz="1800" b="0" dirty="0"/>
          </a:p>
        </p:txBody>
      </p:sp>
      <p:graphicFrame>
        <p:nvGraphicFramePr>
          <p:cNvPr id="4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944045"/>
              </p:ext>
            </p:extLst>
          </p:nvPr>
        </p:nvGraphicFramePr>
        <p:xfrm>
          <a:off x="3706813" y="6021288"/>
          <a:ext cx="188753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2" name="Équation" r:id="rId3" imgW="876240" imgH="241200" progId="Equation.3">
                  <p:embed/>
                </p:oleObj>
              </mc:Choice>
              <mc:Fallback>
                <p:oleObj name="Équation" r:id="rId3" imgW="8762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6813" y="6021288"/>
                        <a:ext cx="1887537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616" y="1807076"/>
            <a:ext cx="4468539" cy="3668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2" y="1807076"/>
            <a:ext cx="4344381" cy="386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8" name="Rectangle 25"/>
          <p:cNvSpPr>
            <a:spLocks noChangeArrowheads="1"/>
          </p:cNvSpPr>
          <p:nvPr/>
        </p:nvSpPr>
        <p:spPr bwMode="auto">
          <a:xfrm>
            <a:off x="2915816" y="4975428"/>
            <a:ext cx="26876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fr-FR" sz="1800" b="0" dirty="0"/>
              <a:t>Nappes </a:t>
            </a:r>
          </a:p>
          <a:p>
            <a:pPr algn="ctr"/>
            <a:r>
              <a:rPr lang="fr-FR" sz="1800" b="0" dirty="0"/>
              <a:t>du </a:t>
            </a:r>
            <a:r>
              <a:rPr lang="fr-FR" sz="1800" b="0" dirty="0" err="1">
                <a:solidFill>
                  <a:srgbClr val="FF1212"/>
                </a:solidFill>
              </a:rPr>
              <a:t>liquidus</a:t>
            </a:r>
            <a:r>
              <a:rPr lang="fr-FR" sz="1800" b="0" dirty="0"/>
              <a:t> et du </a:t>
            </a:r>
            <a:r>
              <a:rPr lang="fr-FR" sz="1800" b="0" dirty="0">
                <a:solidFill>
                  <a:srgbClr val="140FE3"/>
                </a:solidFill>
              </a:rPr>
              <a:t>solidus </a:t>
            </a:r>
            <a:endParaRPr lang="fr-FR" sz="1800" b="0" dirty="0"/>
          </a:p>
        </p:txBody>
      </p:sp>
      <p:sp>
        <p:nvSpPr>
          <p:cNvPr id="89" name="Flèche courbée vers la gauche 88"/>
          <p:cNvSpPr/>
          <p:nvPr/>
        </p:nvSpPr>
        <p:spPr>
          <a:xfrm>
            <a:off x="4270552" y="1196752"/>
            <a:ext cx="336699" cy="36004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73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12" name="ZoneTexte 11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Méthode de lecture</a:t>
            </a:r>
            <a:endParaRPr lang="fr-FR" sz="2800" dirty="0"/>
          </a:p>
        </p:txBody>
      </p:sp>
      <p:sp>
        <p:nvSpPr>
          <p:cNvPr id="11" name="ZoneTexte 10"/>
          <p:cNvSpPr txBox="1"/>
          <p:nvPr/>
        </p:nvSpPr>
        <p:spPr>
          <a:xfrm>
            <a:off x="323528" y="2564904"/>
            <a:ext cx="8352928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 smtClean="0"/>
              <a:t>Pour simplifier la lecture, il est possible de réaliser des coupes isothermes (2D) du diagramme (3D). Ceci permet de déterminer les domaines monophasés, biphasés, triphasés et leurs frontières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90547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12" name="ZoneTexte 11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Diagramme ternaire </a:t>
            </a:r>
            <a:r>
              <a:rPr lang="fr-FR" sz="2800" dirty="0" smtClean="0"/>
              <a:t>isomorphe</a:t>
            </a:r>
            <a:endParaRPr lang="fr-FR" sz="2800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52736"/>
            <a:ext cx="4176464" cy="4156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492896"/>
            <a:ext cx="3151947" cy="2716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6940061" y="519324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5220072" y="230823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8593018" y="230529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1763688" y="4929738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501834" y="3800470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B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4344546" y="3666428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</a:t>
            </a:r>
            <a:endParaRPr lang="fr-FR" dirty="0"/>
          </a:p>
        </p:txBody>
      </p:sp>
      <p:sp>
        <p:nvSpPr>
          <p:cNvPr id="16" name="Forme libre 15"/>
          <p:cNvSpPr/>
          <p:nvPr/>
        </p:nvSpPr>
        <p:spPr>
          <a:xfrm>
            <a:off x="3028950" y="744657"/>
            <a:ext cx="2926080" cy="1221303"/>
          </a:xfrm>
          <a:custGeom>
            <a:avLst/>
            <a:gdLst>
              <a:gd name="connsiteX0" fmla="*/ 0 w 2926080"/>
              <a:gd name="connsiteY0" fmla="*/ 569793 h 1221303"/>
              <a:gd name="connsiteX1" fmla="*/ 1303020 w 2926080"/>
              <a:gd name="connsiteY1" fmla="*/ 21153 h 1221303"/>
              <a:gd name="connsiteX2" fmla="*/ 2926080 w 2926080"/>
              <a:gd name="connsiteY2" fmla="*/ 1221303 h 1221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080" h="1221303">
                <a:moveTo>
                  <a:pt x="0" y="569793"/>
                </a:moveTo>
                <a:cubicBezTo>
                  <a:pt x="407670" y="241180"/>
                  <a:pt x="815340" y="-87432"/>
                  <a:pt x="1303020" y="21153"/>
                </a:cubicBezTo>
                <a:cubicBezTo>
                  <a:pt x="1790700" y="129738"/>
                  <a:pt x="2358390" y="675520"/>
                  <a:pt x="2926080" y="1221303"/>
                </a:cubicBezTo>
              </a:path>
            </a:pathLst>
          </a:custGeom>
          <a:noFill/>
          <a:ln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817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12" name="ZoneTexte 11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Diagramme ternaire </a:t>
            </a:r>
            <a:r>
              <a:rPr lang="fr-FR" sz="2800" dirty="0" smtClean="0"/>
              <a:t>isomorphe</a:t>
            </a:r>
            <a:endParaRPr lang="fr-FR" sz="2800" dirty="0"/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78" y="1094685"/>
            <a:ext cx="4190288" cy="4134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ZoneTexte 17"/>
          <p:cNvSpPr txBox="1"/>
          <p:nvPr/>
        </p:nvSpPr>
        <p:spPr>
          <a:xfrm>
            <a:off x="1763688" y="4929738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501834" y="3800470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B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6940061" y="519324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21" name="ZoneTexte 20"/>
          <p:cNvSpPr txBox="1"/>
          <p:nvPr/>
        </p:nvSpPr>
        <p:spPr>
          <a:xfrm>
            <a:off x="5220072" y="230823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8593018" y="230529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4344546" y="3666428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</a:t>
            </a:r>
            <a:endParaRPr lang="fr-FR" dirty="0"/>
          </a:p>
        </p:txBody>
      </p:sp>
      <p:pic>
        <p:nvPicPr>
          <p:cNvPr id="2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247" y="1988840"/>
            <a:ext cx="3169240" cy="3239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Forme libre 24"/>
          <p:cNvSpPr/>
          <p:nvPr/>
        </p:nvSpPr>
        <p:spPr>
          <a:xfrm>
            <a:off x="7395210" y="1851660"/>
            <a:ext cx="914400" cy="731520"/>
          </a:xfrm>
          <a:custGeom>
            <a:avLst/>
            <a:gdLst>
              <a:gd name="connsiteX0" fmla="*/ 0 w 914400"/>
              <a:gd name="connsiteY0" fmla="*/ 0 h 731520"/>
              <a:gd name="connsiteX1" fmla="*/ 662940 w 914400"/>
              <a:gd name="connsiteY1" fmla="*/ 320040 h 731520"/>
              <a:gd name="connsiteX2" fmla="*/ 914400 w 914400"/>
              <a:gd name="connsiteY2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731520">
                <a:moveTo>
                  <a:pt x="0" y="0"/>
                </a:moveTo>
                <a:cubicBezTo>
                  <a:pt x="255270" y="99060"/>
                  <a:pt x="510540" y="198120"/>
                  <a:pt x="662940" y="320040"/>
                </a:cubicBezTo>
                <a:cubicBezTo>
                  <a:pt x="815340" y="441960"/>
                  <a:pt x="864870" y="586740"/>
                  <a:pt x="914400" y="73152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/>
          <p:cNvSpPr txBox="1"/>
          <p:nvPr/>
        </p:nvSpPr>
        <p:spPr>
          <a:xfrm>
            <a:off x="7020272" y="154750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713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12" name="ZoneTexte 11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Diagramme ternaire </a:t>
            </a:r>
            <a:r>
              <a:rPr lang="fr-FR" sz="2800" dirty="0" smtClean="0"/>
              <a:t>isomorphe</a:t>
            </a:r>
            <a:endParaRPr lang="fr-FR" sz="2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02" y="1090454"/>
            <a:ext cx="4215102" cy="4145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ZoneTexte 4"/>
          <p:cNvSpPr txBox="1"/>
          <p:nvPr/>
        </p:nvSpPr>
        <p:spPr>
          <a:xfrm>
            <a:off x="1763688" y="4929738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501834" y="3800470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B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6940061" y="519324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5220072" y="230823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8593018" y="230529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4344546" y="3666428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7074479" y="2798135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L</a:t>
            </a:r>
            <a:endParaRPr lang="fr-FR" dirty="0"/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5245" y="2479680"/>
            <a:ext cx="3178468" cy="274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420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12" name="ZoneTexte 11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Diagramme ternaire </a:t>
            </a:r>
            <a:r>
              <a:rPr lang="fr-FR" sz="2800" dirty="0" smtClean="0"/>
              <a:t>isomorphe</a:t>
            </a:r>
            <a:endParaRPr lang="fr-FR" sz="2800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41" y="1085880"/>
            <a:ext cx="4172586" cy="4116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ZoneTexte 14"/>
          <p:cNvSpPr txBox="1"/>
          <p:nvPr/>
        </p:nvSpPr>
        <p:spPr>
          <a:xfrm>
            <a:off x="1763688" y="4929738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501834" y="3800470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B</a:t>
            </a:r>
            <a:endParaRPr lang="fr-FR" dirty="0"/>
          </a:p>
        </p:txBody>
      </p:sp>
      <p:sp>
        <p:nvSpPr>
          <p:cNvPr id="27" name="ZoneTexte 26"/>
          <p:cNvSpPr txBox="1"/>
          <p:nvPr/>
        </p:nvSpPr>
        <p:spPr>
          <a:xfrm>
            <a:off x="6940061" y="519324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28" name="ZoneTexte 27"/>
          <p:cNvSpPr txBox="1"/>
          <p:nvPr/>
        </p:nvSpPr>
        <p:spPr>
          <a:xfrm>
            <a:off x="5220072" y="230823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8593018" y="230529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</a:t>
            </a:r>
            <a:endParaRPr lang="fr-FR" dirty="0"/>
          </a:p>
        </p:txBody>
      </p:sp>
      <p:sp>
        <p:nvSpPr>
          <p:cNvPr id="30" name="ZoneTexte 29"/>
          <p:cNvSpPr txBox="1"/>
          <p:nvPr/>
        </p:nvSpPr>
        <p:spPr>
          <a:xfrm>
            <a:off x="4344546" y="3666428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</a:t>
            </a:r>
            <a:endParaRPr lang="fr-FR" dirty="0"/>
          </a:p>
        </p:txBody>
      </p:sp>
      <p:sp>
        <p:nvSpPr>
          <p:cNvPr id="31" name="ZoneTexte 30"/>
          <p:cNvSpPr txBox="1"/>
          <p:nvPr/>
        </p:nvSpPr>
        <p:spPr>
          <a:xfrm>
            <a:off x="6769958" y="40186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L</a:t>
            </a:r>
            <a:endParaRPr lang="fr-FR" dirty="0"/>
          </a:p>
        </p:txBody>
      </p:sp>
      <p:pic>
        <p:nvPicPr>
          <p:cNvPr id="32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814" y="2467103"/>
            <a:ext cx="3184461" cy="274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642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12" name="ZoneTexte 11"/>
          <p:cNvSpPr txBox="1"/>
          <p:nvPr/>
        </p:nvSpPr>
        <p:spPr>
          <a:xfrm>
            <a:off x="144016" y="620688"/>
            <a:ext cx="8999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Diagramme ternaire isomorphe</a:t>
            </a:r>
            <a:endParaRPr lang="fr-FR" sz="2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97" y="1064166"/>
            <a:ext cx="4187740" cy="413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ZoneTexte 4"/>
          <p:cNvSpPr txBox="1"/>
          <p:nvPr/>
        </p:nvSpPr>
        <p:spPr>
          <a:xfrm>
            <a:off x="1763688" y="4929738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501834" y="3800470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B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6940061" y="519324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5220072" y="230823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8593018" y="230529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4344546" y="3666428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</a:t>
            </a:r>
            <a:endParaRPr lang="fr-FR" dirty="0"/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5" y="2489963"/>
            <a:ext cx="3145492" cy="2710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420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12" name="ZoneTexte 11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Fractions et compositions de phases dans un domaine biphasé</a:t>
            </a:r>
          </a:p>
        </p:txBody>
      </p:sp>
      <p:sp>
        <p:nvSpPr>
          <p:cNvPr id="4" name="AutoShape 16"/>
          <p:cNvSpPr>
            <a:spLocks noChangeAspect="1" noChangeArrowheads="1"/>
          </p:cNvSpPr>
          <p:nvPr/>
        </p:nvSpPr>
        <p:spPr bwMode="auto">
          <a:xfrm flipV="1">
            <a:off x="5486400" y="1198563"/>
            <a:ext cx="3040063" cy="2624137"/>
          </a:xfrm>
          <a:prstGeom prst="triangle">
            <a:avLst>
              <a:gd name="adj" fmla="val 50000"/>
            </a:avLst>
          </a:prstGeom>
          <a:solidFill>
            <a:srgbClr val="F9D073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" name="Freeform 19"/>
          <p:cNvSpPr>
            <a:spLocks/>
          </p:cNvSpPr>
          <p:nvPr/>
        </p:nvSpPr>
        <p:spPr bwMode="auto">
          <a:xfrm>
            <a:off x="7567613" y="1206500"/>
            <a:ext cx="417512" cy="889000"/>
          </a:xfrm>
          <a:custGeom>
            <a:avLst/>
            <a:gdLst>
              <a:gd name="T0" fmla="*/ 11598 w 252"/>
              <a:gd name="T1" fmla="*/ 0 h 560"/>
              <a:gd name="T2" fmla="*/ 0 w 252"/>
              <a:gd name="T3" fmla="*/ 95250 h 560"/>
              <a:gd name="T4" fmla="*/ 1657 w 252"/>
              <a:gd name="T5" fmla="*/ 261938 h 560"/>
              <a:gd name="T6" fmla="*/ 19882 w 252"/>
              <a:gd name="T7" fmla="*/ 398463 h 560"/>
              <a:gd name="T8" fmla="*/ 72899 w 252"/>
              <a:gd name="T9" fmla="*/ 525463 h 560"/>
              <a:gd name="T10" fmla="*/ 119289 w 252"/>
              <a:gd name="T11" fmla="*/ 609600 h 560"/>
              <a:gd name="T12" fmla="*/ 197158 w 252"/>
              <a:gd name="T13" fmla="*/ 703263 h 560"/>
              <a:gd name="T14" fmla="*/ 304850 w 252"/>
              <a:gd name="T15" fmla="*/ 800100 h 560"/>
              <a:gd name="T16" fmla="*/ 417512 w 252"/>
              <a:gd name="T17" fmla="*/ 889000 h 5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52" h="560">
                <a:moveTo>
                  <a:pt x="7" y="0"/>
                </a:moveTo>
                <a:lnTo>
                  <a:pt x="0" y="60"/>
                </a:lnTo>
                <a:lnTo>
                  <a:pt x="1" y="165"/>
                </a:lnTo>
                <a:lnTo>
                  <a:pt x="12" y="251"/>
                </a:lnTo>
                <a:lnTo>
                  <a:pt x="44" y="331"/>
                </a:lnTo>
                <a:lnTo>
                  <a:pt x="72" y="384"/>
                </a:lnTo>
                <a:lnTo>
                  <a:pt x="119" y="443"/>
                </a:lnTo>
                <a:lnTo>
                  <a:pt x="184" y="504"/>
                </a:lnTo>
                <a:lnTo>
                  <a:pt x="252" y="56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" name="Freeform 21"/>
          <p:cNvSpPr>
            <a:spLocks/>
          </p:cNvSpPr>
          <p:nvPr/>
        </p:nvSpPr>
        <p:spPr bwMode="auto">
          <a:xfrm>
            <a:off x="6602413" y="1198563"/>
            <a:ext cx="979487" cy="1612900"/>
          </a:xfrm>
          <a:custGeom>
            <a:avLst/>
            <a:gdLst>
              <a:gd name="T0" fmla="*/ 0 w 617"/>
              <a:gd name="T1" fmla="*/ 0 h 1016"/>
              <a:gd name="T2" fmla="*/ 39687 w 617"/>
              <a:gd name="T3" fmla="*/ 184150 h 1016"/>
              <a:gd name="T4" fmla="*/ 90487 w 617"/>
              <a:gd name="T5" fmla="*/ 361950 h 1016"/>
              <a:gd name="T6" fmla="*/ 160337 w 617"/>
              <a:gd name="T7" fmla="*/ 552450 h 1016"/>
              <a:gd name="T8" fmla="*/ 198437 w 617"/>
              <a:gd name="T9" fmla="*/ 647700 h 1016"/>
              <a:gd name="T10" fmla="*/ 242887 w 617"/>
              <a:gd name="T11" fmla="*/ 723900 h 1016"/>
              <a:gd name="T12" fmla="*/ 293687 w 617"/>
              <a:gd name="T13" fmla="*/ 825500 h 1016"/>
              <a:gd name="T14" fmla="*/ 388937 w 617"/>
              <a:gd name="T15" fmla="*/ 984250 h 1016"/>
              <a:gd name="T16" fmla="*/ 490537 w 617"/>
              <a:gd name="T17" fmla="*/ 1123950 h 1016"/>
              <a:gd name="T18" fmla="*/ 566737 w 617"/>
              <a:gd name="T19" fmla="*/ 1225550 h 1016"/>
              <a:gd name="T20" fmla="*/ 687387 w 617"/>
              <a:gd name="T21" fmla="*/ 1346200 h 1016"/>
              <a:gd name="T22" fmla="*/ 769937 w 617"/>
              <a:gd name="T23" fmla="*/ 1435100 h 1016"/>
              <a:gd name="T24" fmla="*/ 979487 w 617"/>
              <a:gd name="T25" fmla="*/ 1612900 h 101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617" h="1016">
                <a:moveTo>
                  <a:pt x="0" y="0"/>
                </a:moveTo>
                <a:lnTo>
                  <a:pt x="25" y="116"/>
                </a:lnTo>
                <a:lnTo>
                  <a:pt x="57" y="228"/>
                </a:lnTo>
                <a:lnTo>
                  <a:pt x="101" y="348"/>
                </a:lnTo>
                <a:lnTo>
                  <a:pt x="125" y="408"/>
                </a:lnTo>
                <a:lnTo>
                  <a:pt x="153" y="456"/>
                </a:lnTo>
                <a:lnTo>
                  <a:pt x="185" y="520"/>
                </a:lnTo>
                <a:lnTo>
                  <a:pt x="245" y="620"/>
                </a:lnTo>
                <a:lnTo>
                  <a:pt x="309" y="708"/>
                </a:lnTo>
                <a:lnTo>
                  <a:pt x="357" y="772"/>
                </a:lnTo>
                <a:lnTo>
                  <a:pt x="433" y="848"/>
                </a:lnTo>
                <a:lnTo>
                  <a:pt x="485" y="904"/>
                </a:lnTo>
                <a:lnTo>
                  <a:pt x="617" y="101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" name="Line 22"/>
          <p:cNvSpPr>
            <a:spLocks noChangeShapeType="1"/>
          </p:cNvSpPr>
          <p:nvPr/>
        </p:nvSpPr>
        <p:spPr bwMode="auto">
          <a:xfrm flipV="1">
            <a:off x="6648450" y="1300163"/>
            <a:ext cx="927100" cy="82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8" name="Line 23"/>
          <p:cNvSpPr>
            <a:spLocks noChangeShapeType="1"/>
          </p:cNvSpPr>
          <p:nvPr/>
        </p:nvSpPr>
        <p:spPr bwMode="auto">
          <a:xfrm flipV="1">
            <a:off x="6699250" y="1401763"/>
            <a:ext cx="876300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9" name="Line 24"/>
          <p:cNvSpPr>
            <a:spLocks noChangeShapeType="1"/>
          </p:cNvSpPr>
          <p:nvPr/>
        </p:nvSpPr>
        <p:spPr bwMode="auto">
          <a:xfrm flipV="1">
            <a:off x="6762750" y="1497013"/>
            <a:ext cx="825500" cy="247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1" name="Line 25"/>
          <p:cNvSpPr>
            <a:spLocks noChangeShapeType="1"/>
          </p:cNvSpPr>
          <p:nvPr/>
        </p:nvSpPr>
        <p:spPr bwMode="auto">
          <a:xfrm flipV="1">
            <a:off x="6845300" y="1611313"/>
            <a:ext cx="749300" cy="31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3" name="Line 26"/>
          <p:cNvSpPr>
            <a:spLocks noChangeShapeType="1"/>
          </p:cNvSpPr>
          <p:nvPr/>
        </p:nvSpPr>
        <p:spPr bwMode="auto">
          <a:xfrm flipV="1">
            <a:off x="6946900" y="1706563"/>
            <a:ext cx="692150" cy="38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4" name="Line 27"/>
          <p:cNvSpPr>
            <a:spLocks noChangeShapeType="1"/>
          </p:cNvSpPr>
          <p:nvPr/>
        </p:nvSpPr>
        <p:spPr bwMode="auto">
          <a:xfrm flipV="1">
            <a:off x="7042150" y="1801813"/>
            <a:ext cx="64770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5" name="Line 28"/>
          <p:cNvSpPr>
            <a:spLocks noChangeShapeType="1"/>
          </p:cNvSpPr>
          <p:nvPr/>
        </p:nvSpPr>
        <p:spPr bwMode="auto">
          <a:xfrm flipV="1">
            <a:off x="7156450" y="1884363"/>
            <a:ext cx="59055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6" name="Line 29"/>
          <p:cNvSpPr>
            <a:spLocks noChangeShapeType="1"/>
          </p:cNvSpPr>
          <p:nvPr/>
        </p:nvSpPr>
        <p:spPr bwMode="auto">
          <a:xfrm flipV="1">
            <a:off x="7289800" y="1960563"/>
            <a:ext cx="533400" cy="577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7" name="Line 30"/>
          <p:cNvSpPr>
            <a:spLocks noChangeShapeType="1"/>
          </p:cNvSpPr>
          <p:nvPr/>
        </p:nvSpPr>
        <p:spPr bwMode="auto">
          <a:xfrm flipV="1">
            <a:off x="7423150" y="2030413"/>
            <a:ext cx="47625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8" name="Line 32"/>
          <p:cNvSpPr>
            <a:spLocks noChangeShapeType="1"/>
          </p:cNvSpPr>
          <p:nvPr/>
        </p:nvSpPr>
        <p:spPr bwMode="auto">
          <a:xfrm flipV="1">
            <a:off x="6769100" y="1211263"/>
            <a:ext cx="1739900" cy="53975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9" name="Line 33"/>
          <p:cNvSpPr>
            <a:spLocks noChangeShapeType="1"/>
          </p:cNvSpPr>
          <p:nvPr/>
        </p:nvSpPr>
        <p:spPr bwMode="auto">
          <a:xfrm flipV="1">
            <a:off x="6705600" y="1204913"/>
            <a:ext cx="1809750" cy="37465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0" name="Line 34"/>
          <p:cNvSpPr>
            <a:spLocks noChangeShapeType="1"/>
          </p:cNvSpPr>
          <p:nvPr/>
        </p:nvSpPr>
        <p:spPr bwMode="auto">
          <a:xfrm flipV="1">
            <a:off x="6718300" y="1204913"/>
            <a:ext cx="1803400" cy="45085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" name="Text Box 35"/>
          <p:cNvSpPr txBox="1">
            <a:spLocks noChangeArrowheads="1"/>
          </p:cNvSpPr>
          <p:nvPr/>
        </p:nvSpPr>
        <p:spPr bwMode="auto">
          <a:xfrm>
            <a:off x="5257800" y="1046163"/>
            <a:ext cx="184150" cy="396875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2000" b="0">
                <a:latin typeface="Tahoma" charset="0"/>
                <a:ea typeface="ＭＳ Ｐゴシック" charset="0"/>
              </a:rPr>
              <a:t>B</a:t>
            </a:r>
            <a:endParaRPr lang="fr-FR" b="0">
              <a:latin typeface="Tahoma" charset="0"/>
              <a:ea typeface="ＭＳ Ｐゴシック" charset="0"/>
            </a:endParaRPr>
          </a:p>
        </p:txBody>
      </p:sp>
      <p:sp>
        <p:nvSpPr>
          <p:cNvPr id="22" name="Text Box 36"/>
          <p:cNvSpPr txBox="1">
            <a:spLocks noChangeArrowheads="1"/>
          </p:cNvSpPr>
          <p:nvPr/>
        </p:nvSpPr>
        <p:spPr bwMode="auto">
          <a:xfrm>
            <a:off x="6934200" y="3773488"/>
            <a:ext cx="184150" cy="396875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2000" b="0">
                <a:latin typeface="Tahoma" charset="0"/>
                <a:ea typeface="ＭＳ Ｐゴシック" charset="0"/>
              </a:rPr>
              <a:t>A</a:t>
            </a:r>
            <a:endParaRPr lang="fr-FR" b="0">
              <a:latin typeface="Arial" charset="0"/>
              <a:ea typeface="ＭＳ Ｐゴシック" charset="0"/>
            </a:endParaRPr>
          </a:p>
        </p:txBody>
      </p:sp>
      <p:sp>
        <p:nvSpPr>
          <p:cNvPr id="23" name="Text Box 37"/>
          <p:cNvSpPr txBox="1">
            <a:spLocks noChangeArrowheads="1"/>
          </p:cNvSpPr>
          <p:nvPr/>
        </p:nvSpPr>
        <p:spPr bwMode="auto">
          <a:xfrm>
            <a:off x="8578850" y="990600"/>
            <a:ext cx="184150" cy="396875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2000" b="0">
                <a:latin typeface="Tahoma" charset="0"/>
                <a:ea typeface="ＭＳ Ｐゴシック" charset="0"/>
              </a:rPr>
              <a:t>C</a:t>
            </a:r>
            <a:endParaRPr lang="fr-FR" b="0">
              <a:latin typeface="Tahoma" charset="0"/>
              <a:ea typeface="ＭＳ Ｐゴシック" charset="0"/>
            </a:endParaRPr>
          </a:p>
        </p:txBody>
      </p:sp>
      <p:sp>
        <p:nvSpPr>
          <p:cNvPr id="24" name="Oval 31"/>
          <p:cNvSpPr>
            <a:spLocks noChangeArrowheads="1"/>
          </p:cNvSpPr>
          <p:nvPr/>
        </p:nvSpPr>
        <p:spPr bwMode="auto">
          <a:xfrm>
            <a:off x="7118350" y="1509713"/>
            <a:ext cx="76200" cy="76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5" name="Text Box 38"/>
          <p:cNvSpPr txBox="1">
            <a:spLocks noChangeArrowheads="1"/>
          </p:cNvSpPr>
          <p:nvPr/>
        </p:nvSpPr>
        <p:spPr bwMode="auto">
          <a:xfrm>
            <a:off x="7054850" y="1547813"/>
            <a:ext cx="184150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1400" b="0">
                <a:latin typeface="Tahoma" charset="0"/>
                <a:ea typeface="ＭＳ Ｐゴシック" charset="0"/>
              </a:rPr>
              <a:t>M</a:t>
            </a:r>
          </a:p>
        </p:txBody>
      </p:sp>
      <p:sp>
        <p:nvSpPr>
          <p:cNvPr id="26" name="Text Box 39"/>
          <p:cNvSpPr txBox="1">
            <a:spLocks noChangeArrowheads="1"/>
          </p:cNvSpPr>
          <p:nvPr/>
        </p:nvSpPr>
        <p:spPr bwMode="auto">
          <a:xfrm>
            <a:off x="6497638" y="1495425"/>
            <a:ext cx="184150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1400" b="0">
                <a:latin typeface="Tahoma" charset="0"/>
                <a:ea typeface="ＭＳ Ｐゴシック" charset="0"/>
              </a:rPr>
              <a:t>m</a:t>
            </a:r>
          </a:p>
        </p:txBody>
      </p:sp>
      <p:sp>
        <p:nvSpPr>
          <p:cNvPr id="27" name="Text Box 40"/>
          <p:cNvSpPr txBox="1">
            <a:spLocks noChangeArrowheads="1"/>
          </p:cNvSpPr>
          <p:nvPr/>
        </p:nvSpPr>
        <p:spPr bwMode="auto">
          <a:xfrm>
            <a:off x="7620000" y="1274763"/>
            <a:ext cx="184150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1400" b="0">
                <a:latin typeface="Tahoma" charset="0"/>
                <a:ea typeface="ＭＳ Ｐゴシック" charset="0"/>
              </a:rPr>
              <a:t>n</a:t>
            </a:r>
          </a:p>
        </p:txBody>
      </p:sp>
      <p:sp>
        <p:nvSpPr>
          <p:cNvPr id="28" name="Oval 41"/>
          <p:cNvSpPr>
            <a:spLocks noChangeAspect="1" noChangeArrowheads="1"/>
          </p:cNvSpPr>
          <p:nvPr/>
        </p:nvSpPr>
        <p:spPr bwMode="auto">
          <a:xfrm>
            <a:off x="6697663" y="1619250"/>
            <a:ext cx="39687" cy="3968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9" name="Oval 42"/>
          <p:cNvSpPr>
            <a:spLocks noChangeAspect="1" noChangeArrowheads="1"/>
          </p:cNvSpPr>
          <p:nvPr/>
        </p:nvSpPr>
        <p:spPr bwMode="auto">
          <a:xfrm>
            <a:off x="7548563" y="1427163"/>
            <a:ext cx="39687" cy="396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0" name="Text Box 43"/>
          <p:cNvSpPr txBox="1">
            <a:spLocks noChangeArrowheads="1"/>
          </p:cNvSpPr>
          <p:nvPr/>
        </p:nvSpPr>
        <p:spPr bwMode="auto">
          <a:xfrm rot="-1911337">
            <a:off x="6934200" y="1852613"/>
            <a:ext cx="641350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1400" b="0" i="1">
                <a:latin typeface="Tahoma" charset="0"/>
                <a:ea typeface="ＭＳ Ｐゴシック" charset="0"/>
              </a:rPr>
              <a:t>l + </a:t>
            </a:r>
            <a:r>
              <a:rPr lang="fr-FR" sz="1400" b="0" i="1">
                <a:latin typeface="Symbol" charset="0"/>
                <a:ea typeface="ＭＳ Ｐゴシック" charset="0"/>
                <a:sym typeface="Symbol" charset="0"/>
              </a:rPr>
              <a:t></a:t>
            </a:r>
            <a:endParaRPr lang="fr-FR" sz="1400" b="0">
              <a:latin typeface="Tahoma" charset="0"/>
              <a:ea typeface="ＭＳ Ｐゴシック" charset="0"/>
            </a:endParaRP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7848600" y="1427163"/>
            <a:ext cx="184150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FR" sz="1400" b="0" i="1">
                <a:latin typeface="Symbol" pitchFamily="18" charset="2"/>
                <a:sym typeface="Symbol" pitchFamily="18" charset="2"/>
              </a:rPr>
              <a:t></a:t>
            </a:r>
            <a:endParaRPr lang="fr-FR" sz="1400" b="0">
              <a:latin typeface="Symbol" pitchFamily="18" charset="2"/>
              <a:sym typeface="Symbol" pitchFamily="18" charset="2"/>
            </a:endParaRPr>
          </a:p>
        </p:txBody>
      </p:sp>
      <p:sp>
        <p:nvSpPr>
          <p:cNvPr id="32" name="Text Box 45"/>
          <p:cNvSpPr txBox="1">
            <a:spLocks noChangeArrowheads="1"/>
          </p:cNvSpPr>
          <p:nvPr/>
        </p:nvSpPr>
        <p:spPr bwMode="auto">
          <a:xfrm>
            <a:off x="6705600" y="2265363"/>
            <a:ext cx="184150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1400" b="0" i="1">
                <a:latin typeface="Tahoma" charset="0"/>
                <a:ea typeface="ＭＳ Ｐゴシック" charset="0"/>
              </a:rPr>
              <a:t>l</a:t>
            </a:r>
            <a:endParaRPr lang="fr-FR" sz="1400" b="0">
              <a:latin typeface="Tahoma" charset="0"/>
              <a:ea typeface="ＭＳ Ｐゴシック" charset="0"/>
            </a:endParaRPr>
          </a:p>
        </p:txBody>
      </p:sp>
      <p:sp>
        <p:nvSpPr>
          <p:cNvPr id="33" name="Rectangle 46"/>
          <p:cNvSpPr>
            <a:spLocks noChangeArrowheads="1"/>
          </p:cNvSpPr>
          <p:nvPr/>
        </p:nvSpPr>
        <p:spPr bwMode="auto">
          <a:xfrm>
            <a:off x="372591" y="1772816"/>
            <a:ext cx="485036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fr-FR" sz="1800" b="0" dirty="0">
                <a:solidFill>
                  <a:schemeClr val="accent1">
                    <a:lumMod val="75000"/>
                  </a:schemeClr>
                </a:solidFill>
              </a:rPr>
              <a:t> M </a:t>
            </a:r>
            <a:r>
              <a:rPr lang="fr-FR" sz="1800" b="0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 à un domaine biphasé</a:t>
            </a:r>
          </a:p>
          <a:p>
            <a:pPr>
              <a:buFontTx/>
              <a:buChar char="•"/>
            </a:pPr>
            <a:r>
              <a:rPr lang="fr-FR" sz="1800" b="0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Tracez les 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conodes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 du domaine </a:t>
            </a:r>
            <a:endParaRPr lang="fr-FR" dirty="0" smtClean="0">
              <a:solidFill>
                <a:schemeClr val="accent1">
                  <a:lumMod val="75000"/>
                </a:schemeClr>
              </a:solidFill>
              <a:sym typeface="Symbol" pitchFamily="18" charset="2"/>
            </a:endParaRPr>
          </a:p>
          <a:p>
            <a:r>
              <a:rPr lang="fr-FR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(</a:t>
            </a:r>
            <a:r>
              <a:rPr lang="fr-FR" dirty="0" smtClean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Les 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conodes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 relient deux domaines </a:t>
            </a:r>
            <a:r>
              <a:rPr lang="fr-FR" dirty="0" smtClean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monophasés </a:t>
            </a:r>
          </a:p>
          <a:p>
            <a:r>
              <a:rPr lang="fr-FR" dirty="0" smtClean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et découpent le domaine biphasé en tronçons)</a:t>
            </a:r>
          </a:p>
        </p:txBody>
      </p:sp>
      <p:sp>
        <p:nvSpPr>
          <p:cNvPr id="34" name="Freeform 48"/>
          <p:cNvSpPr>
            <a:spLocks/>
          </p:cNvSpPr>
          <p:nvPr/>
        </p:nvSpPr>
        <p:spPr bwMode="auto">
          <a:xfrm rot="7085660">
            <a:off x="6788943" y="2507457"/>
            <a:ext cx="417513" cy="889000"/>
          </a:xfrm>
          <a:custGeom>
            <a:avLst/>
            <a:gdLst>
              <a:gd name="T0" fmla="*/ 11598 w 252"/>
              <a:gd name="T1" fmla="*/ 0 h 560"/>
              <a:gd name="T2" fmla="*/ 0 w 252"/>
              <a:gd name="T3" fmla="*/ 95250 h 560"/>
              <a:gd name="T4" fmla="*/ 1657 w 252"/>
              <a:gd name="T5" fmla="*/ 261938 h 560"/>
              <a:gd name="T6" fmla="*/ 19882 w 252"/>
              <a:gd name="T7" fmla="*/ 398463 h 560"/>
              <a:gd name="T8" fmla="*/ 72899 w 252"/>
              <a:gd name="T9" fmla="*/ 525463 h 560"/>
              <a:gd name="T10" fmla="*/ 119289 w 252"/>
              <a:gd name="T11" fmla="*/ 609600 h 560"/>
              <a:gd name="T12" fmla="*/ 197159 w 252"/>
              <a:gd name="T13" fmla="*/ 703263 h 560"/>
              <a:gd name="T14" fmla="*/ 304851 w 252"/>
              <a:gd name="T15" fmla="*/ 800100 h 560"/>
              <a:gd name="T16" fmla="*/ 417513 w 252"/>
              <a:gd name="T17" fmla="*/ 889000 h 5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52" h="560">
                <a:moveTo>
                  <a:pt x="7" y="0"/>
                </a:moveTo>
                <a:lnTo>
                  <a:pt x="0" y="60"/>
                </a:lnTo>
                <a:lnTo>
                  <a:pt x="1" y="165"/>
                </a:lnTo>
                <a:lnTo>
                  <a:pt x="12" y="251"/>
                </a:lnTo>
                <a:lnTo>
                  <a:pt x="44" y="331"/>
                </a:lnTo>
                <a:lnTo>
                  <a:pt x="72" y="384"/>
                </a:lnTo>
                <a:lnTo>
                  <a:pt x="119" y="443"/>
                </a:lnTo>
                <a:lnTo>
                  <a:pt x="184" y="504"/>
                </a:lnTo>
                <a:lnTo>
                  <a:pt x="252" y="56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5" name="Line 49"/>
          <p:cNvSpPr>
            <a:spLocks noChangeShapeType="1"/>
          </p:cNvSpPr>
          <p:nvPr/>
        </p:nvSpPr>
        <p:spPr bwMode="auto">
          <a:xfrm flipV="1">
            <a:off x="7010400" y="2790825"/>
            <a:ext cx="7938" cy="998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6" name="Line 50"/>
          <p:cNvSpPr>
            <a:spLocks noChangeShapeType="1"/>
          </p:cNvSpPr>
          <p:nvPr/>
        </p:nvSpPr>
        <p:spPr bwMode="auto">
          <a:xfrm flipV="1">
            <a:off x="7010400" y="2816225"/>
            <a:ext cx="177800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7" name="Line 51"/>
          <p:cNvSpPr>
            <a:spLocks noChangeShapeType="1"/>
          </p:cNvSpPr>
          <p:nvPr/>
        </p:nvSpPr>
        <p:spPr bwMode="auto">
          <a:xfrm flipV="1">
            <a:off x="7010400" y="2908300"/>
            <a:ext cx="347663" cy="881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8" name="Line 52"/>
          <p:cNvSpPr>
            <a:spLocks noChangeShapeType="1"/>
          </p:cNvSpPr>
          <p:nvPr/>
        </p:nvSpPr>
        <p:spPr bwMode="auto">
          <a:xfrm flipH="1" flipV="1">
            <a:off x="6815138" y="2816225"/>
            <a:ext cx="195262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9" name="Line 53"/>
          <p:cNvSpPr>
            <a:spLocks noChangeShapeType="1"/>
          </p:cNvSpPr>
          <p:nvPr/>
        </p:nvSpPr>
        <p:spPr bwMode="auto">
          <a:xfrm flipH="1" flipV="1">
            <a:off x="6637338" y="2867025"/>
            <a:ext cx="373062" cy="922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0" name="Line 57"/>
          <p:cNvSpPr>
            <a:spLocks noChangeShapeType="1"/>
          </p:cNvSpPr>
          <p:nvPr/>
        </p:nvSpPr>
        <p:spPr bwMode="auto">
          <a:xfrm flipH="1" flipV="1">
            <a:off x="6934200" y="2790825"/>
            <a:ext cx="76200" cy="9985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1" name="Oval 54"/>
          <p:cNvSpPr>
            <a:spLocks noChangeArrowheads="1"/>
          </p:cNvSpPr>
          <p:nvPr/>
        </p:nvSpPr>
        <p:spPr bwMode="auto">
          <a:xfrm>
            <a:off x="6926263" y="3044825"/>
            <a:ext cx="76200" cy="76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2" name="Text Box 55"/>
          <p:cNvSpPr txBox="1">
            <a:spLocks noChangeArrowheads="1"/>
          </p:cNvSpPr>
          <p:nvPr/>
        </p:nvSpPr>
        <p:spPr bwMode="auto">
          <a:xfrm>
            <a:off x="6713538" y="2927350"/>
            <a:ext cx="184150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1400" b="0">
                <a:latin typeface="Tahoma" charset="0"/>
                <a:ea typeface="ＭＳ Ｐゴシック" charset="0"/>
              </a:rPr>
              <a:t>M</a:t>
            </a:r>
          </a:p>
        </p:txBody>
      </p:sp>
      <p:sp>
        <p:nvSpPr>
          <p:cNvPr id="43" name="Text Box 58"/>
          <p:cNvSpPr txBox="1">
            <a:spLocks noChangeArrowheads="1"/>
          </p:cNvSpPr>
          <p:nvPr/>
        </p:nvSpPr>
        <p:spPr bwMode="auto">
          <a:xfrm>
            <a:off x="6842125" y="2549525"/>
            <a:ext cx="184150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1400" b="0">
                <a:latin typeface="Tahoma" charset="0"/>
                <a:ea typeface="ＭＳ Ｐゴシック" charset="0"/>
              </a:rPr>
              <a:t>m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467544" y="1412776"/>
            <a:ext cx="6134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</a:rPr>
              <a:t>Procédure</a:t>
            </a:r>
            <a:endParaRPr lang="fr-FR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627461"/>
            <a:ext cx="3456384" cy="3329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6" name="Connecteur droit 45"/>
          <p:cNvCxnSpPr>
            <a:cxnSpLocks/>
          </p:cNvCxnSpPr>
          <p:nvPr/>
        </p:nvCxnSpPr>
        <p:spPr>
          <a:xfrm flipH="1">
            <a:off x="3802775" y="3699477"/>
            <a:ext cx="31374" cy="21937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/>
        </p:nvCxnSpPr>
        <p:spPr>
          <a:xfrm>
            <a:off x="1979712" y="3710907"/>
            <a:ext cx="72008" cy="32168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/>
          <p:nvPr/>
        </p:nvCxnSpPr>
        <p:spPr>
          <a:xfrm>
            <a:off x="1763688" y="3598288"/>
            <a:ext cx="2034533" cy="1233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>
          <a:xfrm>
            <a:off x="12242" y="3020537"/>
            <a:ext cx="4703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On découpe les frontière séparant  les domaines biphasés et monophasés en n tronçons</a:t>
            </a:r>
            <a:endParaRPr lang="fr-FR" dirty="0"/>
          </a:p>
        </p:txBody>
      </p:sp>
      <p:cxnSp>
        <p:nvCxnSpPr>
          <p:cNvPr id="50" name="Connecteur droit avec flèche 49"/>
          <p:cNvCxnSpPr/>
          <p:nvPr/>
        </p:nvCxnSpPr>
        <p:spPr>
          <a:xfrm>
            <a:off x="1763688" y="3619887"/>
            <a:ext cx="217739" cy="2097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 flipV="1">
            <a:off x="2627784" y="4684720"/>
            <a:ext cx="1296144" cy="723513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/>
          <p:cNvCxnSpPr/>
          <p:nvPr/>
        </p:nvCxnSpPr>
        <p:spPr>
          <a:xfrm flipH="1">
            <a:off x="3818462" y="3627461"/>
            <a:ext cx="1185586" cy="109154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ZoneTexte 52"/>
          <p:cNvSpPr txBox="1"/>
          <p:nvPr/>
        </p:nvSpPr>
        <p:spPr>
          <a:xfrm>
            <a:off x="5004048" y="3430611"/>
            <a:ext cx="1656184" cy="378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>
                <a:solidFill>
                  <a:schemeClr val="accent6">
                    <a:lumMod val="75000"/>
                  </a:schemeClr>
                </a:solidFill>
              </a:rPr>
              <a:t>conode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95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12" name="ZoneTexte 11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Fractions et compositions de phases dans un domaine biphasé</a:t>
            </a:r>
          </a:p>
        </p:txBody>
      </p:sp>
      <p:sp>
        <p:nvSpPr>
          <p:cNvPr id="55" name="AutoShape 16"/>
          <p:cNvSpPr>
            <a:spLocks noChangeAspect="1" noChangeArrowheads="1"/>
          </p:cNvSpPr>
          <p:nvPr/>
        </p:nvSpPr>
        <p:spPr bwMode="auto">
          <a:xfrm flipV="1">
            <a:off x="5486400" y="1198563"/>
            <a:ext cx="3040063" cy="2624137"/>
          </a:xfrm>
          <a:prstGeom prst="triangle">
            <a:avLst>
              <a:gd name="adj" fmla="val 50000"/>
            </a:avLst>
          </a:prstGeom>
          <a:solidFill>
            <a:srgbClr val="F9D073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6" name="Freeform 19"/>
          <p:cNvSpPr>
            <a:spLocks/>
          </p:cNvSpPr>
          <p:nvPr/>
        </p:nvSpPr>
        <p:spPr bwMode="auto">
          <a:xfrm>
            <a:off x="7567613" y="1206500"/>
            <a:ext cx="417512" cy="889000"/>
          </a:xfrm>
          <a:custGeom>
            <a:avLst/>
            <a:gdLst>
              <a:gd name="T0" fmla="*/ 11598 w 252"/>
              <a:gd name="T1" fmla="*/ 0 h 560"/>
              <a:gd name="T2" fmla="*/ 0 w 252"/>
              <a:gd name="T3" fmla="*/ 95250 h 560"/>
              <a:gd name="T4" fmla="*/ 1657 w 252"/>
              <a:gd name="T5" fmla="*/ 261938 h 560"/>
              <a:gd name="T6" fmla="*/ 19882 w 252"/>
              <a:gd name="T7" fmla="*/ 398463 h 560"/>
              <a:gd name="T8" fmla="*/ 72899 w 252"/>
              <a:gd name="T9" fmla="*/ 525463 h 560"/>
              <a:gd name="T10" fmla="*/ 119289 w 252"/>
              <a:gd name="T11" fmla="*/ 609600 h 560"/>
              <a:gd name="T12" fmla="*/ 197158 w 252"/>
              <a:gd name="T13" fmla="*/ 703263 h 560"/>
              <a:gd name="T14" fmla="*/ 304850 w 252"/>
              <a:gd name="T15" fmla="*/ 800100 h 560"/>
              <a:gd name="T16" fmla="*/ 417512 w 252"/>
              <a:gd name="T17" fmla="*/ 889000 h 5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52" h="560">
                <a:moveTo>
                  <a:pt x="7" y="0"/>
                </a:moveTo>
                <a:lnTo>
                  <a:pt x="0" y="60"/>
                </a:lnTo>
                <a:lnTo>
                  <a:pt x="1" y="165"/>
                </a:lnTo>
                <a:lnTo>
                  <a:pt x="12" y="251"/>
                </a:lnTo>
                <a:lnTo>
                  <a:pt x="44" y="331"/>
                </a:lnTo>
                <a:lnTo>
                  <a:pt x="72" y="384"/>
                </a:lnTo>
                <a:lnTo>
                  <a:pt x="119" y="443"/>
                </a:lnTo>
                <a:lnTo>
                  <a:pt x="184" y="504"/>
                </a:lnTo>
                <a:lnTo>
                  <a:pt x="252" y="56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7" name="Freeform 21"/>
          <p:cNvSpPr>
            <a:spLocks/>
          </p:cNvSpPr>
          <p:nvPr/>
        </p:nvSpPr>
        <p:spPr bwMode="auto">
          <a:xfrm>
            <a:off x="6602413" y="1198563"/>
            <a:ext cx="979487" cy="1612900"/>
          </a:xfrm>
          <a:custGeom>
            <a:avLst/>
            <a:gdLst>
              <a:gd name="T0" fmla="*/ 0 w 617"/>
              <a:gd name="T1" fmla="*/ 0 h 1016"/>
              <a:gd name="T2" fmla="*/ 39687 w 617"/>
              <a:gd name="T3" fmla="*/ 184150 h 1016"/>
              <a:gd name="T4" fmla="*/ 90487 w 617"/>
              <a:gd name="T5" fmla="*/ 361950 h 1016"/>
              <a:gd name="T6" fmla="*/ 160337 w 617"/>
              <a:gd name="T7" fmla="*/ 552450 h 1016"/>
              <a:gd name="T8" fmla="*/ 198437 w 617"/>
              <a:gd name="T9" fmla="*/ 647700 h 1016"/>
              <a:gd name="T10" fmla="*/ 242887 w 617"/>
              <a:gd name="T11" fmla="*/ 723900 h 1016"/>
              <a:gd name="T12" fmla="*/ 293687 w 617"/>
              <a:gd name="T13" fmla="*/ 825500 h 1016"/>
              <a:gd name="T14" fmla="*/ 388937 w 617"/>
              <a:gd name="T15" fmla="*/ 984250 h 1016"/>
              <a:gd name="T16" fmla="*/ 490537 w 617"/>
              <a:gd name="T17" fmla="*/ 1123950 h 1016"/>
              <a:gd name="T18" fmla="*/ 566737 w 617"/>
              <a:gd name="T19" fmla="*/ 1225550 h 1016"/>
              <a:gd name="T20" fmla="*/ 687387 w 617"/>
              <a:gd name="T21" fmla="*/ 1346200 h 1016"/>
              <a:gd name="T22" fmla="*/ 769937 w 617"/>
              <a:gd name="T23" fmla="*/ 1435100 h 1016"/>
              <a:gd name="T24" fmla="*/ 979487 w 617"/>
              <a:gd name="T25" fmla="*/ 1612900 h 101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617" h="1016">
                <a:moveTo>
                  <a:pt x="0" y="0"/>
                </a:moveTo>
                <a:lnTo>
                  <a:pt x="25" y="116"/>
                </a:lnTo>
                <a:lnTo>
                  <a:pt x="57" y="228"/>
                </a:lnTo>
                <a:lnTo>
                  <a:pt x="101" y="348"/>
                </a:lnTo>
                <a:lnTo>
                  <a:pt x="125" y="408"/>
                </a:lnTo>
                <a:lnTo>
                  <a:pt x="153" y="456"/>
                </a:lnTo>
                <a:lnTo>
                  <a:pt x="185" y="520"/>
                </a:lnTo>
                <a:lnTo>
                  <a:pt x="245" y="620"/>
                </a:lnTo>
                <a:lnTo>
                  <a:pt x="309" y="708"/>
                </a:lnTo>
                <a:lnTo>
                  <a:pt x="357" y="772"/>
                </a:lnTo>
                <a:lnTo>
                  <a:pt x="433" y="848"/>
                </a:lnTo>
                <a:lnTo>
                  <a:pt x="485" y="904"/>
                </a:lnTo>
                <a:lnTo>
                  <a:pt x="617" y="101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8" name="Line 22"/>
          <p:cNvSpPr>
            <a:spLocks noChangeShapeType="1"/>
          </p:cNvSpPr>
          <p:nvPr/>
        </p:nvSpPr>
        <p:spPr bwMode="auto">
          <a:xfrm flipV="1">
            <a:off x="6648450" y="1300163"/>
            <a:ext cx="927100" cy="82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9" name="Line 23"/>
          <p:cNvSpPr>
            <a:spLocks noChangeShapeType="1"/>
          </p:cNvSpPr>
          <p:nvPr/>
        </p:nvSpPr>
        <p:spPr bwMode="auto">
          <a:xfrm flipV="1">
            <a:off x="6699250" y="1401763"/>
            <a:ext cx="876300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0" name="Line 24"/>
          <p:cNvSpPr>
            <a:spLocks noChangeShapeType="1"/>
          </p:cNvSpPr>
          <p:nvPr/>
        </p:nvSpPr>
        <p:spPr bwMode="auto">
          <a:xfrm flipV="1">
            <a:off x="6762750" y="1497013"/>
            <a:ext cx="825500" cy="247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1" name="Line 25"/>
          <p:cNvSpPr>
            <a:spLocks noChangeShapeType="1"/>
          </p:cNvSpPr>
          <p:nvPr/>
        </p:nvSpPr>
        <p:spPr bwMode="auto">
          <a:xfrm flipV="1">
            <a:off x="6845300" y="1611313"/>
            <a:ext cx="749300" cy="31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2" name="Line 26"/>
          <p:cNvSpPr>
            <a:spLocks noChangeShapeType="1"/>
          </p:cNvSpPr>
          <p:nvPr/>
        </p:nvSpPr>
        <p:spPr bwMode="auto">
          <a:xfrm flipV="1">
            <a:off x="6946900" y="1706563"/>
            <a:ext cx="692150" cy="38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3" name="Line 27"/>
          <p:cNvSpPr>
            <a:spLocks noChangeShapeType="1"/>
          </p:cNvSpPr>
          <p:nvPr/>
        </p:nvSpPr>
        <p:spPr bwMode="auto">
          <a:xfrm flipV="1">
            <a:off x="7042150" y="1801813"/>
            <a:ext cx="64770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4" name="Line 28"/>
          <p:cNvSpPr>
            <a:spLocks noChangeShapeType="1"/>
          </p:cNvSpPr>
          <p:nvPr/>
        </p:nvSpPr>
        <p:spPr bwMode="auto">
          <a:xfrm flipV="1">
            <a:off x="7156450" y="1884363"/>
            <a:ext cx="59055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5" name="Line 29"/>
          <p:cNvSpPr>
            <a:spLocks noChangeShapeType="1"/>
          </p:cNvSpPr>
          <p:nvPr/>
        </p:nvSpPr>
        <p:spPr bwMode="auto">
          <a:xfrm flipV="1">
            <a:off x="7289800" y="1960563"/>
            <a:ext cx="533400" cy="577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6" name="Line 30"/>
          <p:cNvSpPr>
            <a:spLocks noChangeShapeType="1"/>
          </p:cNvSpPr>
          <p:nvPr/>
        </p:nvSpPr>
        <p:spPr bwMode="auto">
          <a:xfrm flipV="1">
            <a:off x="7423150" y="2030413"/>
            <a:ext cx="47625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7" name="Line 32"/>
          <p:cNvSpPr>
            <a:spLocks noChangeShapeType="1"/>
          </p:cNvSpPr>
          <p:nvPr/>
        </p:nvSpPr>
        <p:spPr bwMode="auto">
          <a:xfrm flipV="1">
            <a:off x="6769100" y="1211263"/>
            <a:ext cx="1739900" cy="53975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8" name="Line 33"/>
          <p:cNvSpPr>
            <a:spLocks noChangeShapeType="1"/>
          </p:cNvSpPr>
          <p:nvPr/>
        </p:nvSpPr>
        <p:spPr bwMode="auto">
          <a:xfrm flipV="1">
            <a:off x="6705600" y="1204913"/>
            <a:ext cx="1809750" cy="37465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9" name="Line 34"/>
          <p:cNvSpPr>
            <a:spLocks noChangeShapeType="1"/>
          </p:cNvSpPr>
          <p:nvPr/>
        </p:nvSpPr>
        <p:spPr bwMode="auto">
          <a:xfrm flipV="1">
            <a:off x="6718300" y="1204913"/>
            <a:ext cx="1803400" cy="45085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70" name="Text Box 35"/>
          <p:cNvSpPr txBox="1">
            <a:spLocks noChangeArrowheads="1"/>
          </p:cNvSpPr>
          <p:nvPr/>
        </p:nvSpPr>
        <p:spPr bwMode="auto">
          <a:xfrm>
            <a:off x="5257800" y="1046163"/>
            <a:ext cx="184150" cy="396875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2000" b="0">
                <a:latin typeface="Tahoma" charset="0"/>
                <a:ea typeface="ＭＳ Ｐゴシック" charset="0"/>
              </a:rPr>
              <a:t>B</a:t>
            </a:r>
            <a:endParaRPr lang="fr-FR" b="0">
              <a:latin typeface="Tahoma" charset="0"/>
              <a:ea typeface="ＭＳ Ｐゴシック" charset="0"/>
            </a:endParaRPr>
          </a:p>
        </p:txBody>
      </p:sp>
      <p:sp>
        <p:nvSpPr>
          <p:cNvPr id="71" name="Text Box 36"/>
          <p:cNvSpPr txBox="1">
            <a:spLocks noChangeArrowheads="1"/>
          </p:cNvSpPr>
          <p:nvPr/>
        </p:nvSpPr>
        <p:spPr bwMode="auto">
          <a:xfrm>
            <a:off x="6934200" y="3773488"/>
            <a:ext cx="184150" cy="396875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2000" b="0">
                <a:latin typeface="Tahoma" charset="0"/>
                <a:ea typeface="ＭＳ Ｐゴシック" charset="0"/>
              </a:rPr>
              <a:t>A</a:t>
            </a:r>
            <a:endParaRPr lang="fr-FR" b="0">
              <a:latin typeface="Arial" charset="0"/>
              <a:ea typeface="ＭＳ Ｐゴシック" charset="0"/>
            </a:endParaRPr>
          </a:p>
        </p:txBody>
      </p: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8578850" y="990600"/>
            <a:ext cx="184150" cy="396875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2000" b="0">
                <a:latin typeface="Tahoma" charset="0"/>
                <a:ea typeface="ＭＳ Ｐゴシック" charset="0"/>
              </a:rPr>
              <a:t>C</a:t>
            </a:r>
            <a:endParaRPr lang="fr-FR" b="0">
              <a:latin typeface="Tahoma" charset="0"/>
              <a:ea typeface="ＭＳ Ｐゴシック" charset="0"/>
            </a:endParaRPr>
          </a:p>
        </p:txBody>
      </p:sp>
      <p:sp>
        <p:nvSpPr>
          <p:cNvPr id="73" name="Oval 31"/>
          <p:cNvSpPr>
            <a:spLocks noChangeArrowheads="1"/>
          </p:cNvSpPr>
          <p:nvPr/>
        </p:nvSpPr>
        <p:spPr bwMode="auto">
          <a:xfrm>
            <a:off x="7118350" y="1509713"/>
            <a:ext cx="76200" cy="76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74" name="Text Box 38"/>
          <p:cNvSpPr txBox="1">
            <a:spLocks noChangeArrowheads="1"/>
          </p:cNvSpPr>
          <p:nvPr/>
        </p:nvSpPr>
        <p:spPr bwMode="auto">
          <a:xfrm>
            <a:off x="7054850" y="1547813"/>
            <a:ext cx="184150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1400" b="0">
                <a:latin typeface="Tahoma" charset="0"/>
                <a:ea typeface="ＭＳ Ｐゴシック" charset="0"/>
              </a:rPr>
              <a:t>M</a:t>
            </a:r>
          </a:p>
        </p:txBody>
      </p:sp>
      <p:sp>
        <p:nvSpPr>
          <p:cNvPr id="75" name="Text Box 39"/>
          <p:cNvSpPr txBox="1">
            <a:spLocks noChangeArrowheads="1"/>
          </p:cNvSpPr>
          <p:nvPr/>
        </p:nvSpPr>
        <p:spPr bwMode="auto">
          <a:xfrm>
            <a:off x="6497638" y="1495425"/>
            <a:ext cx="184150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1400" b="0">
                <a:latin typeface="Tahoma" charset="0"/>
                <a:ea typeface="ＭＳ Ｐゴシック" charset="0"/>
              </a:rPr>
              <a:t>m</a:t>
            </a:r>
          </a:p>
        </p:txBody>
      </p:sp>
      <p:sp>
        <p:nvSpPr>
          <p:cNvPr id="76" name="Text Box 40"/>
          <p:cNvSpPr txBox="1">
            <a:spLocks noChangeArrowheads="1"/>
          </p:cNvSpPr>
          <p:nvPr/>
        </p:nvSpPr>
        <p:spPr bwMode="auto">
          <a:xfrm>
            <a:off x="7620000" y="1274763"/>
            <a:ext cx="184150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1400" b="0">
                <a:latin typeface="Tahoma" charset="0"/>
                <a:ea typeface="ＭＳ Ｐゴシック" charset="0"/>
              </a:rPr>
              <a:t>n</a:t>
            </a:r>
          </a:p>
        </p:txBody>
      </p:sp>
      <p:sp>
        <p:nvSpPr>
          <p:cNvPr id="77" name="Oval 41"/>
          <p:cNvSpPr>
            <a:spLocks noChangeAspect="1" noChangeArrowheads="1"/>
          </p:cNvSpPr>
          <p:nvPr/>
        </p:nvSpPr>
        <p:spPr bwMode="auto">
          <a:xfrm>
            <a:off x="6697663" y="1619250"/>
            <a:ext cx="39687" cy="3968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78" name="Oval 42"/>
          <p:cNvSpPr>
            <a:spLocks noChangeAspect="1" noChangeArrowheads="1"/>
          </p:cNvSpPr>
          <p:nvPr/>
        </p:nvSpPr>
        <p:spPr bwMode="auto">
          <a:xfrm>
            <a:off x="7548563" y="1427163"/>
            <a:ext cx="39687" cy="396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79" name="Text Box 43"/>
          <p:cNvSpPr txBox="1">
            <a:spLocks noChangeArrowheads="1"/>
          </p:cNvSpPr>
          <p:nvPr/>
        </p:nvSpPr>
        <p:spPr bwMode="auto">
          <a:xfrm rot="19688663">
            <a:off x="6934200" y="1852613"/>
            <a:ext cx="641350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1400" b="0" i="1">
                <a:latin typeface="Tahoma" charset="0"/>
                <a:ea typeface="ＭＳ Ｐゴシック" charset="0"/>
              </a:rPr>
              <a:t>l + </a:t>
            </a:r>
            <a:r>
              <a:rPr lang="fr-FR" sz="1400" b="0" i="1">
                <a:latin typeface="Symbol" charset="0"/>
                <a:ea typeface="ＭＳ Ｐゴシック" charset="0"/>
                <a:sym typeface="Symbol" charset="0"/>
              </a:rPr>
              <a:t></a:t>
            </a:r>
            <a:endParaRPr lang="fr-FR" sz="1400" b="0">
              <a:latin typeface="Tahoma" charset="0"/>
              <a:ea typeface="ＭＳ Ｐゴシック" charset="0"/>
            </a:endParaRPr>
          </a:p>
        </p:txBody>
      </p:sp>
      <p:sp>
        <p:nvSpPr>
          <p:cNvPr id="80" name="Text Box 44"/>
          <p:cNvSpPr txBox="1">
            <a:spLocks noChangeArrowheads="1"/>
          </p:cNvSpPr>
          <p:nvPr/>
        </p:nvSpPr>
        <p:spPr bwMode="auto">
          <a:xfrm>
            <a:off x="7848600" y="1427163"/>
            <a:ext cx="184150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FR" sz="1400" b="0" i="1">
                <a:latin typeface="Symbol" pitchFamily="18" charset="2"/>
                <a:sym typeface="Symbol" pitchFamily="18" charset="2"/>
              </a:rPr>
              <a:t></a:t>
            </a:r>
            <a:endParaRPr lang="fr-FR" sz="1400" b="0">
              <a:latin typeface="Symbol" pitchFamily="18" charset="2"/>
              <a:sym typeface="Symbol" pitchFamily="18" charset="2"/>
            </a:endParaRPr>
          </a:p>
        </p:txBody>
      </p:sp>
      <p:sp>
        <p:nvSpPr>
          <p:cNvPr id="81" name="Text Box 45"/>
          <p:cNvSpPr txBox="1">
            <a:spLocks noChangeArrowheads="1"/>
          </p:cNvSpPr>
          <p:nvPr/>
        </p:nvSpPr>
        <p:spPr bwMode="auto">
          <a:xfrm>
            <a:off x="6705600" y="2265363"/>
            <a:ext cx="184150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1400" b="0" i="1">
                <a:latin typeface="Tahoma" charset="0"/>
                <a:ea typeface="ＭＳ Ｐゴシック" charset="0"/>
              </a:rPr>
              <a:t>l</a:t>
            </a:r>
            <a:endParaRPr lang="fr-FR" sz="1400" b="0">
              <a:latin typeface="Tahoma" charset="0"/>
              <a:ea typeface="ＭＳ Ｐゴシック" charset="0"/>
            </a:endParaRPr>
          </a:p>
        </p:txBody>
      </p:sp>
      <p:sp>
        <p:nvSpPr>
          <p:cNvPr id="82" name="Freeform 48"/>
          <p:cNvSpPr>
            <a:spLocks/>
          </p:cNvSpPr>
          <p:nvPr/>
        </p:nvSpPr>
        <p:spPr bwMode="auto">
          <a:xfrm rot="7085660">
            <a:off x="6788943" y="2507457"/>
            <a:ext cx="417513" cy="889000"/>
          </a:xfrm>
          <a:custGeom>
            <a:avLst/>
            <a:gdLst>
              <a:gd name="T0" fmla="*/ 11598 w 252"/>
              <a:gd name="T1" fmla="*/ 0 h 560"/>
              <a:gd name="T2" fmla="*/ 0 w 252"/>
              <a:gd name="T3" fmla="*/ 95250 h 560"/>
              <a:gd name="T4" fmla="*/ 1657 w 252"/>
              <a:gd name="T5" fmla="*/ 261938 h 560"/>
              <a:gd name="T6" fmla="*/ 19882 w 252"/>
              <a:gd name="T7" fmla="*/ 398463 h 560"/>
              <a:gd name="T8" fmla="*/ 72899 w 252"/>
              <a:gd name="T9" fmla="*/ 525463 h 560"/>
              <a:gd name="T10" fmla="*/ 119289 w 252"/>
              <a:gd name="T11" fmla="*/ 609600 h 560"/>
              <a:gd name="T12" fmla="*/ 197159 w 252"/>
              <a:gd name="T13" fmla="*/ 703263 h 560"/>
              <a:gd name="T14" fmla="*/ 304851 w 252"/>
              <a:gd name="T15" fmla="*/ 800100 h 560"/>
              <a:gd name="T16" fmla="*/ 417513 w 252"/>
              <a:gd name="T17" fmla="*/ 889000 h 5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52" h="560">
                <a:moveTo>
                  <a:pt x="7" y="0"/>
                </a:moveTo>
                <a:lnTo>
                  <a:pt x="0" y="60"/>
                </a:lnTo>
                <a:lnTo>
                  <a:pt x="1" y="165"/>
                </a:lnTo>
                <a:lnTo>
                  <a:pt x="12" y="251"/>
                </a:lnTo>
                <a:lnTo>
                  <a:pt x="44" y="331"/>
                </a:lnTo>
                <a:lnTo>
                  <a:pt x="72" y="384"/>
                </a:lnTo>
                <a:lnTo>
                  <a:pt x="119" y="443"/>
                </a:lnTo>
                <a:lnTo>
                  <a:pt x="184" y="504"/>
                </a:lnTo>
                <a:lnTo>
                  <a:pt x="252" y="56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83" name="Line 49"/>
          <p:cNvSpPr>
            <a:spLocks noChangeShapeType="1"/>
          </p:cNvSpPr>
          <p:nvPr/>
        </p:nvSpPr>
        <p:spPr bwMode="auto">
          <a:xfrm flipV="1">
            <a:off x="7010400" y="2790825"/>
            <a:ext cx="7938" cy="998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84" name="Line 50"/>
          <p:cNvSpPr>
            <a:spLocks noChangeShapeType="1"/>
          </p:cNvSpPr>
          <p:nvPr/>
        </p:nvSpPr>
        <p:spPr bwMode="auto">
          <a:xfrm flipV="1">
            <a:off x="7010400" y="2816225"/>
            <a:ext cx="177800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85" name="Line 51"/>
          <p:cNvSpPr>
            <a:spLocks noChangeShapeType="1"/>
          </p:cNvSpPr>
          <p:nvPr/>
        </p:nvSpPr>
        <p:spPr bwMode="auto">
          <a:xfrm flipV="1">
            <a:off x="7010400" y="2908300"/>
            <a:ext cx="347663" cy="881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86" name="Line 52"/>
          <p:cNvSpPr>
            <a:spLocks noChangeShapeType="1"/>
          </p:cNvSpPr>
          <p:nvPr/>
        </p:nvSpPr>
        <p:spPr bwMode="auto">
          <a:xfrm flipH="1" flipV="1">
            <a:off x="6815138" y="2816225"/>
            <a:ext cx="195262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87" name="Line 53"/>
          <p:cNvSpPr>
            <a:spLocks noChangeShapeType="1"/>
          </p:cNvSpPr>
          <p:nvPr/>
        </p:nvSpPr>
        <p:spPr bwMode="auto">
          <a:xfrm flipH="1" flipV="1">
            <a:off x="6637338" y="2867025"/>
            <a:ext cx="373062" cy="922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88" name="Line 57"/>
          <p:cNvSpPr>
            <a:spLocks noChangeShapeType="1"/>
          </p:cNvSpPr>
          <p:nvPr/>
        </p:nvSpPr>
        <p:spPr bwMode="auto">
          <a:xfrm flipH="1" flipV="1">
            <a:off x="6934200" y="2790825"/>
            <a:ext cx="76200" cy="9985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89" name="Oval 54"/>
          <p:cNvSpPr>
            <a:spLocks noChangeArrowheads="1"/>
          </p:cNvSpPr>
          <p:nvPr/>
        </p:nvSpPr>
        <p:spPr bwMode="auto">
          <a:xfrm>
            <a:off x="6926263" y="3044825"/>
            <a:ext cx="76200" cy="76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90" name="Text Box 55"/>
          <p:cNvSpPr txBox="1">
            <a:spLocks noChangeArrowheads="1"/>
          </p:cNvSpPr>
          <p:nvPr/>
        </p:nvSpPr>
        <p:spPr bwMode="auto">
          <a:xfrm>
            <a:off x="6713538" y="2927350"/>
            <a:ext cx="184150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1400" b="0">
                <a:latin typeface="Tahoma" charset="0"/>
                <a:ea typeface="ＭＳ Ｐゴシック" charset="0"/>
              </a:rPr>
              <a:t>M</a:t>
            </a:r>
          </a:p>
        </p:txBody>
      </p:sp>
      <p:sp>
        <p:nvSpPr>
          <p:cNvPr id="91" name="Text Box 58"/>
          <p:cNvSpPr txBox="1">
            <a:spLocks noChangeArrowheads="1"/>
          </p:cNvSpPr>
          <p:nvPr/>
        </p:nvSpPr>
        <p:spPr bwMode="auto">
          <a:xfrm>
            <a:off x="6842125" y="2549525"/>
            <a:ext cx="184150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FR" sz="1400" b="0">
                <a:latin typeface="Tahoma" charset="0"/>
                <a:ea typeface="ＭＳ Ｐゴシック" charset="0"/>
              </a:rPr>
              <a:t>m</a:t>
            </a:r>
          </a:p>
        </p:txBody>
      </p:sp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614778"/>
              </p:ext>
            </p:extLst>
          </p:nvPr>
        </p:nvGraphicFramePr>
        <p:xfrm>
          <a:off x="5303838" y="4990852"/>
          <a:ext cx="1193800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8" name="Équation" r:id="rId3" imgW="576000" imgH="639720" progId="Equation.3">
                  <p:embed/>
                </p:oleObj>
              </mc:Choice>
              <mc:Fallback>
                <p:oleObj name="Équation" r:id="rId3" imgW="576000" imgH="63972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4990852"/>
                        <a:ext cx="1193800" cy="1319213"/>
                      </a:xfrm>
                      <a:prstGeom prst="rect">
                        <a:avLst/>
                      </a:prstGeom>
                      <a:solidFill>
                        <a:srgbClr val="8EB4E3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>
                            <a:alpha val="74997"/>
                          </a:srgbClr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290392"/>
              </p:ext>
            </p:extLst>
          </p:nvPr>
        </p:nvGraphicFramePr>
        <p:xfrm>
          <a:off x="7239000" y="5001965"/>
          <a:ext cx="117316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9" name="Équation" r:id="rId5" imgW="576000" imgH="639720" progId="Equation.3">
                  <p:embed/>
                </p:oleObj>
              </mc:Choice>
              <mc:Fallback>
                <p:oleObj name="Équation" r:id="rId5" imgW="576000" imgH="63972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001965"/>
                        <a:ext cx="1173163" cy="1295400"/>
                      </a:xfrm>
                      <a:prstGeom prst="rect">
                        <a:avLst/>
                      </a:prstGeom>
                      <a:solidFill>
                        <a:srgbClr val="8EB4E3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>
                            <a:alpha val="74997"/>
                          </a:srgbClr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Rectangle 46"/>
          <p:cNvSpPr>
            <a:spLocks noChangeArrowheads="1"/>
          </p:cNvSpPr>
          <p:nvPr/>
        </p:nvSpPr>
        <p:spPr bwMode="auto">
          <a:xfrm>
            <a:off x="372591" y="1772816"/>
            <a:ext cx="5992474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fr-FR" sz="1800" b="0" dirty="0">
                <a:solidFill>
                  <a:schemeClr val="accent1">
                    <a:lumMod val="75000"/>
                  </a:schemeClr>
                </a:solidFill>
              </a:rPr>
              <a:t> M </a:t>
            </a:r>
            <a:r>
              <a:rPr lang="fr-FR" sz="1800" b="0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 à un domaine biphasé</a:t>
            </a:r>
          </a:p>
          <a:p>
            <a:pPr>
              <a:buFontTx/>
              <a:buChar char="•"/>
            </a:pPr>
            <a:r>
              <a:rPr lang="fr-FR" sz="1800" b="0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Tracez les 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conodes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 du domaine </a:t>
            </a:r>
            <a:endParaRPr lang="fr-FR" dirty="0" smtClean="0">
              <a:solidFill>
                <a:schemeClr val="accent1">
                  <a:lumMod val="75000"/>
                </a:schemeClr>
              </a:solidFill>
              <a:sym typeface="Symbol" pitchFamily="18" charset="2"/>
            </a:endParaRPr>
          </a:p>
          <a:p>
            <a:r>
              <a:rPr lang="fr-FR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(</a:t>
            </a:r>
            <a:r>
              <a:rPr lang="fr-FR" dirty="0" smtClean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Les 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conodes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 relient deux domaines </a:t>
            </a:r>
            <a:r>
              <a:rPr lang="fr-FR" dirty="0" smtClean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monophasés </a:t>
            </a:r>
          </a:p>
          <a:p>
            <a:r>
              <a:rPr lang="fr-FR" dirty="0" smtClean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et découpent le domaine biphasé en tronçons)</a:t>
            </a:r>
          </a:p>
          <a:p>
            <a:pPr marL="285750" indent="-285750">
              <a:buFont typeface="Arial" charset="0"/>
              <a:buChar char="•"/>
            </a:pPr>
            <a:r>
              <a:rPr lang="fr-FR" dirty="0" smtClean="0">
                <a:sym typeface="Symbol" pitchFamily="18" charset="2"/>
              </a:rPr>
              <a:t>Si </a:t>
            </a:r>
            <a:r>
              <a:rPr lang="fr-FR" dirty="0">
                <a:sym typeface="Symbol" pitchFamily="18" charset="2"/>
              </a:rPr>
              <a:t>M est entre 2 </a:t>
            </a:r>
            <a:r>
              <a:rPr lang="fr-FR" dirty="0" err="1" smtClean="0">
                <a:sym typeface="Symbol" pitchFamily="18" charset="2"/>
              </a:rPr>
              <a:t>conodes</a:t>
            </a:r>
            <a:r>
              <a:rPr lang="fr-FR" dirty="0" smtClean="0">
                <a:sym typeface="Symbol" pitchFamily="18" charset="2"/>
              </a:rPr>
              <a:t> , tracer une </a:t>
            </a:r>
            <a:r>
              <a:rPr lang="fr-FR" dirty="0" err="1" smtClean="0">
                <a:sym typeface="Symbol" pitchFamily="18" charset="2"/>
              </a:rPr>
              <a:t>conode</a:t>
            </a:r>
            <a:r>
              <a:rPr lang="fr-FR" dirty="0" smtClean="0">
                <a:sym typeface="Symbol" pitchFamily="18" charset="2"/>
              </a:rPr>
              <a:t> intermédiaire</a:t>
            </a:r>
          </a:p>
        </p:txBody>
      </p:sp>
      <p:sp>
        <p:nvSpPr>
          <p:cNvPr id="93" name="ZoneTexte 92"/>
          <p:cNvSpPr txBox="1"/>
          <p:nvPr/>
        </p:nvSpPr>
        <p:spPr>
          <a:xfrm>
            <a:off x="467544" y="1412776"/>
            <a:ext cx="6134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</a:rPr>
              <a:t>Procédure</a:t>
            </a:r>
            <a:endParaRPr lang="fr-FR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107504" y="4293096"/>
            <a:ext cx="8815668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fr-FR" sz="2400" dirty="0">
                <a:sym typeface="Symbol" pitchFamily="18" charset="2"/>
              </a:rPr>
              <a:t>Procéder au calcul des fractions des phases en appliquant la règle des bras de levier </a:t>
            </a:r>
            <a:r>
              <a:rPr lang="fr-FR" sz="2400" dirty="0" smtClean="0">
                <a:sym typeface="Symbol" pitchFamily="18" charset="2"/>
              </a:rPr>
              <a:t>(</a:t>
            </a:r>
            <a:r>
              <a:rPr lang="fr-FR" sz="2400" dirty="0">
                <a:sym typeface="Symbol" pitchFamily="18" charset="2"/>
              </a:rPr>
              <a:t>segments inverses)</a:t>
            </a:r>
          </a:p>
          <a:p>
            <a:r>
              <a:rPr lang="fr-FR" sz="2800" dirty="0">
                <a:sym typeface="Symbol" pitchFamily="18" charset="2"/>
              </a:rPr>
              <a:t> </a:t>
            </a:r>
            <a:r>
              <a:rPr lang="fr-FR" sz="2800" dirty="0" smtClean="0">
                <a:sym typeface="Symbol" pitchFamily="18" charset="2"/>
              </a:rPr>
              <a:t>   Règle </a:t>
            </a:r>
            <a:r>
              <a:rPr lang="fr-FR" sz="2800" dirty="0">
                <a:sym typeface="Symbol" pitchFamily="18" charset="2"/>
              </a:rPr>
              <a:t>des segments inverses</a:t>
            </a:r>
          </a:p>
        </p:txBody>
      </p:sp>
    </p:spTree>
    <p:extLst>
      <p:ext uri="{BB962C8B-B14F-4D97-AF65-F5344CB8AC3E}">
        <p14:creationId xmlns:p14="http://schemas.microsoft.com/office/powerpoint/2010/main" val="304209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764" y="719854"/>
            <a:ext cx="6143540" cy="6201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" name="ZoneTexte 46"/>
          <p:cNvSpPr txBox="1"/>
          <p:nvPr/>
        </p:nvSpPr>
        <p:spPr>
          <a:xfrm>
            <a:off x="144016" y="507115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Ternaire dérivant d’ 1 binaire à miscibilité totale + 2 eutectiques binaires</a:t>
            </a:r>
          </a:p>
        </p:txBody>
      </p:sp>
    </p:spTree>
    <p:extLst>
      <p:ext uri="{BB962C8B-B14F-4D97-AF65-F5344CB8AC3E}">
        <p14:creationId xmlns:p14="http://schemas.microsoft.com/office/powerpoint/2010/main" val="90129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47" name="ZoneTexte 46"/>
          <p:cNvSpPr txBox="1"/>
          <p:nvPr/>
        </p:nvSpPr>
        <p:spPr>
          <a:xfrm>
            <a:off x="144016" y="518237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Ternaire dérivant d’ 1 binaire à miscibilité totale + 2 eutectiques binaires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43" y="1268760"/>
            <a:ext cx="4663844" cy="492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922" y="3012421"/>
            <a:ext cx="3495140" cy="3012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rme libre 6"/>
          <p:cNvSpPr/>
          <p:nvPr/>
        </p:nvSpPr>
        <p:spPr>
          <a:xfrm>
            <a:off x="7395210" y="3054102"/>
            <a:ext cx="468630" cy="1268730"/>
          </a:xfrm>
          <a:custGeom>
            <a:avLst/>
            <a:gdLst>
              <a:gd name="connsiteX0" fmla="*/ 0 w 468630"/>
              <a:gd name="connsiteY0" fmla="*/ 0 h 1268730"/>
              <a:gd name="connsiteX1" fmla="*/ 182880 w 468630"/>
              <a:gd name="connsiteY1" fmla="*/ 640080 h 1268730"/>
              <a:gd name="connsiteX2" fmla="*/ 468630 w 468630"/>
              <a:gd name="connsiteY2" fmla="*/ 1268730 h 1268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8630" h="1268730">
                <a:moveTo>
                  <a:pt x="0" y="0"/>
                </a:moveTo>
                <a:cubicBezTo>
                  <a:pt x="52387" y="214312"/>
                  <a:pt x="104775" y="428625"/>
                  <a:pt x="182880" y="640080"/>
                </a:cubicBezTo>
                <a:cubicBezTo>
                  <a:pt x="260985" y="851535"/>
                  <a:pt x="364807" y="1060132"/>
                  <a:pt x="468630" y="1268730"/>
                </a:cubicBezTo>
              </a:path>
            </a:pathLst>
          </a:cu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5" descr="les reculées sont une des caractéristiques de la géographie jurassienne. il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326" y="1000684"/>
            <a:ext cx="2902514" cy="192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/>
          <p:cNvSpPr txBox="1"/>
          <p:nvPr/>
        </p:nvSpPr>
        <p:spPr>
          <a:xfrm>
            <a:off x="499562" y="6165304"/>
            <a:ext cx="8320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La frontière entre 2 nappes de </a:t>
            </a:r>
            <a:r>
              <a:rPr lang="fr-FR" dirty="0" err="1" smtClean="0"/>
              <a:t>liquidus</a:t>
            </a:r>
            <a:r>
              <a:rPr lang="fr-FR" dirty="0" smtClean="0"/>
              <a:t> est une </a:t>
            </a:r>
            <a:r>
              <a:rPr lang="fr-FR" u="sng" dirty="0" smtClean="0"/>
              <a:t>vallée </a:t>
            </a:r>
            <a:r>
              <a:rPr lang="fr-FR" u="sng" dirty="0" err="1" smtClean="0"/>
              <a:t>cotectique</a:t>
            </a:r>
            <a:r>
              <a:rPr lang="fr-FR" dirty="0" smtClean="0"/>
              <a:t>. Sa représentation sur la coupe isotherme est intéressante pour se guider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4355976" y="531050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Vallée</a:t>
            </a:r>
            <a:endParaRPr lang="fr-FR" dirty="0"/>
          </a:p>
        </p:txBody>
      </p:sp>
      <p:cxnSp>
        <p:nvCxnSpPr>
          <p:cNvPr id="12" name="Connecteur droit avec flèche 11"/>
          <p:cNvCxnSpPr/>
          <p:nvPr/>
        </p:nvCxnSpPr>
        <p:spPr>
          <a:xfrm flipV="1">
            <a:off x="5364088" y="4005064"/>
            <a:ext cx="2265437" cy="13681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 flipH="1" flipV="1">
            <a:off x="2987824" y="3501008"/>
            <a:ext cx="1944216" cy="18094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>
            <a:cxnSpLocks noChangeAspect="1"/>
          </p:cNvCxnSpPr>
          <p:nvPr/>
        </p:nvCxnSpPr>
        <p:spPr>
          <a:xfrm flipH="1">
            <a:off x="7578090" y="3523870"/>
            <a:ext cx="43724" cy="1641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>
            <a:stCxn id="7" idx="1"/>
          </p:cNvCxnSpPr>
          <p:nvPr/>
        </p:nvCxnSpPr>
        <p:spPr>
          <a:xfrm flipH="1" flipV="1">
            <a:off x="7452320" y="3597595"/>
            <a:ext cx="125770" cy="96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40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47" name="ZoneTexte 46"/>
          <p:cNvSpPr txBox="1"/>
          <p:nvPr/>
        </p:nvSpPr>
        <p:spPr>
          <a:xfrm>
            <a:off x="144016" y="502967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Ternaire dérivant d’ 1 binaire à miscibilité totale + 2 eutectiques binaires</a:t>
            </a:r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340768"/>
            <a:ext cx="4663844" cy="4905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494" y="2439174"/>
            <a:ext cx="3495140" cy="3582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Forme libre 17"/>
          <p:cNvSpPr/>
          <p:nvPr/>
        </p:nvSpPr>
        <p:spPr>
          <a:xfrm>
            <a:off x="7395210" y="3054102"/>
            <a:ext cx="468630" cy="1268730"/>
          </a:xfrm>
          <a:custGeom>
            <a:avLst/>
            <a:gdLst>
              <a:gd name="connsiteX0" fmla="*/ 0 w 468630"/>
              <a:gd name="connsiteY0" fmla="*/ 0 h 1268730"/>
              <a:gd name="connsiteX1" fmla="*/ 182880 w 468630"/>
              <a:gd name="connsiteY1" fmla="*/ 640080 h 1268730"/>
              <a:gd name="connsiteX2" fmla="*/ 468630 w 468630"/>
              <a:gd name="connsiteY2" fmla="*/ 1268730 h 1268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8630" h="1268730">
                <a:moveTo>
                  <a:pt x="0" y="0"/>
                </a:moveTo>
                <a:cubicBezTo>
                  <a:pt x="52387" y="214312"/>
                  <a:pt x="104775" y="428625"/>
                  <a:pt x="182880" y="640080"/>
                </a:cubicBezTo>
                <a:cubicBezTo>
                  <a:pt x="260985" y="851535"/>
                  <a:pt x="364807" y="1060132"/>
                  <a:pt x="468630" y="1268730"/>
                </a:cubicBezTo>
              </a:path>
            </a:pathLst>
          </a:cu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507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47" name="ZoneTexte 46"/>
          <p:cNvSpPr txBox="1"/>
          <p:nvPr/>
        </p:nvSpPr>
        <p:spPr>
          <a:xfrm>
            <a:off x="144016" y="504382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Ternaire dérivant d’ 1 binaire à miscibilité totale + 2 eutectiques binaires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340768"/>
            <a:ext cx="4663844" cy="492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458" y="3011810"/>
            <a:ext cx="3495140" cy="3012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Forme libre 8"/>
          <p:cNvSpPr/>
          <p:nvPr/>
        </p:nvSpPr>
        <p:spPr>
          <a:xfrm>
            <a:off x="7395210" y="3054102"/>
            <a:ext cx="468630" cy="1268730"/>
          </a:xfrm>
          <a:custGeom>
            <a:avLst/>
            <a:gdLst>
              <a:gd name="connsiteX0" fmla="*/ 0 w 468630"/>
              <a:gd name="connsiteY0" fmla="*/ 0 h 1268730"/>
              <a:gd name="connsiteX1" fmla="*/ 182880 w 468630"/>
              <a:gd name="connsiteY1" fmla="*/ 640080 h 1268730"/>
              <a:gd name="connsiteX2" fmla="*/ 468630 w 468630"/>
              <a:gd name="connsiteY2" fmla="*/ 1268730 h 1268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8630" h="1268730">
                <a:moveTo>
                  <a:pt x="0" y="0"/>
                </a:moveTo>
                <a:cubicBezTo>
                  <a:pt x="52387" y="214312"/>
                  <a:pt x="104775" y="428625"/>
                  <a:pt x="182880" y="640080"/>
                </a:cubicBezTo>
                <a:cubicBezTo>
                  <a:pt x="260985" y="851535"/>
                  <a:pt x="364807" y="1060132"/>
                  <a:pt x="468630" y="1268730"/>
                </a:cubicBezTo>
              </a:path>
            </a:pathLst>
          </a:cu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539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47" name="ZoneTexte 46"/>
          <p:cNvSpPr txBox="1"/>
          <p:nvPr/>
        </p:nvSpPr>
        <p:spPr>
          <a:xfrm>
            <a:off x="144016" y="504382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Ternaire dérivant d’ 1 binaire à miscibilité totale + 2 eutectiques binaires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56792"/>
            <a:ext cx="4663844" cy="492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926690"/>
            <a:ext cx="3495140" cy="3094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ZoneTexte 15"/>
          <p:cNvSpPr txBox="1"/>
          <p:nvPr/>
        </p:nvSpPr>
        <p:spPr>
          <a:xfrm>
            <a:off x="3621707" y="1208946"/>
            <a:ext cx="6134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</a:rPr>
              <a:t>Réaction eutectique binaire sur le diagramme A-B:  </a:t>
            </a:r>
          </a:p>
          <a:p>
            <a:pPr algn="ctr"/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</a:rPr>
              <a:t>L </a:t>
            </a:r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 </a:t>
            </a:r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 + </a:t>
            </a:r>
            <a:endParaRPr lang="fr-FR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Forme libre 16"/>
          <p:cNvSpPr/>
          <p:nvPr/>
        </p:nvSpPr>
        <p:spPr>
          <a:xfrm>
            <a:off x="7418070" y="2996952"/>
            <a:ext cx="468630" cy="1268730"/>
          </a:xfrm>
          <a:custGeom>
            <a:avLst/>
            <a:gdLst>
              <a:gd name="connsiteX0" fmla="*/ 0 w 468630"/>
              <a:gd name="connsiteY0" fmla="*/ 0 h 1268730"/>
              <a:gd name="connsiteX1" fmla="*/ 182880 w 468630"/>
              <a:gd name="connsiteY1" fmla="*/ 640080 h 1268730"/>
              <a:gd name="connsiteX2" fmla="*/ 468630 w 468630"/>
              <a:gd name="connsiteY2" fmla="*/ 1268730 h 1268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8630" h="1268730">
                <a:moveTo>
                  <a:pt x="0" y="0"/>
                </a:moveTo>
                <a:cubicBezTo>
                  <a:pt x="52387" y="214312"/>
                  <a:pt x="104775" y="428625"/>
                  <a:pt x="182880" y="640080"/>
                </a:cubicBezTo>
                <a:cubicBezTo>
                  <a:pt x="260985" y="851535"/>
                  <a:pt x="364807" y="1060132"/>
                  <a:pt x="468630" y="1268730"/>
                </a:cubicBezTo>
              </a:path>
            </a:pathLst>
          </a:cu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17"/>
          <p:cNvCxnSpPr/>
          <p:nvPr/>
        </p:nvCxnSpPr>
        <p:spPr>
          <a:xfrm>
            <a:off x="6516216" y="3019812"/>
            <a:ext cx="1584176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1703110" y="3319274"/>
            <a:ext cx="1866157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527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47" name="ZoneTexte 46"/>
          <p:cNvSpPr txBox="1"/>
          <p:nvPr/>
        </p:nvSpPr>
        <p:spPr>
          <a:xfrm>
            <a:off x="144016" y="620688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Ternaire dérivant d’ 1 binaire à miscibilité totale + 2 eutectiques binaires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32" y="1642938"/>
            <a:ext cx="4663844" cy="4905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642" y="2894082"/>
            <a:ext cx="3495140" cy="307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Forme libre 19"/>
          <p:cNvSpPr/>
          <p:nvPr/>
        </p:nvSpPr>
        <p:spPr>
          <a:xfrm>
            <a:off x="7418070" y="3008382"/>
            <a:ext cx="468630" cy="1268730"/>
          </a:xfrm>
          <a:custGeom>
            <a:avLst/>
            <a:gdLst>
              <a:gd name="connsiteX0" fmla="*/ 0 w 468630"/>
              <a:gd name="connsiteY0" fmla="*/ 0 h 1268730"/>
              <a:gd name="connsiteX1" fmla="*/ 182880 w 468630"/>
              <a:gd name="connsiteY1" fmla="*/ 640080 h 1268730"/>
              <a:gd name="connsiteX2" fmla="*/ 468630 w 468630"/>
              <a:gd name="connsiteY2" fmla="*/ 1268730 h 1268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8630" h="1268730">
                <a:moveTo>
                  <a:pt x="0" y="0"/>
                </a:moveTo>
                <a:cubicBezTo>
                  <a:pt x="52387" y="214312"/>
                  <a:pt x="104775" y="428625"/>
                  <a:pt x="182880" y="640080"/>
                </a:cubicBezTo>
                <a:cubicBezTo>
                  <a:pt x="260985" y="851535"/>
                  <a:pt x="364807" y="1060132"/>
                  <a:pt x="468630" y="1268730"/>
                </a:cubicBezTo>
              </a:path>
            </a:pathLst>
          </a:cu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/>
          <p:cNvSpPr txBox="1"/>
          <p:nvPr/>
        </p:nvSpPr>
        <p:spPr>
          <a:xfrm>
            <a:off x="2699792" y="1280954"/>
            <a:ext cx="67458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</a:rPr>
              <a:t>La réaction eutectique binaire est terminée sur le diagramme A-B mais se poursuit sur la </a:t>
            </a:r>
            <a:r>
              <a:rPr lang="fr-FR" sz="2000" b="1" dirty="0" err="1" smtClean="0">
                <a:solidFill>
                  <a:schemeClr val="accent6">
                    <a:lumMod val="75000"/>
                  </a:schemeClr>
                </a:solidFill>
              </a:rPr>
              <a:t>cotectique</a:t>
            </a:r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</a:rPr>
              <a:t> : L </a:t>
            </a:r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 </a:t>
            </a:r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 + </a:t>
            </a:r>
            <a:endParaRPr lang="fr-FR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19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47" name="ZoneTexte 46"/>
          <p:cNvSpPr txBox="1"/>
          <p:nvPr/>
        </p:nvSpPr>
        <p:spPr>
          <a:xfrm>
            <a:off x="144016" y="504382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Ternaire dérivant d’ 1 binaire à miscibilité totale + 2 eutectiques binaires</a:t>
            </a:r>
          </a:p>
        </p:txBody>
      </p:sp>
      <p:sp>
        <p:nvSpPr>
          <p:cNvPr id="9" name="Forme libre 8"/>
          <p:cNvSpPr/>
          <p:nvPr/>
        </p:nvSpPr>
        <p:spPr>
          <a:xfrm>
            <a:off x="7418070" y="3008382"/>
            <a:ext cx="468630" cy="1268730"/>
          </a:xfrm>
          <a:custGeom>
            <a:avLst/>
            <a:gdLst>
              <a:gd name="connsiteX0" fmla="*/ 0 w 468630"/>
              <a:gd name="connsiteY0" fmla="*/ 0 h 1268730"/>
              <a:gd name="connsiteX1" fmla="*/ 182880 w 468630"/>
              <a:gd name="connsiteY1" fmla="*/ 640080 h 1268730"/>
              <a:gd name="connsiteX2" fmla="*/ 468630 w 468630"/>
              <a:gd name="connsiteY2" fmla="*/ 1268730 h 1268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8630" h="1268730">
                <a:moveTo>
                  <a:pt x="0" y="0"/>
                </a:moveTo>
                <a:cubicBezTo>
                  <a:pt x="52387" y="214312"/>
                  <a:pt x="104775" y="428625"/>
                  <a:pt x="182880" y="640080"/>
                </a:cubicBezTo>
                <a:cubicBezTo>
                  <a:pt x="260985" y="851535"/>
                  <a:pt x="364807" y="1060132"/>
                  <a:pt x="468630" y="1268730"/>
                </a:cubicBezTo>
              </a:path>
            </a:pathLst>
          </a:cu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776" y="2921516"/>
            <a:ext cx="3550009" cy="307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598130"/>
            <a:ext cx="4663844" cy="492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ZoneTexte 10"/>
          <p:cNvSpPr txBox="1"/>
          <p:nvPr/>
        </p:nvSpPr>
        <p:spPr>
          <a:xfrm>
            <a:off x="2699792" y="1280954"/>
            <a:ext cx="67458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</a:rPr>
              <a:t>La réaction eutectique binaire est terminée sur le diagramme A-B mais se poursuit sur la </a:t>
            </a:r>
            <a:r>
              <a:rPr lang="fr-FR" sz="2000" b="1" dirty="0" err="1" smtClean="0">
                <a:solidFill>
                  <a:schemeClr val="accent6">
                    <a:lumMod val="75000"/>
                  </a:schemeClr>
                </a:solidFill>
              </a:rPr>
              <a:t>cotectique</a:t>
            </a:r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</a:rPr>
              <a:t> : L </a:t>
            </a:r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 </a:t>
            </a:r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 + </a:t>
            </a:r>
            <a:endParaRPr lang="fr-FR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282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47" name="ZoneTexte 46"/>
          <p:cNvSpPr txBox="1"/>
          <p:nvPr/>
        </p:nvSpPr>
        <p:spPr>
          <a:xfrm>
            <a:off x="144016" y="507115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Ternaire dérivant d’ 1 binaire à miscibilité totale + 2 eutectiques binaires</a:t>
            </a:r>
          </a:p>
        </p:txBody>
      </p:sp>
      <p:sp>
        <p:nvSpPr>
          <p:cNvPr id="11" name="Forme libre 10"/>
          <p:cNvSpPr/>
          <p:nvPr/>
        </p:nvSpPr>
        <p:spPr>
          <a:xfrm>
            <a:off x="7418070" y="3008382"/>
            <a:ext cx="468630" cy="1268730"/>
          </a:xfrm>
          <a:custGeom>
            <a:avLst/>
            <a:gdLst>
              <a:gd name="connsiteX0" fmla="*/ 0 w 468630"/>
              <a:gd name="connsiteY0" fmla="*/ 0 h 1268730"/>
              <a:gd name="connsiteX1" fmla="*/ 182880 w 468630"/>
              <a:gd name="connsiteY1" fmla="*/ 640080 h 1268730"/>
              <a:gd name="connsiteX2" fmla="*/ 468630 w 468630"/>
              <a:gd name="connsiteY2" fmla="*/ 1268730 h 1268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8630" h="1268730">
                <a:moveTo>
                  <a:pt x="0" y="0"/>
                </a:moveTo>
                <a:cubicBezTo>
                  <a:pt x="52387" y="214312"/>
                  <a:pt x="104775" y="428625"/>
                  <a:pt x="182880" y="640080"/>
                </a:cubicBezTo>
                <a:cubicBezTo>
                  <a:pt x="260985" y="851535"/>
                  <a:pt x="364807" y="1060132"/>
                  <a:pt x="468630" y="1268730"/>
                </a:cubicBezTo>
              </a:path>
            </a:pathLst>
          </a:cu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742146"/>
            <a:ext cx="4663844" cy="492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910086"/>
            <a:ext cx="3495140" cy="308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Connecteur droit 15"/>
          <p:cNvCxnSpPr/>
          <p:nvPr/>
        </p:nvCxnSpPr>
        <p:spPr>
          <a:xfrm flipH="1">
            <a:off x="2362612" y="3751322"/>
            <a:ext cx="1296144" cy="792088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2699792" y="1280954"/>
            <a:ext cx="77540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</a:rPr>
              <a:t>Fin de réaction L </a:t>
            </a:r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 </a:t>
            </a:r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 +  sur la </a:t>
            </a:r>
            <a:r>
              <a:rPr lang="fr-FR" sz="2000" b="1" dirty="0" err="1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cotectique</a:t>
            </a:r>
            <a:endParaRPr lang="fr-FR" sz="2000" b="1" dirty="0" smtClean="0">
              <a:solidFill>
                <a:schemeClr val="accent6">
                  <a:lumMod val="75000"/>
                </a:schemeClr>
              </a:solidFill>
              <a:sym typeface="Symbol"/>
            </a:endParaRPr>
          </a:p>
          <a:p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Réaction eutectique binaire </a:t>
            </a:r>
            <a:r>
              <a:rPr lang="fr-FR" sz="2000" b="1" dirty="0">
                <a:solidFill>
                  <a:schemeClr val="accent6">
                    <a:lumMod val="75000"/>
                  </a:schemeClr>
                </a:solidFill>
              </a:rPr>
              <a:t>L </a:t>
            </a:r>
            <a:r>
              <a:rPr lang="fr-FR" sz="2000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 </a:t>
            </a:r>
            <a:r>
              <a:rPr lang="fr-FR" sz="2000" b="1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 + </a:t>
            </a:r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 sur le diagramme B-C</a:t>
            </a:r>
            <a:endParaRPr lang="fr-FR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88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47" name="ZoneTexte 46"/>
          <p:cNvSpPr txBox="1"/>
          <p:nvPr/>
        </p:nvSpPr>
        <p:spPr>
          <a:xfrm>
            <a:off x="144016" y="504382"/>
            <a:ext cx="8999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Ternaire dérivant d’ 1 binaire à miscibilité totale + 2 eutectiques binaires</a:t>
            </a:r>
          </a:p>
        </p:txBody>
      </p:sp>
      <p:sp>
        <p:nvSpPr>
          <p:cNvPr id="9" name="Forme libre 8"/>
          <p:cNvSpPr/>
          <p:nvPr/>
        </p:nvSpPr>
        <p:spPr>
          <a:xfrm>
            <a:off x="7418070" y="3008382"/>
            <a:ext cx="468630" cy="1268730"/>
          </a:xfrm>
          <a:custGeom>
            <a:avLst/>
            <a:gdLst>
              <a:gd name="connsiteX0" fmla="*/ 0 w 468630"/>
              <a:gd name="connsiteY0" fmla="*/ 0 h 1268730"/>
              <a:gd name="connsiteX1" fmla="*/ 182880 w 468630"/>
              <a:gd name="connsiteY1" fmla="*/ 640080 h 1268730"/>
              <a:gd name="connsiteX2" fmla="*/ 468630 w 468630"/>
              <a:gd name="connsiteY2" fmla="*/ 1268730 h 1268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8630" h="1268730">
                <a:moveTo>
                  <a:pt x="0" y="0"/>
                </a:moveTo>
                <a:cubicBezTo>
                  <a:pt x="52387" y="214312"/>
                  <a:pt x="104775" y="428625"/>
                  <a:pt x="182880" y="640080"/>
                </a:cubicBezTo>
                <a:cubicBezTo>
                  <a:pt x="260985" y="851535"/>
                  <a:pt x="364807" y="1060132"/>
                  <a:pt x="468630" y="1268730"/>
                </a:cubicBezTo>
              </a:path>
            </a:pathLst>
          </a:cu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4355976" y="1700808"/>
            <a:ext cx="45399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La réaction eutectique binaire </a:t>
            </a:r>
            <a:r>
              <a:rPr lang="fr-FR" sz="2000" b="1" dirty="0">
                <a:solidFill>
                  <a:schemeClr val="accent6">
                    <a:lumMod val="75000"/>
                  </a:schemeClr>
                </a:solidFill>
              </a:rPr>
              <a:t>L </a:t>
            </a:r>
            <a:r>
              <a:rPr lang="fr-FR" sz="2000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 </a:t>
            </a:r>
            <a:r>
              <a:rPr lang="fr-FR" sz="2000" b="1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 + </a:t>
            </a:r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 est terminée sur le diagramme B-C</a:t>
            </a:r>
            <a:endParaRPr lang="fr-FR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28800"/>
            <a:ext cx="4663844" cy="492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492" y="2911376"/>
            <a:ext cx="3495140" cy="3083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5695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47" name="ZoneTexte 46"/>
          <p:cNvSpPr txBox="1"/>
          <p:nvPr/>
        </p:nvSpPr>
        <p:spPr>
          <a:xfrm>
            <a:off x="144016" y="620688"/>
            <a:ext cx="899998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300" dirty="0" smtClean="0"/>
              <a:t>Fractions de phase dans les domaines triphasés </a:t>
            </a:r>
            <a:endParaRPr lang="fr-FR" sz="2300" dirty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142951"/>
            <a:ext cx="3495140" cy="307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ZoneTexte 10"/>
          <p:cNvSpPr txBox="1"/>
          <p:nvPr/>
        </p:nvSpPr>
        <p:spPr>
          <a:xfrm>
            <a:off x="4211960" y="2001614"/>
            <a:ext cx="42484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Domaine triphasé = forme triangulaire</a:t>
            </a:r>
          </a:p>
          <a:p>
            <a:r>
              <a:rPr lang="fr-FR" dirty="0" smtClean="0"/>
              <a:t>Aux sommets =&gt; domaines monophasés</a:t>
            </a:r>
          </a:p>
          <a:p>
            <a:r>
              <a:rPr lang="fr-FR" dirty="0" smtClean="0"/>
              <a:t>Sur les côtés =&gt; domaines biphasés</a:t>
            </a:r>
            <a:endParaRPr lang="fr-FR" dirty="0"/>
          </a:p>
        </p:txBody>
      </p:sp>
      <p:sp>
        <p:nvSpPr>
          <p:cNvPr id="12" name="Ellipse 11"/>
          <p:cNvSpPr/>
          <p:nvPr/>
        </p:nvSpPr>
        <p:spPr>
          <a:xfrm>
            <a:off x="2351182" y="1980759"/>
            <a:ext cx="45719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orme libre 12"/>
          <p:cNvSpPr/>
          <p:nvPr/>
        </p:nvSpPr>
        <p:spPr>
          <a:xfrm>
            <a:off x="1650494" y="1704127"/>
            <a:ext cx="708660" cy="308610"/>
          </a:xfrm>
          <a:custGeom>
            <a:avLst/>
            <a:gdLst>
              <a:gd name="connsiteX0" fmla="*/ 0 w 708660"/>
              <a:gd name="connsiteY0" fmla="*/ 0 h 308610"/>
              <a:gd name="connsiteX1" fmla="*/ 468630 w 708660"/>
              <a:gd name="connsiteY1" fmla="*/ 137160 h 308610"/>
              <a:gd name="connsiteX2" fmla="*/ 708660 w 708660"/>
              <a:gd name="connsiteY2" fmla="*/ 308610 h 30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8660" h="308610">
                <a:moveTo>
                  <a:pt x="0" y="0"/>
                </a:moveTo>
                <a:cubicBezTo>
                  <a:pt x="175260" y="42862"/>
                  <a:pt x="350520" y="85725"/>
                  <a:pt x="468630" y="137160"/>
                </a:cubicBezTo>
                <a:cubicBezTo>
                  <a:pt x="586740" y="188595"/>
                  <a:pt x="647700" y="248602"/>
                  <a:pt x="708660" y="30861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1293922" y="1491561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M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2148840" y="4051234"/>
            <a:ext cx="7103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fr-FR" dirty="0" smtClean="0">
                <a:solidFill>
                  <a:schemeClr val="tx2"/>
                </a:solidFill>
              </a:rPr>
              <a:t>Les </a:t>
            </a:r>
            <a:r>
              <a:rPr lang="fr-FR" dirty="0">
                <a:solidFill>
                  <a:schemeClr val="tx2"/>
                </a:solidFill>
              </a:rPr>
              <a:t>compositions sont données par les compositions des </a:t>
            </a:r>
            <a:r>
              <a:rPr lang="fr-FR" dirty="0" smtClean="0">
                <a:solidFill>
                  <a:schemeClr val="tx2"/>
                </a:solidFill>
              </a:rPr>
              <a:t>sommets</a:t>
            </a:r>
            <a:endParaRPr lang="fr-FR" dirty="0">
              <a:solidFill>
                <a:schemeClr val="tx2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fr-FR" dirty="0" smtClean="0">
                <a:solidFill>
                  <a:schemeClr val="tx2"/>
                </a:solidFill>
              </a:rPr>
              <a:t>Les fractions sont calculées à partir de la règle des segments inverses généralisée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2195736" y="3429000"/>
            <a:ext cx="6778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2"/>
                </a:solidFill>
              </a:rPr>
              <a:t>L’alliage M à la température correspondant à la coupe isotherme est constitué de 3 phases (</a:t>
            </a:r>
            <a:r>
              <a:rPr lang="fr-FR" dirty="0">
                <a:solidFill>
                  <a:schemeClr val="tx2"/>
                </a:solidFill>
                <a:sym typeface="Symbol"/>
              </a:rPr>
              <a:t>, </a:t>
            </a:r>
            <a:r>
              <a:rPr lang="fr-FR" dirty="0">
                <a:solidFill>
                  <a:schemeClr val="tx2"/>
                </a:solidFill>
              </a:rPr>
              <a:t> et L) dont</a:t>
            </a:r>
            <a:r>
              <a:rPr lang="fr-FR" dirty="0" smtClean="0">
                <a:solidFill>
                  <a:schemeClr val="tx2"/>
                </a:solidFill>
              </a:rPr>
              <a:t>:</a:t>
            </a:r>
          </a:p>
          <a:p>
            <a:endParaRPr lang="fr-FR" dirty="0" smtClean="0"/>
          </a:p>
        </p:txBody>
      </p:sp>
      <p:sp>
        <p:nvSpPr>
          <p:cNvPr id="20" name="Freeform 16"/>
          <p:cNvSpPr>
            <a:spLocks/>
          </p:cNvSpPr>
          <p:nvPr/>
        </p:nvSpPr>
        <p:spPr bwMode="auto">
          <a:xfrm>
            <a:off x="1185910" y="5229200"/>
            <a:ext cx="2376264" cy="1167155"/>
          </a:xfrm>
          <a:custGeom>
            <a:avLst/>
            <a:gdLst>
              <a:gd name="T0" fmla="*/ 0 w 928"/>
              <a:gd name="T1" fmla="*/ 569912 h 427"/>
              <a:gd name="T2" fmla="*/ 1042988 w 928"/>
              <a:gd name="T3" fmla="*/ 677862 h 427"/>
              <a:gd name="T4" fmla="*/ 1473200 w 928"/>
              <a:gd name="T5" fmla="*/ 0 h 427"/>
              <a:gd name="T6" fmla="*/ 0 w 928"/>
              <a:gd name="T7" fmla="*/ 569912 h 42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28" h="427">
                <a:moveTo>
                  <a:pt x="0" y="359"/>
                </a:moveTo>
                <a:lnTo>
                  <a:pt x="657" y="427"/>
                </a:lnTo>
                <a:lnTo>
                  <a:pt x="928" y="0"/>
                </a:lnTo>
                <a:lnTo>
                  <a:pt x="0" y="359"/>
                </a:lnTo>
                <a:close/>
              </a:path>
            </a:pathLst>
          </a:custGeom>
          <a:solidFill>
            <a:srgbClr val="FF6600">
              <a:alpha val="50195"/>
            </a:srgbClr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ZoneTexte 20"/>
          <p:cNvSpPr txBox="1"/>
          <p:nvPr/>
        </p:nvSpPr>
        <p:spPr>
          <a:xfrm>
            <a:off x="901306" y="6013775"/>
            <a:ext cx="574350" cy="36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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2866240" y="6396355"/>
            <a:ext cx="287175" cy="36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ym typeface="Symbol"/>
              </a:rPr>
              <a:t>L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3564745" y="5013176"/>
            <a:ext cx="287175" cy="36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24" name="Ellipse 23"/>
          <p:cNvSpPr/>
          <p:nvPr/>
        </p:nvSpPr>
        <p:spPr>
          <a:xfrm>
            <a:off x="2680361" y="6119584"/>
            <a:ext cx="45719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/>
          <p:cNvSpPr txBox="1"/>
          <p:nvPr/>
        </p:nvSpPr>
        <p:spPr>
          <a:xfrm>
            <a:off x="2510485" y="5777751"/>
            <a:ext cx="287175" cy="36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M</a:t>
            </a:r>
            <a:endParaRPr lang="fr-FR" dirty="0"/>
          </a:p>
        </p:txBody>
      </p:sp>
      <p:cxnSp>
        <p:nvCxnSpPr>
          <p:cNvPr id="26" name="Connecteur droit 25"/>
          <p:cNvCxnSpPr/>
          <p:nvPr/>
        </p:nvCxnSpPr>
        <p:spPr>
          <a:xfrm flipH="1" flipV="1">
            <a:off x="2357470" y="5729828"/>
            <a:ext cx="52020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 flipH="1">
            <a:off x="2506628" y="5217770"/>
            <a:ext cx="1066976" cy="114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flipV="1">
            <a:off x="1185910" y="6119584"/>
            <a:ext cx="1854206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2979108" y="5915807"/>
            <a:ext cx="287175" cy="36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ym typeface="Symbol"/>
              </a:rPr>
              <a:t>a</a:t>
            </a:r>
            <a:endParaRPr lang="fr-FR" dirty="0"/>
          </a:p>
        </p:txBody>
      </p:sp>
      <p:sp>
        <p:nvSpPr>
          <p:cNvPr id="30" name="ZoneTexte 29"/>
          <p:cNvSpPr txBox="1"/>
          <p:nvPr/>
        </p:nvSpPr>
        <p:spPr>
          <a:xfrm>
            <a:off x="2330395" y="6283360"/>
            <a:ext cx="287175" cy="36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ym typeface="Symbol"/>
              </a:rPr>
              <a:t>b</a:t>
            </a:r>
            <a:endParaRPr lang="fr-FR" dirty="0"/>
          </a:p>
        </p:txBody>
      </p:sp>
      <p:sp>
        <p:nvSpPr>
          <p:cNvPr id="31" name="ZoneTexte 30"/>
          <p:cNvSpPr txBox="1"/>
          <p:nvPr/>
        </p:nvSpPr>
        <p:spPr>
          <a:xfrm>
            <a:off x="2148840" y="5380729"/>
            <a:ext cx="287175" cy="36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l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4499992" y="5196952"/>
                <a:ext cx="1764196" cy="616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dirty="0" smtClean="0"/>
                  <a:t>f</a:t>
                </a:r>
                <a:r>
                  <a:rPr lang="fr-FR" sz="2400" baseline="-25000" dirty="0" smtClean="0">
                    <a:sym typeface="Symbol"/>
                  </a:rPr>
                  <a:t></a:t>
                </a:r>
                <a:r>
                  <a:rPr lang="fr-FR" sz="2400" dirty="0" smtClean="0">
                    <a:sym typeface="Symbol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400" i="1" smtClean="0">
                            <a:latin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/>
                            <a:sym typeface="Symbol"/>
                          </a:rPr>
                          <m:t>𝑀𝑎</m:t>
                        </m:r>
                      </m:num>
                      <m:den>
                        <m:r>
                          <a:rPr lang="fr-FR" sz="2400" i="1" smtClean="0">
                            <a:latin typeface="Cambria Math"/>
                            <a:ea typeface="Cambria Math"/>
                            <a:sym typeface="Symbol"/>
                          </a:rPr>
                          <m:t>𝛼</m:t>
                        </m:r>
                        <m:r>
                          <a:rPr lang="fr-FR" sz="2400" b="0" i="1" smtClean="0">
                            <a:latin typeface="Cambria Math"/>
                            <a:ea typeface="Cambria Math"/>
                            <a:sym typeface="Symbol"/>
                          </a:rPr>
                          <m:t>𝑎</m:t>
                        </m:r>
                      </m:den>
                    </m:f>
                  </m:oMath>
                </a14:m>
                <a:endParaRPr lang="fr-FR" sz="2400" dirty="0"/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5196952"/>
                <a:ext cx="1764196" cy="616836"/>
              </a:xfrm>
              <a:prstGeom prst="rect">
                <a:avLst/>
              </a:prstGeom>
              <a:blipFill rotWithShape="1">
                <a:blip r:embed="rId3"/>
                <a:stretch>
                  <a:fillRect l="-5172" b="-990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5976156" y="5196952"/>
                <a:ext cx="1764196" cy="669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dirty="0" smtClean="0"/>
                  <a:t>f</a:t>
                </a:r>
                <a:r>
                  <a:rPr lang="fr-FR" sz="2400" baseline="-25000" dirty="0" smtClean="0">
                    <a:sym typeface="Symbol"/>
                  </a:rPr>
                  <a:t></a:t>
                </a:r>
                <a:r>
                  <a:rPr lang="fr-FR" sz="2400" dirty="0" smtClean="0">
                    <a:sym typeface="Symbol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400" i="1" smtClean="0">
                            <a:latin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/>
                            <a:sym typeface="Symbol"/>
                          </a:rPr>
                          <m:t>𝑀𝑏</m:t>
                        </m:r>
                      </m:num>
                      <m:den>
                        <m:r>
                          <a:rPr lang="fr-FR" sz="2400" b="0" i="1" smtClean="0">
                            <a:latin typeface="Cambria Math"/>
                            <a:sym typeface="Symbol"/>
                          </a:rPr>
                          <m:t>𝑏</m:t>
                        </m:r>
                        <m:r>
                          <a:rPr lang="fr-FR" sz="2400" b="0" i="1" smtClean="0">
                            <a:latin typeface="Cambria Math"/>
                            <a:ea typeface="Cambria Math"/>
                            <a:sym typeface="Symbol"/>
                          </a:rPr>
                          <m:t>𝛽</m:t>
                        </m:r>
                      </m:den>
                    </m:f>
                  </m:oMath>
                </a14:m>
                <a:endParaRPr lang="fr-FR" sz="2400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156" y="5196952"/>
                <a:ext cx="1764196" cy="669222"/>
              </a:xfrm>
              <a:prstGeom prst="rect">
                <a:avLst/>
              </a:prstGeom>
              <a:blipFill rotWithShape="1">
                <a:blip r:embed="rId4"/>
                <a:stretch>
                  <a:fillRect l="-5172" b="-27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/>
              <p:cNvSpPr txBox="1"/>
              <p:nvPr/>
            </p:nvSpPr>
            <p:spPr>
              <a:xfrm>
                <a:off x="7344308" y="5192852"/>
                <a:ext cx="1764196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dirty="0" smtClean="0"/>
                  <a:t>f</a:t>
                </a:r>
                <a:r>
                  <a:rPr lang="fr-FR" sz="2400" baseline="-25000" dirty="0" err="1" smtClean="0">
                    <a:sym typeface="Symbol"/>
                  </a:rPr>
                  <a:t>L</a:t>
                </a:r>
                <a:r>
                  <a:rPr lang="fr-FR" sz="2400" dirty="0" smtClean="0">
                    <a:sym typeface="Symbol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400" i="1" smtClean="0">
                            <a:latin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fr-FR" sz="2400" b="0" i="1" smtClean="0">
                            <a:latin typeface="Cambria Math"/>
                            <a:sym typeface="Symbol"/>
                          </a:rPr>
                          <m:t>𝑙𝑀</m:t>
                        </m:r>
                      </m:num>
                      <m:den>
                        <m:r>
                          <a:rPr lang="fr-FR" sz="2400" b="0" i="1" smtClean="0">
                            <a:latin typeface="Cambria Math"/>
                            <a:sym typeface="Symbol"/>
                          </a:rPr>
                          <m:t>𝑙𝐿</m:t>
                        </m:r>
                      </m:den>
                    </m:f>
                  </m:oMath>
                </a14:m>
                <a:endParaRPr lang="fr-FR" sz="2400" dirty="0"/>
              </a:p>
            </p:txBody>
          </p:sp>
        </mc:Choice>
        <mc:Fallback xmlns="">
          <p:sp>
            <p:nvSpPr>
              <p:cNvPr id="34" name="ZoneTexte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5192852"/>
                <a:ext cx="1764196" cy="624273"/>
              </a:xfrm>
              <a:prstGeom prst="rect">
                <a:avLst/>
              </a:prstGeom>
              <a:blipFill rotWithShape="1">
                <a:blip r:embed="rId5"/>
                <a:stretch>
                  <a:fillRect l="-5536" b="-98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ZoneTexte 34"/>
          <p:cNvSpPr txBox="1"/>
          <p:nvPr/>
        </p:nvSpPr>
        <p:spPr>
          <a:xfrm>
            <a:off x="3851920" y="6099583"/>
            <a:ext cx="4945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Avec f</a:t>
            </a:r>
            <a:r>
              <a:rPr lang="fr-FR" baseline="-25000" dirty="0" smtClean="0">
                <a:sym typeface="Symbol"/>
              </a:rPr>
              <a:t></a:t>
            </a:r>
            <a:r>
              <a:rPr lang="fr-FR" dirty="0" smtClean="0">
                <a:sym typeface="Symbol"/>
              </a:rPr>
              <a:t> + f</a:t>
            </a:r>
            <a:r>
              <a:rPr lang="fr-FR" baseline="-25000" dirty="0" smtClean="0">
                <a:sym typeface="Symbol"/>
              </a:rPr>
              <a:t></a:t>
            </a:r>
            <a:r>
              <a:rPr lang="fr-FR" dirty="0" smtClean="0">
                <a:sym typeface="Symbol"/>
              </a:rPr>
              <a:t> + </a:t>
            </a:r>
            <a:r>
              <a:rPr lang="fr-FR" dirty="0" err="1" smtClean="0">
                <a:sym typeface="Symbol"/>
              </a:rPr>
              <a:t>f</a:t>
            </a:r>
            <a:r>
              <a:rPr lang="fr-FR" baseline="-25000" dirty="0" err="1" smtClean="0">
                <a:sym typeface="Symbol"/>
              </a:rPr>
              <a:t>L</a:t>
            </a:r>
            <a:r>
              <a:rPr lang="fr-FR" dirty="0" smtClean="0">
                <a:sym typeface="Symbol"/>
              </a:rPr>
              <a:t> = 1</a:t>
            </a:r>
            <a:endParaRPr lang="fr-FR" dirty="0"/>
          </a:p>
        </p:txBody>
      </p:sp>
      <p:sp>
        <p:nvSpPr>
          <p:cNvPr id="2" name="ZoneTexte 1"/>
          <p:cNvSpPr txBox="1"/>
          <p:nvPr/>
        </p:nvSpPr>
        <p:spPr>
          <a:xfrm>
            <a:off x="3458628" y="1142951"/>
            <a:ext cx="192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tx2"/>
                </a:solidFill>
              </a:rPr>
              <a:t>Coupe isotherme</a:t>
            </a:r>
            <a:endParaRPr lang="fr-FR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647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47" name="ZoneTexte 46"/>
          <p:cNvSpPr txBox="1"/>
          <p:nvPr/>
        </p:nvSpPr>
        <p:spPr>
          <a:xfrm>
            <a:off x="144016" y="620688"/>
            <a:ext cx="8999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d’ 1 binaire à miscibilité totale, 1 eutectique et 1 </a:t>
            </a:r>
            <a:r>
              <a:rPr lang="fr-FR" sz="2400" dirty="0" err="1"/>
              <a:t>peritectique</a:t>
            </a:r>
            <a:r>
              <a:rPr lang="fr-FR" sz="2400" dirty="0"/>
              <a:t> binaires</a:t>
            </a:r>
          </a:p>
        </p:txBody>
      </p:sp>
      <p:sp>
        <p:nvSpPr>
          <p:cNvPr id="36" name="Freeform 15"/>
          <p:cNvSpPr>
            <a:spLocks/>
          </p:cNvSpPr>
          <p:nvPr/>
        </p:nvSpPr>
        <p:spPr bwMode="auto">
          <a:xfrm>
            <a:off x="2717800" y="2390552"/>
            <a:ext cx="1104900" cy="4216400"/>
          </a:xfrm>
          <a:custGeom>
            <a:avLst/>
            <a:gdLst>
              <a:gd name="T0" fmla="*/ 2147483647 w 696"/>
              <a:gd name="T1" fmla="*/ 2147483647 h 2656"/>
              <a:gd name="T2" fmla="*/ 2147483647 w 696"/>
              <a:gd name="T3" fmla="*/ 2147483647 h 2656"/>
              <a:gd name="T4" fmla="*/ 2147483647 w 696"/>
              <a:gd name="T5" fmla="*/ 2147483647 h 2656"/>
              <a:gd name="T6" fmla="*/ 2147483647 w 696"/>
              <a:gd name="T7" fmla="*/ 2147483647 h 2656"/>
              <a:gd name="T8" fmla="*/ 2147483647 w 696"/>
              <a:gd name="T9" fmla="*/ 2147483647 h 2656"/>
              <a:gd name="T10" fmla="*/ 0 w 696"/>
              <a:gd name="T11" fmla="*/ 2147483647 h 2656"/>
              <a:gd name="T12" fmla="*/ 2147483647 w 696"/>
              <a:gd name="T13" fmla="*/ 2147483647 h 2656"/>
              <a:gd name="T14" fmla="*/ 2147483647 w 696"/>
              <a:gd name="T15" fmla="*/ 2147483647 h 2656"/>
              <a:gd name="T16" fmla="*/ 2147483647 w 696"/>
              <a:gd name="T17" fmla="*/ 2147483647 h 2656"/>
              <a:gd name="T18" fmla="*/ 2147483647 w 696"/>
              <a:gd name="T19" fmla="*/ 2147483647 h 2656"/>
              <a:gd name="T20" fmla="*/ 2147483647 w 696"/>
              <a:gd name="T21" fmla="*/ 2147483647 h 2656"/>
              <a:gd name="T22" fmla="*/ 2147483647 w 696"/>
              <a:gd name="T23" fmla="*/ 2147483647 h 2656"/>
              <a:gd name="T24" fmla="*/ 2147483647 w 696"/>
              <a:gd name="T25" fmla="*/ 2147483647 h 2656"/>
              <a:gd name="T26" fmla="*/ 2147483647 w 696"/>
              <a:gd name="T27" fmla="*/ 2147483647 h 2656"/>
              <a:gd name="T28" fmla="*/ 2147483647 w 696"/>
              <a:gd name="T29" fmla="*/ 2147483647 h 2656"/>
              <a:gd name="T30" fmla="*/ 2147483647 w 696"/>
              <a:gd name="T31" fmla="*/ 2147483647 h 2656"/>
              <a:gd name="T32" fmla="*/ 2147483647 w 696"/>
              <a:gd name="T33" fmla="*/ 0 h 265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696" h="2656">
                <a:moveTo>
                  <a:pt x="560" y="8"/>
                </a:moveTo>
                <a:lnTo>
                  <a:pt x="432" y="136"/>
                </a:lnTo>
                <a:lnTo>
                  <a:pt x="248" y="456"/>
                </a:lnTo>
                <a:lnTo>
                  <a:pt x="120" y="880"/>
                </a:lnTo>
                <a:lnTo>
                  <a:pt x="64" y="1232"/>
                </a:lnTo>
                <a:lnTo>
                  <a:pt x="0" y="1656"/>
                </a:lnTo>
                <a:lnTo>
                  <a:pt x="272" y="2208"/>
                </a:lnTo>
                <a:lnTo>
                  <a:pt x="560" y="2656"/>
                </a:lnTo>
                <a:lnTo>
                  <a:pt x="560" y="2472"/>
                </a:lnTo>
                <a:lnTo>
                  <a:pt x="568" y="2200"/>
                </a:lnTo>
                <a:lnTo>
                  <a:pt x="592" y="1960"/>
                </a:lnTo>
                <a:lnTo>
                  <a:pt x="696" y="1520"/>
                </a:lnTo>
                <a:lnTo>
                  <a:pt x="597" y="895"/>
                </a:lnTo>
                <a:lnTo>
                  <a:pt x="576" y="696"/>
                </a:lnTo>
                <a:lnTo>
                  <a:pt x="564" y="527"/>
                </a:lnTo>
                <a:lnTo>
                  <a:pt x="560" y="336"/>
                </a:lnTo>
                <a:lnTo>
                  <a:pt x="552" y="0"/>
                </a:lnTo>
              </a:path>
            </a:pathLst>
          </a:custGeom>
          <a:solidFill>
            <a:srgbClr val="00B05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37" name="Picture 11" descr="Eut-Per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025" y="1349152"/>
            <a:ext cx="53848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Rectangle 12"/>
          <p:cNvSpPr>
            <a:spLocks noChangeArrowheads="1"/>
          </p:cNvSpPr>
          <p:nvPr/>
        </p:nvSpPr>
        <p:spPr bwMode="auto">
          <a:xfrm>
            <a:off x="2628900" y="1298352"/>
            <a:ext cx="4508500" cy="177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9" name="Freeform 16"/>
          <p:cNvSpPr>
            <a:spLocks/>
          </p:cNvSpPr>
          <p:nvPr/>
        </p:nvSpPr>
        <p:spPr bwMode="auto">
          <a:xfrm>
            <a:off x="2332038" y="2403252"/>
            <a:ext cx="1516062" cy="2425700"/>
          </a:xfrm>
          <a:custGeom>
            <a:avLst/>
            <a:gdLst>
              <a:gd name="T0" fmla="*/ 2147483647 w 955"/>
              <a:gd name="T1" fmla="*/ 0 h 1528"/>
              <a:gd name="T2" fmla="*/ 2147483647 w 955"/>
              <a:gd name="T3" fmla="*/ 2147483647 h 1528"/>
              <a:gd name="T4" fmla="*/ 2147483647 w 955"/>
              <a:gd name="T5" fmla="*/ 2147483647 h 1528"/>
              <a:gd name="T6" fmla="*/ 2147483647 w 955"/>
              <a:gd name="T7" fmla="*/ 2147483647 h 1528"/>
              <a:gd name="T8" fmla="*/ 2147483647 w 955"/>
              <a:gd name="T9" fmla="*/ 2147483647 h 1528"/>
              <a:gd name="T10" fmla="*/ 2147483647 w 955"/>
              <a:gd name="T11" fmla="*/ 2147483647 h 1528"/>
              <a:gd name="T12" fmla="*/ 2147483647 w 955"/>
              <a:gd name="T13" fmla="*/ 2147483647 h 1528"/>
              <a:gd name="T14" fmla="*/ 2147483647 w 955"/>
              <a:gd name="T15" fmla="*/ 2147483647 h 1528"/>
              <a:gd name="T16" fmla="*/ 2147483647 w 955"/>
              <a:gd name="T17" fmla="*/ 2147483647 h 1528"/>
              <a:gd name="T18" fmla="*/ 2147483647 w 955"/>
              <a:gd name="T19" fmla="*/ 2147483647 h 1528"/>
              <a:gd name="T20" fmla="*/ 2147483647 w 955"/>
              <a:gd name="T21" fmla="*/ 2147483647 h 1528"/>
              <a:gd name="T22" fmla="*/ 2147483647 w 955"/>
              <a:gd name="T23" fmla="*/ 2147483647 h 1528"/>
              <a:gd name="T24" fmla="*/ 2147483647 w 955"/>
              <a:gd name="T25" fmla="*/ 2147483647 h 1528"/>
              <a:gd name="T26" fmla="*/ 2147483647 w 955"/>
              <a:gd name="T27" fmla="*/ 2147483647 h 1528"/>
              <a:gd name="T28" fmla="*/ 2147483647 w 955"/>
              <a:gd name="T29" fmla="*/ 0 h 152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955" h="1528">
                <a:moveTo>
                  <a:pt x="787" y="0"/>
                </a:moveTo>
                <a:lnTo>
                  <a:pt x="587" y="64"/>
                </a:lnTo>
                <a:lnTo>
                  <a:pt x="163" y="96"/>
                </a:lnTo>
                <a:cubicBezTo>
                  <a:pt x="0" y="71"/>
                  <a:pt x="3" y="125"/>
                  <a:pt x="3" y="64"/>
                </a:cubicBezTo>
                <a:lnTo>
                  <a:pt x="99" y="280"/>
                </a:lnTo>
                <a:lnTo>
                  <a:pt x="315" y="744"/>
                </a:lnTo>
                <a:lnTo>
                  <a:pt x="475" y="1032"/>
                </a:lnTo>
                <a:lnTo>
                  <a:pt x="627" y="1248"/>
                </a:lnTo>
                <a:lnTo>
                  <a:pt x="699" y="1312"/>
                </a:lnTo>
                <a:lnTo>
                  <a:pt x="955" y="1528"/>
                </a:lnTo>
                <a:lnTo>
                  <a:pt x="891" y="1224"/>
                </a:lnTo>
                <a:lnTo>
                  <a:pt x="827" y="816"/>
                </a:lnTo>
                <a:lnTo>
                  <a:pt x="798" y="355"/>
                </a:lnTo>
                <a:lnTo>
                  <a:pt x="798" y="285"/>
                </a:lnTo>
                <a:lnTo>
                  <a:pt x="787" y="0"/>
                </a:lnTo>
                <a:close/>
              </a:path>
            </a:pathLst>
          </a:custGeom>
          <a:solidFill>
            <a:srgbClr val="1017FF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0" name="Freeform 17"/>
          <p:cNvSpPr>
            <a:spLocks/>
          </p:cNvSpPr>
          <p:nvPr/>
        </p:nvSpPr>
        <p:spPr bwMode="auto">
          <a:xfrm>
            <a:off x="5783263" y="2449290"/>
            <a:ext cx="473075" cy="2803525"/>
          </a:xfrm>
          <a:custGeom>
            <a:avLst/>
            <a:gdLst>
              <a:gd name="T0" fmla="*/ 2147483647 w 298"/>
              <a:gd name="T1" fmla="*/ 2147483647 h 1766"/>
              <a:gd name="T2" fmla="*/ 2147483647 w 298"/>
              <a:gd name="T3" fmla="*/ 2147483647 h 1766"/>
              <a:gd name="T4" fmla="*/ 2147483647 w 298"/>
              <a:gd name="T5" fmla="*/ 2147483647 h 1766"/>
              <a:gd name="T6" fmla="*/ 2147483647 w 298"/>
              <a:gd name="T7" fmla="*/ 2147483647 h 1766"/>
              <a:gd name="T8" fmla="*/ 2147483647 w 298"/>
              <a:gd name="T9" fmla="*/ 2147483647 h 1766"/>
              <a:gd name="T10" fmla="*/ 2147483647 w 298"/>
              <a:gd name="T11" fmla="*/ 2147483647 h 1766"/>
              <a:gd name="T12" fmla="*/ 0 w 298"/>
              <a:gd name="T13" fmla="*/ 2147483647 h 1766"/>
              <a:gd name="T14" fmla="*/ 2147483647 w 298"/>
              <a:gd name="T15" fmla="*/ 0 h 1766"/>
              <a:gd name="T16" fmla="*/ 2147483647 w 298"/>
              <a:gd name="T17" fmla="*/ 2147483647 h 1766"/>
              <a:gd name="T18" fmla="*/ 2147483647 w 298"/>
              <a:gd name="T19" fmla="*/ 2147483647 h 1766"/>
              <a:gd name="T20" fmla="*/ 2147483647 w 298"/>
              <a:gd name="T21" fmla="*/ 2147483647 h 1766"/>
              <a:gd name="T22" fmla="*/ 2147483647 w 298"/>
              <a:gd name="T23" fmla="*/ 2147483647 h 1766"/>
              <a:gd name="T24" fmla="*/ 2147483647 w 298"/>
              <a:gd name="T25" fmla="*/ 2147483647 h 1766"/>
              <a:gd name="T26" fmla="*/ 2147483647 w 298"/>
              <a:gd name="T27" fmla="*/ 2147483647 h 1766"/>
              <a:gd name="T28" fmla="*/ 2147483647 w 298"/>
              <a:gd name="T29" fmla="*/ 2147483647 h 176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98" h="1766">
                <a:moveTo>
                  <a:pt x="293" y="1664"/>
                </a:moveTo>
                <a:lnTo>
                  <a:pt x="261" y="1766"/>
                </a:lnTo>
                <a:lnTo>
                  <a:pt x="245" y="1504"/>
                </a:lnTo>
                <a:lnTo>
                  <a:pt x="208" y="1296"/>
                </a:lnTo>
                <a:lnTo>
                  <a:pt x="149" y="1120"/>
                </a:lnTo>
                <a:lnTo>
                  <a:pt x="69" y="944"/>
                </a:lnTo>
                <a:lnTo>
                  <a:pt x="0" y="859"/>
                </a:lnTo>
                <a:lnTo>
                  <a:pt x="96" y="0"/>
                </a:lnTo>
                <a:lnTo>
                  <a:pt x="154" y="128"/>
                </a:lnTo>
                <a:lnTo>
                  <a:pt x="213" y="320"/>
                </a:lnTo>
                <a:lnTo>
                  <a:pt x="266" y="667"/>
                </a:lnTo>
                <a:lnTo>
                  <a:pt x="293" y="1008"/>
                </a:lnTo>
                <a:lnTo>
                  <a:pt x="298" y="1339"/>
                </a:lnTo>
                <a:lnTo>
                  <a:pt x="298" y="1483"/>
                </a:lnTo>
                <a:lnTo>
                  <a:pt x="293" y="1664"/>
                </a:lnTo>
                <a:close/>
              </a:path>
            </a:pathLst>
          </a:custGeom>
          <a:solidFill>
            <a:srgbClr val="00B05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1" name="Freeform 18"/>
          <p:cNvSpPr>
            <a:spLocks/>
          </p:cNvSpPr>
          <p:nvPr/>
        </p:nvSpPr>
        <p:spPr bwMode="auto">
          <a:xfrm>
            <a:off x="5778500" y="1501552"/>
            <a:ext cx="723900" cy="2324100"/>
          </a:xfrm>
          <a:custGeom>
            <a:avLst/>
            <a:gdLst>
              <a:gd name="T0" fmla="*/ 2147483647 w 456"/>
              <a:gd name="T1" fmla="*/ 0 h 1464"/>
              <a:gd name="T2" fmla="*/ 2147483647 w 456"/>
              <a:gd name="T3" fmla="*/ 2147483647 h 1464"/>
              <a:gd name="T4" fmla="*/ 0 w 456"/>
              <a:gd name="T5" fmla="*/ 2147483647 h 1464"/>
              <a:gd name="T6" fmla="*/ 2147483647 w 456"/>
              <a:gd name="T7" fmla="*/ 2147483647 h 1464"/>
              <a:gd name="T8" fmla="*/ 2147483647 w 456"/>
              <a:gd name="T9" fmla="*/ 2147483647 h 1464"/>
              <a:gd name="T10" fmla="*/ 2147483647 w 456"/>
              <a:gd name="T11" fmla="*/ 2147483647 h 1464"/>
              <a:gd name="T12" fmla="*/ 2147483647 w 456"/>
              <a:gd name="T13" fmla="*/ 2147483647 h 1464"/>
              <a:gd name="T14" fmla="*/ 2147483647 w 456"/>
              <a:gd name="T15" fmla="*/ 0 h 146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56" h="1464">
                <a:moveTo>
                  <a:pt x="456" y="0"/>
                </a:moveTo>
                <a:lnTo>
                  <a:pt x="96" y="608"/>
                </a:lnTo>
                <a:lnTo>
                  <a:pt x="0" y="1464"/>
                </a:lnTo>
                <a:lnTo>
                  <a:pt x="131" y="1141"/>
                </a:lnTo>
                <a:lnTo>
                  <a:pt x="205" y="976"/>
                </a:lnTo>
                <a:lnTo>
                  <a:pt x="280" y="704"/>
                </a:lnTo>
                <a:lnTo>
                  <a:pt x="400" y="272"/>
                </a:lnTo>
                <a:lnTo>
                  <a:pt x="456" y="0"/>
                </a:lnTo>
                <a:close/>
              </a:path>
            </a:pathLst>
          </a:custGeom>
          <a:solidFill>
            <a:srgbClr val="1017FF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2" name="Line 19"/>
          <p:cNvSpPr>
            <a:spLocks noChangeShapeType="1"/>
          </p:cNvSpPr>
          <p:nvPr/>
        </p:nvSpPr>
        <p:spPr bwMode="auto">
          <a:xfrm flipV="1">
            <a:off x="2311400" y="2034952"/>
            <a:ext cx="0" cy="297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3" name="Line 20"/>
          <p:cNvSpPr>
            <a:spLocks noChangeShapeType="1"/>
          </p:cNvSpPr>
          <p:nvPr/>
        </p:nvSpPr>
        <p:spPr bwMode="auto">
          <a:xfrm flipV="1">
            <a:off x="3416300" y="3724052"/>
            <a:ext cx="0" cy="297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4" name="Line 21"/>
          <p:cNvSpPr>
            <a:spLocks noChangeShapeType="1"/>
          </p:cNvSpPr>
          <p:nvPr/>
        </p:nvSpPr>
        <p:spPr bwMode="auto">
          <a:xfrm flipV="1">
            <a:off x="6489700" y="1196752"/>
            <a:ext cx="0" cy="39084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5" name="Freeform 22"/>
          <p:cNvSpPr>
            <a:spLocks/>
          </p:cNvSpPr>
          <p:nvPr/>
        </p:nvSpPr>
        <p:spPr bwMode="auto">
          <a:xfrm>
            <a:off x="2895600" y="1488852"/>
            <a:ext cx="3632200" cy="2921000"/>
          </a:xfrm>
          <a:custGeom>
            <a:avLst/>
            <a:gdLst>
              <a:gd name="T0" fmla="*/ 2147483647 w 2288"/>
              <a:gd name="T1" fmla="*/ 0 h 1840"/>
              <a:gd name="T2" fmla="*/ 2147483647 w 2288"/>
              <a:gd name="T3" fmla="*/ 2147483647 h 1840"/>
              <a:gd name="T4" fmla="*/ 2147483647 w 2288"/>
              <a:gd name="T5" fmla="*/ 2147483647 h 1840"/>
              <a:gd name="T6" fmla="*/ 2147483647 w 2288"/>
              <a:gd name="T7" fmla="*/ 2147483647 h 1840"/>
              <a:gd name="T8" fmla="*/ 2147483647 w 2288"/>
              <a:gd name="T9" fmla="*/ 2147483647 h 1840"/>
              <a:gd name="T10" fmla="*/ 2147483647 w 2288"/>
              <a:gd name="T11" fmla="*/ 2147483647 h 1840"/>
              <a:gd name="T12" fmla="*/ 0 w 2288"/>
              <a:gd name="T13" fmla="*/ 2147483647 h 1840"/>
              <a:gd name="T14" fmla="*/ 2147483647 w 2288"/>
              <a:gd name="T15" fmla="*/ 2147483647 h 1840"/>
              <a:gd name="T16" fmla="*/ 2147483647 w 2288"/>
              <a:gd name="T17" fmla="*/ 2147483647 h 1840"/>
              <a:gd name="T18" fmla="*/ 2147483647 w 2288"/>
              <a:gd name="T19" fmla="*/ 2147483647 h 1840"/>
              <a:gd name="T20" fmla="*/ 2147483647 w 2288"/>
              <a:gd name="T21" fmla="*/ 2147483647 h 1840"/>
              <a:gd name="T22" fmla="*/ 2147483647 w 2288"/>
              <a:gd name="T23" fmla="*/ 2147483647 h 1840"/>
              <a:gd name="T24" fmla="*/ 2147483647 w 2288"/>
              <a:gd name="T25" fmla="*/ 2147483647 h 1840"/>
              <a:gd name="T26" fmla="*/ 2147483647 w 2288"/>
              <a:gd name="T27" fmla="*/ 2147483647 h 1840"/>
              <a:gd name="T28" fmla="*/ 2147483647 w 2288"/>
              <a:gd name="T29" fmla="*/ 2147483647 h 1840"/>
              <a:gd name="T30" fmla="*/ 2147483647 w 2288"/>
              <a:gd name="T31" fmla="*/ 0 h 184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288" h="1840">
                <a:moveTo>
                  <a:pt x="2288" y="0"/>
                </a:moveTo>
                <a:lnTo>
                  <a:pt x="1864" y="32"/>
                </a:lnTo>
                <a:lnTo>
                  <a:pt x="1328" y="96"/>
                </a:lnTo>
                <a:lnTo>
                  <a:pt x="936" y="176"/>
                </a:lnTo>
                <a:lnTo>
                  <a:pt x="576" y="280"/>
                </a:lnTo>
                <a:lnTo>
                  <a:pt x="280" y="408"/>
                </a:lnTo>
                <a:lnTo>
                  <a:pt x="0" y="576"/>
                </a:lnTo>
                <a:lnTo>
                  <a:pt x="248" y="944"/>
                </a:lnTo>
                <a:lnTo>
                  <a:pt x="888" y="1616"/>
                </a:lnTo>
                <a:lnTo>
                  <a:pt x="1136" y="1840"/>
                </a:lnTo>
                <a:lnTo>
                  <a:pt x="1176" y="1632"/>
                </a:lnTo>
                <a:lnTo>
                  <a:pt x="1312" y="1248"/>
                </a:lnTo>
                <a:lnTo>
                  <a:pt x="1512" y="904"/>
                </a:lnTo>
                <a:lnTo>
                  <a:pt x="1728" y="600"/>
                </a:lnTo>
                <a:lnTo>
                  <a:pt x="2067" y="218"/>
                </a:lnTo>
                <a:lnTo>
                  <a:pt x="2280" y="0"/>
                </a:lnTo>
              </a:path>
            </a:pathLst>
          </a:custGeom>
          <a:solidFill>
            <a:srgbClr val="FF1212">
              <a:alpha val="50195"/>
            </a:srgbClr>
          </a:solidFill>
          <a:ln w="2857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6" name="Freeform 23"/>
          <p:cNvSpPr>
            <a:spLocks/>
          </p:cNvSpPr>
          <p:nvPr/>
        </p:nvSpPr>
        <p:spPr bwMode="auto">
          <a:xfrm>
            <a:off x="2336800" y="2390552"/>
            <a:ext cx="2362200" cy="2095500"/>
          </a:xfrm>
          <a:custGeom>
            <a:avLst/>
            <a:gdLst>
              <a:gd name="T0" fmla="*/ 2147483647 w 1488"/>
              <a:gd name="T1" fmla="*/ 0 h 1320"/>
              <a:gd name="T2" fmla="*/ 2147483647 w 1488"/>
              <a:gd name="T3" fmla="*/ 2147483647 h 1320"/>
              <a:gd name="T4" fmla="*/ 0 w 1488"/>
              <a:gd name="T5" fmla="*/ 2147483647 h 1320"/>
              <a:gd name="T6" fmla="*/ 2147483647 w 1488"/>
              <a:gd name="T7" fmla="*/ 2147483647 h 1320"/>
              <a:gd name="T8" fmla="*/ 2147483647 w 1488"/>
              <a:gd name="T9" fmla="*/ 2147483647 h 1320"/>
              <a:gd name="T10" fmla="*/ 2147483647 w 1488"/>
              <a:gd name="T11" fmla="*/ 2147483647 h 1320"/>
              <a:gd name="T12" fmla="*/ 2147483647 w 1488"/>
              <a:gd name="T13" fmla="*/ 2147483647 h 1320"/>
              <a:gd name="T14" fmla="*/ 2147483647 w 1488"/>
              <a:gd name="T15" fmla="*/ 2147483647 h 1320"/>
              <a:gd name="T16" fmla="*/ 2147483647 w 1488"/>
              <a:gd name="T17" fmla="*/ 2147483647 h 1320"/>
              <a:gd name="T18" fmla="*/ 2147483647 w 1488"/>
              <a:gd name="T19" fmla="*/ 2147483647 h 1320"/>
              <a:gd name="T20" fmla="*/ 2147483647 w 1488"/>
              <a:gd name="T21" fmla="*/ 2147483647 h 1320"/>
              <a:gd name="T22" fmla="*/ 2147483647 w 1488"/>
              <a:gd name="T23" fmla="*/ 2147483647 h 1320"/>
              <a:gd name="T24" fmla="*/ 2147483647 w 1488"/>
              <a:gd name="T25" fmla="*/ 2147483647 h 1320"/>
              <a:gd name="T26" fmla="*/ 2147483647 w 1488"/>
              <a:gd name="T27" fmla="*/ 2147483647 h 1320"/>
              <a:gd name="T28" fmla="*/ 2147483647 w 1488"/>
              <a:gd name="T29" fmla="*/ 2147483647 h 1320"/>
              <a:gd name="T30" fmla="*/ 2147483647 w 1488"/>
              <a:gd name="T31" fmla="*/ 0 h 132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488" h="1320">
                <a:moveTo>
                  <a:pt x="352" y="0"/>
                </a:moveTo>
                <a:lnTo>
                  <a:pt x="128" y="32"/>
                </a:lnTo>
                <a:lnTo>
                  <a:pt x="0" y="72"/>
                </a:lnTo>
                <a:lnTo>
                  <a:pt x="136" y="232"/>
                </a:lnTo>
                <a:lnTo>
                  <a:pt x="376" y="656"/>
                </a:lnTo>
                <a:lnTo>
                  <a:pt x="528" y="1000"/>
                </a:lnTo>
                <a:lnTo>
                  <a:pt x="688" y="1320"/>
                </a:lnTo>
                <a:lnTo>
                  <a:pt x="816" y="1272"/>
                </a:lnTo>
                <a:lnTo>
                  <a:pt x="1048" y="1240"/>
                </a:lnTo>
                <a:lnTo>
                  <a:pt x="1248" y="1240"/>
                </a:lnTo>
                <a:lnTo>
                  <a:pt x="1488" y="1264"/>
                </a:lnTo>
                <a:lnTo>
                  <a:pt x="1288" y="1096"/>
                </a:lnTo>
                <a:lnTo>
                  <a:pt x="944" y="744"/>
                </a:lnTo>
                <a:lnTo>
                  <a:pt x="704" y="480"/>
                </a:lnTo>
                <a:lnTo>
                  <a:pt x="560" y="304"/>
                </a:lnTo>
                <a:lnTo>
                  <a:pt x="352" y="0"/>
                </a:lnTo>
                <a:close/>
              </a:path>
            </a:pathLst>
          </a:custGeom>
          <a:solidFill>
            <a:srgbClr val="FF1212">
              <a:alpha val="50195"/>
            </a:srgbClr>
          </a:solidFill>
          <a:ln w="2857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393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5936" y="1023887"/>
            <a:ext cx="5334000" cy="6005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463" y="2684912"/>
            <a:ext cx="3883025" cy="3382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Forme libre 16"/>
          <p:cNvSpPr/>
          <p:nvPr/>
        </p:nvSpPr>
        <p:spPr>
          <a:xfrm>
            <a:off x="5724128" y="2757779"/>
            <a:ext cx="2242582" cy="1634490"/>
          </a:xfrm>
          <a:custGeom>
            <a:avLst/>
            <a:gdLst>
              <a:gd name="connsiteX0" fmla="*/ 0 w 2308860"/>
              <a:gd name="connsiteY0" fmla="*/ 0 h 1634490"/>
              <a:gd name="connsiteX1" fmla="*/ 914400 w 2308860"/>
              <a:gd name="connsiteY1" fmla="*/ 971550 h 1634490"/>
              <a:gd name="connsiteX2" fmla="*/ 2308860 w 2308860"/>
              <a:gd name="connsiteY2" fmla="*/ 1634490 h 1634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8860" h="1634490">
                <a:moveTo>
                  <a:pt x="0" y="0"/>
                </a:moveTo>
                <a:cubicBezTo>
                  <a:pt x="264795" y="349567"/>
                  <a:pt x="529590" y="699135"/>
                  <a:pt x="914400" y="971550"/>
                </a:cubicBezTo>
                <a:cubicBezTo>
                  <a:pt x="1299210" y="1243965"/>
                  <a:pt x="1804035" y="1439227"/>
                  <a:pt x="2308860" y="163449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17"/>
          <p:cNvCxnSpPr>
            <a:stCxn id="17" idx="1"/>
          </p:cNvCxnSpPr>
          <p:nvPr/>
        </p:nvCxnSpPr>
        <p:spPr>
          <a:xfrm flipH="1" flipV="1">
            <a:off x="6588224" y="3575024"/>
            <a:ext cx="24055" cy="154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>
            <a:stCxn id="17" idx="1"/>
          </p:cNvCxnSpPr>
          <p:nvPr/>
        </p:nvCxnSpPr>
        <p:spPr>
          <a:xfrm flipH="1">
            <a:off x="6444208" y="3729329"/>
            <a:ext cx="168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46"/>
          <p:cNvSpPr txBox="1"/>
          <p:nvPr/>
        </p:nvSpPr>
        <p:spPr>
          <a:xfrm>
            <a:off x="144016" y="620688"/>
            <a:ext cx="8999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d’ 1 binaire à miscibilité totale, 1 eutectique et 1 </a:t>
            </a:r>
            <a:r>
              <a:rPr lang="fr-FR" sz="2400" dirty="0" err="1"/>
              <a:t>peritectique</a:t>
            </a:r>
            <a:r>
              <a:rPr lang="fr-FR" sz="2400" dirty="0"/>
              <a:t> binaires</a:t>
            </a:r>
          </a:p>
        </p:txBody>
      </p:sp>
    </p:spTree>
    <p:extLst>
      <p:ext uri="{BB962C8B-B14F-4D97-AF65-F5344CB8AC3E}">
        <p14:creationId xmlns:p14="http://schemas.microsoft.com/office/powerpoint/2010/main" val="145712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5936" y="1124744"/>
            <a:ext cx="5334000" cy="6005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463" y="2227724"/>
            <a:ext cx="3883025" cy="3944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Forme libre 11"/>
          <p:cNvSpPr/>
          <p:nvPr/>
        </p:nvSpPr>
        <p:spPr>
          <a:xfrm>
            <a:off x="5724128" y="2855208"/>
            <a:ext cx="2242582" cy="1634490"/>
          </a:xfrm>
          <a:custGeom>
            <a:avLst/>
            <a:gdLst>
              <a:gd name="connsiteX0" fmla="*/ 0 w 2308860"/>
              <a:gd name="connsiteY0" fmla="*/ 0 h 1634490"/>
              <a:gd name="connsiteX1" fmla="*/ 914400 w 2308860"/>
              <a:gd name="connsiteY1" fmla="*/ 971550 h 1634490"/>
              <a:gd name="connsiteX2" fmla="*/ 2308860 w 2308860"/>
              <a:gd name="connsiteY2" fmla="*/ 1634490 h 1634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8860" h="1634490">
                <a:moveTo>
                  <a:pt x="0" y="0"/>
                </a:moveTo>
                <a:cubicBezTo>
                  <a:pt x="264795" y="349567"/>
                  <a:pt x="529590" y="699135"/>
                  <a:pt x="914400" y="971550"/>
                </a:cubicBezTo>
                <a:cubicBezTo>
                  <a:pt x="1299210" y="1243965"/>
                  <a:pt x="1804035" y="1439227"/>
                  <a:pt x="2308860" y="163449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ZoneTexte 46"/>
          <p:cNvSpPr txBox="1"/>
          <p:nvPr/>
        </p:nvSpPr>
        <p:spPr>
          <a:xfrm>
            <a:off x="144016" y="620688"/>
            <a:ext cx="8999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d’ 1 binaire à miscibilité totale, 1 eutectique et 1 </a:t>
            </a:r>
            <a:r>
              <a:rPr lang="fr-FR" sz="2400" dirty="0" err="1"/>
              <a:t>peritectique</a:t>
            </a:r>
            <a:r>
              <a:rPr lang="fr-FR" sz="2400" dirty="0"/>
              <a:t> binaires</a:t>
            </a:r>
          </a:p>
        </p:txBody>
      </p:sp>
    </p:spTree>
    <p:extLst>
      <p:ext uri="{BB962C8B-B14F-4D97-AF65-F5344CB8AC3E}">
        <p14:creationId xmlns:p14="http://schemas.microsoft.com/office/powerpoint/2010/main" val="343123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5936" y="1023887"/>
            <a:ext cx="5334000" cy="6005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463" y="2674838"/>
            <a:ext cx="3883025" cy="334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rme libre 5"/>
          <p:cNvSpPr/>
          <p:nvPr/>
        </p:nvSpPr>
        <p:spPr>
          <a:xfrm>
            <a:off x="5724128" y="2677110"/>
            <a:ext cx="2242582" cy="1634490"/>
          </a:xfrm>
          <a:custGeom>
            <a:avLst/>
            <a:gdLst>
              <a:gd name="connsiteX0" fmla="*/ 0 w 2308860"/>
              <a:gd name="connsiteY0" fmla="*/ 0 h 1634490"/>
              <a:gd name="connsiteX1" fmla="*/ 914400 w 2308860"/>
              <a:gd name="connsiteY1" fmla="*/ 971550 h 1634490"/>
              <a:gd name="connsiteX2" fmla="*/ 2308860 w 2308860"/>
              <a:gd name="connsiteY2" fmla="*/ 1634490 h 1634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8860" h="1634490">
                <a:moveTo>
                  <a:pt x="0" y="0"/>
                </a:moveTo>
                <a:cubicBezTo>
                  <a:pt x="264795" y="349567"/>
                  <a:pt x="529590" y="699135"/>
                  <a:pt x="914400" y="971550"/>
                </a:cubicBezTo>
                <a:cubicBezTo>
                  <a:pt x="1299210" y="1243965"/>
                  <a:pt x="1804035" y="1439227"/>
                  <a:pt x="2308860" y="163449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ZoneTexte 46"/>
          <p:cNvSpPr txBox="1"/>
          <p:nvPr/>
        </p:nvSpPr>
        <p:spPr>
          <a:xfrm>
            <a:off x="144016" y="620688"/>
            <a:ext cx="8999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d’ 1 binaire à miscibilité totale, 1 eutectique et 1 </a:t>
            </a:r>
            <a:r>
              <a:rPr lang="fr-FR" sz="2400" dirty="0" err="1"/>
              <a:t>peritectique</a:t>
            </a:r>
            <a:r>
              <a:rPr lang="fr-FR" sz="2400" dirty="0"/>
              <a:t> binaires</a:t>
            </a:r>
          </a:p>
        </p:txBody>
      </p:sp>
    </p:spTree>
    <p:extLst>
      <p:ext uri="{BB962C8B-B14F-4D97-AF65-F5344CB8AC3E}">
        <p14:creationId xmlns:p14="http://schemas.microsoft.com/office/powerpoint/2010/main" val="364087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528" y="1095895"/>
            <a:ext cx="5334000" cy="6005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463" y="2723778"/>
            <a:ext cx="3883025" cy="339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" name="ZoneTexte 46"/>
          <p:cNvSpPr txBox="1"/>
          <p:nvPr/>
        </p:nvSpPr>
        <p:spPr>
          <a:xfrm>
            <a:off x="144016" y="620688"/>
            <a:ext cx="8999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d’ 1 binaire à miscibilité totale, 1 eutectique et 1 </a:t>
            </a:r>
            <a:r>
              <a:rPr lang="fr-FR" sz="2400" dirty="0" err="1"/>
              <a:t>peritectique</a:t>
            </a:r>
            <a:r>
              <a:rPr lang="fr-FR" sz="2400" dirty="0"/>
              <a:t> binaires</a:t>
            </a:r>
          </a:p>
        </p:txBody>
      </p:sp>
    </p:spTree>
    <p:extLst>
      <p:ext uri="{BB962C8B-B14F-4D97-AF65-F5344CB8AC3E}">
        <p14:creationId xmlns:p14="http://schemas.microsoft.com/office/powerpoint/2010/main" val="317973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47" name="ZoneTexte 46"/>
          <p:cNvSpPr txBox="1"/>
          <p:nvPr/>
        </p:nvSpPr>
        <p:spPr>
          <a:xfrm>
            <a:off x="3549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 3 eutectiques binaires</a:t>
            </a:r>
            <a:endParaRPr lang="fr-FR" sz="2400" dirty="0"/>
          </a:p>
        </p:txBody>
      </p:sp>
      <p:pic>
        <p:nvPicPr>
          <p:cNvPr id="5" name="Picture 4" descr="Class-I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973410"/>
            <a:ext cx="5551488" cy="569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18"/>
          <p:cNvSpPr>
            <a:spLocks noChangeAspect="1" noChangeArrowheads="1"/>
          </p:cNvSpPr>
          <p:nvPr/>
        </p:nvSpPr>
        <p:spPr bwMode="auto">
          <a:xfrm>
            <a:off x="2473896" y="3352800"/>
            <a:ext cx="115888" cy="115888"/>
          </a:xfrm>
          <a:prstGeom prst="ellipse">
            <a:avLst/>
          </a:prstGeom>
          <a:solidFill>
            <a:schemeClr val="bg1"/>
          </a:solidFill>
          <a:ln w="28575">
            <a:solidFill>
              <a:srgbClr val="08F40A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" name="Oval 21"/>
          <p:cNvSpPr>
            <a:spLocks noChangeAspect="1" noChangeArrowheads="1"/>
          </p:cNvSpPr>
          <p:nvPr/>
        </p:nvSpPr>
        <p:spPr bwMode="auto">
          <a:xfrm>
            <a:off x="4394771" y="2955925"/>
            <a:ext cx="115888" cy="115888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121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" name="Freeform 33"/>
          <p:cNvSpPr>
            <a:spLocks/>
          </p:cNvSpPr>
          <p:nvPr/>
        </p:nvSpPr>
        <p:spPr bwMode="auto">
          <a:xfrm>
            <a:off x="4315396" y="2514600"/>
            <a:ext cx="876300" cy="3657600"/>
          </a:xfrm>
          <a:custGeom>
            <a:avLst/>
            <a:gdLst>
              <a:gd name="T0" fmla="*/ 2147483647 w 552"/>
              <a:gd name="T1" fmla="*/ 0 h 2304"/>
              <a:gd name="T2" fmla="*/ 2147483647 w 552"/>
              <a:gd name="T3" fmla="*/ 2147483647 h 2304"/>
              <a:gd name="T4" fmla="*/ 2147483647 w 552"/>
              <a:gd name="T5" fmla="*/ 2147483647 h 2304"/>
              <a:gd name="T6" fmla="*/ 0 w 552"/>
              <a:gd name="T7" fmla="*/ 2147483647 h 2304"/>
              <a:gd name="T8" fmla="*/ 2147483647 w 552"/>
              <a:gd name="T9" fmla="*/ 2147483647 h 2304"/>
              <a:gd name="T10" fmla="*/ 2147483647 w 552"/>
              <a:gd name="T11" fmla="*/ 2147483647 h 2304"/>
              <a:gd name="T12" fmla="*/ 2147483647 w 552"/>
              <a:gd name="T13" fmla="*/ 2147483647 h 2304"/>
              <a:gd name="T14" fmla="*/ 2147483647 w 552"/>
              <a:gd name="T15" fmla="*/ 2147483647 h 2304"/>
              <a:gd name="T16" fmla="*/ 2147483647 w 552"/>
              <a:gd name="T17" fmla="*/ 2147483647 h 2304"/>
              <a:gd name="T18" fmla="*/ 2147483647 w 552"/>
              <a:gd name="T19" fmla="*/ 2147483647 h 2304"/>
              <a:gd name="T20" fmla="*/ 2147483647 w 552"/>
              <a:gd name="T21" fmla="*/ 2147483647 h 2304"/>
              <a:gd name="T22" fmla="*/ 2147483647 w 552"/>
              <a:gd name="T23" fmla="*/ 2147483647 h 2304"/>
              <a:gd name="T24" fmla="*/ 2147483647 w 552"/>
              <a:gd name="T25" fmla="*/ 2147483647 h 2304"/>
              <a:gd name="T26" fmla="*/ 2147483647 w 552"/>
              <a:gd name="T27" fmla="*/ 2147483647 h 2304"/>
              <a:gd name="T28" fmla="*/ 2147483647 w 552"/>
              <a:gd name="T29" fmla="*/ 0 h 230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52" h="2304">
                <a:moveTo>
                  <a:pt x="552" y="0"/>
                </a:moveTo>
                <a:lnTo>
                  <a:pt x="448" y="152"/>
                </a:lnTo>
                <a:lnTo>
                  <a:pt x="144" y="464"/>
                </a:lnTo>
                <a:lnTo>
                  <a:pt x="0" y="568"/>
                </a:lnTo>
                <a:lnTo>
                  <a:pt x="120" y="1152"/>
                </a:lnTo>
                <a:lnTo>
                  <a:pt x="208" y="1896"/>
                </a:lnTo>
                <a:lnTo>
                  <a:pt x="216" y="2304"/>
                </a:lnTo>
                <a:lnTo>
                  <a:pt x="336" y="2160"/>
                </a:lnTo>
                <a:lnTo>
                  <a:pt x="480" y="2152"/>
                </a:lnTo>
                <a:lnTo>
                  <a:pt x="472" y="1632"/>
                </a:lnTo>
                <a:lnTo>
                  <a:pt x="408" y="960"/>
                </a:lnTo>
                <a:lnTo>
                  <a:pt x="336" y="544"/>
                </a:lnTo>
                <a:lnTo>
                  <a:pt x="400" y="408"/>
                </a:lnTo>
                <a:lnTo>
                  <a:pt x="520" y="144"/>
                </a:lnTo>
                <a:lnTo>
                  <a:pt x="552" y="0"/>
                </a:lnTo>
                <a:close/>
              </a:path>
            </a:pathLst>
          </a:custGeom>
          <a:solidFill>
            <a:srgbClr val="08F40A">
              <a:alpha val="47058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9" name="Freeform 36"/>
          <p:cNvSpPr>
            <a:spLocks/>
          </p:cNvSpPr>
          <p:nvPr/>
        </p:nvSpPr>
        <p:spPr bwMode="auto">
          <a:xfrm>
            <a:off x="462559" y="1803400"/>
            <a:ext cx="896937" cy="4127500"/>
          </a:xfrm>
          <a:custGeom>
            <a:avLst/>
            <a:gdLst>
              <a:gd name="T0" fmla="*/ 2147483647 w 565"/>
              <a:gd name="T1" fmla="*/ 0 h 2600"/>
              <a:gd name="T2" fmla="*/ 2147483647 w 565"/>
              <a:gd name="T3" fmla="*/ 2147483647 h 2600"/>
              <a:gd name="T4" fmla="*/ 2147483647 w 565"/>
              <a:gd name="T5" fmla="*/ 2147483647 h 2600"/>
              <a:gd name="T6" fmla="*/ 2147483647 w 565"/>
              <a:gd name="T7" fmla="*/ 2147483647 h 2600"/>
              <a:gd name="T8" fmla="*/ 2147483647 w 565"/>
              <a:gd name="T9" fmla="*/ 2147483647 h 2600"/>
              <a:gd name="T10" fmla="*/ 2147483647 w 565"/>
              <a:gd name="T11" fmla="*/ 2147483647 h 2600"/>
              <a:gd name="T12" fmla="*/ 2147483647 w 565"/>
              <a:gd name="T13" fmla="*/ 2147483647 h 2600"/>
              <a:gd name="T14" fmla="*/ 2147483647 w 565"/>
              <a:gd name="T15" fmla="*/ 2147483647 h 2600"/>
              <a:gd name="T16" fmla="*/ 2147483647 w 565"/>
              <a:gd name="T17" fmla="*/ 2147483647 h 2600"/>
              <a:gd name="T18" fmla="*/ 2147483647 w 565"/>
              <a:gd name="T19" fmla="*/ 2147483647 h 2600"/>
              <a:gd name="T20" fmla="*/ 2147483647 w 565"/>
              <a:gd name="T21" fmla="*/ 2147483647 h 2600"/>
              <a:gd name="T22" fmla="*/ 2147483647 w 565"/>
              <a:gd name="T23" fmla="*/ 2147483647 h 2600"/>
              <a:gd name="T24" fmla="*/ 2147483647 w 565"/>
              <a:gd name="T25" fmla="*/ 2147483647 h 2600"/>
              <a:gd name="T26" fmla="*/ 2147483647 w 565"/>
              <a:gd name="T27" fmla="*/ 2147483647 h 2600"/>
              <a:gd name="T28" fmla="*/ 0 w 565"/>
              <a:gd name="T29" fmla="*/ 0 h 260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65" h="2600">
                <a:moveTo>
                  <a:pt x="5" y="0"/>
                </a:moveTo>
                <a:lnTo>
                  <a:pt x="378" y="693"/>
                </a:lnTo>
                <a:lnTo>
                  <a:pt x="565" y="1008"/>
                </a:lnTo>
                <a:lnTo>
                  <a:pt x="517" y="1176"/>
                </a:lnTo>
                <a:lnTo>
                  <a:pt x="421" y="1672"/>
                </a:lnTo>
                <a:lnTo>
                  <a:pt x="341" y="2600"/>
                </a:lnTo>
                <a:lnTo>
                  <a:pt x="549" y="2504"/>
                </a:lnTo>
                <a:lnTo>
                  <a:pt x="245" y="2488"/>
                </a:lnTo>
                <a:lnTo>
                  <a:pt x="205" y="1984"/>
                </a:lnTo>
                <a:lnTo>
                  <a:pt x="205" y="1232"/>
                </a:lnTo>
                <a:lnTo>
                  <a:pt x="256" y="736"/>
                </a:lnTo>
                <a:lnTo>
                  <a:pt x="93" y="360"/>
                </a:lnTo>
                <a:lnTo>
                  <a:pt x="45" y="200"/>
                </a:lnTo>
                <a:lnTo>
                  <a:pt x="26" y="133"/>
                </a:lnTo>
                <a:lnTo>
                  <a:pt x="0" y="0"/>
                </a:lnTo>
              </a:path>
            </a:pathLst>
          </a:custGeom>
          <a:solidFill>
            <a:srgbClr val="140FE3">
              <a:alpha val="52156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1" name="Freeform 38"/>
          <p:cNvSpPr>
            <a:spLocks/>
          </p:cNvSpPr>
          <p:nvPr/>
        </p:nvSpPr>
        <p:spPr bwMode="auto">
          <a:xfrm>
            <a:off x="1008634" y="3421063"/>
            <a:ext cx="500062" cy="2505075"/>
          </a:xfrm>
          <a:custGeom>
            <a:avLst/>
            <a:gdLst>
              <a:gd name="T0" fmla="*/ 0 w 315"/>
              <a:gd name="T1" fmla="*/ 2147483647 h 1578"/>
              <a:gd name="T2" fmla="*/ 2147483647 w 315"/>
              <a:gd name="T3" fmla="*/ 2147483647 h 1578"/>
              <a:gd name="T4" fmla="*/ 2147483647 w 315"/>
              <a:gd name="T5" fmla="*/ 2147483647 h 1578"/>
              <a:gd name="T6" fmla="*/ 2147483647 w 315"/>
              <a:gd name="T7" fmla="*/ 2147483647 h 1578"/>
              <a:gd name="T8" fmla="*/ 2147483647 w 315"/>
              <a:gd name="T9" fmla="*/ 2147483647 h 1578"/>
              <a:gd name="T10" fmla="*/ 2147483647 w 315"/>
              <a:gd name="T11" fmla="*/ 2147483647 h 1578"/>
              <a:gd name="T12" fmla="*/ 2147483647 w 315"/>
              <a:gd name="T13" fmla="*/ 0 h 1578"/>
              <a:gd name="T14" fmla="*/ 2147483647 w 315"/>
              <a:gd name="T15" fmla="*/ 2147483647 h 1578"/>
              <a:gd name="T16" fmla="*/ 2147483647 w 315"/>
              <a:gd name="T17" fmla="*/ 2147483647 h 1578"/>
              <a:gd name="T18" fmla="*/ 2147483647 w 315"/>
              <a:gd name="T19" fmla="*/ 2147483647 h 1578"/>
              <a:gd name="T20" fmla="*/ 2147483647 w 315"/>
              <a:gd name="T21" fmla="*/ 2147483647 h 1578"/>
              <a:gd name="T22" fmla="*/ 0 w 315"/>
              <a:gd name="T23" fmla="*/ 2147483647 h 157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15" h="1578">
                <a:moveTo>
                  <a:pt x="0" y="1578"/>
                </a:moveTo>
                <a:lnTo>
                  <a:pt x="203" y="1482"/>
                </a:lnTo>
                <a:lnTo>
                  <a:pt x="203" y="1296"/>
                </a:lnTo>
                <a:lnTo>
                  <a:pt x="230" y="944"/>
                </a:lnTo>
                <a:lnTo>
                  <a:pt x="278" y="613"/>
                </a:lnTo>
                <a:lnTo>
                  <a:pt x="315" y="421"/>
                </a:lnTo>
                <a:lnTo>
                  <a:pt x="214" y="0"/>
                </a:lnTo>
                <a:lnTo>
                  <a:pt x="144" y="314"/>
                </a:lnTo>
                <a:lnTo>
                  <a:pt x="86" y="672"/>
                </a:lnTo>
                <a:lnTo>
                  <a:pt x="43" y="1002"/>
                </a:lnTo>
                <a:lnTo>
                  <a:pt x="16" y="1349"/>
                </a:lnTo>
                <a:lnTo>
                  <a:pt x="0" y="1578"/>
                </a:lnTo>
                <a:close/>
              </a:path>
            </a:pathLst>
          </a:custGeom>
          <a:solidFill>
            <a:srgbClr val="1017FF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2" name="Oval 17"/>
          <p:cNvSpPr>
            <a:spLocks noChangeAspect="1" noChangeArrowheads="1"/>
          </p:cNvSpPr>
          <p:nvPr/>
        </p:nvSpPr>
        <p:spPr bwMode="auto">
          <a:xfrm>
            <a:off x="1291209" y="3352800"/>
            <a:ext cx="115887" cy="115888"/>
          </a:xfrm>
          <a:prstGeom prst="ellipse">
            <a:avLst/>
          </a:prstGeom>
          <a:solidFill>
            <a:srgbClr val="08F40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3" name="Freeform 39"/>
          <p:cNvSpPr>
            <a:spLocks/>
          </p:cNvSpPr>
          <p:nvPr/>
        </p:nvSpPr>
        <p:spPr bwMode="auto">
          <a:xfrm>
            <a:off x="3099371" y="1185863"/>
            <a:ext cx="763588" cy="3538537"/>
          </a:xfrm>
          <a:custGeom>
            <a:avLst/>
            <a:gdLst>
              <a:gd name="T0" fmla="*/ 2147483647 w 481"/>
              <a:gd name="T1" fmla="*/ 0 h 2229"/>
              <a:gd name="T2" fmla="*/ 2147483647 w 481"/>
              <a:gd name="T3" fmla="*/ 2147483647 h 2229"/>
              <a:gd name="T4" fmla="*/ 2147483647 w 481"/>
              <a:gd name="T5" fmla="*/ 2147483647 h 2229"/>
              <a:gd name="T6" fmla="*/ 2147483647 w 481"/>
              <a:gd name="T7" fmla="*/ 2147483647 h 2229"/>
              <a:gd name="T8" fmla="*/ 2147483647 w 481"/>
              <a:gd name="T9" fmla="*/ 2147483647 h 2229"/>
              <a:gd name="T10" fmla="*/ 2147483647 w 481"/>
              <a:gd name="T11" fmla="*/ 2147483647 h 2229"/>
              <a:gd name="T12" fmla="*/ 2147483647 w 481"/>
              <a:gd name="T13" fmla="*/ 2147483647 h 2229"/>
              <a:gd name="T14" fmla="*/ 2147483647 w 481"/>
              <a:gd name="T15" fmla="*/ 2147483647 h 2229"/>
              <a:gd name="T16" fmla="*/ 2147483647 w 481"/>
              <a:gd name="T17" fmla="*/ 2147483647 h 2229"/>
              <a:gd name="T18" fmla="*/ 2147483647 w 481"/>
              <a:gd name="T19" fmla="*/ 2147483647 h 2229"/>
              <a:gd name="T20" fmla="*/ 2147483647 w 481"/>
              <a:gd name="T21" fmla="*/ 2147483647 h 2229"/>
              <a:gd name="T22" fmla="*/ 2147483647 w 481"/>
              <a:gd name="T23" fmla="*/ 2147483647 h 2229"/>
              <a:gd name="T24" fmla="*/ 2147483647 w 481"/>
              <a:gd name="T25" fmla="*/ 2147483647 h 2229"/>
              <a:gd name="T26" fmla="*/ 2147483647 w 481"/>
              <a:gd name="T27" fmla="*/ 2147483647 h 2229"/>
              <a:gd name="T28" fmla="*/ 2147483647 w 481"/>
              <a:gd name="T29" fmla="*/ 2147483647 h 2229"/>
              <a:gd name="T30" fmla="*/ 2147483647 w 481"/>
              <a:gd name="T31" fmla="*/ 2147483647 h 2229"/>
              <a:gd name="T32" fmla="*/ 2147483647 w 481"/>
              <a:gd name="T33" fmla="*/ 2147483647 h 2229"/>
              <a:gd name="T34" fmla="*/ 2147483647 w 481"/>
              <a:gd name="T35" fmla="*/ 0 h 222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481" h="2229">
                <a:moveTo>
                  <a:pt x="326" y="0"/>
                </a:moveTo>
                <a:lnTo>
                  <a:pt x="182" y="330"/>
                </a:lnTo>
                <a:cubicBezTo>
                  <a:pt x="137" y="429"/>
                  <a:pt x="81" y="531"/>
                  <a:pt x="54" y="577"/>
                </a:cubicBezTo>
                <a:cubicBezTo>
                  <a:pt x="27" y="623"/>
                  <a:pt x="31" y="596"/>
                  <a:pt x="22" y="609"/>
                </a:cubicBezTo>
                <a:cubicBezTo>
                  <a:pt x="13" y="622"/>
                  <a:pt x="0" y="622"/>
                  <a:pt x="2" y="657"/>
                </a:cubicBezTo>
                <a:cubicBezTo>
                  <a:pt x="4" y="692"/>
                  <a:pt x="27" y="780"/>
                  <a:pt x="34" y="817"/>
                </a:cubicBezTo>
                <a:cubicBezTo>
                  <a:pt x="41" y="854"/>
                  <a:pt x="41" y="866"/>
                  <a:pt x="42" y="881"/>
                </a:cubicBezTo>
                <a:cubicBezTo>
                  <a:pt x="43" y="896"/>
                  <a:pt x="40" y="892"/>
                  <a:pt x="42" y="905"/>
                </a:cubicBezTo>
                <a:cubicBezTo>
                  <a:pt x="44" y="918"/>
                  <a:pt x="50" y="939"/>
                  <a:pt x="54" y="957"/>
                </a:cubicBezTo>
                <a:cubicBezTo>
                  <a:pt x="58" y="975"/>
                  <a:pt x="63" y="996"/>
                  <a:pt x="66" y="1013"/>
                </a:cubicBezTo>
                <a:cubicBezTo>
                  <a:pt x="69" y="1030"/>
                  <a:pt x="69" y="1029"/>
                  <a:pt x="74" y="1057"/>
                </a:cubicBezTo>
                <a:cubicBezTo>
                  <a:pt x="79" y="1085"/>
                  <a:pt x="79" y="1078"/>
                  <a:pt x="94" y="1181"/>
                </a:cubicBezTo>
                <a:lnTo>
                  <a:pt x="166" y="1673"/>
                </a:lnTo>
                <a:lnTo>
                  <a:pt x="234" y="2073"/>
                </a:lnTo>
                <a:lnTo>
                  <a:pt x="363" y="2229"/>
                </a:lnTo>
                <a:lnTo>
                  <a:pt x="481" y="2096"/>
                </a:lnTo>
                <a:lnTo>
                  <a:pt x="459" y="848"/>
                </a:lnTo>
                <a:lnTo>
                  <a:pt x="326" y="0"/>
                </a:lnTo>
                <a:close/>
              </a:path>
            </a:pathLst>
          </a:custGeom>
          <a:solidFill>
            <a:srgbClr val="FF1212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4" name="Oval 19"/>
          <p:cNvSpPr>
            <a:spLocks noChangeAspect="1" noChangeArrowheads="1"/>
          </p:cNvSpPr>
          <p:nvPr/>
        </p:nvSpPr>
        <p:spPr bwMode="auto">
          <a:xfrm>
            <a:off x="4263009" y="3368675"/>
            <a:ext cx="115887" cy="115888"/>
          </a:xfrm>
          <a:prstGeom prst="ellipse">
            <a:avLst/>
          </a:prstGeom>
          <a:solidFill>
            <a:srgbClr val="08F40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5" name="Oval 20"/>
          <p:cNvSpPr>
            <a:spLocks noChangeAspect="1" noChangeArrowheads="1"/>
          </p:cNvSpPr>
          <p:nvPr/>
        </p:nvSpPr>
        <p:spPr bwMode="auto">
          <a:xfrm>
            <a:off x="4812284" y="3297238"/>
            <a:ext cx="115887" cy="115887"/>
          </a:xfrm>
          <a:prstGeom prst="ellipse">
            <a:avLst/>
          </a:prstGeom>
          <a:solidFill>
            <a:srgbClr val="FF121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6" name="Oval 31"/>
          <p:cNvSpPr>
            <a:spLocks noChangeAspect="1" noChangeArrowheads="1"/>
          </p:cNvSpPr>
          <p:nvPr/>
        </p:nvSpPr>
        <p:spPr bwMode="auto">
          <a:xfrm>
            <a:off x="805434" y="2900363"/>
            <a:ext cx="115887" cy="115887"/>
          </a:xfrm>
          <a:prstGeom prst="ellipse">
            <a:avLst/>
          </a:prstGeom>
          <a:solidFill>
            <a:srgbClr val="140FE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7" name="Oval 28"/>
          <p:cNvSpPr>
            <a:spLocks noChangeAspect="1" noChangeArrowheads="1"/>
          </p:cNvSpPr>
          <p:nvPr/>
        </p:nvSpPr>
        <p:spPr bwMode="auto">
          <a:xfrm>
            <a:off x="3774059" y="2498725"/>
            <a:ext cx="115887" cy="115888"/>
          </a:xfrm>
          <a:prstGeom prst="ellipse">
            <a:avLst/>
          </a:prstGeom>
          <a:solidFill>
            <a:srgbClr val="FF121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8" name="Oval 29"/>
          <p:cNvSpPr>
            <a:spLocks noChangeAspect="1" noChangeArrowheads="1"/>
          </p:cNvSpPr>
          <p:nvPr/>
        </p:nvSpPr>
        <p:spPr bwMode="auto">
          <a:xfrm>
            <a:off x="3043809" y="2165350"/>
            <a:ext cx="115887" cy="115888"/>
          </a:xfrm>
          <a:prstGeom prst="ellipse">
            <a:avLst/>
          </a:prstGeom>
          <a:solidFill>
            <a:srgbClr val="140FE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9" name="Oval 30"/>
          <p:cNvSpPr>
            <a:spLocks noChangeAspect="1" noChangeArrowheads="1"/>
          </p:cNvSpPr>
          <p:nvPr/>
        </p:nvSpPr>
        <p:spPr bwMode="auto">
          <a:xfrm>
            <a:off x="2092896" y="2474913"/>
            <a:ext cx="115888" cy="115887"/>
          </a:xfrm>
          <a:prstGeom prst="ellipse">
            <a:avLst/>
          </a:prstGeom>
          <a:solidFill>
            <a:schemeClr val="bg1"/>
          </a:solidFill>
          <a:ln w="28575">
            <a:solidFill>
              <a:srgbClr val="140FE3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0" name="Oval 40"/>
          <p:cNvSpPr>
            <a:spLocks noChangeAspect="1" noChangeArrowheads="1"/>
          </p:cNvSpPr>
          <p:nvPr/>
        </p:nvSpPr>
        <p:spPr bwMode="auto">
          <a:xfrm>
            <a:off x="3019996" y="3797300"/>
            <a:ext cx="230188" cy="230188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2" name="Rectangle 55"/>
          <p:cNvSpPr>
            <a:spLocks noChangeArrowheads="1"/>
          </p:cNvSpPr>
          <p:nvPr/>
        </p:nvSpPr>
        <p:spPr bwMode="auto">
          <a:xfrm>
            <a:off x="479996" y="3352800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fr-FR">
                <a:solidFill>
                  <a:srgbClr val="140FE3"/>
                </a:solidFill>
                <a:latin typeface="Symbol" pitchFamily="18" charset="2"/>
                <a:sym typeface="Symbol" pitchFamily="18" charset="2"/>
              </a:rPr>
              <a:t></a:t>
            </a:r>
            <a:endParaRPr lang="fr-FR"/>
          </a:p>
        </p:txBody>
      </p:sp>
      <p:sp>
        <p:nvSpPr>
          <p:cNvPr id="23" name="Rectangle 56"/>
          <p:cNvSpPr>
            <a:spLocks noChangeArrowheads="1"/>
          </p:cNvSpPr>
          <p:nvPr/>
        </p:nvSpPr>
        <p:spPr bwMode="auto">
          <a:xfrm>
            <a:off x="4912296" y="3581400"/>
            <a:ext cx="309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fr-FR">
                <a:solidFill>
                  <a:srgbClr val="08F40A"/>
                </a:solidFill>
                <a:latin typeface="Symbol" pitchFamily="18" charset="2"/>
                <a:sym typeface="Symbol" pitchFamily="18" charset="2"/>
              </a:rPr>
              <a:t></a:t>
            </a:r>
            <a:endParaRPr lang="fr-FR"/>
          </a:p>
        </p:txBody>
      </p:sp>
      <p:sp>
        <p:nvSpPr>
          <p:cNvPr id="24" name="Rectangle 57"/>
          <p:cNvSpPr>
            <a:spLocks noChangeArrowheads="1"/>
          </p:cNvSpPr>
          <p:nvPr/>
        </p:nvSpPr>
        <p:spPr bwMode="auto">
          <a:xfrm>
            <a:off x="3312096" y="2362200"/>
            <a:ext cx="350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fr-FR">
                <a:solidFill>
                  <a:srgbClr val="FF1212"/>
                </a:solidFill>
                <a:latin typeface="Symbol" pitchFamily="18" charset="2"/>
                <a:sym typeface="Symbol" pitchFamily="18" charset="2"/>
              </a:rPr>
              <a:t></a:t>
            </a:r>
            <a:endParaRPr lang="fr-FR">
              <a:solidFill>
                <a:srgbClr val="FF1212"/>
              </a:solidFill>
            </a:endParaRPr>
          </a:p>
        </p:txBody>
      </p:sp>
      <p:pic>
        <p:nvPicPr>
          <p:cNvPr id="4" name="Picture 2" descr="http://trailrunningnepal.org/wp-content/uploads/2012/12/2012.12.09-L1020030-RPB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699" y="506290"/>
            <a:ext cx="3462597" cy="2308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32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25" name="Picture 4" descr="Class-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4" t="14896" r="26419" b="19753"/>
          <a:stretch>
            <a:fillRect/>
          </a:stretch>
        </p:blipFill>
        <p:spPr bwMode="auto">
          <a:xfrm>
            <a:off x="76200" y="914400"/>
            <a:ext cx="5181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AutoShape 5"/>
          <p:cNvSpPr>
            <a:spLocks noChangeArrowheads="1"/>
          </p:cNvSpPr>
          <p:nvPr/>
        </p:nvSpPr>
        <p:spPr bwMode="auto">
          <a:xfrm flipV="1">
            <a:off x="5105400" y="1752600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5256213" y="1724025"/>
            <a:ext cx="3286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28" name="Freeform 7"/>
          <p:cNvSpPr>
            <a:spLocks/>
          </p:cNvSpPr>
          <p:nvPr/>
        </p:nvSpPr>
        <p:spPr bwMode="auto">
          <a:xfrm>
            <a:off x="5895975" y="1754188"/>
            <a:ext cx="763588" cy="1322387"/>
          </a:xfrm>
          <a:custGeom>
            <a:avLst/>
            <a:gdLst>
              <a:gd name="T0" fmla="*/ 0 w 481"/>
              <a:gd name="T1" fmla="*/ 1322387 h 833"/>
              <a:gd name="T2" fmla="*/ 473075 w 481"/>
              <a:gd name="T3" fmla="*/ 687387 h 833"/>
              <a:gd name="T4" fmla="*/ 763588 w 481"/>
              <a:gd name="T5" fmla="*/ 0 h 83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81" h="833">
                <a:moveTo>
                  <a:pt x="0" y="833"/>
                </a:moveTo>
                <a:cubicBezTo>
                  <a:pt x="50" y="766"/>
                  <a:pt x="218" y="572"/>
                  <a:pt x="298" y="433"/>
                </a:cubicBezTo>
                <a:cubicBezTo>
                  <a:pt x="378" y="294"/>
                  <a:pt x="443" y="90"/>
                  <a:pt x="481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" name="Freeform 8"/>
          <p:cNvSpPr>
            <a:spLocks/>
          </p:cNvSpPr>
          <p:nvPr/>
        </p:nvSpPr>
        <p:spPr bwMode="auto">
          <a:xfrm>
            <a:off x="5464175" y="1743075"/>
            <a:ext cx="387350" cy="623888"/>
          </a:xfrm>
          <a:custGeom>
            <a:avLst/>
            <a:gdLst>
              <a:gd name="T0" fmla="*/ 0 w 244"/>
              <a:gd name="T1" fmla="*/ 623888 h 393"/>
              <a:gd name="T2" fmla="*/ 130175 w 244"/>
              <a:gd name="T3" fmla="*/ 290513 h 393"/>
              <a:gd name="T4" fmla="*/ 387350 w 244"/>
              <a:gd name="T5" fmla="*/ 0 h 39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4" h="393">
                <a:moveTo>
                  <a:pt x="0" y="393"/>
                </a:moveTo>
                <a:cubicBezTo>
                  <a:pt x="15" y="358"/>
                  <a:pt x="41" y="248"/>
                  <a:pt x="82" y="183"/>
                </a:cubicBezTo>
                <a:cubicBezTo>
                  <a:pt x="123" y="118"/>
                  <a:pt x="210" y="38"/>
                  <a:pt x="244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" name="Freeform 9"/>
          <p:cNvSpPr>
            <a:spLocks/>
          </p:cNvSpPr>
          <p:nvPr/>
        </p:nvSpPr>
        <p:spPr bwMode="auto">
          <a:xfrm>
            <a:off x="8401050" y="1754188"/>
            <a:ext cx="312738" cy="333375"/>
          </a:xfrm>
          <a:custGeom>
            <a:avLst/>
            <a:gdLst>
              <a:gd name="T0" fmla="*/ 0 w 197"/>
              <a:gd name="T1" fmla="*/ 0 h 210"/>
              <a:gd name="T2" fmla="*/ 215900 w 197"/>
              <a:gd name="T3" fmla="*/ 117475 h 210"/>
              <a:gd name="T4" fmla="*/ 312738 w 197"/>
              <a:gd name="T5" fmla="*/ 333375 h 21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7" h="210">
                <a:moveTo>
                  <a:pt x="0" y="0"/>
                </a:moveTo>
                <a:cubicBezTo>
                  <a:pt x="23" y="12"/>
                  <a:pt x="103" y="39"/>
                  <a:pt x="136" y="74"/>
                </a:cubicBezTo>
                <a:cubicBezTo>
                  <a:pt x="169" y="109"/>
                  <a:pt x="184" y="182"/>
                  <a:pt x="197" y="21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" name="Freeform 10"/>
          <p:cNvSpPr>
            <a:spLocks/>
          </p:cNvSpPr>
          <p:nvPr/>
        </p:nvSpPr>
        <p:spPr bwMode="auto">
          <a:xfrm>
            <a:off x="7454900" y="1754188"/>
            <a:ext cx="1011238" cy="752475"/>
          </a:xfrm>
          <a:custGeom>
            <a:avLst/>
            <a:gdLst>
              <a:gd name="T0" fmla="*/ 0 w 637"/>
              <a:gd name="T1" fmla="*/ 0 h 474"/>
              <a:gd name="T2" fmla="*/ 409575 w 637"/>
              <a:gd name="T3" fmla="*/ 430213 h 474"/>
              <a:gd name="T4" fmla="*/ 1011238 w 637"/>
              <a:gd name="T5" fmla="*/ 752475 h 47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37" h="474">
                <a:moveTo>
                  <a:pt x="0" y="0"/>
                </a:moveTo>
                <a:cubicBezTo>
                  <a:pt x="43" y="45"/>
                  <a:pt x="152" y="192"/>
                  <a:pt x="258" y="271"/>
                </a:cubicBezTo>
                <a:cubicBezTo>
                  <a:pt x="364" y="350"/>
                  <a:pt x="558" y="432"/>
                  <a:pt x="637" y="474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" name="Freeform 11"/>
          <p:cNvSpPr>
            <a:spLocks/>
          </p:cNvSpPr>
          <p:nvPr/>
        </p:nvSpPr>
        <p:spPr bwMode="auto">
          <a:xfrm>
            <a:off x="6529388" y="4238625"/>
            <a:ext cx="808037" cy="236538"/>
          </a:xfrm>
          <a:custGeom>
            <a:avLst/>
            <a:gdLst>
              <a:gd name="T0" fmla="*/ 0 w 509"/>
              <a:gd name="T1" fmla="*/ 0 h 149"/>
              <a:gd name="T2" fmla="*/ 463550 w 509"/>
              <a:gd name="T3" fmla="*/ 74613 h 149"/>
              <a:gd name="T4" fmla="*/ 808037 w 509"/>
              <a:gd name="T5" fmla="*/ 236538 h 14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09" h="149">
                <a:moveTo>
                  <a:pt x="0" y="0"/>
                </a:moveTo>
                <a:cubicBezTo>
                  <a:pt x="49" y="8"/>
                  <a:pt x="207" y="22"/>
                  <a:pt x="292" y="47"/>
                </a:cubicBezTo>
                <a:cubicBezTo>
                  <a:pt x="377" y="72"/>
                  <a:pt x="464" y="128"/>
                  <a:pt x="509" y="149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" name="Freeform 12"/>
          <p:cNvSpPr>
            <a:spLocks/>
          </p:cNvSpPr>
          <p:nvPr/>
        </p:nvSpPr>
        <p:spPr bwMode="auto">
          <a:xfrm>
            <a:off x="6745288" y="4594225"/>
            <a:ext cx="450850" cy="96838"/>
          </a:xfrm>
          <a:custGeom>
            <a:avLst/>
            <a:gdLst>
              <a:gd name="T0" fmla="*/ 0 w 284"/>
              <a:gd name="T1" fmla="*/ 0 h 61"/>
              <a:gd name="T2" fmla="*/ 236538 w 284"/>
              <a:gd name="T3" fmla="*/ 74613 h 61"/>
              <a:gd name="T4" fmla="*/ 450850 w 284"/>
              <a:gd name="T5" fmla="*/ 96838 h 6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4" h="61">
                <a:moveTo>
                  <a:pt x="0" y="0"/>
                </a:moveTo>
                <a:cubicBezTo>
                  <a:pt x="25" y="8"/>
                  <a:pt x="102" y="37"/>
                  <a:pt x="149" y="47"/>
                </a:cubicBezTo>
                <a:cubicBezTo>
                  <a:pt x="196" y="57"/>
                  <a:pt x="256" y="58"/>
                  <a:pt x="284" y="61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4" name="Text Box 13"/>
          <p:cNvSpPr txBox="1">
            <a:spLocks noChangeArrowheads="1"/>
          </p:cNvSpPr>
          <p:nvPr/>
        </p:nvSpPr>
        <p:spPr bwMode="auto">
          <a:xfrm>
            <a:off x="8583613" y="1665288"/>
            <a:ext cx="3095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b</a:t>
            </a:r>
          </a:p>
        </p:txBody>
      </p:sp>
      <p:sp>
        <p:nvSpPr>
          <p:cNvPr id="35" name="Text Box 14"/>
          <p:cNvSpPr txBox="1">
            <a:spLocks noChangeArrowheads="1"/>
          </p:cNvSpPr>
          <p:nvPr/>
        </p:nvSpPr>
        <p:spPr bwMode="auto">
          <a:xfrm>
            <a:off x="6869113" y="4581525"/>
            <a:ext cx="2778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g</a:t>
            </a:r>
          </a:p>
        </p:txBody>
      </p:sp>
      <p:sp>
        <p:nvSpPr>
          <p:cNvPr id="36" name="Text Box 15"/>
          <p:cNvSpPr txBox="1">
            <a:spLocks noChangeArrowheads="1"/>
          </p:cNvSpPr>
          <p:nvPr/>
        </p:nvSpPr>
        <p:spPr bwMode="auto">
          <a:xfrm>
            <a:off x="6934200" y="27432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Verdana" charset="0"/>
                <a:ea typeface="ＭＳ Ｐゴシック" charset="0"/>
              </a:rPr>
              <a:t>L</a:t>
            </a:r>
          </a:p>
        </p:txBody>
      </p:sp>
      <p:sp>
        <p:nvSpPr>
          <p:cNvPr id="37" name="Triangle isocèle 36"/>
          <p:cNvSpPr/>
          <p:nvPr/>
        </p:nvSpPr>
        <p:spPr>
          <a:xfrm>
            <a:off x="827584" y="1949977"/>
            <a:ext cx="3672408" cy="793700"/>
          </a:xfrm>
          <a:prstGeom prst="triangle">
            <a:avLst>
              <a:gd name="adj" fmla="val 66807"/>
            </a:avLst>
          </a:prstGeom>
          <a:solidFill>
            <a:srgbClr val="FFC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Forme libre 37"/>
          <p:cNvSpPr/>
          <p:nvPr/>
        </p:nvSpPr>
        <p:spPr>
          <a:xfrm>
            <a:off x="7109460" y="1760220"/>
            <a:ext cx="148590" cy="1223010"/>
          </a:xfrm>
          <a:custGeom>
            <a:avLst/>
            <a:gdLst>
              <a:gd name="connsiteX0" fmla="*/ 0 w 148590"/>
              <a:gd name="connsiteY0" fmla="*/ 0 h 1223010"/>
              <a:gd name="connsiteX1" fmla="*/ 57150 w 148590"/>
              <a:gd name="connsiteY1" fmla="*/ 640080 h 1223010"/>
              <a:gd name="connsiteX2" fmla="*/ 91440 w 148590"/>
              <a:gd name="connsiteY2" fmla="*/ 1062990 h 1223010"/>
              <a:gd name="connsiteX3" fmla="*/ 148590 w 148590"/>
              <a:gd name="connsiteY3" fmla="*/ 1223010 h 1223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590" h="1223010">
                <a:moveTo>
                  <a:pt x="0" y="0"/>
                </a:moveTo>
                <a:cubicBezTo>
                  <a:pt x="20955" y="231457"/>
                  <a:pt x="41910" y="462915"/>
                  <a:pt x="57150" y="640080"/>
                </a:cubicBezTo>
                <a:cubicBezTo>
                  <a:pt x="72390" y="817245"/>
                  <a:pt x="76200" y="965835"/>
                  <a:pt x="91440" y="1062990"/>
                </a:cubicBezTo>
                <a:cubicBezTo>
                  <a:pt x="106680" y="1160145"/>
                  <a:pt x="127635" y="1191577"/>
                  <a:pt x="148590" y="122301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Forme libre 38"/>
          <p:cNvSpPr/>
          <p:nvPr/>
        </p:nvSpPr>
        <p:spPr>
          <a:xfrm>
            <a:off x="7258050" y="3017520"/>
            <a:ext cx="628650" cy="525780"/>
          </a:xfrm>
          <a:custGeom>
            <a:avLst/>
            <a:gdLst>
              <a:gd name="connsiteX0" fmla="*/ 628650 w 628650"/>
              <a:gd name="connsiteY0" fmla="*/ 525780 h 525780"/>
              <a:gd name="connsiteX1" fmla="*/ 240030 w 628650"/>
              <a:gd name="connsiteY1" fmla="*/ 240030 h 525780"/>
              <a:gd name="connsiteX2" fmla="*/ 0 w 628650"/>
              <a:gd name="connsiteY2" fmla="*/ 0 h 5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8650" h="525780">
                <a:moveTo>
                  <a:pt x="628650" y="525780"/>
                </a:moveTo>
                <a:cubicBezTo>
                  <a:pt x="486727" y="426720"/>
                  <a:pt x="344805" y="327660"/>
                  <a:pt x="240030" y="240030"/>
                </a:cubicBezTo>
                <a:cubicBezTo>
                  <a:pt x="135255" y="152400"/>
                  <a:pt x="67627" y="76200"/>
                  <a:pt x="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Forme libre 39"/>
          <p:cNvSpPr/>
          <p:nvPr/>
        </p:nvSpPr>
        <p:spPr>
          <a:xfrm>
            <a:off x="6137910" y="3006090"/>
            <a:ext cx="1097280" cy="491490"/>
          </a:xfrm>
          <a:custGeom>
            <a:avLst/>
            <a:gdLst>
              <a:gd name="connsiteX0" fmla="*/ 0 w 1097280"/>
              <a:gd name="connsiteY0" fmla="*/ 491490 h 491490"/>
              <a:gd name="connsiteX1" fmla="*/ 480060 w 1097280"/>
              <a:gd name="connsiteY1" fmla="*/ 297180 h 491490"/>
              <a:gd name="connsiteX2" fmla="*/ 1097280 w 1097280"/>
              <a:gd name="connsiteY2" fmla="*/ 0 h 491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280" h="491490">
                <a:moveTo>
                  <a:pt x="0" y="491490"/>
                </a:moveTo>
                <a:cubicBezTo>
                  <a:pt x="148590" y="435292"/>
                  <a:pt x="297180" y="379095"/>
                  <a:pt x="480060" y="297180"/>
                </a:cubicBezTo>
                <a:cubicBezTo>
                  <a:pt x="662940" y="215265"/>
                  <a:pt x="880110" y="107632"/>
                  <a:pt x="10972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1" name="Connecteur droit 40"/>
          <p:cNvCxnSpPr>
            <a:stCxn id="40" idx="1"/>
          </p:cNvCxnSpPr>
          <p:nvPr/>
        </p:nvCxnSpPr>
        <p:spPr>
          <a:xfrm flipH="1" flipV="1">
            <a:off x="6444208" y="3280410"/>
            <a:ext cx="173762" cy="22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>
            <a:stCxn id="40" idx="1"/>
          </p:cNvCxnSpPr>
          <p:nvPr/>
        </p:nvCxnSpPr>
        <p:spPr>
          <a:xfrm flipH="1">
            <a:off x="6531089" y="3303270"/>
            <a:ext cx="86881" cy="163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>
            <a:stCxn id="38" idx="1"/>
          </p:cNvCxnSpPr>
          <p:nvPr/>
        </p:nvCxnSpPr>
        <p:spPr>
          <a:xfrm flipV="1">
            <a:off x="7166610" y="2276872"/>
            <a:ext cx="68580" cy="123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>
            <a:stCxn id="38" idx="1"/>
          </p:cNvCxnSpPr>
          <p:nvPr/>
        </p:nvCxnSpPr>
        <p:spPr>
          <a:xfrm flipH="1" flipV="1">
            <a:off x="7089775" y="2276872"/>
            <a:ext cx="76835" cy="123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/>
          <p:cNvCxnSpPr>
            <a:stCxn id="39" idx="1"/>
          </p:cNvCxnSpPr>
          <p:nvPr/>
        </p:nvCxnSpPr>
        <p:spPr>
          <a:xfrm flipV="1">
            <a:off x="7498080" y="3251835"/>
            <a:ext cx="170264" cy="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/>
          <p:cNvCxnSpPr>
            <a:stCxn id="39" idx="1"/>
          </p:cNvCxnSpPr>
          <p:nvPr/>
        </p:nvCxnSpPr>
        <p:spPr>
          <a:xfrm>
            <a:off x="7498080" y="3257550"/>
            <a:ext cx="74295" cy="142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/>
          <p:cNvSpPr txBox="1"/>
          <p:nvPr/>
        </p:nvSpPr>
        <p:spPr>
          <a:xfrm>
            <a:off x="5593943" y="2046049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 + L</a:t>
            </a:r>
            <a:endParaRPr lang="fr-FR" dirty="0"/>
          </a:p>
        </p:txBody>
      </p:sp>
      <p:sp>
        <p:nvSpPr>
          <p:cNvPr id="49" name="ZoneTexte 48"/>
          <p:cNvSpPr txBox="1"/>
          <p:nvPr/>
        </p:nvSpPr>
        <p:spPr>
          <a:xfrm>
            <a:off x="7885881" y="1844824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 + L</a:t>
            </a:r>
            <a:endParaRPr lang="fr-FR" dirty="0"/>
          </a:p>
        </p:txBody>
      </p:sp>
      <p:sp>
        <p:nvSpPr>
          <p:cNvPr id="50" name="ZoneTexte 49"/>
          <p:cNvSpPr txBox="1"/>
          <p:nvPr/>
        </p:nvSpPr>
        <p:spPr>
          <a:xfrm>
            <a:off x="6592570" y="4298871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 + L</a:t>
            </a:r>
            <a:endParaRPr lang="fr-FR" dirty="0"/>
          </a:p>
        </p:txBody>
      </p:sp>
      <p:sp>
        <p:nvSpPr>
          <p:cNvPr id="51" name="ZoneTexte 50"/>
          <p:cNvSpPr txBox="1"/>
          <p:nvPr/>
        </p:nvSpPr>
        <p:spPr>
          <a:xfrm>
            <a:off x="3549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 3 eutectiques binaires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67472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4" name="Picture 4" descr="Class-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4" t="14896" r="26419" b="19753"/>
          <a:stretch>
            <a:fillRect/>
          </a:stretch>
        </p:blipFill>
        <p:spPr bwMode="auto">
          <a:xfrm>
            <a:off x="76200" y="914400"/>
            <a:ext cx="5181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5"/>
          <p:cNvSpPr>
            <a:spLocks noChangeArrowheads="1"/>
          </p:cNvSpPr>
          <p:nvPr/>
        </p:nvSpPr>
        <p:spPr bwMode="auto">
          <a:xfrm flipV="1">
            <a:off x="5105400" y="1752600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278438" y="1708150"/>
            <a:ext cx="3286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545513" y="1687513"/>
            <a:ext cx="3095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b</a:t>
            </a:r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6024563" y="1763713"/>
            <a:ext cx="1085850" cy="1571625"/>
          </a:xfrm>
          <a:custGeom>
            <a:avLst/>
            <a:gdLst>
              <a:gd name="T0" fmla="*/ 0 w 684"/>
              <a:gd name="T1" fmla="*/ 1571625 h 990"/>
              <a:gd name="T2" fmla="*/ 601663 w 684"/>
              <a:gd name="T3" fmla="*/ 936625 h 990"/>
              <a:gd name="T4" fmla="*/ 1085850 w 684"/>
              <a:gd name="T5" fmla="*/ 0 h 9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84" h="990">
                <a:moveTo>
                  <a:pt x="0" y="990"/>
                </a:moveTo>
                <a:cubicBezTo>
                  <a:pt x="64" y="923"/>
                  <a:pt x="265" y="755"/>
                  <a:pt x="379" y="590"/>
                </a:cubicBezTo>
                <a:cubicBezTo>
                  <a:pt x="493" y="425"/>
                  <a:pt x="621" y="123"/>
                  <a:pt x="684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>
            <a:spLocks/>
          </p:cNvSpPr>
          <p:nvPr/>
        </p:nvSpPr>
        <p:spPr bwMode="auto">
          <a:xfrm>
            <a:off x="5475288" y="1743075"/>
            <a:ext cx="420687" cy="666750"/>
          </a:xfrm>
          <a:custGeom>
            <a:avLst/>
            <a:gdLst>
              <a:gd name="T0" fmla="*/ 0 w 265"/>
              <a:gd name="T1" fmla="*/ 666750 h 420"/>
              <a:gd name="T2" fmla="*/ 150812 w 265"/>
              <a:gd name="T3" fmla="*/ 290513 h 420"/>
              <a:gd name="T4" fmla="*/ 420687 w 265"/>
              <a:gd name="T5" fmla="*/ 0 h 4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5" h="420">
                <a:moveTo>
                  <a:pt x="0" y="420"/>
                </a:moveTo>
                <a:cubicBezTo>
                  <a:pt x="16" y="382"/>
                  <a:pt x="51" y="253"/>
                  <a:pt x="95" y="183"/>
                </a:cubicBezTo>
                <a:cubicBezTo>
                  <a:pt x="139" y="113"/>
                  <a:pt x="230" y="38"/>
                  <a:pt x="265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8304213" y="1754188"/>
            <a:ext cx="387350" cy="387350"/>
          </a:xfrm>
          <a:custGeom>
            <a:avLst/>
            <a:gdLst>
              <a:gd name="T0" fmla="*/ 0 w 244"/>
              <a:gd name="T1" fmla="*/ 0 h 244"/>
              <a:gd name="T2" fmla="*/ 258763 w 244"/>
              <a:gd name="T3" fmla="*/ 128588 h 244"/>
              <a:gd name="T4" fmla="*/ 387350 w 244"/>
              <a:gd name="T5" fmla="*/ 387350 h 2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4" h="244">
                <a:moveTo>
                  <a:pt x="0" y="0"/>
                </a:moveTo>
                <a:cubicBezTo>
                  <a:pt x="27" y="13"/>
                  <a:pt x="122" y="40"/>
                  <a:pt x="163" y="81"/>
                </a:cubicBezTo>
                <a:cubicBezTo>
                  <a:pt x="204" y="122"/>
                  <a:pt x="227" y="210"/>
                  <a:pt x="244" y="244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7110413" y="1754188"/>
            <a:ext cx="1184275" cy="1063625"/>
          </a:xfrm>
          <a:custGeom>
            <a:avLst/>
            <a:gdLst>
              <a:gd name="T0" fmla="*/ 0 w 746"/>
              <a:gd name="T1" fmla="*/ 0 h 670"/>
              <a:gd name="T2" fmla="*/ 484188 w 746"/>
              <a:gd name="T3" fmla="*/ 601663 h 670"/>
              <a:gd name="T4" fmla="*/ 1184275 w 746"/>
              <a:gd name="T5" fmla="*/ 1063625 h 67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46" h="670">
                <a:moveTo>
                  <a:pt x="0" y="0"/>
                </a:moveTo>
                <a:cubicBezTo>
                  <a:pt x="51" y="63"/>
                  <a:pt x="181" y="267"/>
                  <a:pt x="305" y="379"/>
                </a:cubicBezTo>
                <a:cubicBezTo>
                  <a:pt x="429" y="491"/>
                  <a:pt x="654" y="610"/>
                  <a:pt x="746" y="67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>
            <a:off x="6281738" y="3797300"/>
            <a:ext cx="1162050" cy="495300"/>
          </a:xfrm>
          <a:custGeom>
            <a:avLst/>
            <a:gdLst>
              <a:gd name="T0" fmla="*/ 0 w 732"/>
              <a:gd name="T1" fmla="*/ 0 h 312"/>
              <a:gd name="T2" fmla="*/ 646113 w 732"/>
              <a:gd name="T3" fmla="*/ 182563 h 312"/>
              <a:gd name="T4" fmla="*/ 1162050 w 732"/>
              <a:gd name="T5" fmla="*/ 495300 h 3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32" h="312">
                <a:moveTo>
                  <a:pt x="0" y="0"/>
                </a:moveTo>
                <a:cubicBezTo>
                  <a:pt x="68" y="19"/>
                  <a:pt x="285" y="63"/>
                  <a:pt x="407" y="115"/>
                </a:cubicBezTo>
                <a:cubicBezTo>
                  <a:pt x="529" y="167"/>
                  <a:pt x="664" y="271"/>
                  <a:pt x="732" y="312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6669088" y="4464050"/>
            <a:ext cx="571500" cy="155575"/>
          </a:xfrm>
          <a:custGeom>
            <a:avLst/>
            <a:gdLst>
              <a:gd name="T0" fmla="*/ 0 w 360"/>
              <a:gd name="T1" fmla="*/ 0 h 98"/>
              <a:gd name="T2" fmla="*/ 301625 w 360"/>
              <a:gd name="T3" fmla="*/ 130175 h 98"/>
              <a:gd name="T4" fmla="*/ 571500 w 360"/>
              <a:gd name="T5" fmla="*/ 150813 h 9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60" h="98">
                <a:moveTo>
                  <a:pt x="0" y="0"/>
                </a:moveTo>
                <a:cubicBezTo>
                  <a:pt x="32" y="14"/>
                  <a:pt x="130" y="66"/>
                  <a:pt x="190" y="82"/>
                </a:cubicBezTo>
                <a:cubicBezTo>
                  <a:pt x="250" y="98"/>
                  <a:pt x="325" y="92"/>
                  <a:pt x="360" y="95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6869113" y="4543425"/>
            <a:ext cx="2778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g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7010400" y="28956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Verdana" charset="0"/>
                <a:ea typeface="ＭＳ Ｐゴシック" charset="0"/>
              </a:rPr>
              <a:t>L</a:t>
            </a:r>
          </a:p>
        </p:txBody>
      </p:sp>
      <p:sp>
        <p:nvSpPr>
          <p:cNvPr id="17" name="Triangle isocèle 16"/>
          <p:cNvSpPr/>
          <p:nvPr/>
        </p:nvSpPr>
        <p:spPr>
          <a:xfrm>
            <a:off x="827584" y="2131244"/>
            <a:ext cx="3672408" cy="793700"/>
          </a:xfrm>
          <a:prstGeom prst="triangle">
            <a:avLst>
              <a:gd name="adj" fmla="val 66807"/>
            </a:avLst>
          </a:prstGeom>
          <a:solidFill>
            <a:srgbClr val="FFC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orme libre 17"/>
          <p:cNvSpPr/>
          <p:nvPr/>
        </p:nvSpPr>
        <p:spPr>
          <a:xfrm>
            <a:off x="7109460" y="1760220"/>
            <a:ext cx="148590" cy="1223010"/>
          </a:xfrm>
          <a:custGeom>
            <a:avLst/>
            <a:gdLst>
              <a:gd name="connsiteX0" fmla="*/ 0 w 148590"/>
              <a:gd name="connsiteY0" fmla="*/ 0 h 1223010"/>
              <a:gd name="connsiteX1" fmla="*/ 57150 w 148590"/>
              <a:gd name="connsiteY1" fmla="*/ 640080 h 1223010"/>
              <a:gd name="connsiteX2" fmla="*/ 91440 w 148590"/>
              <a:gd name="connsiteY2" fmla="*/ 1062990 h 1223010"/>
              <a:gd name="connsiteX3" fmla="*/ 148590 w 148590"/>
              <a:gd name="connsiteY3" fmla="*/ 1223010 h 1223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590" h="1223010">
                <a:moveTo>
                  <a:pt x="0" y="0"/>
                </a:moveTo>
                <a:cubicBezTo>
                  <a:pt x="20955" y="231457"/>
                  <a:pt x="41910" y="462915"/>
                  <a:pt x="57150" y="640080"/>
                </a:cubicBezTo>
                <a:cubicBezTo>
                  <a:pt x="72390" y="817245"/>
                  <a:pt x="76200" y="965835"/>
                  <a:pt x="91440" y="1062990"/>
                </a:cubicBezTo>
                <a:cubicBezTo>
                  <a:pt x="106680" y="1160145"/>
                  <a:pt x="127635" y="1191577"/>
                  <a:pt x="148590" y="122301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orme libre 18"/>
          <p:cNvSpPr/>
          <p:nvPr/>
        </p:nvSpPr>
        <p:spPr>
          <a:xfrm>
            <a:off x="7258050" y="3017520"/>
            <a:ext cx="628650" cy="525780"/>
          </a:xfrm>
          <a:custGeom>
            <a:avLst/>
            <a:gdLst>
              <a:gd name="connsiteX0" fmla="*/ 628650 w 628650"/>
              <a:gd name="connsiteY0" fmla="*/ 525780 h 525780"/>
              <a:gd name="connsiteX1" fmla="*/ 240030 w 628650"/>
              <a:gd name="connsiteY1" fmla="*/ 240030 h 525780"/>
              <a:gd name="connsiteX2" fmla="*/ 0 w 628650"/>
              <a:gd name="connsiteY2" fmla="*/ 0 h 5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8650" h="525780">
                <a:moveTo>
                  <a:pt x="628650" y="525780"/>
                </a:moveTo>
                <a:cubicBezTo>
                  <a:pt x="486727" y="426720"/>
                  <a:pt x="344805" y="327660"/>
                  <a:pt x="240030" y="240030"/>
                </a:cubicBezTo>
                <a:cubicBezTo>
                  <a:pt x="135255" y="152400"/>
                  <a:pt x="67627" y="76200"/>
                  <a:pt x="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orme libre 19"/>
          <p:cNvSpPr/>
          <p:nvPr/>
        </p:nvSpPr>
        <p:spPr>
          <a:xfrm>
            <a:off x="6137910" y="3006090"/>
            <a:ext cx="1097280" cy="491490"/>
          </a:xfrm>
          <a:custGeom>
            <a:avLst/>
            <a:gdLst>
              <a:gd name="connsiteX0" fmla="*/ 0 w 1097280"/>
              <a:gd name="connsiteY0" fmla="*/ 491490 h 491490"/>
              <a:gd name="connsiteX1" fmla="*/ 480060 w 1097280"/>
              <a:gd name="connsiteY1" fmla="*/ 297180 h 491490"/>
              <a:gd name="connsiteX2" fmla="*/ 1097280 w 1097280"/>
              <a:gd name="connsiteY2" fmla="*/ 0 h 491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280" h="491490">
                <a:moveTo>
                  <a:pt x="0" y="491490"/>
                </a:moveTo>
                <a:cubicBezTo>
                  <a:pt x="148590" y="435292"/>
                  <a:pt x="297180" y="379095"/>
                  <a:pt x="480060" y="297180"/>
                </a:cubicBezTo>
                <a:cubicBezTo>
                  <a:pt x="662940" y="215265"/>
                  <a:pt x="880110" y="107632"/>
                  <a:pt x="10972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/>
          <p:cNvSpPr txBox="1"/>
          <p:nvPr/>
        </p:nvSpPr>
        <p:spPr>
          <a:xfrm>
            <a:off x="5796136" y="2046049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 + L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7741865" y="1907540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 + L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6516216" y="4077072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 + L</a:t>
            </a:r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>
            <a:off x="3549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 3 eutectiques binaires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24394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51" name="Picture 4" descr="Class-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4" t="14896" r="26419" b="19753"/>
          <a:stretch>
            <a:fillRect/>
          </a:stretch>
        </p:blipFill>
        <p:spPr bwMode="auto">
          <a:xfrm>
            <a:off x="76200" y="914400"/>
            <a:ext cx="5181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AutoShape 5"/>
          <p:cNvSpPr>
            <a:spLocks noChangeArrowheads="1"/>
          </p:cNvSpPr>
          <p:nvPr/>
        </p:nvSpPr>
        <p:spPr bwMode="auto">
          <a:xfrm flipV="1">
            <a:off x="5105400" y="1752600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3" name="Text Box 6"/>
          <p:cNvSpPr txBox="1">
            <a:spLocks noChangeArrowheads="1"/>
          </p:cNvSpPr>
          <p:nvPr/>
        </p:nvSpPr>
        <p:spPr bwMode="auto">
          <a:xfrm>
            <a:off x="5287963" y="1722438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54" name="Text Box 7"/>
          <p:cNvSpPr txBox="1">
            <a:spLocks noChangeArrowheads="1"/>
          </p:cNvSpPr>
          <p:nvPr/>
        </p:nvSpPr>
        <p:spPr bwMode="auto">
          <a:xfrm>
            <a:off x="8483600" y="1720850"/>
            <a:ext cx="309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b</a:t>
            </a:r>
          </a:p>
        </p:txBody>
      </p:sp>
      <p:sp>
        <p:nvSpPr>
          <p:cNvPr id="55" name="Freeform 8"/>
          <p:cNvSpPr>
            <a:spLocks/>
          </p:cNvSpPr>
          <p:nvPr/>
        </p:nvSpPr>
        <p:spPr bwMode="auto">
          <a:xfrm>
            <a:off x="6110288" y="2281238"/>
            <a:ext cx="1054100" cy="1214437"/>
          </a:xfrm>
          <a:custGeom>
            <a:avLst/>
            <a:gdLst>
              <a:gd name="T0" fmla="*/ 0 w 664"/>
              <a:gd name="T1" fmla="*/ 1214437 h 765"/>
              <a:gd name="T2" fmla="*/ 623888 w 664"/>
              <a:gd name="T3" fmla="*/ 612775 h 765"/>
              <a:gd name="T4" fmla="*/ 1054100 w 664"/>
              <a:gd name="T5" fmla="*/ 0 h 76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64" h="765">
                <a:moveTo>
                  <a:pt x="0" y="765"/>
                </a:moveTo>
                <a:cubicBezTo>
                  <a:pt x="65" y="702"/>
                  <a:pt x="282" y="513"/>
                  <a:pt x="393" y="386"/>
                </a:cubicBezTo>
                <a:cubicBezTo>
                  <a:pt x="504" y="259"/>
                  <a:pt x="608" y="80"/>
                  <a:pt x="664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6" name="Freeform 9"/>
          <p:cNvSpPr>
            <a:spLocks/>
          </p:cNvSpPr>
          <p:nvPr/>
        </p:nvSpPr>
        <p:spPr bwMode="auto">
          <a:xfrm>
            <a:off x="5540375" y="1990725"/>
            <a:ext cx="193675" cy="515938"/>
          </a:xfrm>
          <a:custGeom>
            <a:avLst/>
            <a:gdLst>
              <a:gd name="T0" fmla="*/ 0 w 122"/>
              <a:gd name="T1" fmla="*/ 515938 h 325"/>
              <a:gd name="T2" fmla="*/ 65088 w 122"/>
              <a:gd name="T3" fmla="*/ 160338 h 325"/>
              <a:gd name="T4" fmla="*/ 193675 w 122"/>
              <a:gd name="T5" fmla="*/ 0 h 32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2" h="325">
                <a:moveTo>
                  <a:pt x="0" y="325"/>
                </a:moveTo>
                <a:cubicBezTo>
                  <a:pt x="7" y="288"/>
                  <a:pt x="21" y="155"/>
                  <a:pt x="41" y="101"/>
                </a:cubicBezTo>
                <a:cubicBezTo>
                  <a:pt x="61" y="47"/>
                  <a:pt x="105" y="21"/>
                  <a:pt x="122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7" name="Freeform 10"/>
          <p:cNvSpPr>
            <a:spLocks/>
          </p:cNvSpPr>
          <p:nvPr/>
        </p:nvSpPr>
        <p:spPr bwMode="auto">
          <a:xfrm>
            <a:off x="8272463" y="1979613"/>
            <a:ext cx="387350" cy="204787"/>
          </a:xfrm>
          <a:custGeom>
            <a:avLst/>
            <a:gdLst>
              <a:gd name="T0" fmla="*/ 0 w 244"/>
              <a:gd name="T1" fmla="*/ 0 h 129"/>
              <a:gd name="T2" fmla="*/ 225425 w 244"/>
              <a:gd name="T3" fmla="*/ 65087 h 129"/>
              <a:gd name="T4" fmla="*/ 387350 w 244"/>
              <a:gd name="T5" fmla="*/ 204787 h 1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4" h="129">
                <a:moveTo>
                  <a:pt x="0" y="0"/>
                </a:moveTo>
                <a:cubicBezTo>
                  <a:pt x="24" y="7"/>
                  <a:pt x="101" y="19"/>
                  <a:pt x="142" y="41"/>
                </a:cubicBezTo>
                <a:cubicBezTo>
                  <a:pt x="183" y="63"/>
                  <a:pt x="223" y="111"/>
                  <a:pt x="244" y="129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8" name="Freeform 11"/>
          <p:cNvSpPr>
            <a:spLocks/>
          </p:cNvSpPr>
          <p:nvPr/>
        </p:nvSpPr>
        <p:spPr bwMode="auto">
          <a:xfrm>
            <a:off x="7153275" y="2290763"/>
            <a:ext cx="882650" cy="947737"/>
          </a:xfrm>
          <a:custGeom>
            <a:avLst/>
            <a:gdLst>
              <a:gd name="T0" fmla="*/ 0 w 556"/>
              <a:gd name="T1" fmla="*/ 0 h 597"/>
              <a:gd name="T2" fmla="*/ 430213 w 556"/>
              <a:gd name="T3" fmla="*/ 538162 h 597"/>
              <a:gd name="T4" fmla="*/ 882650 w 556"/>
              <a:gd name="T5" fmla="*/ 947737 h 59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56" h="597">
                <a:moveTo>
                  <a:pt x="0" y="0"/>
                </a:moveTo>
                <a:cubicBezTo>
                  <a:pt x="45" y="55"/>
                  <a:pt x="178" y="240"/>
                  <a:pt x="271" y="339"/>
                </a:cubicBezTo>
                <a:cubicBezTo>
                  <a:pt x="364" y="438"/>
                  <a:pt x="497" y="543"/>
                  <a:pt x="556" y="597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9" name="Freeform 12"/>
          <p:cNvSpPr>
            <a:spLocks/>
          </p:cNvSpPr>
          <p:nvPr/>
        </p:nvSpPr>
        <p:spPr bwMode="auto">
          <a:xfrm>
            <a:off x="6110288" y="3495675"/>
            <a:ext cx="1592262" cy="333375"/>
          </a:xfrm>
          <a:custGeom>
            <a:avLst/>
            <a:gdLst>
              <a:gd name="T0" fmla="*/ 0 w 1003"/>
              <a:gd name="T1" fmla="*/ 0 h 210"/>
              <a:gd name="T2" fmla="*/ 914400 w 1003"/>
              <a:gd name="T3" fmla="*/ 130175 h 210"/>
              <a:gd name="T4" fmla="*/ 1592262 w 1003"/>
              <a:gd name="T5" fmla="*/ 333375 h 21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3" h="210">
                <a:moveTo>
                  <a:pt x="0" y="0"/>
                </a:moveTo>
                <a:cubicBezTo>
                  <a:pt x="96" y="14"/>
                  <a:pt x="409" y="47"/>
                  <a:pt x="576" y="82"/>
                </a:cubicBezTo>
                <a:cubicBezTo>
                  <a:pt x="743" y="117"/>
                  <a:pt x="914" y="183"/>
                  <a:pt x="1003" y="21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0" name="Freeform 13"/>
          <p:cNvSpPr>
            <a:spLocks/>
          </p:cNvSpPr>
          <p:nvPr/>
        </p:nvSpPr>
        <p:spPr bwMode="auto">
          <a:xfrm>
            <a:off x="6583363" y="4313238"/>
            <a:ext cx="742950" cy="207962"/>
          </a:xfrm>
          <a:custGeom>
            <a:avLst/>
            <a:gdLst>
              <a:gd name="T0" fmla="*/ 0 w 468"/>
              <a:gd name="T1" fmla="*/ 0 h 131"/>
              <a:gd name="T2" fmla="*/ 398463 w 468"/>
              <a:gd name="T3" fmla="*/ 184150 h 131"/>
              <a:gd name="T4" fmla="*/ 742950 w 468"/>
              <a:gd name="T5" fmla="*/ 139700 h 13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68" h="131">
                <a:moveTo>
                  <a:pt x="0" y="0"/>
                </a:moveTo>
                <a:cubicBezTo>
                  <a:pt x="42" y="19"/>
                  <a:pt x="173" y="101"/>
                  <a:pt x="251" y="116"/>
                </a:cubicBezTo>
                <a:cubicBezTo>
                  <a:pt x="329" y="131"/>
                  <a:pt x="423" y="94"/>
                  <a:pt x="468" y="88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" name="Freeform 14"/>
          <p:cNvSpPr>
            <a:spLocks/>
          </p:cNvSpPr>
          <p:nvPr/>
        </p:nvSpPr>
        <p:spPr bwMode="auto">
          <a:xfrm>
            <a:off x="5722938" y="1979613"/>
            <a:ext cx="2560637" cy="311150"/>
          </a:xfrm>
          <a:custGeom>
            <a:avLst/>
            <a:gdLst>
              <a:gd name="T0" fmla="*/ 1430337 w 1613"/>
              <a:gd name="T1" fmla="*/ 311150 h 196"/>
              <a:gd name="T2" fmla="*/ 0 w 1613"/>
              <a:gd name="T3" fmla="*/ 0 h 196"/>
              <a:gd name="T4" fmla="*/ 2560637 w 1613"/>
              <a:gd name="T5" fmla="*/ 11113 h 196"/>
              <a:gd name="T6" fmla="*/ 1430337 w 1613"/>
              <a:gd name="T7" fmla="*/ 311150 h 19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13" h="196">
                <a:moveTo>
                  <a:pt x="901" y="196"/>
                </a:moveTo>
                <a:lnTo>
                  <a:pt x="0" y="0"/>
                </a:lnTo>
                <a:lnTo>
                  <a:pt x="1613" y="7"/>
                </a:lnTo>
                <a:lnTo>
                  <a:pt x="901" y="196"/>
                </a:lnTo>
                <a:close/>
              </a:path>
            </a:pathLst>
          </a:custGeom>
          <a:solidFill>
            <a:srgbClr val="FF6600">
              <a:alpha val="50195"/>
            </a:srgbClr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2" name="Freeform 15"/>
          <p:cNvSpPr>
            <a:spLocks/>
          </p:cNvSpPr>
          <p:nvPr/>
        </p:nvSpPr>
        <p:spPr bwMode="auto">
          <a:xfrm>
            <a:off x="8283575" y="1743075"/>
            <a:ext cx="85725" cy="247650"/>
          </a:xfrm>
          <a:custGeom>
            <a:avLst/>
            <a:gdLst>
              <a:gd name="T0" fmla="*/ 0 w 54"/>
              <a:gd name="T1" fmla="*/ 247650 h 156"/>
              <a:gd name="T2" fmla="*/ 85725 w 54"/>
              <a:gd name="T3" fmla="*/ 0 h 15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4" h="156">
                <a:moveTo>
                  <a:pt x="0" y="156"/>
                </a:moveTo>
                <a:cubicBezTo>
                  <a:pt x="9" y="130"/>
                  <a:pt x="43" y="32"/>
                  <a:pt x="54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3" name="Freeform 16"/>
          <p:cNvSpPr>
            <a:spLocks/>
          </p:cNvSpPr>
          <p:nvPr/>
        </p:nvSpPr>
        <p:spPr bwMode="auto">
          <a:xfrm>
            <a:off x="5745163" y="1754188"/>
            <a:ext cx="1587" cy="246062"/>
          </a:xfrm>
          <a:custGeom>
            <a:avLst/>
            <a:gdLst>
              <a:gd name="T0" fmla="*/ 0 w 1"/>
              <a:gd name="T1" fmla="*/ 0 h 155"/>
              <a:gd name="T2" fmla="*/ 0 w 1"/>
              <a:gd name="T3" fmla="*/ 246062 h 15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55">
                <a:moveTo>
                  <a:pt x="0" y="0"/>
                </a:moveTo>
                <a:cubicBezTo>
                  <a:pt x="0" y="26"/>
                  <a:pt x="0" y="123"/>
                  <a:pt x="0" y="155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4" name="Text Box 17"/>
          <p:cNvSpPr txBox="1">
            <a:spLocks noChangeArrowheads="1"/>
          </p:cNvSpPr>
          <p:nvPr/>
        </p:nvSpPr>
        <p:spPr bwMode="auto">
          <a:xfrm>
            <a:off x="6869113" y="4467225"/>
            <a:ext cx="2778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g</a:t>
            </a:r>
          </a:p>
        </p:txBody>
      </p:sp>
      <p:sp>
        <p:nvSpPr>
          <p:cNvPr id="65" name="Text Box 18"/>
          <p:cNvSpPr txBox="1">
            <a:spLocks noChangeArrowheads="1"/>
          </p:cNvSpPr>
          <p:nvPr/>
        </p:nvSpPr>
        <p:spPr bwMode="auto">
          <a:xfrm>
            <a:off x="7010400" y="28956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Verdana" charset="0"/>
                <a:ea typeface="ＭＳ Ｐゴシック" charset="0"/>
              </a:rPr>
              <a:t>L</a:t>
            </a:r>
          </a:p>
        </p:txBody>
      </p:sp>
      <p:sp>
        <p:nvSpPr>
          <p:cNvPr id="66" name="Triangle isocèle 65"/>
          <p:cNvSpPr/>
          <p:nvPr/>
        </p:nvSpPr>
        <p:spPr>
          <a:xfrm>
            <a:off x="827584" y="2384986"/>
            <a:ext cx="3672408" cy="828000"/>
          </a:xfrm>
          <a:prstGeom prst="triangle">
            <a:avLst>
              <a:gd name="adj" fmla="val 66807"/>
            </a:avLst>
          </a:prstGeom>
          <a:solidFill>
            <a:srgbClr val="FFC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Forme libre 66"/>
          <p:cNvSpPr/>
          <p:nvPr/>
        </p:nvSpPr>
        <p:spPr>
          <a:xfrm>
            <a:off x="7109460" y="1760220"/>
            <a:ext cx="148590" cy="1223010"/>
          </a:xfrm>
          <a:custGeom>
            <a:avLst/>
            <a:gdLst>
              <a:gd name="connsiteX0" fmla="*/ 0 w 148590"/>
              <a:gd name="connsiteY0" fmla="*/ 0 h 1223010"/>
              <a:gd name="connsiteX1" fmla="*/ 57150 w 148590"/>
              <a:gd name="connsiteY1" fmla="*/ 640080 h 1223010"/>
              <a:gd name="connsiteX2" fmla="*/ 91440 w 148590"/>
              <a:gd name="connsiteY2" fmla="*/ 1062990 h 1223010"/>
              <a:gd name="connsiteX3" fmla="*/ 148590 w 148590"/>
              <a:gd name="connsiteY3" fmla="*/ 1223010 h 1223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590" h="1223010">
                <a:moveTo>
                  <a:pt x="0" y="0"/>
                </a:moveTo>
                <a:cubicBezTo>
                  <a:pt x="20955" y="231457"/>
                  <a:pt x="41910" y="462915"/>
                  <a:pt x="57150" y="640080"/>
                </a:cubicBezTo>
                <a:cubicBezTo>
                  <a:pt x="72390" y="817245"/>
                  <a:pt x="76200" y="965835"/>
                  <a:pt x="91440" y="1062990"/>
                </a:cubicBezTo>
                <a:cubicBezTo>
                  <a:pt x="106680" y="1160145"/>
                  <a:pt x="127635" y="1191577"/>
                  <a:pt x="148590" y="122301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Forme libre 67"/>
          <p:cNvSpPr/>
          <p:nvPr/>
        </p:nvSpPr>
        <p:spPr>
          <a:xfrm>
            <a:off x="7258050" y="3017520"/>
            <a:ext cx="628650" cy="525780"/>
          </a:xfrm>
          <a:custGeom>
            <a:avLst/>
            <a:gdLst>
              <a:gd name="connsiteX0" fmla="*/ 628650 w 628650"/>
              <a:gd name="connsiteY0" fmla="*/ 525780 h 525780"/>
              <a:gd name="connsiteX1" fmla="*/ 240030 w 628650"/>
              <a:gd name="connsiteY1" fmla="*/ 240030 h 525780"/>
              <a:gd name="connsiteX2" fmla="*/ 0 w 628650"/>
              <a:gd name="connsiteY2" fmla="*/ 0 h 5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8650" h="525780">
                <a:moveTo>
                  <a:pt x="628650" y="525780"/>
                </a:moveTo>
                <a:cubicBezTo>
                  <a:pt x="486727" y="426720"/>
                  <a:pt x="344805" y="327660"/>
                  <a:pt x="240030" y="240030"/>
                </a:cubicBezTo>
                <a:cubicBezTo>
                  <a:pt x="135255" y="152400"/>
                  <a:pt x="67627" y="76200"/>
                  <a:pt x="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Forme libre 68"/>
          <p:cNvSpPr/>
          <p:nvPr/>
        </p:nvSpPr>
        <p:spPr>
          <a:xfrm>
            <a:off x="6137910" y="3006090"/>
            <a:ext cx="1097280" cy="491490"/>
          </a:xfrm>
          <a:custGeom>
            <a:avLst/>
            <a:gdLst>
              <a:gd name="connsiteX0" fmla="*/ 0 w 1097280"/>
              <a:gd name="connsiteY0" fmla="*/ 491490 h 491490"/>
              <a:gd name="connsiteX1" fmla="*/ 480060 w 1097280"/>
              <a:gd name="connsiteY1" fmla="*/ 297180 h 491490"/>
              <a:gd name="connsiteX2" fmla="*/ 1097280 w 1097280"/>
              <a:gd name="connsiteY2" fmla="*/ 0 h 491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280" h="491490">
                <a:moveTo>
                  <a:pt x="0" y="491490"/>
                </a:moveTo>
                <a:cubicBezTo>
                  <a:pt x="148590" y="435292"/>
                  <a:pt x="297180" y="379095"/>
                  <a:pt x="480060" y="297180"/>
                </a:cubicBezTo>
                <a:cubicBezTo>
                  <a:pt x="662940" y="215265"/>
                  <a:pt x="880110" y="107632"/>
                  <a:pt x="10972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ZoneTexte 69"/>
          <p:cNvSpPr txBox="1"/>
          <p:nvPr/>
        </p:nvSpPr>
        <p:spPr>
          <a:xfrm>
            <a:off x="5797649" y="2276872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 + L</a:t>
            </a:r>
            <a:endParaRPr lang="fr-FR" dirty="0"/>
          </a:p>
        </p:txBody>
      </p:sp>
      <p:sp>
        <p:nvSpPr>
          <p:cNvPr id="71" name="ZoneTexte 70"/>
          <p:cNvSpPr txBox="1"/>
          <p:nvPr/>
        </p:nvSpPr>
        <p:spPr>
          <a:xfrm>
            <a:off x="7668344" y="2195572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 + L</a:t>
            </a:r>
            <a:endParaRPr lang="fr-FR" dirty="0"/>
          </a:p>
        </p:txBody>
      </p:sp>
      <p:sp>
        <p:nvSpPr>
          <p:cNvPr id="72" name="ZoneTexte 71"/>
          <p:cNvSpPr txBox="1"/>
          <p:nvPr/>
        </p:nvSpPr>
        <p:spPr>
          <a:xfrm>
            <a:off x="6516216" y="3933056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 + L</a:t>
            </a:r>
            <a:endParaRPr lang="fr-FR" dirty="0"/>
          </a:p>
        </p:txBody>
      </p:sp>
      <p:sp>
        <p:nvSpPr>
          <p:cNvPr id="73" name="ZoneTexte 72"/>
          <p:cNvSpPr txBox="1"/>
          <p:nvPr/>
        </p:nvSpPr>
        <p:spPr>
          <a:xfrm>
            <a:off x="6733753" y="1640284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 + </a:t>
            </a:r>
            <a:r>
              <a:rPr lang="fr-FR" dirty="0">
                <a:sym typeface="Symbol"/>
              </a:rPr>
              <a:t></a:t>
            </a:r>
            <a:endParaRPr lang="fr-FR" dirty="0"/>
          </a:p>
        </p:txBody>
      </p:sp>
      <p:sp>
        <p:nvSpPr>
          <p:cNvPr id="74" name="Forme libre 73"/>
          <p:cNvSpPr/>
          <p:nvPr/>
        </p:nvSpPr>
        <p:spPr>
          <a:xfrm>
            <a:off x="6343650" y="1580788"/>
            <a:ext cx="491490" cy="480060"/>
          </a:xfrm>
          <a:custGeom>
            <a:avLst/>
            <a:gdLst>
              <a:gd name="connsiteX0" fmla="*/ 0 w 491490"/>
              <a:gd name="connsiteY0" fmla="*/ 0 h 480060"/>
              <a:gd name="connsiteX1" fmla="*/ 400050 w 491490"/>
              <a:gd name="connsiteY1" fmla="*/ 365760 h 480060"/>
              <a:gd name="connsiteX2" fmla="*/ 491490 w 491490"/>
              <a:gd name="connsiteY2" fmla="*/ 480060 h 480060"/>
              <a:gd name="connsiteX3" fmla="*/ 491490 w 491490"/>
              <a:gd name="connsiteY3" fmla="*/ 480060 h 480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490" h="480060">
                <a:moveTo>
                  <a:pt x="0" y="0"/>
                </a:moveTo>
                <a:cubicBezTo>
                  <a:pt x="159067" y="142875"/>
                  <a:pt x="318135" y="285750"/>
                  <a:pt x="400050" y="365760"/>
                </a:cubicBezTo>
                <a:cubicBezTo>
                  <a:pt x="481965" y="445770"/>
                  <a:pt x="491490" y="480060"/>
                  <a:pt x="491490" y="480060"/>
                </a:cubicBezTo>
                <a:lnTo>
                  <a:pt x="491490" y="48006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ZoneTexte 74"/>
          <p:cNvSpPr txBox="1"/>
          <p:nvPr/>
        </p:nvSpPr>
        <p:spPr>
          <a:xfrm>
            <a:off x="5856714" y="1259488"/>
            <a:ext cx="1043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 +  + L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3549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 3 eutectiques binaires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888559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4" name="Picture 4" descr="Class-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4" t="14896" r="26419" b="19753"/>
          <a:stretch>
            <a:fillRect/>
          </a:stretch>
        </p:blipFill>
        <p:spPr bwMode="auto">
          <a:xfrm>
            <a:off x="76200" y="914400"/>
            <a:ext cx="5181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5"/>
          <p:cNvSpPr>
            <a:spLocks noChangeArrowheads="1"/>
          </p:cNvSpPr>
          <p:nvPr/>
        </p:nvSpPr>
        <p:spPr bwMode="auto">
          <a:xfrm flipV="1">
            <a:off x="5105400" y="1752600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364163" y="1843088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483600" y="1720850"/>
            <a:ext cx="309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b</a:t>
            </a:r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6831013" y="2711450"/>
            <a:ext cx="333375" cy="441325"/>
          </a:xfrm>
          <a:custGeom>
            <a:avLst/>
            <a:gdLst>
              <a:gd name="T0" fmla="*/ 0 w 210"/>
              <a:gd name="T1" fmla="*/ 441325 h 278"/>
              <a:gd name="T2" fmla="*/ 193675 w 210"/>
              <a:gd name="T3" fmla="*/ 247650 h 278"/>
              <a:gd name="T4" fmla="*/ 333375 w 210"/>
              <a:gd name="T5" fmla="*/ 0 h 27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0" h="278">
                <a:moveTo>
                  <a:pt x="0" y="278"/>
                </a:moveTo>
                <a:cubicBezTo>
                  <a:pt x="20" y="258"/>
                  <a:pt x="87" y="202"/>
                  <a:pt x="122" y="156"/>
                </a:cubicBezTo>
                <a:cubicBezTo>
                  <a:pt x="157" y="110"/>
                  <a:pt x="192" y="32"/>
                  <a:pt x="210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>
            <a:spLocks/>
          </p:cNvSpPr>
          <p:nvPr/>
        </p:nvSpPr>
        <p:spPr bwMode="auto">
          <a:xfrm>
            <a:off x="5788025" y="2173288"/>
            <a:ext cx="300038" cy="204787"/>
          </a:xfrm>
          <a:custGeom>
            <a:avLst/>
            <a:gdLst>
              <a:gd name="T0" fmla="*/ 0 w 189"/>
              <a:gd name="T1" fmla="*/ 204787 h 129"/>
              <a:gd name="T2" fmla="*/ 63500 w 189"/>
              <a:gd name="T3" fmla="*/ 65087 h 129"/>
              <a:gd name="T4" fmla="*/ 300038 w 189"/>
              <a:gd name="T5" fmla="*/ 0 h 1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9" h="129">
                <a:moveTo>
                  <a:pt x="0" y="129"/>
                </a:moveTo>
                <a:cubicBezTo>
                  <a:pt x="7" y="114"/>
                  <a:pt x="8" y="63"/>
                  <a:pt x="40" y="41"/>
                </a:cubicBezTo>
                <a:cubicBezTo>
                  <a:pt x="72" y="19"/>
                  <a:pt x="158" y="9"/>
                  <a:pt x="189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8229600" y="2127250"/>
            <a:ext cx="376238" cy="142875"/>
          </a:xfrm>
          <a:custGeom>
            <a:avLst/>
            <a:gdLst>
              <a:gd name="T0" fmla="*/ 0 w 237"/>
              <a:gd name="T1" fmla="*/ 3175 h 90"/>
              <a:gd name="T2" fmla="*/ 225425 w 237"/>
              <a:gd name="T3" fmla="*/ 23813 h 90"/>
              <a:gd name="T4" fmla="*/ 376238 w 237"/>
              <a:gd name="T5" fmla="*/ 142875 h 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37" h="90">
                <a:moveTo>
                  <a:pt x="0" y="2"/>
                </a:moveTo>
                <a:cubicBezTo>
                  <a:pt x="24" y="4"/>
                  <a:pt x="103" y="0"/>
                  <a:pt x="142" y="15"/>
                </a:cubicBezTo>
                <a:cubicBezTo>
                  <a:pt x="181" y="30"/>
                  <a:pt x="217" y="74"/>
                  <a:pt x="237" y="9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7175500" y="2711450"/>
            <a:ext cx="698500" cy="817563"/>
          </a:xfrm>
          <a:custGeom>
            <a:avLst/>
            <a:gdLst>
              <a:gd name="T0" fmla="*/ 0 w 440"/>
              <a:gd name="T1" fmla="*/ 0 h 515"/>
              <a:gd name="T2" fmla="*/ 279400 w 440"/>
              <a:gd name="T3" fmla="*/ 430213 h 515"/>
              <a:gd name="T4" fmla="*/ 698500 w 440"/>
              <a:gd name="T5" fmla="*/ 817563 h 51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40" h="515">
                <a:moveTo>
                  <a:pt x="0" y="0"/>
                </a:moveTo>
                <a:cubicBezTo>
                  <a:pt x="29" y="45"/>
                  <a:pt x="103" y="185"/>
                  <a:pt x="176" y="271"/>
                </a:cubicBezTo>
                <a:cubicBezTo>
                  <a:pt x="249" y="357"/>
                  <a:pt x="385" y="464"/>
                  <a:pt x="440" y="515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>
            <a:off x="6842125" y="3162300"/>
            <a:ext cx="1011238" cy="355600"/>
          </a:xfrm>
          <a:custGeom>
            <a:avLst/>
            <a:gdLst>
              <a:gd name="T0" fmla="*/ 0 w 637"/>
              <a:gd name="T1" fmla="*/ 0 h 224"/>
              <a:gd name="T2" fmla="*/ 515938 w 637"/>
              <a:gd name="T3" fmla="*/ 193675 h 224"/>
              <a:gd name="T4" fmla="*/ 1011238 w 637"/>
              <a:gd name="T5" fmla="*/ 355600 h 2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37" h="224">
                <a:moveTo>
                  <a:pt x="0" y="0"/>
                </a:moveTo>
                <a:cubicBezTo>
                  <a:pt x="54" y="19"/>
                  <a:pt x="219" y="85"/>
                  <a:pt x="325" y="122"/>
                </a:cubicBezTo>
                <a:cubicBezTo>
                  <a:pt x="431" y="159"/>
                  <a:pt x="572" y="203"/>
                  <a:pt x="637" y="224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6734175" y="4130675"/>
            <a:ext cx="677863" cy="219075"/>
          </a:xfrm>
          <a:custGeom>
            <a:avLst/>
            <a:gdLst>
              <a:gd name="T0" fmla="*/ 0 w 427"/>
              <a:gd name="T1" fmla="*/ 0 h 138"/>
              <a:gd name="T2" fmla="*/ 355600 w 427"/>
              <a:gd name="T3" fmla="*/ 182563 h 138"/>
              <a:gd name="T4" fmla="*/ 677863 w 427"/>
              <a:gd name="T5" fmla="*/ 215900 h 13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7" h="138">
                <a:moveTo>
                  <a:pt x="0" y="0"/>
                </a:moveTo>
                <a:cubicBezTo>
                  <a:pt x="37" y="19"/>
                  <a:pt x="153" y="92"/>
                  <a:pt x="224" y="115"/>
                </a:cubicBezTo>
                <a:cubicBezTo>
                  <a:pt x="295" y="138"/>
                  <a:pt x="385" y="132"/>
                  <a:pt x="427" y="136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6078538" y="2130425"/>
            <a:ext cx="2151062" cy="590550"/>
          </a:xfrm>
          <a:custGeom>
            <a:avLst/>
            <a:gdLst>
              <a:gd name="T0" fmla="*/ 1096962 w 1355"/>
              <a:gd name="T1" fmla="*/ 590550 h 372"/>
              <a:gd name="T2" fmla="*/ 0 w 1355"/>
              <a:gd name="T3" fmla="*/ 42863 h 372"/>
              <a:gd name="T4" fmla="*/ 2151062 w 1355"/>
              <a:gd name="T5" fmla="*/ 0 h 372"/>
              <a:gd name="T6" fmla="*/ 1096962 w 1355"/>
              <a:gd name="T7" fmla="*/ 590550 h 3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55" h="372">
                <a:moveTo>
                  <a:pt x="691" y="372"/>
                </a:moveTo>
                <a:lnTo>
                  <a:pt x="0" y="27"/>
                </a:lnTo>
                <a:lnTo>
                  <a:pt x="1355" y="0"/>
                </a:lnTo>
                <a:lnTo>
                  <a:pt x="691" y="372"/>
                </a:lnTo>
                <a:close/>
              </a:path>
            </a:pathLst>
          </a:custGeom>
          <a:solidFill>
            <a:srgbClr val="FF6600">
              <a:alpha val="50195"/>
            </a:srgbClr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8240713" y="1754188"/>
            <a:ext cx="171450" cy="376237"/>
          </a:xfrm>
          <a:custGeom>
            <a:avLst/>
            <a:gdLst>
              <a:gd name="T0" fmla="*/ 0 w 108"/>
              <a:gd name="T1" fmla="*/ 376237 h 237"/>
              <a:gd name="T2" fmla="*/ 128588 w 108"/>
              <a:gd name="T3" fmla="*/ 149225 h 237"/>
              <a:gd name="T4" fmla="*/ 171450 w 108"/>
              <a:gd name="T5" fmla="*/ 0 h 23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8" h="237">
                <a:moveTo>
                  <a:pt x="0" y="237"/>
                </a:moveTo>
                <a:cubicBezTo>
                  <a:pt x="13" y="214"/>
                  <a:pt x="63" y="133"/>
                  <a:pt x="81" y="94"/>
                </a:cubicBezTo>
                <a:cubicBezTo>
                  <a:pt x="99" y="55"/>
                  <a:pt x="103" y="20"/>
                  <a:pt x="108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648325" y="1754188"/>
            <a:ext cx="430213" cy="407987"/>
          </a:xfrm>
          <a:custGeom>
            <a:avLst/>
            <a:gdLst>
              <a:gd name="T0" fmla="*/ 0 w 271"/>
              <a:gd name="T1" fmla="*/ 0 h 257"/>
              <a:gd name="T2" fmla="*/ 139700 w 271"/>
              <a:gd name="T3" fmla="*/ 300037 h 257"/>
              <a:gd name="T4" fmla="*/ 430213 w 271"/>
              <a:gd name="T5" fmla="*/ 407987 h 25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1" h="257">
                <a:moveTo>
                  <a:pt x="0" y="0"/>
                </a:moveTo>
                <a:cubicBezTo>
                  <a:pt x="14" y="31"/>
                  <a:pt x="43" y="146"/>
                  <a:pt x="88" y="189"/>
                </a:cubicBezTo>
                <a:cubicBezTo>
                  <a:pt x="133" y="232"/>
                  <a:pt x="233" y="243"/>
                  <a:pt x="271" y="257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808663" y="2378075"/>
            <a:ext cx="1022350" cy="1752600"/>
          </a:xfrm>
          <a:custGeom>
            <a:avLst/>
            <a:gdLst>
              <a:gd name="T0" fmla="*/ 936625 w 644"/>
              <a:gd name="T1" fmla="*/ 1752600 h 1104"/>
              <a:gd name="T2" fmla="*/ 0 w 644"/>
              <a:gd name="T3" fmla="*/ 0 h 1104"/>
              <a:gd name="T4" fmla="*/ 1022350 w 644"/>
              <a:gd name="T5" fmla="*/ 763588 h 1104"/>
              <a:gd name="T6" fmla="*/ 936625 w 644"/>
              <a:gd name="T7" fmla="*/ 1752600 h 11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44" h="1104">
                <a:moveTo>
                  <a:pt x="590" y="1104"/>
                </a:moveTo>
                <a:lnTo>
                  <a:pt x="0" y="0"/>
                </a:lnTo>
                <a:lnTo>
                  <a:pt x="644" y="481"/>
                </a:lnTo>
                <a:lnTo>
                  <a:pt x="590" y="1104"/>
                </a:lnTo>
                <a:close/>
              </a:path>
            </a:pathLst>
          </a:custGeom>
          <a:solidFill>
            <a:srgbClr val="00CC00">
              <a:alpha val="50195"/>
            </a:srgbClr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6626225" y="4152900"/>
            <a:ext cx="119063" cy="203200"/>
          </a:xfrm>
          <a:custGeom>
            <a:avLst/>
            <a:gdLst>
              <a:gd name="T0" fmla="*/ 119063 w 75"/>
              <a:gd name="T1" fmla="*/ 0 h 128"/>
              <a:gd name="T2" fmla="*/ 0 w 75"/>
              <a:gd name="T3" fmla="*/ 203200 h 12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5" h="128">
                <a:moveTo>
                  <a:pt x="75" y="0"/>
                </a:moveTo>
                <a:cubicBezTo>
                  <a:pt x="62" y="22"/>
                  <a:pt x="16" y="101"/>
                  <a:pt x="0" y="128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529263" y="2371725"/>
            <a:ext cx="258762" cy="103188"/>
          </a:xfrm>
          <a:custGeom>
            <a:avLst/>
            <a:gdLst>
              <a:gd name="T0" fmla="*/ 0 w 163"/>
              <a:gd name="T1" fmla="*/ 103188 h 65"/>
              <a:gd name="T2" fmla="*/ 119062 w 163"/>
              <a:gd name="T3" fmla="*/ 15875 h 65"/>
              <a:gd name="T4" fmla="*/ 258762 w 163"/>
              <a:gd name="T5" fmla="*/ 6350 h 6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3" h="65">
                <a:moveTo>
                  <a:pt x="0" y="65"/>
                </a:moveTo>
                <a:cubicBezTo>
                  <a:pt x="13" y="56"/>
                  <a:pt x="48" y="20"/>
                  <a:pt x="75" y="10"/>
                </a:cubicBezTo>
                <a:cubicBezTo>
                  <a:pt x="102" y="0"/>
                  <a:pt x="145" y="5"/>
                  <a:pt x="163" y="4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6846888" y="4332288"/>
            <a:ext cx="2778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g</a:t>
            </a: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7032625" y="28876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Verdana" charset="0"/>
                <a:ea typeface="ＭＳ Ｐゴシック" charset="0"/>
              </a:rPr>
              <a:t>L</a:t>
            </a:r>
          </a:p>
        </p:txBody>
      </p:sp>
      <p:sp>
        <p:nvSpPr>
          <p:cNvPr id="23" name="Triangle isocèle 22"/>
          <p:cNvSpPr/>
          <p:nvPr/>
        </p:nvSpPr>
        <p:spPr>
          <a:xfrm>
            <a:off x="827584" y="2412365"/>
            <a:ext cx="3672408" cy="960641"/>
          </a:xfrm>
          <a:prstGeom prst="triangle">
            <a:avLst>
              <a:gd name="adj" fmla="val 66807"/>
            </a:avLst>
          </a:prstGeom>
          <a:solidFill>
            <a:srgbClr val="FFC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orme libre 23"/>
          <p:cNvSpPr/>
          <p:nvPr/>
        </p:nvSpPr>
        <p:spPr>
          <a:xfrm>
            <a:off x="7109460" y="1760220"/>
            <a:ext cx="148590" cy="1223010"/>
          </a:xfrm>
          <a:custGeom>
            <a:avLst/>
            <a:gdLst>
              <a:gd name="connsiteX0" fmla="*/ 0 w 148590"/>
              <a:gd name="connsiteY0" fmla="*/ 0 h 1223010"/>
              <a:gd name="connsiteX1" fmla="*/ 57150 w 148590"/>
              <a:gd name="connsiteY1" fmla="*/ 640080 h 1223010"/>
              <a:gd name="connsiteX2" fmla="*/ 91440 w 148590"/>
              <a:gd name="connsiteY2" fmla="*/ 1062990 h 1223010"/>
              <a:gd name="connsiteX3" fmla="*/ 148590 w 148590"/>
              <a:gd name="connsiteY3" fmla="*/ 1223010 h 1223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590" h="1223010">
                <a:moveTo>
                  <a:pt x="0" y="0"/>
                </a:moveTo>
                <a:cubicBezTo>
                  <a:pt x="20955" y="231457"/>
                  <a:pt x="41910" y="462915"/>
                  <a:pt x="57150" y="640080"/>
                </a:cubicBezTo>
                <a:cubicBezTo>
                  <a:pt x="72390" y="817245"/>
                  <a:pt x="76200" y="965835"/>
                  <a:pt x="91440" y="1062990"/>
                </a:cubicBezTo>
                <a:cubicBezTo>
                  <a:pt x="106680" y="1160145"/>
                  <a:pt x="127635" y="1191577"/>
                  <a:pt x="148590" y="122301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orme libre 24"/>
          <p:cNvSpPr/>
          <p:nvPr/>
        </p:nvSpPr>
        <p:spPr>
          <a:xfrm>
            <a:off x="7258050" y="3017520"/>
            <a:ext cx="628650" cy="525780"/>
          </a:xfrm>
          <a:custGeom>
            <a:avLst/>
            <a:gdLst>
              <a:gd name="connsiteX0" fmla="*/ 628650 w 628650"/>
              <a:gd name="connsiteY0" fmla="*/ 525780 h 525780"/>
              <a:gd name="connsiteX1" fmla="*/ 240030 w 628650"/>
              <a:gd name="connsiteY1" fmla="*/ 240030 h 525780"/>
              <a:gd name="connsiteX2" fmla="*/ 0 w 628650"/>
              <a:gd name="connsiteY2" fmla="*/ 0 h 5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8650" h="525780">
                <a:moveTo>
                  <a:pt x="628650" y="525780"/>
                </a:moveTo>
                <a:cubicBezTo>
                  <a:pt x="486727" y="426720"/>
                  <a:pt x="344805" y="327660"/>
                  <a:pt x="240030" y="240030"/>
                </a:cubicBezTo>
                <a:cubicBezTo>
                  <a:pt x="135255" y="152400"/>
                  <a:pt x="67627" y="76200"/>
                  <a:pt x="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orme libre 25"/>
          <p:cNvSpPr/>
          <p:nvPr/>
        </p:nvSpPr>
        <p:spPr>
          <a:xfrm>
            <a:off x="6137910" y="3006090"/>
            <a:ext cx="1097280" cy="491490"/>
          </a:xfrm>
          <a:custGeom>
            <a:avLst/>
            <a:gdLst>
              <a:gd name="connsiteX0" fmla="*/ 0 w 1097280"/>
              <a:gd name="connsiteY0" fmla="*/ 491490 h 491490"/>
              <a:gd name="connsiteX1" fmla="*/ 480060 w 1097280"/>
              <a:gd name="connsiteY1" fmla="*/ 297180 h 491490"/>
              <a:gd name="connsiteX2" fmla="*/ 1097280 w 1097280"/>
              <a:gd name="connsiteY2" fmla="*/ 0 h 491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280" h="491490">
                <a:moveTo>
                  <a:pt x="0" y="491490"/>
                </a:moveTo>
                <a:cubicBezTo>
                  <a:pt x="148590" y="435292"/>
                  <a:pt x="297180" y="379095"/>
                  <a:pt x="480060" y="297180"/>
                </a:cubicBezTo>
                <a:cubicBezTo>
                  <a:pt x="662940" y="215265"/>
                  <a:pt x="880110" y="107632"/>
                  <a:pt x="10972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/>
          <p:cNvSpPr txBox="1"/>
          <p:nvPr/>
        </p:nvSpPr>
        <p:spPr>
          <a:xfrm>
            <a:off x="6229697" y="2483604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 + L</a:t>
            </a:r>
            <a:endParaRPr lang="fr-FR" dirty="0"/>
          </a:p>
        </p:txBody>
      </p:sp>
      <p:sp>
        <p:nvSpPr>
          <p:cNvPr id="28" name="ZoneTexte 27"/>
          <p:cNvSpPr txBox="1"/>
          <p:nvPr/>
        </p:nvSpPr>
        <p:spPr>
          <a:xfrm>
            <a:off x="6733753" y="3717032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 + L</a:t>
            </a:r>
            <a:endParaRPr lang="fr-FR" dirty="0"/>
          </a:p>
        </p:txBody>
      </p:sp>
      <p:sp>
        <p:nvSpPr>
          <p:cNvPr id="29" name="ZoneTexte 28"/>
          <p:cNvSpPr txBox="1"/>
          <p:nvPr/>
        </p:nvSpPr>
        <p:spPr>
          <a:xfrm>
            <a:off x="6733753" y="1640284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 + </a:t>
            </a:r>
            <a:r>
              <a:rPr lang="fr-FR" dirty="0">
                <a:sym typeface="Symbol"/>
              </a:rPr>
              <a:t></a:t>
            </a:r>
            <a:endParaRPr lang="fr-FR" dirty="0"/>
          </a:p>
        </p:txBody>
      </p:sp>
      <p:sp>
        <p:nvSpPr>
          <p:cNvPr id="30" name="ZoneTexte 29"/>
          <p:cNvSpPr txBox="1"/>
          <p:nvPr/>
        </p:nvSpPr>
        <p:spPr>
          <a:xfrm>
            <a:off x="5353050" y="3552904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 + </a:t>
            </a:r>
            <a:r>
              <a:rPr lang="fr-FR" dirty="0">
                <a:sym typeface="Symbol"/>
              </a:rPr>
              <a:t></a:t>
            </a:r>
            <a:endParaRPr lang="fr-FR" dirty="0"/>
          </a:p>
        </p:txBody>
      </p:sp>
      <p:sp>
        <p:nvSpPr>
          <p:cNvPr id="31" name="Forme libre 30"/>
          <p:cNvSpPr/>
          <p:nvPr/>
        </p:nvSpPr>
        <p:spPr>
          <a:xfrm>
            <a:off x="5783580" y="3006090"/>
            <a:ext cx="182880" cy="560070"/>
          </a:xfrm>
          <a:custGeom>
            <a:avLst/>
            <a:gdLst>
              <a:gd name="connsiteX0" fmla="*/ 0 w 182880"/>
              <a:gd name="connsiteY0" fmla="*/ 560070 h 560070"/>
              <a:gd name="connsiteX1" fmla="*/ 91440 w 182880"/>
              <a:gd name="connsiteY1" fmla="*/ 205740 h 560070"/>
              <a:gd name="connsiteX2" fmla="*/ 182880 w 182880"/>
              <a:gd name="connsiteY2" fmla="*/ 0 h 56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" h="560070">
                <a:moveTo>
                  <a:pt x="0" y="560070"/>
                </a:moveTo>
                <a:cubicBezTo>
                  <a:pt x="30480" y="429577"/>
                  <a:pt x="60960" y="299085"/>
                  <a:pt x="91440" y="205740"/>
                </a:cubicBezTo>
                <a:cubicBezTo>
                  <a:pt x="121920" y="112395"/>
                  <a:pt x="152400" y="56197"/>
                  <a:pt x="18288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ZoneTexte 31"/>
          <p:cNvSpPr txBox="1"/>
          <p:nvPr/>
        </p:nvSpPr>
        <p:spPr>
          <a:xfrm>
            <a:off x="7668344" y="2411596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 + L</a:t>
            </a:r>
            <a:endParaRPr lang="fr-FR" dirty="0"/>
          </a:p>
        </p:txBody>
      </p:sp>
      <p:sp>
        <p:nvSpPr>
          <p:cNvPr id="33" name="ZoneTexte 32"/>
          <p:cNvSpPr txBox="1"/>
          <p:nvPr/>
        </p:nvSpPr>
        <p:spPr>
          <a:xfrm>
            <a:off x="3549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 3 eutectiques binaires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24394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4" name="Picture 4" descr="Class-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4" t="14896" r="26419" b="19753"/>
          <a:stretch>
            <a:fillRect/>
          </a:stretch>
        </p:blipFill>
        <p:spPr bwMode="auto">
          <a:xfrm>
            <a:off x="76200" y="914400"/>
            <a:ext cx="5181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5"/>
          <p:cNvSpPr>
            <a:spLocks noChangeArrowheads="1"/>
          </p:cNvSpPr>
          <p:nvPr/>
        </p:nvSpPr>
        <p:spPr bwMode="auto">
          <a:xfrm flipV="1">
            <a:off x="5105400" y="1752600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386388" y="1843088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483600" y="1720850"/>
            <a:ext cx="309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b</a:t>
            </a:r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7047230" y="2862580"/>
            <a:ext cx="171450" cy="204788"/>
          </a:xfrm>
          <a:custGeom>
            <a:avLst/>
            <a:gdLst>
              <a:gd name="T0" fmla="*/ 0 w 108"/>
              <a:gd name="T1" fmla="*/ 204788 h 129"/>
              <a:gd name="T2" fmla="*/ 128588 w 108"/>
              <a:gd name="T3" fmla="*/ 117475 h 129"/>
              <a:gd name="T4" fmla="*/ 171450 w 108"/>
              <a:gd name="T5" fmla="*/ 0 h 1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8" h="129">
                <a:moveTo>
                  <a:pt x="0" y="129"/>
                </a:moveTo>
                <a:cubicBezTo>
                  <a:pt x="12" y="120"/>
                  <a:pt x="63" y="95"/>
                  <a:pt x="81" y="74"/>
                </a:cubicBezTo>
                <a:cubicBezTo>
                  <a:pt x="99" y="53"/>
                  <a:pt x="103" y="15"/>
                  <a:pt x="108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>
            <a:spLocks/>
          </p:cNvSpPr>
          <p:nvPr/>
        </p:nvSpPr>
        <p:spPr bwMode="auto">
          <a:xfrm>
            <a:off x="5862638" y="2184400"/>
            <a:ext cx="150812" cy="160338"/>
          </a:xfrm>
          <a:custGeom>
            <a:avLst/>
            <a:gdLst>
              <a:gd name="T0" fmla="*/ 0 w 95"/>
              <a:gd name="T1" fmla="*/ 160338 h 101"/>
              <a:gd name="T2" fmla="*/ 42862 w 95"/>
              <a:gd name="T3" fmla="*/ 42863 h 101"/>
              <a:gd name="T4" fmla="*/ 150812 w 95"/>
              <a:gd name="T5" fmla="*/ 0 h 10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5" h="101">
                <a:moveTo>
                  <a:pt x="0" y="101"/>
                </a:moveTo>
                <a:cubicBezTo>
                  <a:pt x="4" y="89"/>
                  <a:pt x="11" y="44"/>
                  <a:pt x="27" y="27"/>
                </a:cubicBezTo>
                <a:cubicBezTo>
                  <a:pt x="43" y="10"/>
                  <a:pt x="81" y="6"/>
                  <a:pt x="95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8294688" y="2130425"/>
            <a:ext cx="117475" cy="107950"/>
          </a:xfrm>
          <a:custGeom>
            <a:avLst/>
            <a:gdLst>
              <a:gd name="T0" fmla="*/ 0 w 74"/>
              <a:gd name="T1" fmla="*/ 0 h 68"/>
              <a:gd name="T2" fmla="*/ 74613 w 74"/>
              <a:gd name="T3" fmla="*/ 20638 h 68"/>
              <a:gd name="T4" fmla="*/ 117475 w 74"/>
              <a:gd name="T5" fmla="*/ 107950 h 6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4" h="68">
                <a:moveTo>
                  <a:pt x="0" y="0"/>
                </a:moveTo>
                <a:cubicBezTo>
                  <a:pt x="8" y="3"/>
                  <a:pt x="35" y="2"/>
                  <a:pt x="47" y="13"/>
                </a:cubicBezTo>
                <a:cubicBezTo>
                  <a:pt x="59" y="24"/>
                  <a:pt x="69" y="57"/>
                  <a:pt x="74" y="68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7207568" y="2862580"/>
            <a:ext cx="173037" cy="290513"/>
          </a:xfrm>
          <a:custGeom>
            <a:avLst/>
            <a:gdLst>
              <a:gd name="T0" fmla="*/ 0 w 109"/>
              <a:gd name="T1" fmla="*/ 0 h 183"/>
              <a:gd name="T2" fmla="*/ 65087 w 109"/>
              <a:gd name="T3" fmla="*/ 193675 h 183"/>
              <a:gd name="T4" fmla="*/ 173037 w 109"/>
              <a:gd name="T5" fmla="*/ 290513 h 18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9" h="183">
                <a:moveTo>
                  <a:pt x="0" y="0"/>
                </a:moveTo>
                <a:cubicBezTo>
                  <a:pt x="7" y="20"/>
                  <a:pt x="23" y="91"/>
                  <a:pt x="41" y="122"/>
                </a:cubicBezTo>
                <a:cubicBezTo>
                  <a:pt x="59" y="153"/>
                  <a:pt x="95" y="170"/>
                  <a:pt x="109" y="183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>
            <a:off x="7069773" y="3074035"/>
            <a:ext cx="311150" cy="90488"/>
          </a:xfrm>
          <a:custGeom>
            <a:avLst/>
            <a:gdLst>
              <a:gd name="T0" fmla="*/ 0 w 196"/>
              <a:gd name="T1" fmla="*/ 4763 h 57"/>
              <a:gd name="T2" fmla="*/ 128588 w 196"/>
              <a:gd name="T3" fmla="*/ 14288 h 57"/>
              <a:gd name="T4" fmla="*/ 311150 w 196"/>
              <a:gd name="T5" fmla="*/ 90488 h 5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6" h="57">
                <a:moveTo>
                  <a:pt x="0" y="3"/>
                </a:moveTo>
                <a:cubicBezTo>
                  <a:pt x="13" y="4"/>
                  <a:pt x="48" y="0"/>
                  <a:pt x="81" y="9"/>
                </a:cubicBezTo>
                <a:cubicBezTo>
                  <a:pt x="114" y="18"/>
                  <a:pt x="172" y="47"/>
                  <a:pt x="196" y="57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6884988" y="4067175"/>
            <a:ext cx="258762" cy="214313"/>
          </a:xfrm>
          <a:custGeom>
            <a:avLst/>
            <a:gdLst>
              <a:gd name="T0" fmla="*/ 0 w 163"/>
              <a:gd name="T1" fmla="*/ 0 h 135"/>
              <a:gd name="T2" fmla="*/ 117475 w 163"/>
              <a:gd name="T3" fmla="*/ 160338 h 135"/>
              <a:gd name="T4" fmla="*/ 258762 w 163"/>
              <a:gd name="T5" fmla="*/ 214313 h 1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3" h="135">
                <a:moveTo>
                  <a:pt x="0" y="0"/>
                </a:moveTo>
                <a:cubicBezTo>
                  <a:pt x="12" y="17"/>
                  <a:pt x="47" y="78"/>
                  <a:pt x="74" y="101"/>
                </a:cubicBezTo>
                <a:cubicBezTo>
                  <a:pt x="101" y="124"/>
                  <a:pt x="145" y="128"/>
                  <a:pt x="163" y="135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5991225" y="2130425"/>
            <a:ext cx="2303463" cy="741363"/>
          </a:xfrm>
          <a:custGeom>
            <a:avLst/>
            <a:gdLst>
              <a:gd name="T0" fmla="*/ 1204913 w 1451"/>
              <a:gd name="T1" fmla="*/ 741363 h 467"/>
              <a:gd name="T2" fmla="*/ 0 w 1451"/>
              <a:gd name="T3" fmla="*/ 42863 h 467"/>
              <a:gd name="T4" fmla="*/ 2303463 w 1451"/>
              <a:gd name="T5" fmla="*/ 0 h 467"/>
              <a:gd name="T6" fmla="*/ 1204913 w 1451"/>
              <a:gd name="T7" fmla="*/ 741363 h 46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51" h="467">
                <a:moveTo>
                  <a:pt x="759" y="467"/>
                </a:moveTo>
                <a:lnTo>
                  <a:pt x="0" y="27"/>
                </a:lnTo>
                <a:lnTo>
                  <a:pt x="1451" y="0"/>
                </a:lnTo>
                <a:lnTo>
                  <a:pt x="759" y="467"/>
                </a:lnTo>
                <a:close/>
              </a:path>
            </a:pathLst>
          </a:custGeom>
          <a:solidFill>
            <a:srgbClr val="FF6600">
              <a:alpha val="50195"/>
            </a:srgbClr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8272463" y="1754188"/>
            <a:ext cx="139700" cy="376237"/>
          </a:xfrm>
          <a:custGeom>
            <a:avLst/>
            <a:gdLst>
              <a:gd name="T0" fmla="*/ 0 w 88"/>
              <a:gd name="T1" fmla="*/ 376237 h 237"/>
              <a:gd name="T2" fmla="*/ 96838 w 88"/>
              <a:gd name="T3" fmla="*/ 149225 h 237"/>
              <a:gd name="T4" fmla="*/ 139700 w 88"/>
              <a:gd name="T5" fmla="*/ 0 h 23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8" h="237">
                <a:moveTo>
                  <a:pt x="0" y="237"/>
                </a:moveTo>
                <a:cubicBezTo>
                  <a:pt x="11" y="213"/>
                  <a:pt x="46" y="133"/>
                  <a:pt x="61" y="94"/>
                </a:cubicBezTo>
                <a:cubicBezTo>
                  <a:pt x="76" y="55"/>
                  <a:pt x="83" y="20"/>
                  <a:pt x="88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648325" y="1754188"/>
            <a:ext cx="354013" cy="419100"/>
          </a:xfrm>
          <a:custGeom>
            <a:avLst/>
            <a:gdLst>
              <a:gd name="T0" fmla="*/ 0 w 223"/>
              <a:gd name="T1" fmla="*/ 0 h 264"/>
              <a:gd name="T2" fmla="*/ 139700 w 223"/>
              <a:gd name="T3" fmla="*/ 300038 h 264"/>
              <a:gd name="T4" fmla="*/ 354013 w 223"/>
              <a:gd name="T5" fmla="*/ 419100 h 2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3" h="264">
                <a:moveTo>
                  <a:pt x="0" y="0"/>
                </a:moveTo>
                <a:cubicBezTo>
                  <a:pt x="14" y="31"/>
                  <a:pt x="51" y="145"/>
                  <a:pt x="88" y="189"/>
                </a:cubicBezTo>
                <a:cubicBezTo>
                  <a:pt x="125" y="233"/>
                  <a:pt x="195" y="249"/>
                  <a:pt x="223" y="264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873750" y="2333625"/>
            <a:ext cx="1173163" cy="1722438"/>
          </a:xfrm>
          <a:custGeom>
            <a:avLst/>
            <a:gdLst>
              <a:gd name="T0" fmla="*/ 1000125 w 739"/>
              <a:gd name="T1" fmla="*/ 1722438 h 1085"/>
              <a:gd name="T2" fmla="*/ 0 w 739"/>
              <a:gd name="T3" fmla="*/ 0 h 1085"/>
              <a:gd name="T4" fmla="*/ 1173163 w 739"/>
              <a:gd name="T5" fmla="*/ 722313 h 1085"/>
              <a:gd name="T6" fmla="*/ 1000125 w 739"/>
              <a:gd name="T7" fmla="*/ 1722438 h 108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39" h="1085">
                <a:moveTo>
                  <a:pt x="630" y="1085"/>
                </a:moveTo>
                <a:lnTo>
                  <a:pt x="0" y="0"/>
                </a:lnTo>
                <a:lnTo>
                  <a:pt x="739" y="455"/>
                </a:lnTo>
                <a:lnTo>
                  <a:pt x="630" y="1085"/>
                </a:lnTo>
                <a:close/>
              </a:path>
            </a:pathLst>
          </a:custGeom>
          <a:solidFill>
            <a:srgbClr val="00CC00">
              <a:alpha val="50195"/>
            </a:srgbClr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6648450" y="4056063"/>
            <a:ext cx="236538" cy="344487"/>
          </a:xfrm>
          <a:custGeom>
            <a:avLst/>
            <a:gdLst>
              <a:gd name="T0" fmla="*/ 236538 w 149"/>
              <a:gd name="T1" fmla="*/ 0 h 217"/>
              <a:gd name="T2" fmla="*/ 128588 w 149"/>
              <a:gd name="T3" fmla="*/ 193675 h 217"/>
              <a:gd name="T4" fmla="*/ 0 w 149"/>
              <a:gd name="T5" fmla="*/ 344487 h 2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9" h="217">
                <a:moveTo>
                  <a:pt x="149" y="0"/>
                </a:moveTo>
                <a:cubicBezTo>
                  <a:pt x="138" y="20"/>
                  <a:pt x="106" y="86"/>
                  <a:pt x="81" y="122"/>
                </a:cubicBezTo>
                <a:cubicBezTo>
                  <a:pt x="56" y="158"/>
                  <a:pt x="17" y="197"/>
                  <a:pt x="0" y="217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486400" y="2327275"/>
            <a:ext cx="387350" cy="60325"/>
          </a:xfrm>
          <a:custGeom>
            <a:avLst/>
            <a:gdLst>
              <a:gd name="T0" fmla="*/ 0 w 244"/>
              <a:gd name="T1" fmla="*/ 60325 h 38"/>
              <a:gd name="T2" fmla="*/ 150813 w 244"/>
              <a:gd name="T3" fmla="*/ 6350 h 38"/>
              <a:gd name="T4" fmla="*/ 387350 w 244"/>
              <a:gd name="T5" fmla="*/ 17463 h 3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4" h="38">
                <a:moveTo>
                  <a:pt x="0" y="38"/>
                </a:moveTo>
                <a:cubicBezTo>
                  <a:pt x="15" y="32"/>
                  <a:pt x="54" y="8"/>
                  <a:pt x="95" y="4"/>
                </a:cubicBezTo>
                <a:cubicBezTo>
                  <a:pt x="136" y="0"/>
                  <a:pt x="213" y="10"/>
                  <a:pt x="244" y="11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7143750" y="2238375"/>
            <a:ext cx="1268413" cy="2043113"/>
          </a:xfrm>
          <a:custGeom>
            <a:avLst/>
            <a:gdLst>
              <a:gd name="T0" fmla="*/ 0 w 799"/>
              <a:gd name="T1" fmla="*/ 2043113 h 1287"/>
              <a:gd name="T2" fmla="*/ 1268413 w 799"/>
              <a:gd name="T3" fmla="*/ 0 h 1287"/>
              <a:gd name="T4" fmla="*/ 225425 w 799"/>
              <a:gd name="T5" fmla="*/ 914400 h 1287"/>
              <a:gd name="T6" fmla="*/ 0 w 799"/>
              <a:gd name="T7" fmla="*/ 2043113 h 128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99" h="1287">
                <a:moveTo>
                  <a:pt x="0" y="1287"/>
                </a:moveTo>
                <a:lnTo>
                  <a:pt x="799" y="0"/>
                </a:lnTo>
                <a:lnTo>
                  <a:pt x="142" y="576"/>
                </a:lnTo>
                <a:lnTo>
                  <a:pt x="0" y="1287"/>
                </a:lnTo>
                <a:close/>
              </a:path>
            </a:pathLst>
          </a:custGeom>
          <a:solidFill>
            <a:srgbClr val="FF00FF">
              <a:alpha val="50195"/>
            </a:srgbClr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7153275" y="4281488"/>
            <a:ext cx="150813" cy="236537"/>
          </a:xfrm>
          <a:custGeom>
            <a:avLst/>
            <a:gdLst>
              <a:gd name="T0" fmla="*/ 0 w 95"/>
              <a:gd name="T1" fmla="*/ 0 h 149"/>
              <a:gd name="T2" fmla="*/ 150813 w 95"/>
              <a:gd name="T3" fmla="*/ 236537 h 14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5" h="149">
                <a:moveTo>
                  <a:pt x="0" y="0"/>
                </a:moveTo>
                <a:cubicBezTo>
                  <a:pt x="16" y="25"/>
                  <a:pt x="75" y="118"/>
                  <a:pt x="95" y="149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8434388" y="2238375"/>
            <a:ext cx="171450" cy="1588"/>
          </a:xfrm>
          <a:custGeom>
            <a:avLst/>
            <a:gdLst>
              <a:gd name="T0" fmla="*/ 0 w 108"/>
              <a:gd name="T1" fmla="*/ 0 h 1"/>
              <a:gd name="T2" fmla="*/ 171450 w 108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08" h="1">
                <a:moveTo>
                  <a:pt x="0" y="0"/>
                </a:moveTo>
                <a:cubicBezTo>
                  <a:pt x="18" y="1"/>
                  <a:pt x="86" y="0"/>
                  <a:pt x="108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6837363" y="4300538"/>
            <a:ext cx="2778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g</a:t>
            </a:r>
          </a:p>
        </p:txBody>
      </p:sp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6477000" y="1066800"/>
            <a:ext cx="685800" cy="1905000"/>
            <a:chOff x="3936" y="672"/>
            <a:chExt cx="576" cy="1200"/>
          </a:xfrm>
        </p:grpSpPr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3936" y="67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sz="1800" b="0">
                  <a:latin typeface="Verdana" charset="0"/>
                  <a:ea typeface="ＭＳ Ｐゴシック" charset="0"/>
                </a:rPr>
                <a:t>L</a:t>
              </a:r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4080" y="912"/>
              <a:ext cx="432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8" name="Forme libre 27"/>
          <p:cNvSpPr/>
          <p:nvPr/>
        </p:nvSpPr>
        <p:spPr>
          <a:xfrm>
            <a:off x="7109460" y="1760220"/>
            <a:ext cx="148590" cy="1223010"/>
          </a:xfrm>
          <a:custGeom>
            <a:avLst/>
            <a:gdLst>
              <a:gd name="connsiteX0" fmla="*/ 0 w 148590"/>
              <a:gd name="connsiteY0" fmla="*/ 0 h 1223010"/>
              <a:gd name="connsiteX1" fmla="*/ 57150 w 148590"/>
              <a:gd name="connsiteY1" fmla="*/ 640080 h 1223010"/>
              <a:gd name="connsiteX2" fmla="*/ 91440 w 148590"/>
              <a:gd name="connsiteY2" fmla="*/ 1062990 h 1223010"/>
              <a:gd name="connsiteX3" fmla="*/ 148590 w 148590"/>
              <a:gd name="connsiteY3" fmla="*/ 1223010 h 1223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590" h="1223010">
                <a:moveTo>
                  <a:pt x="0" y="0"/>
                </a:moveTo>
                <a:cubicBezTo>
                  <a:pt x="20955" y="231457"/>
                  <a:pt x="41910" y="462915"/>
                  <a:pt x="57150" y="640080"/>
                </a:cubicBezTo>
                <a:cubicBezTo>
                  <a:pt x="72390" y="817245"/>
                  <a:pt x="76200" y="965835"/>
                  <a:pt x="91440" y="1062990"/>
                </a:cubicBezTo>
                <a:cubicBezTo>
                  <a:pt x="106680" y="1160145"/>
                  <a:pt x="127635" y="1191577"/>
                  <a:pt x="148590" y="122301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Forme libre 28"/>
          <p:cNvSpPr/>
          <p:nvPr/>
        </p:nvSpPr>
        <p:spPr>
          <a:xfrm>
            <a:off x="7258050" y="3017520"/>
            <a:ext cx="628650" cy="525780"/>
          </a:xfrm>
          <a:custGeom>
            <a:avLst/>
            <a:gdLst>
              <a:gd name="connsiteX0" fmla="*/ 628650 w 628650"/>
              <a:gd name="connsiteY0" fmla="*/ 525780 h 525780"/>
              <a:gd name="connsiteX1" fmla="*/ 240030 w 628650"/>
              <a:gd name="connsiteY1" fmla="*/ 240030 h 525780"/>
              <a:gd name="connsiteX2" fmla="*/ 0 w 628650"/>
              <a:gd name="connsiteY2" fmla="*/ 0 h 5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8650" h="525780">
                <a:moveTo>
                  <a:pt x="628650" y="525780"/>
                </a:moveTo>
                <a:cubicBezTo>
                  <a:pt x="486727" y="426720"/>
                  <a:pt x="344805" y="327660"/>
                  <a:pt x="240030" y="240030"/>
                </a:cubicBezTo>
                <a:cubicBezTo>
                  <a:pt x="135255" y="152400"/>
                  <a:pt x="67627" y="76200"/>
                  <a:pt x="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Forme libre 29"/>
          <p:cNvSpPr/>
          <p:nvPr/>
        </p:nvSpPr>
        <p:spPr>
          <a:xfrm>
            <a:off x="6137910" y="3006090"/>
            <a:ext cx="1097280" cy="491490"/>
          </a:xfrm>
          <a:custGeom>
            <a:avLst/>
            <a:gdLst>
              <a:gd name="connsiteX0" fmla="*/ 0 w 1097280"/>
              <a:gd name="connsiteY0" fmla="*/ 491490 h 491490"/>
              <a:gd name="connsiteX1" fmla="*/ 480060 w 1097280"/>
              <a:gd name="connsiteY1" fmla="*/ 297180 h 491490"/>
              <a:gd name="connsiteX2" fmla="*/ 1097280 w 1097280"/>
              <a:gd name="connsiteY2" fmla="*/ 0 h 491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280" h="491490">
                <a:moveTo>
                  <a:pt x="0" y="491490"/>
                </a:moveTo>
                <a:cubicBezTo>
                  <a:pt x="148590" y="435292"/>
                  <a:pt x="297180" y="379095"/>
                  <a:pt x="480060" y="297180"/>
                </a:cubicBezTo>
                <a:cubicBezTo>
                  <a:pt x="662940" y="215265"/>
                  <a:pt x="880110" y="107632"/>
                  <a:pt x="10972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/>
          <p:cNvSpPr txBox="1"/>
          <p:nvPr/>
        </p:nvSpPr>
        <p:spPr>
          <a:xfrm rot="1919135">
            <a:off x="6229697" y="2483604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 + L</a:t>
            </a:r>
            <a:endParaRPr lang="fr-FR" dirty="0"/>
          </a:p>
        </p:txBody>
      </p:sp>
      <p:sp>
        <p:nvSpPr>
          <p:cNvPr id="32" name="ZoneTexte 31"/>
          <p:cNvSpPr txBox="1"/>
          <p:nvPr/>
        </p:nvSpPr>
        <p:spPr>
          <a:xfrm rot="16652083">
            <a:off x="6699463" y="3481576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 + L</a:t>
            </a:r>
            <a:endParaRPr lang="fr-FR" dirty="0"/>
          </a:p>
        </p:txBody>
      </p:sp>
      <p:sp>
        <p:nvSpPr>
          <p:cNvPr id="33" name="ZoneTexte 32"/>
          <p:cNvSpPr txBox="1"/>
          <p:nvPr/>
        </p:nvSpPr>
        <p:spPr>
          <a:xfrm>
            <a:off x="6733753" y="1640284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 + </a:t>
            </a:r>
            <a:r>
              <a:rPr lang="fr-FR" dirty="0">
                <a:sym typeface="Symbol"/>
              </a:rPr>
              <a:t></a:t>
            </a:r>
            <a:endParaRPr lang="fr-FR" dirty="0"/>
          </a:p>
        </p:txBody>
      </p:sp>
      <p:sp>
        <p:nvSpPr>
          <p:cNvPr id="34" name="ZoneTexte 33"/>
          <p:cNvSpPr txBox="1"/>
          <p:nvPr/>
        </p:nvSpPr>
        <p:spPr>
          <a:xfrm>
            <a:off x="5353050" y="3552904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 + </a:t>
            </a:r>
            <a:r>
              <a:rPr lang="fr-FR" dirty="0">
                <a:sym typeface="Symbol"/>
              </a:rPr>
              <a:t></a:t>
            </a:r>
            <a:endParaRPr lang="fr-FR" dirty="0"/>
          </a:p>
        </p:txBody>
      </p:sp>
      <p:sp>
        <p:nvSpPr>
          <p:cNvPr id="35" name="Forme libre 34"/>
          <p:cNvSpPr/>
          <p:nvPr/>
        </p:nvSpPr>
        <p:spPr>
          <a:xfrm>
            <a:off x="5783580" y="3006090"/>
            <a:ext cx="182880" cy="560070"/>
          </a:xfrm>
          <a:custGeom>
            <a:avLst/>
            <a:gdLst>
              <a:gd name="connsiteX0" fmla="*/ 0 w 182880"/>
              <a:gd name="connsiteY0" fmla="*/ 560070 h 560070"/>
              <a:gd name="connsiteX1" fmla="*/ 91440 w 182880"/>
              <a:gd name="connsiteY1" fmla="*/ 205740 h 560070"/>
              <a:gd name="connsiteX2" fmla="*/ 182880 w 182880"/>
              <a:gd name="connsiteY2" fmla="*/ 0 h 56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" h="560070">
                <a:moveTo>
                  <a:pt x="0" y="560070"/>
                </a:moveTo>
                <a:cubicBezTo>
                  <a:pt x="30480" y="429577"/>
                  <a:pt x="60960" y="299085"/>
                  <a:pt x="91440" y="205740"/>
                </a:cubicBezTo>
                <a:cubicBezTo>
                  <a:pt x="121920" y="112395"/>
                  <a:pt x="152400" y="56197"/>
                  <a:pt x="18288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 rot="19521172">
            <a:off x="7406600" y="2429882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 + L</a:t>
            </a:r>
            <a:endParaRPr lang="fr-FR" dirty="0"/>
          </a:p>
        </p:txBody>
      </p:sp>
      <p:sp>
        <p:nvSpPr>
          <p:cNvPr id="37" name="ZoneTexte 36"/>
          <p:cNvSpPr txBox="1"/>
          <p:nvPr/>
        </p:nvSpPr>
        <p:spPr>
          <a:xfrm>
            <a:off x="8016875" y="3464312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 + </a:t>
            </a:r>
            <a:r>
              <a:rPr lang="en-US" dirty="0" smtClean="0">
                <a:latin typeface="Symbol" charset="0"/>
                <a:ea typeface="ＭＳ Ｐゴシック" charset="0"/>
              </a:rPr>
              <a:t>b</a:t>
            </a:r>
            <a:endParaRPr lang="en-US" dirty="0">
              <a:latin typeface="Symbol" charset="0"/>
              <a:ea typeface="ＭＳ Ｐゴシック" charset="0"/>
            </a:endParaRPr>
          </a:p>
        </p:txBody>
      </p:sp>
      <p:sp>
        <p:nvSpPr>
          <p:cNvPr id="38" name="Forme libre 37"/>
          <p:cNvSpPr/>
          <p:nvPr/>
        </p:nvSpPr>
        <p:spPr>
          <a:xfrm>
            <a:off x="8001000" y="3108960"/>
            <a:ext cx="148590" cy="400050"/>
          </a:xfrm>
          <a:custGeom>
            <a:avLst/>
            <a:gdLst>
              <a:gd name="connsiteX0" fmla="*/ 148590 w 148590"/>
              <a:gd name="connsiteY0" fmla="*/ 400050 h 400050"/>
              <a:gd name="connsiteX1" fmla="*/ 114300 w 148590"/>
              <a:gd name="connsiteY1" fmla="*/ 171450 h 400050"/>
              <a:gd name="connsiteX2" fmla="*/ 0 w 148590"/>
              <a:gd name="connsiteY2" fmla="*/ 0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590" h="400050">
                <a:moveTo>
                  <a:pt x="148590" y="400050"/>
                </a:moveTo>
                <a:cubicBezTo>
                  <a:pt x="143827" y="319087"/>
                  <a:pt x="139065" y="238125"/>
                  <a:pt x="114300" y="171450"/>
                </a:cubicBezTo>
                <a:cubicBezTo>
                  <a:pt x="89535" y="104775"/>
                  <a:pt x="44767" y="52387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/>
          <p:cNvSpPr txBox="1"/>
          <p:nvPr/>
        </p:nvSpPr>
        <p:spPr>
          <a:xfrm>
            <a:off x="5353051" y="4070206"/>
            <a:ext cx="101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  <a:sym typeface="Symbol"/>
              </a:rPr>
              <a:t> +  + L</a:t>
            </a:r>
            <a:endParaRPr lang="fr-FR" b="1" dirty="0">
              <a:solidFill>
                <a:srgbClr val="00B050"/>
              </a:solidFill>
            </a:endParaRPr>
          </a:p>
        </p:txBody>
      </p:sp>
      <p:sp>
        <p:nvSpPr>
          <p:cNvPr id="40" name="Forme libre 39"/>
          <p:cNvSpPr/>
          <p:nvPr/>
        </p:nvSpPr>
        <p:spPr>
          <a:xfrm>
            <a:off x="6183630" y="3486150"/>
            <a:ext cx="422910" cy="651510"/>
          </a:xfrm>
          <a:custGeom>
            <a:avLst/>
            <a:gdLst>
              <a:gd name="connsiteX0" fmla="*/ 0 w 422910"/>
              <a:gd name="connsiteY0" fmla="*/ 651510 h 651510"/>
              <a:gd name="connsiteX1" fmla="*/ 182880 w 422910"/>
              <a:gd name="connsiteY1" fmla="*/ 251460 h 651510"/>
              <a:gd name="connsiteX2" fmla="*/ 422910 w 422910"/>
              <a:gd name="connsiteY2" fmla="*/ 0 h 65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2910" h="651510">
                <a:moveTo>
                  <a:pt x="0" y="651510"/>
                </a:moveTo>
                <a:cubicBezTo>
                  <a:pt x="56197" y="505777"/>
                  <a:pt x="112395" y="360045"/>
                  <a:pt x="182880" y="251460"/>
                </a:cubicBezTo>
                <a:cubicBezTo>
                  <a:pt x="253365" y="142875"/>
                  <a:pt x="338137" y="71437"/>
                  <a:pt x="42291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ZoneTexte 40"/>
          <p:cNvSpPr txBox="1"/>
          <p:nvPr/>
        </p:nvSpPr>
        <p:spPr>
          <a:xfrm>
            <a:off x="5254571" y="1248847"/>
            <a:ext cx="1043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 +  + L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2" name="Forme libre 41"/>
          <p:cNvSpPr/>
          <p:nvPr/>
        </p:nvSpPr>
        <p:spPr>
          <a:xfrm>
            <a:off x="6297930" y="1531620"/>
            <a:ext cx="571500" cy="731520"/>
          </a:xfrm>
          <a:custGeom>
            <a:avLst/>
            <a:gdLst>
              <a:gd name="connsiteX0" fmla="*/ 0 w 571500"/>
              <a:gd name="connsiteY0" fmla="*/ 0 h 731520"/>
              <a:gd name="connsiteX1" fmla="*/ 342900 w 571500"/>
              <a:gd name="connsiteY1" fmla="*/ 365760 h 731520"/>
              <a:gd name="connsiteX2" fmla="*/ 571500 w 571500"/>
              <a:gd name="connsiteY2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1500" h="731520">
                <a:moveTo>
                  <a:pt x="0" y="0"/>
                </a:moveTo>
                <a:cubicBezTo>
                  <a:pt x="123825" y="121920"/>
                  <a:pt x="247650" y="243840"/>
                  <a:pt x="342900" y="365760"/>
                </a:cubicBezTo>
                <a:cubicBezTo>
                  <a:pt x="438150" y="487680"/>
                  <a:pt x="504825" y="609600"/>
                  <a:pt x="571500" y="73152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orme libre 42"/>
          <p:cNvSpPr/>
          <p:nvPr/>
        </p:nvSpPr>
        <p:spPr>
          <a:xfrm>
            <a:off x="7555230" y="3520440"/>
            <a:ext cx="365760" cy="880110"/>
          </a:xfrm>
          <a:custGeom>
            <a:avLst/>
            <a:gdLst>
              <a:gd name="connsiteX0" fmla="*/ 365760 w 365760"/>
              <a:gd name="connsiteY0" fmla="*/ 880110 h 880110"/>
              <a:gd name="connsiteX1" fmla="*/ 160020 w 365760"/>
              <a:gd name="connsiteY1" fmla="*/ 274320 h 880110"/>
              <a:gd name="connsiteX2" fmla="*/ 0 w 365760"/>
              <a:gd name="connsiteY2" fmla="*/ 0 h 88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880110">
                <a:moveTo>
                  <a:pt x="365760" y="880110"/>
                </a:moveTo>
                <a:cubicBezTo>
                  <a:pt x="293370" y="650557"/>
                  <a:pt x="220980" y="421005"/>
                  <a:pt x="160020" y="274320"/>
                </a:cubicBezTo>
                <a:cubicBezTo>
                  <a:pt x="99060" y="127635"/>
                  <a:pt x="49530" y="63817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ZoneTexte 43"/>
          <p:cNvSpPr txBox="1"/>
          <p:nvPr/>
        </p:nvSpPr>
        <p:spPr>
          <a:xfrm>
            <a:off x="7812360" y="4437112"/>
            <a:ext cx="995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2">
                    <a:lumMod val="60000"/>
                    <a:lumOff val="40000"/>
                  </a:schemeClr>
                </a:solidFill>
                <a:sym typeface="Symbol"/>
              </a:rPr>
              <a:t> +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Symbol" charset="0"/>
                <a:ea typeface="ＭＳ Ｐゴシック" charset="0"/>
              </a:rPr>
              <a:t>b +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ＭＳ Ｐゴシック" charset="0"/>
                <a:cs typeface="Arial" pitchFamily="34" charset="0"/>
              </a:rPr>
              <a:t>L</a:t>
            </a:r>
            <a:endParaRPr lang="en-US" b="1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  <a:ea typeface="ＭＳ Ｐゴシック" charset="0"/>
              <a:cs typeface="Arial" pitchFamily="34" charset="0"/>
            </a:endParaRPr>
          </a:p>
        </p:txBody>
      </p:sp>
      <p:sp>
        <p:nvSpPr>
          <p:cNvPr id="45" name="ZoneTexte 44"/>
          <p:cNvSpPr txBox="1"/>
          <p:nvPr/>
        </p:nvSpPr>
        <p:spPr>
          <a:xfrm>
            <a:off x="3549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 3 eutectiques binaires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52273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4" name="Picture 4" descr="Class-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4" t="14896" r="26419" b="19753"/>
          <a:stretch>
            <a:fillRect/>
          </a:stretch>
        </p:blipFill>
        <p:spPr bwMode="auto">
          <a:xfrm>
            <a:off x="76200" y="914400"/>
            <a:ext cx="5181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5"/>
          <p:cNvSpPr>
            <a:spLocks noChangeArrowheads="1"/>
          </p:cNvSpPr>
          <p:nvPr/>
        </p:nvSpPr>
        <p:spPr bwMode="auto">
          <a:xfrm flipV="1">
            <a:off x="5105400" y="1752600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265738" y="1778000"/>
            <a:ext cx="3286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483600" y="1720850"/>
            <a:ext cx="309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b</a:t>
            </a:r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5842000" y="2087563"/>
            <a:ext cx="2646363" cy="923925"/>
          </a:xfrm>
          <a:custGeom>
            <a:avLst/>
            <a:gdLst>
              <a:gd name="T0" fmla="*/ 1408113 w 1667"/>
              <a:gd name="T1" fmla="*/ 923925 h 582"/>
              <a:gd name="T2" fmla="*/ 0 w 1667"/>
              <a:gd name="T3" fmla="*/ 117475 h 582"/>
              <a:gd name="T4" fmla="*/ 2646363 w 1667"/>
              <a:gd name="T5" fmla="*/ 0 h 582"/>
              <a:gd name="T6" fmla="*/ 1408113 w 1667"/>
              <a:gd name="T7" fmla="*/ 923925 h 58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67" h="582">
                <a:moveTo>
                  <a:pt x="887" y="582"/>
                </a:moveTo>
                <a:lnTo>
                  <a:pt x="0" y="74"/>
                </a:lnTo>
                <a:lnTo>
                  <a:pt x="1667" y="0"/>
                </a:lnTo>
                <a:lnTo>
                  <a:pt x="887" y="582"/>
                </a:lnTo>
                <a:close/>
              </a:path>
            </a:pathLst>
          </a:custGeom>
          <a:solidFill>
            <a:srgbClr val="FF6600">
              <a:alpha val="50195"/>
            </a:srgbClr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>
            <a:spLocks/>
          </p:cNvSpPr>
          <p:nvPr/>
        </p:nvSpPr>
        <p:spPr bwMode="auto">
          <a:xfrm>
            <a:off x="8466138" y="1763713"/>
            <a:ext cx="25400" cy="323850"/>
          </a:xfrm>
          <a:custGeom>
            <a:avLst/>
            <a:gdLst>
              <a:gd name="T0" fmla="*/ 0 w 16"/>
              <a:gd name="T1" fmla="*/ 323850 h 204"/>
              <a:gd name="T2" fmla="*/ 22225 w 16"/>
              <a:gd name="T3" fmla="*/ 161925 h 204"/>
              <a:gd name="T4" fmla="*/ 22225 w 16"/>
              <a:gd name="T5" fmla="*/ 0 h 20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" h="204">
                <a:moveTo>
                  <a:pt x="0" y="204"/>
                </a:moveTo>
                <a:cubicBezTo>
                  <a:pt x="2" y="187"/>
                  <a:pt x="12" y="136"/>
                  <a:pt x="14" y="102"/>
                </a:cubicBezTo>
                <a:cubicBezTo>
                  <a:pt x="16" y="68"/>
                  <a:pt x="14" y="21"/>
                  <a:pt x="14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5529263" y="1743075"/>
            <a:ext cx="344487" cy="461963"/>
          </a:xfrm>
          <a:custGeom>
            <a:avLst/>
            <a:gdLst>
              <a:gd name="T0" fmla="*/ 0 w 217"/>
              <a:gd name="T1" fmla="*/ 0 h 291"/>
              <a:gd name="T2" fmla="*/ 76200 w 217"/>
              <a:gd name="T3" fmla="*/ 214313 h 291"/>
              <a:gd name="T4" fmla="*/ 344487 w 217"/>
              <a:gd name="T5" fmla="*/ 461963 h 2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1">
                <a:moveTo>
                  <a:pt x="0" y="0"/>
                </a:moveTo>
                <a:cubicBezTo>
                  <a:pt x="7" y="22"/>
                  <a:pt x="12" y="87"/>
                  <a:pt x="48" y="135"/>
                </a:cubicBezTo>
                <a:cubicBezTo>
                  <a:pt x="84" y="183"/>
                  <a:pt x="182" y="259"/>
                  <a:pt x="217" y="291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5851525" y="2205038"/>
            <a:ext cx="1398588" cy="2216150"/>
          </a:xfrm>
          <a:custGeom>
            <a:avLst/>
            <a:gdLst>
              <a:gd name="T0" fmla="*/ 1195388 w 881"/>
              <a:gd name="T1" fmla="*/ 2216150 h 1396"/>
              <a:gd name="T2" fmla="*/ 0 w 881"/>
              <a:gd name="T3" fmla="*/ 0 h 1396"/>
              <a:gd name="T4" fmla="*/ 1398588 w 881"/>
              <a:gd name="T5" fmla="*/ 785813 h 1396"/>
              <a:gd name="T6" fmla="*/ 1195388 w 881"/>
              <a:gd name="T7" fmla="*/ 2216150 h 139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81" h="1396">
                <a:moveTo>
                  <a:pt x="753" y="1396"/>
                </a:moveTo>
                <a:lnTo>
                  <a:pt x="0" y="0"/>
                </a:lnTo>
                <a:lnTo>
                  <a:pt x="881" y="495"/>
                </a:lnTo>
                <a:lnTo>
                  <a:pt x="753" y="1396"/>
                </a:lnTo>
                <a:close/>
              </a:path>
            </a:pathLst>
          </a:custGeom>
          <a:solidFill>
            <a:srgbClr val="00CC00">
              <a:alpha val="50195"/>
            </a:srgbClr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>
            <a:off x="6799263" y="4410075"/>
            <a:ext cx="257175" cy="247650"/>
          </a:xfrm>
          <a:custGeom>
            <a:avLst/>
            <a:gdLst>
              <a:gd name="T0" fmla="*/ 257175 w 162"/>
              <a:gd name="T1" fmla="*/ 0 h 156"/>
              <a:gd name="T2" fmla="*/ 150813 w 162"/>
              <a:gd name="T3" fmla="*/ 139700 h 156"/>
              <a:gd name="T4" fmla="*/ 0 w 162"/>
              <a:gd name="T5" fmla="*/ 247650 h 1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2" h="156">
                <a:moveTo>
                  <a:pt x="162" y="0"/>
                </a:moveTo>
                <a:cubicBezTo>
                  <a:pt x="151" y="15"/>
                  <a:pt x="122" y="62"/>
                  <a:pt x="95" y="88"/>
                </a:cubicBezTo>
                <a:cubicBezTo>
                  <a:pt x="68" y="114"/>
                  <a:pt x="20" y="142"/>
                  <a:pt x="0" y="156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5432425" y="2205038"/>
            <a:ext cx="419100" cy="85725"/>
          </a:xfrm>
          <a:custGeom>
            <a:avLst/>
            <a:gdLst>
              <a:gd name="T0" fmla="*/ 0 w 264"/>
              <a:gd name="T1" fmla="*/ 85725 h 54"/>
              <a:gd name="T2" fmla="*/ 204788 w 264"/>
              <a:gd name="T3" fmla="*/ 33338 h 54"/>
              <a:gd name="T4" fmla="*/ 419100 w 264"/>
              <a:gd name="T5" fmla="*/ 0 h 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4" h="54">
                <a:moveTo>
                  <a:pt x="0" y="54"/>
                </a:moveTo>
                <a:cubicBezTo>
                  <a:pt x="20" y="48"/>
                  <a:pt x="85" y="30"/>
                  <a:pt x="129" y="21"/>
                </a:cubicBezTo>
                <a:cubicBezTo>
                  <a:pt x="173" y="12"/>
                  <a:pt x="236" y="5"/>
                  <a:pt x="264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7035800" y="2097088"/>
            <a:ext cx="1452563" cy="2346325"/>
          </a:xfrm>
          <a:custGeom>
            <a:avLst/>
            <a:gdLst>
              <a:gd name="T0" fmla="*/ 0 w 915"/>
              <a:gd name="T1" fmla="*/ 2346325 h 1478"/>
              <a:gd name="T2" fmla="*/ 1452563 w 915"/>
              <a:gd name="T3" fmla="*/ 0 h 1478"/>
              <a:gd name="T4" fmla="*/ 204788 w 915"/>
              <a:gd name="T5" fmla="*/ 914400 h 1478"/>
              <a:gd name="T6" fmla="*/ 0 w 915"/>
              <a:gd name="T7" fmla="*/ 2346325 h 147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15" h="1478">
                <a:moveTo>
                  <a:pt x="0" y="1478"/>
                </a:moveTo>
                <a:lnTo>
                  <a:pt x="915" y="0"/>
                </a:lnTo>
                <a:lnTo>
                  <a:pt x="129" y="576"/>
                </a:lnTo>
                <a:lnTo>
                  <a:pt x="0" y="1478"/>
                </a:lnTo>
                <a:close/>
              </a:path>
            </a:pathLst>
          </a:custGeom>
          <a:solidFill>
            <a:srgbClr val="FF00FF">
              <a:alpha val="50195"/>
            </a:srgbClr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046913" y="4421188"/>
            <a:ext cx="203200" cy="193675"/>
          </a:xfrm>
          <a:custGeom>
            <a:avLst/>
            <a:gdLst>
              <a:gd name="T0" fmla="*/ 0 w 128"/>
              <a:gd name="T1" fmla="*/ 0 h 122"/>
              <a:gd name="T2" fmla="*/ 203200 w 128"/>
              <a:gd name="T3" fmla="*/ 193675 h 12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28" h="122">
                <a:moveTo>
                  <a:pt x="0" y="0"/>
                </a:moveTo>
                <a:cubicBezTo>
                  <a:pt x="21" y="20"/>
                  <a:pt x="101" y="97"/>
                  <a:pt x="128" y="122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8477250" y="2108200"/>
            <a:ext cx="193675" cy="42863"/>
          </a:xfrm>
          <a:custGeom>
            <a:avLst/>
            <a:gdLst>
              <a:gd name="T0" fmla="*/ 0 w 122"/>
              <a:gd name="T1" fmla="*/ 0 h 27"/>
              <a:gd name="T2" fmla="*/ 193675 w 122"/>
              <a:gd name="T3" fmla="*/ 42863 h 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22" h="27">
                <a:moveTo>
                  <a:pt x="0" y="0"/>
                </a:moveTo>
                <a:cubicBezTo>
                  <a:pt x="20" y="4"/>
                  <a:pt x="97" y="22"/>
                  <a:pt x="122" y="27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6891338" y="4498975"/>
            <a:ext cx="2778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g</a:t>
            </a:r>
          </a:p>
        </p:txBody>
      </p:sp>
      <p:sp>
        <p:nvSpPr>
          <p:cNvPr id="19" name="Triangle isocèle 18"/>
          <p:cNvSpPr/>
          <p:nvPr/>
        </p:nvSpPr>
        <p:spPr>
          <a:xfrm rot="120000">
            <a:off x="902881" y="2781360"/>
            <a:ext cx="3599703" cy="1112682"/>
          </a:xfrm>
          <a:prstGeom prst="triangle">
            <a:avLst>
              <a:gd name="adj" fmla="val 66685"/>
            </a:avLst>
          </a:prstGeom>
          <a:solidFill>
            <a:srgbClr val="FFC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orme libre 19"/>
          <p:cNvSpPr/>
          <p:nvPr/>
        </p:nvSpPr>
        <p:spPr>
          <a:xfrm>
            <a:off x="7109460" y="1760220"/>
            <a:ext cx="148590" cy="1223010"/>
          </a:xfrm>
          <a:custGeom>
            <a:avLst/>
            <a:gdLst>
              <a:gd name="connsiteX0" fmla="*/ 0 w 148590"/>
              <a:gd name="connsiteY0" fmla="*/ 0 h 1223010"/>
              <a:gd name="connsiteX1" fmla="*/ 57150 w 148590"/>
              <a:gd name="connsiteY1" fmla="*/ 640080 h 1223010"/>
              <a:gd name="connsiteX2" fmla="*/ 91440 w 148590"/>
              <a:gd name="connsiteY2" fmla="*/ 1062990 h 1223010"/>
              <a:gd name="connsiteX3" fmla="*/ 148590 w 148590"/>
              <a:gd name="connsiteY3" fmla="*/ 1223010 h 1223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590" h="1223010">
                <a:moveTo>
                  <a:pt x="0" y="0"/>
                </a:moveTo>
                <a:cubicBezTo>
                  <a:pt x="20955" y="231457"/>
                  <a:pt x="41910" y="462915"/>
                  <a:pt x="57150" y="640080"/>
                </a:cubicBezTo>
                <a:cubicBezTo>
                  <a:pt x="72390" y="817245"/>
                  <a:pt x="76200" y="965835"/>
                  <a:pt x="91440" y="1062990"/>
                </a:cubicBezTo>
                <a:cubicBezTo>
                  <a:pt x="106680" y="1160145"/>
                  <a:pt x="127635" y="1191577"/>
                  <a:pt x="148590" y="122301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orme libre 20"/>
          <p:cNvSpPr/>
          <p:nvPr/>
        </p:nvSpPr>
        <p:spPr>
          <a:xfrm>
            <a:off x="7258050" y="3017520"/>
            <a:ext cx="628650" cy="525780"/>
          </a:xfrm>
          <a:custGeom>
            <a:avLst/>
            <a:gdLst>
              <a:gd name="connsiteX0" fmla="*/ 628650 w 628650"/>
              <a:gd name="connsiteY0" fmla="*/ 525780 h 525780"/>
              <a:gd name="connsiteX1" fmla="*/ 240030 w 628650"/>
              <a:gd name="connsiteY1" fmla="*/ 240030 h 525780"/>
              <a:gd name="connsiteX2" fmla="*/ 0 w 628650"/>
              <a:gd name="connsiteY2" fmla="*/ 0 h 5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8650" h="525780">
                <a:moveTo>
                  <a:pt x="628650" y="525780"/>
                </a:moveTo>
                <a:cubicBezTo>
                  <a:pt x="486727" y="426720"/>
                  <a:pt x="344805" y="327660"/>
                  <a:pt x="240030" y="240030"/>
                </a:cubicBezTo>
                <a:cubicBezTo>
                  <a:pt x="135255" y="152400"/>
                  <a:pt x="67627" y="76200"/>
                  <a:pt x="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 21"/>
          <p:cNvSpPr/>
          <p:nvPr/>
        </p:nvSpPr>
        <p:spPr>
          <a:xfrm>
            <a:off x="6137910" y="3006090"/>
            <a:ext cx="1097280" cy="491490"/>
          </a:xfrm>
          <a:custGeom>
            <a:avLst/>
            <a:gdLst>
              <a:gd name="connsiteX0" fmla="*/ 0 w 1097280"/>
              <a:gd name="connsiteY0" fmla="*/ 491490 h 491490"/>
              <a:gd name="connsiteX1" fmla="*/ 480060 w 1097280"/>
              <a:gd name="connsiteY1" fmla="*/ 297180 h 491490"/>
              <a:gd name="connsiteX2" fmla="*/ 1097280 w 1097280"/>
              <a:gd name="connsiteY2" fmla="*/ 0 h 491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280" h="491490">
                <a:moveTo>
                  <a:pt x="0" y="491490"/>
                </a:moveTo>
                <a:cubicBezTo>
                  <a:pt x="148590" y="435292"/>
                  <a:pt x="297180" y="379095"/>
                  <a:pt x="480060" y="297180"/>
                </a:cubicBezTo>
                <a:cubicBezTo>
                  <a:pt x="662940" y="215265"/>
                  <a:pt x="880110" y="107632"/>
                  <a:pt x="10972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6733753" y="1763524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 + </a:t>
            </a:r>
            <a:r>
              <a:rPr lang="fr-FR" dirty="0">
                <a:sym typeface="Symbol"/>
              </a:rPr>
              <a:t></a:t>
            </a:r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>
            <a:off x="5353050" y="3552904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 + </a:t>
            </a:r>
            <a:r>
              <a:rPr lang="fr-FR" dirty="0">
                <a:sym typeface="Symbol"/>
              </a:rPr>
              <a:t></a:t>
            </a:r>
            <a:endParaRPr lang="fr-FR" dirty="0"/>
          </a:p>
        </p:txBody>
      </p:sp>
      <p:sp>
        <p:nvSpPr>
          <p:cNvPr id="25" name="Forme libre 24"/>
          <p:cNvSpPr/>
          <p:nvPr/>
        </p:nvSpPr>
        <p:spPr>
          <a:xfrm>
            <a:off x="5783580" y="3006090"/>
            <a:ext cx="182880" cy="560070"/>
          </a:xfrm>
          <a:custGeom>
            <a:avLst/>
            <a:gdLst>
              <a:gd name="connsiteX0" fmla="*/ 0 w 182880"/>
              <a:gd name="connsiteY0" fmla="*/ 560070 h 560070"/>
              <a:gd name="connsiteX1" fmla="*/ 91440 w 182880"/>
              <a:gd name="connsiteY1" fmla="*/ 205740 h 560070"/>
              <a:gd name="connsiteX2" fmla="*/ 182880 w 182880"/>
              <a:gd name="connsiteY2" fmla="*/ 0 h 56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" h="560070">
                <a:moveTo>
                  <a:pt x="0" y="560070"/>
                </a:moveTo>
                <a:cubicBezTo>
                  <a:pt x="30480" y="429577"/>
                  <a:pt x="60960" y="299085"/>
                  <a:pt x="91440" y="205740"/>
                </a:cubicBezTo>
                <a:cubicBezTo>
                  <a:pt x="121920" y="112395"/>
                  <a:pt x="152400" y="56197"/>
                  <a:pt x="18288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/>
          <p:cNvSpPr txBox="1"/>
          <p:nvPr/>
        </p:nvSpPr>
        <p:spPr>
          <a:xfrm>
            <a:off x="8016875" y="3464312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 + </a:t>
            </a:r>
            <a:r>
              <a:rPr lang="en-US" dirty="0" smtClean="0">
                <a:latin typeface="Symbol" charset="0"/>
                <a:ea typeface="ＭＳ Ｐゴシック" charset="0"/>
              </a:rPr>
              <a:t>b</a:t>
            </a:r>
            <a:endParaRPr lang="en-US" dirty="0">
              <a:latin typeface="Symbol" charset="0"/>
              <a:ea typeface="ＭＳ Ｐゴシック" charset="0"/>
            </a:endParaRPr>
          </a:p>
        </p:txBody>
      </p:sp>
      <p:sp>
        <p:nvSpPr>
          <p:cNvPr id="27" name="Forme libre 26"/>
          <p:cNvSpPr/>
          <p:nvPr/>
        </p:nvSpPr>
        <p:spPr>
          <a:xfrm>
            <a:off x="8001000" y="3108960"/>
            <a:ext cx="148590" cy="400050"/>
          </a:xfrm>
          <a:custGeom>
            <a:avLst/>
            <a:gdLst>
              <a:gd name="connsiteX0" fmla="*/ 148590 w 148590"/>
              <a:gd name="connsiteY0" fmla="*/ 400050 h 400050"/>
              <a:gd name="connsiteX1" fmla="*/ 114300 w 148590"/>
              <a:gd name="connsiteY1" fmla="*/ 171450 h 400050"/>
              <a:gd name="connsiteX2" fmla="*/ 0 w 148590"/>
              <a:gd name="connsiteY2" fmla="*/ 0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590" h="400050">
                <a:moveTo>
                  <a:pt x="148590" y="400050"/>
                </a:moveTo>
                <a:cubicBezTo>
                  <a:pt x="143827" y="319087"/>
                  <a:pt x="139065" y="238125"/>
                  <a:pt x="114300" y="171450"/>
                </a:cubicBezTo>
                <a:cubicBezTo>
                  <a:pt x="89535" y="104775"/>
                  <a:pt x="44767" y="52387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/>
          <p:cNvSpPr txBox="1"/>
          <p:nvPr/>
        </p:nvSpPr>
        <p:spPr>
          <a:xfrm>
            <a:off x="5425058" y="4070206"/>
            <a:ext cx="101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  <a:sym typeface="Symbol"/>
              </a:rPr>
              <a:t> +  + L</a:t>
            </a:r>
            <a:endParaRPr lang="fr-FR" b="1" dirty="0">
              <a:solidFill>
                <a:srgbClr val="00B050"/>
              </a:solidFill>
            </a:endParaRPr>
          </a:p>
        </p:txBody>
      </p:sp>
      <p:sp>
        <p:nvSpPr>
          <p:cNvPr id="29" name="Forme libre 28"/>
          <p:cNvSpPr/>
          <p:nvPr/>
        </p:nvSpPr>
        <p:spPr>
          <a:xfrm>
            <a:off x="6309330" y="3486150"/>
            <a:ext cx="422910" cy="651510"/>
          </a:xfrm>
          <a:custGeom>
            <a:avLst/>
            <a:gdLst>
              <a:gd name="connsiteX0" fmla="*/ 0 w 422910"/>
              <a:gd name="connsiteY0" fmla="*/ 651510 h 651510"/>
              <a:gd name="connsiteX1" fmla="*/ 182880 w 422910"/>
              <a:gd name="connsiteY1" fmla="*/ 251460 h 651510"/>
              <a:gd name="connsiteX2" fmla="*/ 422910 w 422910"/>
              <a:gd name="connsiteY2" fmla="*/ 0 h 65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2910" h="651510">
                <a:moveTo>
                  <a:pt x="0" y="651510"/>
                </a:moveTo>
                <a:cubicBezTo>
                  <a:pt x="56197" y="505777"/>
                  <a:pt x="112395" y="360045"/>
                  <a:pt x="182880" y="251460"/>
                </a:cubicBezTo>
                <a:cubicBezTo>
                  <a:pt x="253365" y="142875"/>
                  <a:pt x="338137" y="71437"/>
                  <a:pt x="42291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/>
          <p:cNvSpPr txBox="1"/>
          <p:nvPr/>
        </p:nvSpPr>
        <p:spPr>
          <a:xfrm>
            <a:off x="5868144" y="1187460"/>
            <a:ext cx="1043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 +  + L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1" name="Forme libre 30"/>
          <p:cNvSpPr/>
          <p:nvPr/>
        </p:nvSpPr>
        <p:spPr>
          <a:xfrm>
            <a:off x="6297930" y="1617360"/>
            <a:ext cx="571500" cy="731520"/>
          </a:xfrm>
          <a:custGeom>
            <a:avLst/>
            <a:gdLst>
              <a:gd name="connsiteX0" fmla="*/ 0 w 571500"/>
              <a:gd name="connsiteY0" fmla="*/ 0 h 731520"/>
              <a:gd name="connsiteX1" fmla="*/ 342900 w 571500"/>
              <a:gd name="connsiteY1" fmla="*/ 365760 h 731520"/>
              <a:gd name="connsiteX2" fmla="*/ 571500 w 571500"/>
              <a:gd name="connsiteY2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1500" h="731520">
                <a:moveTo>
                  <a:pt x="0" y="0"/>
                </a:moveTo>
                <a:cubicBezTo>
                  <a:pt x="123825" y="121920"/>
                  <a:pt x="247650" y="243840"/>
                  <a:pt x="342900" y="365760"/>
                </a:cubicBezTo>
                <a:cubicBezTo>
                  <a:pt x="438150" y="487680"/>
                  <a:pt x="504825" y="609600"/>
                  <a:pt x="571500" y="73152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Forme libre 31"/>
          <p:cNvSpPr/>
          <p:nvPr/>
        </p:nvSpPr>
        <p:spPr>
          <a:xfrm>
            <a:off x="7452320" y="3520440"/>
            <a:ext cx="365760" cy="880110"/>
          </a:xfrm>
          <a:custGeom>
            <a:avLst/>
            <a:gdLst>
              <a:gd name="connsiteX0" fmla="*/ 365760 w 365760"/>
              <a:gd name="connsiteY0" fmla="*/ 880110 h 880110"/>
              <a:gd name="connsiteX1" fmla="*/ 160020 w 365760"/>
              <a:gd name="connsiteY1" fmla="*/ 274320 h 880110"/>
              <a:gd name="connsiteX2" fmla="*/ 0 w 365760"/>
              <a:gd name="connsiteY2" fmla="*/ 0 h 88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880110">
                <a:moveTo>
                  <a:pt x="365760" y="880110"/>
                </a:moveTo>
                <a:cubicBezTo>
                  <a:pt x="293370" y="650557"/>
                  <a:pt x="220980" y="421005"/>
                  <a:pt x="160020" y="274320"/>
                </a:cubicBezTo>
                <a:cubicBezTo>
                  <a:pt x="99060" y="127635"/>
                  <a:pt x="49530" y="63817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7740352" y="4365104"/>
            <a:ext cx="995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2">
                    <a:lumMod val="60000"/>
                    <a:lumOff val="40000"/>
                  </a:schemeClr>
                </a:solidFill>
                <a:sym typeface="Symbol"/>
              </a:rPr>
              <a:t> +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Symbol" charset="0"/>
                <a:ea typeface="ＭＳ Ｐゴシック" charset="0"/>
              </a:rPr>
              <a:t>b +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ＭＳ Ｐゴシック" charset="0"/>
                <a:cs typeface="Arial" pitchFamily="34" charset="0"/>
              </a:rPr>
              <a:t>L</a:t>
            </a:r>
            <a:endParaRPr lang="en-US" b="1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  <a:ea typeface="ＭＳ Ｐゴシック" charset="0"/>
              <a:cs typeface="Arial" pitchFamily="34" charset="0"/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3549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 3 eutectiques binaires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52273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34" name="Picture 4" descr="Class-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4" t="14896" r="26419" b="19753"/>
          <a:stretch>
            <a:fillRect/>
          </a:stretch>
        </p:blipFill>
        <p:spPr bwMode="auto">
          <a:xfrm>
            <a:off x="76200" y="914400"/>
            <a:ext cx="5181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AutoShape 5"/>
          <p:cNvSpPr>
            <a:spLocks noChangeArrowheads="1"/>
          </p:cNvSpPr>
          <p:nvPr/>
        </p:nvSpPr>
        <p:spPr bwMode="auto">
          <a:xfrm flipV="1">
            <a:off x="5105400" y="1752600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6" name="Text Box 6"/>
          <p:cNvSpPr txBox="1">
            <a:spLocks noChangeArrowheads="1"/>
          </p:cNvSpPr>
          <p:nvPr/>
        </p:nvSpPr>
        <p:spPr bwMode="auto">
          <a:xfrm>
            <a:off x="5299075" y="1843088"/>
            <a:ext cx="3286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8483600" y="1720850"/>
            <a:ext cx="309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b</a:t>
            </a:r>
          </a:p>
        </p:txBody>
      </p:sp>
      <p:sp>
        <p:nvSpPr>
          <p:cNvPr id="38" name="Freeform 8"/>
          <p:cNvSpPr>
            <a:spLocks/>
          </p:cNvSpPr>
          <p:nvPr/>
        </p:nvSpPr>
        <p:spPr bwMode="auto">
          <a:xfrm>
            <a:off x="8466138" y="1763713"/>
            <a:ext cx="25400" cy="323850"/>
          </a:xfrm>
          <a:custGeom>
            <a:avLst/>
            <a:gdLst>
              <a:gd name="T0" fmla="*/ 0 w 16"/>
              <a:gd name="T1" fmla="*/ 323850 h 204"/>
              <a:gd name="T2" fmla="*/ 22225 w 16"/>
              <a:gd name="T3" fmla="*/ 161925 h 204"/>
              <a:gd name="T4" fmla="*/ 22225 w 16"/>
              <a:gd name="T5" fmla="*/ 0 h 20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" h="204">
                <a:moveTo>
                  <a:pt x="0" y="204"/>
                </a:moveTo>
                <a:cubicBezTo>
                  <a:pt x="2" y="187"/>
                  <a:pt x="12" y="136"/>
                  <a:pt x="14" y="102"/>
                </a:cubicBezTo>
                <a:cubicBezTo>
                  <a:pt x="16" y="68"/>
                  <a:pt x="14" y="21"/>
                  <a:pt x="14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9" name="Freeform 9"/>
          <p:cNvSpPr>
            <a:spLocks/>
          </p:cNvSpPr>
          <p:nvPr/>
        </p:nvSpPr>
        <p:spPr bwMode="auto">
          <a:xfrm>
            <a:off x="5529263" y="1743075"/>
            <a:ext cx="344487" cy="461963"/>
          </a:xfrm>
          <a:custGeom>
            <a:avLst/>
            <a:gdLst>
              <a:gd name="T0" fmla="*/ 0 w 217"/>
              <a:gd name="T1" fmla="*/ 0 h 291"/>
              <a:gd name="T2" fmla="*/ 76200 w 217"/>
              <a:gd name="T3" fmla="*/ 214313 h 291"/>
              <a:gd name="T4" fmla="*/ 344487 w 217"/>
              <a:gd name="T5" fmla="*/ 461963 h 2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1">
                <a:moveTo>
                  <a:pt x="0" y="0"/>
                </a:moveTo>
                <a:cubicBezTo>
                  <a:pt x="7" y="22"/>
                  <a:pt x="12" y="87"/>
                  <a:pt x="48" y="135"/>
                </a:cubicBezTo>
                <a:cubicBezTo>
                  <a:pt x="84" y="183"/>
                  <a:pt x="182" y="259"/>
                  <a:pt x="217" y="291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" name="Freeform 10"/>
          <p:cNvSpPr>
            <a:spLocks/>
          </p:cNvSpPr>
          <p:nvPr/>
        </p:nvSpPr>
        <p:spPr bwMode="auto">
          <a:xfrm>
            <a:off x="5851525" y="2097088"/>
            <a:ext cx="2614613" cy="2324100"/>
          </a:xfrm>
          <a:custGeom>
            <a:avLst/>
            <a:gdLst>
              <a:gd name="T0" fmla="*/ 1195388 w 1647"/>
              <a:gd name="T1" fmla="*/ 2324100 h 1464"/>
              <a:gd name="T2" fmla="*/ 0 w 1647"/>
              <a:gd name="T3" fmla="*/ 107950 h 1464"/>
              <a:gd name="T4" fmla="*/ 2614613 w 1647"/>
              <a:gd name="T5" fmla="*/ 0 h 1464"/>
              <a:gd name="T6" fmla="*/ 1195388 w 1647"/>
              <a:gd name="T7" fmla="*/ 2324100 h 146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7" h="1464">
                <a:moveTo>
                  <a:pt x="753" y="1464"/>
                </a:moveTo>
                <a:lnTo>
                  <a:pt x="0" y="68"/>
                </a:lnTo>
                <a:lnTo>
                  <a:pt x="1647" y="0"/>
                </a:lnTo>
                <a:lnTo>
                  <a:pt x="753" y="1464"/>
                </a:lnTo>
                <a:close/>
              </a:path>
            </a:pathLst>
          </a:custGeom>
          <a:solidFill>
            <a:srgbClr val="0000FF">
              <a:alpha val="50195"/>
            </a:srgbClr>
          </a:solidFill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" name="Freeform 11"/>
          <p:cNvSpPr>
            <a:spLocks/>
          </p:cNvSpPr>
          <p:nvPr/>
        </p:nvSpPr>
        <p:spPr bwMode="auto">
          <a:xfrm>
            <a:off x="6799263" y="4410075"/>
            <a:ext cx="257175" cy="247650"/>
          </a:xfrm>
          <a:custGeom>
            <a:avLst/>
            <a:gdLst>
              <a:gd name="T0" fmla="*/ 257175 w 162"/>
              <a:gd name="T1" fmla="*/ 0 h 156"/>
              <a:gd name="T2" fmla="*/ 150813 w 162"/>
              <a:gd name="T3" fmla="*/ 139700 h 156"/>
              <a:gd name="T4" fmla="*/ 0 w 162"/>
              <a:gd name="T5" fmla="*/ 247650 h 1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2" h="156">
                <a:moveTo>
                  <a:pt x="162" y="0"/>
                </a:moveTo>
                <a:cubicBezTo>
                  <a:pt x="151" y="15"/>
                  <a:pt x="122" y="62"/>
                  <a:pt x="95" y="88"/>
                </a:cubicBezTo>
                <a:cubicBezTo>
                  <a:pt x="68" y="114"/>
                  <a:pt x="20" y="142"/>
                  <a:pt x="0" y="156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2" name="Freeform 12"/>
          <p:cNvSpPr>
            <a:spLocks/>
          </p:cNvSpPr>
          <p:nvPr/>
        </p:nvSpPr>
        <p:spPr bwMode="auto">
          <a:xfrm>
            <a:off x="5432425" y="2205038"/>
            <a:ext cx="419100" cy="85725"/>
          </a:xfrm>
          <a:custGeom>
            <a:avLst/>
            <a:gdLst>
              <a:gd name="T0" fmla="*/ 0 w 264"/>
              <a:gd name="T1" fmla="*/ 85725 h 54"/>
              <a:gd name="T2" fmla="*/ 204788 w 264"/>
              <a:gd name="T3" fmla="*/ 33338 h 54"/>
              <a:gd name="T4" fmla="*/ 419100 w 264"/>
              <a:gd name="T5" fmla="*/ 0 h 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4" h="54">
                <a:moveTo>
                  <a:pt x="0" y="54"/>
                </a:moveTo>
                <a:cubicBezTo>
                  <a:pt x="20" y="48"/>
                  <a:pt x="85" y="30"/>
                  <a:pt x="129" y="21"/>
                </a:cubicBezTo>
                <a:cubicBezTo>
                  <a:pt x="173" y="12"/>
                  <a:pt x="236" y="5"/>
                  <a:pt x="264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3" name="Freeform 13"/>
          <p:cNvSpPr>
            <a:spLocks/>
          </p:cNvSpPr>
          <p:nvPr/>
        </p:nvSpPr>
        <p:spPr bwMode="auto">
          <a:xfrm>
            <a:off x="7046913" y="4421188"/>
            <a:ext cx="203200" cy="193675"/>
          </a:xfrm>
          <a:custGeom>
            <a:avLst/>
            <a:gdLst>
              <a:gd name="T0" fmla="*/ 0 w 128"/>
              <a:gd name="T1" fmla="*/ 0 h 122"/>
              <a:gd name="T2" fmla="*/ 203200 w 128"/>
              <a:gd name="T3" fmla="*/ 193675 h 12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28" h="122">
                <a:moveTo>
                  <a:pt x="0" y="0"/>
                </a:moveTo>
                <a:cubicBezTo>
                  <a:pt x="21" y="20"/>
                  <a:pt x="101" y="97"/>
                  <a:pt x="128" y="122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4" name="Freeform 14"/>
          <p:cNvSpPr>
            <a:spLocks/>
          </p:cNvSpPr>
          <p:nvPr/>
        </p:nvSpPr>
        <p:spPr bwMode="auto">
          <a:xfrm>
            <a:off x="8477250" y="2108200"/>
            <a:ext cx="193675" cy="42863"/>
          </a:xfrm>
          <a:custGeom>
            <a:avLst/>
            <a:gdLst>
              <a:gd name="T0" fmla="*/ 0 w 122"/>
              <a:gd name="T1" fmla="*/ 0 h 27"/>
              <a:gd name="T2" fmla="*/ 193675 w 122"/>
              <a:gd name="T3" fmla="*/ 42863 h 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22" h="27">
                <a:moveTo>
                  <a:pt x="0" y="0"/>
                </a:moveTo>
                <a:cubicBezTo>
                  <a:pt x="20" y="4"/>
                  <a:pt x="97" y="22"/>
                  <a:pt x="122" y="27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5" name="Text Box 15"/>
          <p:cNvSpPr txBox="1">
            <a:spLocks noChangeArrowheads="1"/>
          </p:cNvSpPr>
          <p:nvPr/>
        </p:nvSpPr>
        <p:spPr bwMode="auto">
          <a:xfrm>
            <a:off x="6891338" y="4484688"/>
            <a:ext cx="2778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g</a:t>
            </a:r>
          </a:p>
        </p:txBody>
      </p:sp>
      <p:sp>
        <p:nvSpPr>
          <p:cNvPr id="46" name="Triangle isocèle 45"/>
          <p:cNvSpPr/>
          <p:nvPr/>
        </p:nvSpPr>
        <p:spPr>
          <a:xfrm rot="120000">
            <a:off x="902881" y="2781360"/>
            <a:ext cx="3599703" cy="1112682"/>
          </a:xfrm>
          <a:prstGeom prst="triangle">
            <a:avLst>
              <a:gd name="adj" fmla="val 66685"/>
            </a:avLst>
          </a:prstGeom>
          <a:solidFill>
            <a:srgbClr val="FFC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Forme libre 47"/>
          <p:cNvSpPr/>
          <p:nvPr/>
        </p:nvSpPr>
        <p:spPr>
          <a:xfrm>
            <a:off x="7109460" y="1760220"/>
            <a:ext cx="148590" cy="1223010"/>
          </a:xfrm>
          <a:custGeom>
            <a:avLst/>
            <a:gdLst>
              <a:gd name="connsiteX0" fmla="*/ 0 w 148590"/>
              <a:gd name="connsiteY0" fmla="*/ 0 h 1223010"/>
              <a:gd name="connsiteX1" fmla="*/ 57150 w 148590"/>
              <a:gd name="connsiteY1" fmla="*/ 640080 h 1223010"/>
              <a:gd name="connsiteX2" fmla="*/ 91440 w 148590"/>
              <a:gd name="connsiteY2" fmla="*/ 1062990 h 1223010"/>
              <a:gd name="connsiteX3" fmla="*/ 148590 w 148590"/>
              <a:gd name="connsiteY3" fmla="*/ 1223010 h 1223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590" h="1223010">
                <a:moveTo>
                  <a:pt x="0" y="0"/>
                </a:moveTo>
                <a:cubicBezTo>
                  <a:pt x="20955" y="231457"/>
                  <a:pt x="41910" y="462915"/>
                  <a:pt x="57150" y="640080"/>
                </a:cubicBezTo>
                <a:cubicBezTo>
                  <a:pt x="72390" y="817245"/>
                  <a:pt x="76200" y="965835"/>
                  <a:pt x="91440" y="1062990"/>
                </a:cubicBezTo>
                <a:cubicBezTo>
                  <a:pt x="106680" y="1160145"/>
                  <a:pt x="127635" y="1191577"/>
                  <a:pt x="148590" y="122301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Forme libre 48"/>
          <p:cNvSpPr/>
          <p:nvPr/>
        </p:nvSpPr>
        <p:spPr>
          <a:xfrm>
            <a:off x="7258050" y="3017520"/>
            <a:ext cx="628650" cy="525780"/>
          </a:xfrm>
          <a:custGeom>
            <a:avLst/>
            <a:gdLst>
              <a:gd name="connsiteX0" fmla="*/ 628650 w 628650"/>
              <a:gd name="connsiteY0" fmla="*/ 525780 h 525780"/>
              <a:gd name="connsiteX1" fmla="*/ 240030 w 628650"/>
              <a:gd name="connsiteY1" fmla="*/ 240030 h 525780"/>
              <a:gd name="connsiteX2" fmla="*/ 0 w 628650"/>
              <a:gd name="connsiteY2" fmla="*/ 0 h 5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8650" h="525780">
                <a:moveTo>
                  <a:pt x="628650" y="525780"/>
                </a:moveTo>
                <a:cubicBezTo>
                  <a:pt x="486727" y="426720"/>
                  <a:pt x="344805" y="327660"/>
                  <a:pt x="240030" y="240030"/>
                </a:cubicBezTo>
                <a:cubicBezTo>
                  <a:pt x="135255" y="152400"/>
                  <a:pt x="67627" y="76200"/>
                  <a:pt x="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Forme libre 49"/>
          <p:cNvSpPr/>
          <p:nvPr/>
        </p:nvSpPr>
        <p:spPr>
          <a:xfrm>
            <a:off x="6137910" y="3006090"/>
            <a:ext cx="1097280" cy="491490"/>
          </a:xfrm>
          <a:custGeom>
            <a:avLst/>
            <a:gdLst>
              <a:gd name="connsiteX0" fmla="*/ 0 w 1097280"/>
              <a:gd name="connsiteY0" fmla="*/ 491490 h 491490"/>
              <a:gd name="connsiteX1" fmla="*/ 480060 w 1097280"/>
              <a:gd name="connsiteY1" fmla="*/ 297180 h 491490"/>
              <a:gd name="connsiteX2" fmla="*/ 1097280 w 1097280"/>
              <a:gd name="connsiteY2" fmla="*/ 0 h 491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280" h="491490">
                <a:moveTo>
                  <a:pt x="0" y="491490"/>
                </a:moveTo>
                <a:cubicBezTo>
                  <a:pt x="148590" y="435292"/>
                  <a:pt x="297180" y="379095"/>
                  <a:pt x="480060" y="297180"/>
                </a:cubicBezTo>
                <a:cubicBezTo>
                  <a:pt x="662940" y="215265"/>
                  <a:pt x="880110" y="107632"/>
                  <a:pt x="10972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549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 3 eutectiques binaires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92800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34" name="ZoneTexte 33"/>
          <p:cNvSpPr txBox="1"/>
          <p:nvPr/>
        </p:nvSpPr>
        <p:spPr>
          <a:xfrm>
            <a:off x="-81632" y="4070206"/>
            <a:ext cx="101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  <a:sym typeface="Symbol"/>
              </a:rPr>
              <a:t> +  + L</a:t>
            </a:r>
            <a:endParaRPr lang="fr-FR" b="1" dirty="0">
              <a:solidFill>
                <a:srgbClr val="00B050"/>
              </a:solidFill>
            </a:endParaRPr>
          </a:p>
        </p:txBody>
      </p:sp>
      <p:sp>
        <p:nvSpPr>
          <p:cNvPr id="35" name="Forme libre 34"/>
          <p:cNvSpPr/>
          <p:nvPr/>
        </p:nvSpPr>
        <p:spPr>
          <a:xfrm>
            <a:off x="691797" y="3486150"/>
            <a:ext cx="422910" cy="651510"/>
          </a:xfrm>
          <a:custGeom>
            <a:avLst/>
            <a:gdLst>
              <a:gd name="connsiteX0" fmla="*/ 0 w 422910"/>
              <a:gd name="connsiteY0" fmla="*/ 651510 h 651510"/>
              <a:gd name="connsiteX1" fmla="*/ 182880 w 422910"/>
              <a:gd name="connsiteY1" fmla="*/ 251460 h 651510"/>
              <a:gd name="connsiteX2" fmla="*/ 422910 w 422910"/>
              <a:gd name="connsiteY2" fmla="*/ 0 h 65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2910" h="651510">
                <a:moveTo>
                  <a:pt x="0" y="651510"/>
                </a:moveTo>
                <a:cubicBezTo>
                  <a:pt x="56197" y="505777"/>
                  <a:pt x="112395" y="360045"/>
                  <a:pt x="182880" y="251460"/>
                </a:cubicBezTo>
                <a:cubicBezTo>
                  <a:pt x="253365" y="142875"/>
                  <a:pt x="338137" y="71437"/>
                  <a:pt x="42291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433461" y="1187460"/>
            <a:ext cx="1043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 +  + L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Forme libre 36"/>
          <p:cNvSpPr/>
          <p:nvPr/>
        </p:nvSpPr>
        <p:spPr>
          <a:xfrm>
            <a:off x="863247" y="1531620"/>
            <a:ext cx="571500" cy="731520"/>
          </a:xfrm>
          <a:custGeom>
            <a:avLst/>
            <a:gdLst>
              <a:gd name="connsiteX0" fmla="*/ 0 w 571500"/>
              <a:gd name="connsiteY0" fmla="*/ 0 h 731520"/>
              <a:gd name="connsiteX1" fmla="*/ 342900 w 571500"/>
              <a:gd name="connsiteY1" fmla="*/ 365760 h 731520"/>
              <a:gd name="connsiteX2" fmla="*/ 571500 w 571500"/>
              <a:gd name="connsiteY2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1500" h="731520">
                <a:moveTo>
                  <a:pt x="0" y="0"/>
                </a:moveTo>
                <a:cubicBezTo>
                  <a:pt x="123825" y="121920"/>
                  <a:pt x="247650" y="243840"/>
                  <a:pt x="342900" y="365760"/>
                </a:cubicBezTo>
                <a:cubicBezTo>
                  <a:pt x="438150" y="487680"/>
                  <a:pt x="504825" y="609600"/>
                  <a:pt x="571500" y="73152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Forme libre 37"/>
          <p:cNvSpPr/>
          <p:nvPr/>
        </p:nvSpPr>
        <p:spPr>
          <a:xfrm>
            <a:off x="2166267" y="3520440"/>
            <a:ext cx="365760" cy="880110"/>
          </a:xfrm>
          <a:custGeom>
            <a:avLst/>
            <a:gdLst>
              <a:gd name="connsiteX0" fmla="*/ 365760 w 365760"/>
              <a:gd name="connsiteY0" fmla="*/ 880110 h 880110"/>
              <a:gd name="connsiteX1" fmla="*/ 160020 w 365760"/>
              <a:gd name="connsiteY1" fmla="*/ 274320 h 880110"/>
              <a:gd name="connsiteX2" fmla="*/ 0 w 365760"/>
              <a:gd name="connsiteY2" fmla="*/ 0 h 88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880110">
                <a:moveTo>
                  <a:pt x="365760" y="880110"/>
                </a:moveTo>
                <a:cubicBezTo>
                  <a:pt x="293370" y="650557"/>
                  <a:pt x="220980" y="421005"/>
                  <a:pt x="160020" y="274320"/>
                </a:cubicBezTo>
                <a:cubicBezTo>
                  <a:pt x="99060" y="127635"/>
                  <a:pt x="49530" y="63817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/>
          <p:cNvSpPr txBox="1"/>
          <p:nvPr/>
        </p:nvSpPr>
        <p:spPr>
          <a:xfrm>
            <a:off x="2377677" y="4437112"/>
            <a:ext cx="995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2">
                    <a:lumMod val="60000"/>
                    <a:lumOff val="40000"/>
                  </a:schemeClr>
                </a:solidFill>
                <a:sym typeface="Symbol"/>
              </a:rPr>
              <a:t> +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Symbol" charset="0"/>
                <a:ea typeface="ＭＳ Ｐゴシック" charset="0"/>
              </a:rPr>
              <a:t>b +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ＭＳ Ｐゴシック" charset="0"/>
                <a:cs typeface="Arial" pitchFamily="34" charset="0"/>
              </a:rPr>
              <a:t>L</a:t>
            </a:r>
            <a:endParaRPr lang="en-US" b="1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  <a:ea typeface="ＭＳ Ｐゴシック" charset="0"/>
              <a:cs typeface="Arial" pitchFamily="34" charset="0"/>
            </a:endParaRPr>
          </a:p>
        </p:txBody>
      </p:sp>
      <p:sp>
        <p:nvSpPr>
          <p:cNvPr id="40" name="Freeform 14"/>
          <p:cNvSpPr>
            <a:spLocks/>
          </p:cNvSpPr>
          <p:nvPr/>
        </p:nvSpPr>
        <p:spPr bwMode="auto">
          <a:xfrm>
            <a:off x="539899" y="2130425"/>
            <a:ext cx="2303463" cy="741363"/>
          </a:xfrm>
          <a:custGeom>
            <a:avLst/>
            <a:gdLst>
              <a:gd name="T0" fmla="*/ 1204913 w 1451"/>
              <a:gd name="T1" fmla="*/ 741363 h 467"/>
              <a:gd name="T2" fmla="*/ 0 w 1451"/>
              <a:gd name="T3" fmla="*/ 42863 h 467"/>
              <a:gd name="T4" fmla="*/ 2303463 w 1451"/>
              <a:gd name="T5" fmla="*/ 0 h 467"/>
              <a:gd name="T6" fmla="*/ 1204913 w 1451"/>
              <a:gd name="T7" fmla="*/ 741363 h 46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51" h="467">
                <a:moveTo>
                  <a:pt x="759" y="467"/>
                </a:moveTo>
                <a:lnTo>
                  <a:pt x="0" y="27"/>
                </a:lnTo>
                <a:lnTo>
                  <a:pt x="1451" y="0"/>
                </a:lnTo>
                <a:lnTo>
                  <a:pt x="759" y="467"/>
                </a:lnTo>
                <a:close/>
              </a:path>
            </a:pathLst>
          </a:custGeom>
          <a:solidFill>
            <a:srgbClr val="FF6600">
              <a:alpha val="50195"/>
            </a:srgbClr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" name="Freeform 17"/>
          <p:cNvSpPr>
            <a:spLocks/>
          </p:cNvSpPr>
          <p:nvPr/>
        </p:nvSpPr>
        <p:spPr bwMode="auto">
          <a:xfrm>
            <a:off x="422424" y="2333625"/>
            <a:ext cx="1173163" cy="1722438"/>
          </a:xfrm>
          <a:custGeom>
            <a:avLst/>
            <a:gdLst>
              <a:gd name="T0" fmla="*/ 1000125 w 739"/>
              <a:gd name="T1" fmla="*/ 1722438 h 1085"/>
              <a:gd name="T2" fmla="*/ 0 w 739"/>
              <a:gd name="T3" fmla="*/ 0 h 1085"/>
              <a:gd name="T4" fmla="*/ 1173163 w 739"/>
              <a:gd name="T5" fmla="*/ 722313 h 1085"/>
              <a:gd name="T6" fmla="*/ 1000125 w 739"/>
              <a:gd name="T7" fmla="*/ 1722438 h 108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39" h="1085">
                <a:moveTo>
                  <a:pt x="630" y="1085"/>
                </a:moveTo>
                <a:lnTo>
                  <a:pt x="0" y="0"/>
                </a:lnTo>
                <a:lnTo>
                  <a:pt x="739" y="455"/>
                </a:lnTo>
                <a:lnTo>
                  <a:pt x="630" y="1085"/>
                </a:lnTo>
                <a:close/>
              </a:path>
            </a:pathLst>
          </a:custGeom>
          <a:solidFill>
            <a:srgbClr val="00CC00">
              <a:alpha val="50195"/>
            </a:srgbClr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2" name="Freeform 20"/>
          <p:cNvSpPr>
            <a:spLocks/>
          </p:cNvSpPr>
          <p:nvPr/>
        </p:nvSpPr>
        <p:spPr bwMode="auto">
          <a:xfrm>
            <a:off x="1692424" y="2238375"/>
            <a:ext cx="1268413" cy="2043113"/>
          </a:xfrm>
          <a:custGeom>
            <a:avLst/>
            <a:gdLst>
              <a:gd name="T0" fmla="*/ 0 w 799"/>
              <a:gd name="T1" fmla="*/ 2043113 h 1287"/>
              <a:gd name="T2" fmla="*/ 1268413 w 799"/>
              <a:gd name="T3" fmla="*/ 0 h 1287"/>
              <a:gd name="T4" fmla="*/ 225425 w 799"/>
              <a:gd name="T5" fmla="*/ 914400 h 1287"/>
              <a:gd name="T6" fmla="*/ 0 w 799"/>
              <a:gd name="T7" fmla="*/ 2043113 h 128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99" h="1287">
                <a:moveTo>
                  <a:pt x="0" y="1287"/>
                </a:moveTo>
                <a:lnTo>
                  <a:pt x="799" y="0"/>
                </a:lnTo>
                <a:lnTo>
                  <a:pt x="142" y="576"/>
                </a:lnTo>
                <a:lnTo>
                  <a:pt x="0" y="1287"/>
                </a:lnTo>
                <a:close/>
              </a:path>
            </a:pathLst>
          </a:custGeom>
          <a:solidFill>
            <a:srgbClr val="FF00FF">
              <a:alpha val="50195"/>
            </a:srgbClr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3" name="Freeform 8"/>
          <p:cNvSpPr>
            <a:spLocks/>
          </p:cNvSpPr>
          <p:nvPr/>
        </p:nvSpPr>
        <p:spPr bwMode="auto">
          <a:xfrm>
            <a:off x="3230736" y="1988840"/>
            <a:ext cx="2646363" cy="923925"/>
          </a:xfrm>
          <a:custGeom>
            <a:avLst/>
            <a:gdLst>
              <a:gd name="T0" fmla="*/ 1408113 w 1667"/>
              <a:gd name="T1" fmla="*/ 923925 h 582"/>
              <a:gd name="T2" fmla="*/ 0 w 1667"/>
              <a:gd name="T3" fmla="*/ 117475 h 582"/>
              <a:gd name="T4" fmla="*/ 2646363 w 1667"/>
              <a:gd name="T5" fmla="*/ 0 h 582"/>
              <a:gd name="T6" fmla="*/ 1408113 w 1667"/>
              <a:gd name="T7" fmla="*/ 923925 h 58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67" h="582">
                <a:moveTo>
                  <a:pt x="887" y="582"/>
                </a:moveTo>
                <a:lnTo>
                  <a:pt x="0" y="74"/>
                </a:lnTo>
                <a:lnTo>
                  <a:pt x="1667" y="0"/>
                </a:lnTo>
                <a:lnTo>
                  <a:pt x="887" y="582"/>
                </a:lnTo>
                <a:close/>
              </a:path>
            </a:pathLst>
          </a:custGeom>
          <a:solidFill>
            <a:srgbClr val="FF6600">
              <a:alpha val="50195"/>
            </a:srgbClr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4" name="Freeform 11"/>
          <p:cNvSpPr>
            <a:spLocks/>
          </p:cNvSpPr>
          <p:nvPr/>
        </p:nvSpPr>
        <p:spPr bwMode="auto">
          <a:xfrm>
            <a:off x="3240261" y="2106315"/>
            <a:ext cx="1398588" cy="2216150"/>
          </a:xfrm>
          <a:custGeom>
            <a:avLst/>
            <a:gdLst>
              <a:gd name="T0" fmla="*/ 1195388 w 881"/>
              <a:gd name="T1" fmla="*/ 2216150 h 1396"/>
              <a:gd name="T2" fmla="*/ 0 w 881"/>
              <a:gd name="T3" fmla="*/ 0 h 1396"/>
              <a:gd name="T4" fmla="*/ 1398588 w 881"/>
              <a:gd name="T5" fmla="*/ 785813 h 1396"/>
              <a:gd name="T6" fmla="*/ 1195388 w 881"/>
              <a:gd name="T7" fmla="*/ 2216150 h 139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81" h="1396">
                <a:moveTo>
                  <a:pt x="753" y="1396"/>
                </a:moveTo>
                <a:lnTo>
                  <a:pt x="0" y="0"/>
                </a:lnTo>
                <a:lnTo>
                  <a:pt x="881" y="495"/>
                </a:lnTo>
                <a:lnTo>
                  <a:pt x="753" y="1396"/>
                </a:lnTo>
                <a:close/>
              </a:path>
            </a:pathLst>
          </a:custGeom>
          <a:solidFill>
            <a:srgbClr val="00CC00">
              <a:alpha val="50195"/>
            </a:srgbClr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5" name="Freeform 14"/>
          <p:cNvSpPr>
            <a:spLocks/>
          </p:cNvSpPr>
          <p:nvPr/>
        </p:nvSpPr>
        <p:spPr bwMode="auto">
          <a:xfrm>
            <a:off x="4424536" y="1998365"/>
            <a:ext cx="1452563" cy="2346325"/>
          </a:xfrm>
          <a:custGeom>
            <a:avLst/>
            <a:gdLst>
              <a:gd name="T0" fmla="*/ 0 w 915"/>
              <a:gd name="T1" fmla="*/ 2346325 h 1478"/>
              <a:gd name="T2" fmla="*/ 1452563 w 915"/>
              <a:gd name="T3" fmla="*/ 0 h 1478"/>
              <a:gd name="T4" fmla="*/ 204788 w 915"/>
              <a:gd name="T5" fmla="*/ 914400 h 1478"/>
              <a:gd name="T6" fmla="*/ 0 w 915"/>
              <a:gd name="T7" fmla="*/ 2346325 h 147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15" h="1478">
                <a:moveTo>
                  <a:pt x="0" y="1478"/>
                </a:moveTo>
                <a:lnTo>
                  <a:pt x="915" y="0"/>
                </a:lnTo>
                <a:lnTo>
                  <a:pt x="129" y="576"/>
                </a:lnTo>
                <a:lnTo>
                  <a:pt x="0" y="1478"/>
                </a:lnTo>
                <a:close/>
              </a:path>
            </a:pathLst>
          </a:custGeom>
          <a:solidFill>
            <a:srgbClr val="FF00FF">
              <a:alpha val="50195"/>
            </a:srgbClr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6" name="Freeform 10"/>
          <p:cNvSpPr>
            <a:spLocks/>
          </p:cNvSpPr>
          <p:nvPr/>
        </p:nvSpPr>
        <p:spPr bwMode="auto">
          <a:xfrm>
            <a:off x="6228184" y="2041004"/>
            <a:ext cx="2614613" cy="2324100"/>
          </a:xfrm>
          <a:custGeom>
            <a:avLst/>
            <a:gdLst>
              <a:gd name="T0" fmla="*/ 1195388 w 1647"/>
              <a:gd name="T1" fmla="*/ 2324100 h 1464"/>
              <a:gd name="T2" fmla="*/ 0 w 1647"/>
              <a:gd name="T3" fmla="*/ 107950 h 1464"/>
              <a:gd name="T4" fmla="*/ 2614613 w 1647"/>
              <a:gd name="T5" fmla="*/ 0 h 1464"/>
              <a:gd name="T6" fmla="*/ 1195388 w 1647"/>
              <a:gd name="T7" fmla="*/ 2324100 h 146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7" h="1464">
                <a:moveTo>
                  <a:pt x="753" y="1464"/>
                </a:moveTo>
                <a:lnTo>
                  <a:pt x="0" y="68"/>
                </a:lnTo>
                <a:lnTo>
                  <a:pt x="1647" y="0"/>
                </a:lnTo>
                <a:lnTo>
                  <a:pt x="753" y="1464"/>
                </a:lnTo>
                <a:close/>
              </a:path>
            </a:pathLst>
          </a:custGeom>
          <a:solidFill>
            <a:srgbClr val="0000FF">
              <a:alpha val="50195"/>
            </a:srgbClr>
          </a:solidFill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8" name="Forme libre 47"/>
          <p:cNvSpPr/>
          <p:nvPr/>
        </p:nvSpPr>
        <p:spPr>
          <a:xfrm>
            <a:off x="7498080" y="1657350"/>
            <a:ext cx="155039" cy="1165860"/>
          </a:xfrm>
          <a:custGeom>
            <a:avLst/>
            <a:gdLst>
              <a:gd name="connsiteX0" fmla="*/ 0 w 155039"/>
              <a:gd name="connsiteY0" fmla="*/ 0 h 1165860"/>
              <a:gd name="connsiteX1" fmla="*/ 148590 w 155039"/>
              <a:gd name="connsiteY1" fmla="*/ 708660 h 1165860"/>
              <a:gd name="connsiteX2" fmla="*/ 114300 w 155039"/>
              <a:gd name="connsiteY2" fmla="*/ 1165860 h 1165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039" h="1165860">
                <a:moveTo>
                  <a:pt x="0" y="0"/>
                </a:moveTo>
                <a:cubicBezTo>
                  <a:pt x="64770" y="257175"/>
                  <a:pt x="129540" y="514350"/>
                  <a:pt x="148590" y="708660"/>
                </a:cubicBezTo>
                <a:cubicBezTo>
                  <a:pt x="167640" y="902970"/>
                  <a:pt x="140970" y="1034415"/>
                  <a:pt x="114300" y="116586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ZoneTexte 48"/>
          <p:cNvSpPr txBox="1"/>
          <p:nvPr/>
        </p:nvSpPr>
        <p:spPr>
          <a:xfrm>
            <a:off x="6913017" y="1185322"/>
            <a:ext cx="1043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/>
                </a:solidFill>
                <a:sym typeface="Symbol"/>
              </a:rPr>
              <a:t> +  + </a:t>
            </a:r>
            <a:endParaRPr lang="fr-FR" b="1" dirty="0">
              <a:solidFill>
                <a:schemeClr val="accent1"/>
              </a:solidFill>
            </a:endParaRPr>
          </a:p>
        </p:txBody>
      </p:sp>
      <p:sp>
        <p:nvSpPr>
          <p:cNvPr id="50" name="Freeform 8"/>
          <p:cNvSpPr>
            <a:spLocks/>
          </p:cNvSpPr>
          <p:nvPr/>
        </p:nvSpPr>
        <p:spPr bwMode="auto">
          <a:xfrm>
            <a:off x="1585382" y="2851150"/>
            <a:ext cx="171450" cy="204788"/>
          </a:xfrm>
          <a:custGeom>
            <a:avLst/>
            <a:gdLst>
              <a:gd name="T0" fmla="*/ 0 w 108"/>
              <a:gd name="T1" fmla="*/ 204788 h 129"/>
              <a:gd name="T2" fmla="*/ 128588 w 108"/>
              <a:gd name="T3" fmla="*/ 117475 h 129"/>
              <a:gd name="T4" fmla="*/ 171450 w 108"/>
              <a:gd name="T5" fmla="*/ 0 h 1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8" h="129">
                <a:moveTo>
                  <a:pt x="0" y="129"/>
                </a:moveTo>
                <a:cubicBezTo>
                  <a:pt x="12" y="120"/>
                  <a:pt x="63" y="95"/>
                  <a:pt x="81" y="74"/>
                </a:cubicBezTo>
                <a:cubicBezTo>
                  <a:pt x="99" y="53"/>
                  <a:pt x="103" y="15"/>
                  <a:pt x="108" y="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1" name="Freeform 11"/>
          <p:cNvSpPr>
            <a:spLocks/>
          </p:cNvSpPr>
          <p:nvPr/>
        </p:nvSpPr>
        <p:spPr bwMode="auto">
          <a:xfrm>
            <a:off x="1745720" y="2851150"/>
            <a:ext cx="173037" cy="290513"/>
          </a:xfrm>
          <a:custGeom>
            <a:avLst/>
            <a:gdLst>
              <a:gd name="T0" fmla="*/ 0 w 109"/>
              <a:gd name="T1" fmla="*/ 0 h 183"/>
              <a:gd name="T2" fmla="*/ 65087 w 109"/>
              <a:gd name="T3" fmla="*/ 193675 h 183"/>
              <a:gd name="T4" fmla="*/ 173037 w 109"/>
              <a:gd name="T5" fmla="*/ 290513 h 18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9" h="183">
                <a:moveTo>
                  <a:pt x="0" y="0"/>
                </a:moveTo>
                <a:cubicBezTo>
                  <a:pt x="7" y="20"/>
                  <a:pt x="23" y="91"/>
                  <a:pt x="41" y="122"/>
                </a:cubicBezTo>
                <a:cubicBezTo>
                  <a:pt x="59" y="153"/>
                  <a:pt x="95" y="170"/>
                  <a:pt x="109" y="183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2" name="Freeform 12"/>
          <p:cNvSpPr>
            <a:spLocks/>
          </p:cNvSpPr>
          <p:nvPr/>
        </p:nvSpPr>
        <p:spPr bwMode="auto">
          <a:xfrm>
            <a:off x="1607925" y="3062605"/>
            <a:ext cx="311150" cy="90488"/>
          </a:xfrm>
          <a:custGeom>
            <a:avLst/>
            <a:gdLst>
              <a:gd name="T0" fmla="*/ 0 w 196"/>
              <a:gd name="T1" fmla="*/ 4763 h 57"/>
              <a:gd name="T2" fmla="*/ 128588 w 196"/>
              <a:gd name="T3" fmla="*/ 14288 h 57"/>
              <a:gd name="T4" fmla="*/ 311150 w 196"/>
              <a:gd name="T5" fmla="*/ 90488 h 5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6" h="57">
                <a:moveTo>
                  <a:pt x="0" y="3"/>
                </a:moveTo>
                <a:cubicBezTo>
                  <a:pt x="13" y="4"/>
                  <a:pt x="48" y="0"/>
                  <a:pt x="81" y="9"/>
                </a:cubicBezTo>
                <a:cubicBezTo>
                  <a:pt x="114" y="18"/>
                  <a:pt x="172" y="47"/>
                  <a:pt x="196" y="57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cxnSp>
        <p:nvCxnSpPr>
          <p:cNvPr id="53" name="Connecteur droit avec flèche 52"/>
          <p:cNvCxnSpPr/>
          <p:nvPr/>
        </p:nvCxnSpPr>
        <p:spPr>
          <a:xfrm flipH="1" flipV="1">
            <a:off x="1745720" y="3062606"/>
            <a:ext cx="420547" cy="1806554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ZoneTexte 53"/>
          <p:cNvSpPr txBox="1"/>
          <p:nvPr/>
        </p:nvSpPr>
        <p:spPr>
          <a:xfrm>
            <a:off x="1911588" y="4811990"/>
            <a:ext cx="596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L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5" name="ZoneTexte 54"/>
          <p:cNvSpPr txBox="1"/>
          <p:nvPr/>
        </p:nvSpPr>
        <p:spPr>
          <a:xfrm>
            <a:off x="576957" y="5445224"/>
            <a:ext cx="75234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La réaction eutectique ternaire     </a:t>
            </a:r>
          </a:p>
          <a:p>
            <a:r>
              <a:rPr lang="fr-FR" sz="2400" dirty="0" smtClean="0"/>
              <a:t>L </a:t>
            </a:r>
            <a:r>
              <a:rPr lang="fr-FR" sz="2400" dirty="0" smtClean="0">
                <a:sym typeface="Wingdings" pitchFamily="2" charset="2"/>
              </a:rPr>
              <a:t> 3 phases solides  </a:t>
            </a:r>
          </a:p>
          <a:p>
            <a:r>
              <a:rPr lang="fr-FR" sz="2400" i="1" dirty="0" smtClean="0">
                <a:sym typeface="Wingdings" pitchFamily="2" charset="2"/>
              </a:rPr>
              <a:t>ici </a:t>
            </a:r>
            <a:r>
              <a:rPr lang="fr-FR" sz="2400" i="1" dirty="0"/>
              <a:t>L </a:t>
            </a:r>
            <a:r>
              <a:rPr lang="fr-FR" sz="2400" i="1" dirty="0" smtClean="0">
                <a:sym typeface="Wingdings" pitchFamily="2" charset="2"/>
              </a:rPr>
              <a:t> </a:t>
            </a:r>
            <a:r>
              <a:rPr lang="fr-FR" sz="2400" i="1" dirty="0" smtClean="0">
                <a:sym typeface="Symbol"/>
              </a:rPr>
              <a:t> +  + </a:t>
            </a:r>
            <a:endParaRPr lang="fr-FR" sz="2400" i="1" dirty="0"/>
          </a:p>
        </p:txBody>
      </p:sp>
      <p:sp>
        <p:nvSpPr>
          <p:cNvPr id="56" name="Forme libre 55"/>
          <p:cNvSpPr/>
          <p:nvPr/>
        </p:nvSpPr>
        <p:spPr>
          <a:xfrm>
            <a:off x="400050" y="2103120"/>
            <a:ext cx="194310" cy="377190"/>
          </a:xfrm>
          <a:custGeom>
            <a:avLst/>
            <a:gdLst>
              <a:gd name="connsiteX0" fmla="*/ 194310 w 194310"/>
              <a:gd name="connsiteY0" fmla="*/ 0 h 377190"/>
              <a:gd name="connsiteX1" fmla="*/ 57150 w 194310"/>
              <a:gd name="connsiteY1" fmla="*/ 171450 h 377190"/>
              <a:gd name="connsiteX2" fmla="*/ 0 w 194310"/>
              <a:gd name="connsiteY2" fmla="*/ 377190 h 377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310" h="377190">
                <a:moveTo>
                  <a:pt x="194310" y="0"/>
                </a:moveTo>
                <a:cubicBezTo>
                  <a:pt x="141922" y="54292"/>
                  <a:pt x="89535" y="108585"/>
                  <a:pt x="57150" y="171450"/>
                </a:cubicBezTo>
                <a:cubicBezTo>
                  <a:pt x="24765" y="234315"/>
                  <a:pt x="12382" y="305752"/>
                  <a:pt x="0" y="37719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Forme libre 56"/>
          <p:cNvSpPr/>
          <p:nvPr/>
        </p:nvSpPr>
        <p:spPr>
          <a:xfrm>
            <a:off x="2743200" y="2034540"/>
            <a:ext cx="274320" cy="331470"/>
          </a:xfrm>
          <a:custGeom>
            <a:avLst/>
            <a:gdLst>
              <a:gd name="connsiteX0" fmla="*/ 0 w 274320"/>
              <a:gd name="connsiteY0" fmla="*/ 0 h 331470"/>
              <a:gd name="connsiteX1" fmla="*/ 182880 w 274320"/>
              <a:gd name="connsiteY1" fmla="*/ 102870 h 331470"/>
              <a:gd name="connsiteX2" fmla="*/ 274320 w 274320"/>
              <a:gd name="connsiteY2" fmla="*/ 331470 h 33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320" h="331470">
                <a:moveTo>
                  <a:pt x="0" y="0"/>
                </a:moveTo>
                <a:cubicBezTo>
                  <a:pt x="68580" y="23812"/>
                  <a:pt x="137160" y="47625"/>
                  <a:pt x="182880" y="102870"/>
                </a:cubicBezTo>
                <a:cubicBezTo>
                  <a:pt x="228600" y="158115"/>
                  <a:pt x="251460" y="244792"/>
                  <a:pt x="274320" y="3314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Forme libre 57"/>
          <p:cNvSpPr/>
          <p:nvPr/>
        </p:nvSpPr>
        <p:spPr>
          <a:xfrm>
            <a:off x="1371600" y="4011930"/>
            <a:ext cx="411480" cy="320040"/>
          </a:xfrm>
          <a:custGeom>
            <a:avLst/>
            <a:gdLst>
              <a:gd name="connsiteX0" fmla="*/ 411480 w 411480"/>
              <a:gd name="connsiteY0" fmla="*/ 320040 h 320040"/>
              <a:gd name="connsiteX1" fmla="*/ 137160 w 411480"/>
              <a:gd name="connsiteY1" fmla="*/ 148590 h 320040"/>
              <a:gd name="connsiteX2" fmla="*/ 0 w 411480"/>
              <a:gd name="connsiteY2" fmla="*/ 0 h 32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1480" h="320040">
                <a:moveTo>
                  <a:pt x="411480" y="320040"/>
                </a:moveTo>
                <a:cubicBezTo>
                  <a:pt x="308610" y="260985"/>
                  <a:pt x="205740" y="201930"/>
                  <a:pt x="137160" y="148590"/>
                </a:cubicBezTo>
                <a:cubicBezTo>
                  <a:pt x="68580" y="95250"/>
                  <a:pt x="34290" y="47625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ZoneTexte 58"/>
          <p:cNvSpPr txBox="1"/>
          <p:nvPr/>
        </p:nvSpPr>
        <p:spPr>
          <a:xfrm>
            <a:off x="2839407" y="1767825"/>
            <a:ext cx="467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60" name="ZoneTexte 59"/>
          <p:cNvSpPr txBox="1"/>
          <p:nvPr/>
        </p:nvSpPr>
        <p:spPr>
          <a:xfrm>
            <a:off x="215925" y="1979548"/>
            <a:ext cx="467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</a:t>
            </a:r>
            <a:endParaRPr lang="fr-FR" dirty="0"/>
          </a:p>
        </p:txBody>
      </p:sp>
      <p:sp>
        <p:nvSpPr>
          <p:cNvPr id="61" name="ZoneTexte 60"/>
          <p:cNvSpPr txBox="1"/>
          <p:nvPr/>
        </p:nvSpPr>
        <p:spPr>
          <a:xfrm>
            <a:off x="1224037" y="4077072"/>
            <a:ext cx="467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</a:t>
            </a:r>
            <a:endParaRPr lang="fr-FR" dirty="0"/>
          </a:p>
        </p:txBody>
      </p:sp>
      <p:sp>
        <p:nvSpPr>
          <p:cNvPr id="62" name="ZoneTexte 61"/>
          <p:cNvSpPr txBox="1"/>
          <p:nvPr/>
        </p:nvSpPr>
        <p:spPr>
          <a:xfrm>
            <a:off x="4252091" y="4281488"/>
            <a:ext cx="467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</a:t>
            </a:r>
            <a:endParaRPr lang="fr-FR" dirty="0"/>
          </a:p>
        </p:txBody>
      </p:sp>
      <p:sp>
        <p:nvSpPr>
          <p:cNvPr id="63" name="ZoneTexte 62"/>
          <p:cNvSpPr txBox="1"/>
          <p:nvPr/>
        </p:nvSpPr>
        <p:spPr>
          <a:xfrm>
            <a:off x="5783381" y="1683102"/>
            <a:ext cx="467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64" name="ZoneTexte 63"/>
          <p:cNvSpPr txBox="1"/>
          <p:nvPr/>
        </p:nvSpPr>
        <p:spPr>
          <a:xfrm>
            <a:off x="3026678" y="1815584"/>
            <a:ext cx="467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</a:t>
            </a:r>
            <a:endParaRPr lang="fr-FR" dirty="0"/>
          </a:p>
        </p:txBody>
      </p:sp>
      <p:sp>
        <p:nvSpPr>
          <p:cNvPr id="65" name="ZoneTexte 64"/>
          <p:cNvSpPr txBox="1"/>
          <p:nvPr/>
        </p:nvSpPr>
        <p:spPr>
          <a:xfrm rot="1919135">
            <a:off x="793383" y="2483604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 + L</a:t>
            </a:r>
            <a:endParaRPr lang="fr-FR" dirty="0"/>
          </a:p>
        </p:txBody>
      </p:sp>
      <p:sp>
        <p:nvSpPr>
          <p:cNvPr id="66" name="ZoneTexte 65"/>
          <p:cNvSpPr txBox="1"/>
          <p:nvPr/>
        </p:nvSpPr>
        <p:spPr>
          <a:xfrm rot="16652083">
            <a:off x="1263149" y="3481576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 + L</a:t>
            </a:r>
            <a:endParaRPr lang="fr-FR" dirty="0"/>
          </a:p>
        </p:txBody>
      </p:sp>
      <p:sp>
        <p:nvSpPr>
          <p:cNvPr id="67" name="ZoneTexte 66"/>
          <p:cNvSpPr txBox="1"/>
          <p:nvPr/>
        </p:nvSpPr>
        <p:spPr>
          <a:xfrm rot="19521172">
            <a:off x="1970286" y="2429882"/>
            <a:ext cx="79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 + L</a:t>
            </a:r>
            <a:endParaRPr lang="fr-FR" dirty="0"/>
          </a:p>
        </p:txBody>
      </p:sp>
      <p:sp>
        <p:nvSpPr>
          <p:cNvPr id="68" name="Forme libre 67"/>
          <p:cNvSpPr/>
          <p:nvPr/>
        </p:nvSpPr>
        <p:spPr>
          <a:xfrm>
            <a:off x="4501148" y="1640230"/>
            <a:ext cx="148590" cy="1223010"/>
          </a:xfrm>
          <a:custGeom>
            <a:avLst/>
            <a:gdLst>
              <a:gd name="connsiteX0" fmla="*/ 0 w 148590"/>
              <a:gd name="connsiteY0" fmla="*/ 0 h 1223010"/>
              <a:gd name="connsiteX1" fmla="*/ 57150 w 148590"/>
              <a:gd name="connsiteY1" fmla="*/ 640080 h 1223010"/>
              <a:gd name="connsiteX2" fmla="*/ 91440 w 148590"/>
              <a:gd name="connsiteY2" fmla="*/ 1062990 h 1223010"/>
              <a:gd name="connsiteX3" fmla="*/ 148590 w 148590"/>
              <a:gd name="connsiteY3" fmla="*/ 1223010 h 1223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590" h="1223010">
                <a:moveTo>
                  <a:pt x="0" y="0"/>
                </a:moveTo>
                <a:cubicBezTo>
                  <a:pt x="20955" y="231457"/>
                  <a:pt x="41910" y="462915"/>
                  <a:pt x="57150" y="640080"/>
                </a:cubicBezTo>
                <a:cubicBezTo>
                  <a:pt x="72390" y="817245"/>
                  <a:pt x="76200" y="965835"/>
                  <a:pt x="91440" y="1062990"/>
                </a:cubicBezTo>
                <a:cubicBezTo>
                  <a:pt x="106680" y="1160145"/>
                  <a:pt x="127635" y="1191577"/>
                  <a:pt x="148590" y="122301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Forme libre 68"/>
          <p:cNvSpPr/>
          <p:nvPr/>
        </p:nvSpPr>
        <p:spPr>
          <a:xfrm>
            <a:off x="4649738" y="2897530"/>
            <a:ext cx="628650" cy="525780"/>
          </a:xfrm>
          <a:custGeom>
            <a:avLst/>
            <a:gdLst>
              <a:gd name="connsiteX0" fmla="*/ 628650 w 628650"/>
              <a:gd name="connsiteY0" fmla="*/ 525780 h 525780"/>
              <a:gd name="connsiteX1" fmla="*/ 240030 w 628650"/>
              <a:gd name="connsiteY1" fmla="*/ 240030 h 525780"/>
              <a:gd name="connsiteX2" fmla="*/ 0 w 628650"/>
              <a:gd name="connsiteY2" fmla="*/ 0 h 5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8650" h="525780">
                <a:moveTo>
                  <a:pt x="628650" y="525780"/>
                </a:moveTo>
                <a:cubicBezTo>
                  <a:pt x="486727" y="426720"/>
                  <a:pt x="344805" y="327660"/>
                  <a:pt x="240030" y="240030"/>
                </a:cubicBezTo>
                <a:cubicBezTo>
                  <a:pt x="135255" y="152400"/>
                  <a:pt x="67627" y="76200"/>
                  <a:pt x="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Forme libre 69"/>
          <p:cNvSpPr/>
          <p:nvPr/>
        </p:nvSpPr>
        <p:spPr>
          <a:xfrm>
            <a:off x="3529598" y="2886100"/>
            <a:ext cx="1097280" cy="491490"/>
          </a:xfrm>
          <a:custGeom>
            <a:avLst/>
            <a:gdLst>
              <a:gd name="connsiteX0" fmla="*/ 0 w 1097280"/>
              <a:gd name="connsiteY0" fmla="*/ 491490 h 491490"/>
              <a:gd name="connsiteX1" fmla="*/ 480060 w 1097280"/>
              <a:gd name="connsiteY1" fmla="*/ 297180 h 491490"/>
              <a:gd name="connsiteX2" fmla="*/ 1097280 w 1097280"/>
              <a:gd name="connsiteY2" fmla="*/ 0 h 491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280" h="491490">
                <a:moveTo>
                  <a:pt x="0" y="491490"/>
                </a:moveTo>
                <a:cubicBezTo>
                  <a:pt x="148590" y="435292"/>
                  <a:pt x="297180" y="379095"/>
                  <a:pt x="480060" y="297180"/>
                </a:cubicBezTo>
                <a:cubicBezTo>
                  <a:pt x="662940" y="215265"/>
                  <a:pt x="880110" y="107632"/>
                  <a:pt x="10972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1" name="Connecteur droit 70"/>
          <p:cNvCxnSpPr/>
          <p:nvPr/>
        </p:nvCxnSpPr>
        <p:spPr>
          <a:xfrm flipH="1" flipV="1">
            <a:off x="3904476" y="3126130"/>
            <a:ext cx="173762" cy="228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 flipH="1">
            <a:off x="3991357" y="3148990"/>
            <a:ext cx="86881" cy="1638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>
            <a:stCxn id="68" idx="1"/>
          </p:cNvCxnSpPr>
          <p:nvPr/>
        </p:nvCxnSpPr>
        <p:spPr>
          <a:xfrm flipV="1">
            <a:off x="4558298" y="2156882"/>
            <a:ext cx="68580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/>
          <p:cNvCxnSpPr>
            <a:stCxn id="68" idx="1"/>
          </p:cNvCxnSpPr>
          <p:nvPr/>
        </p:nvCxnSpPr>
        <p:spPr>
          <a:xfrm flipH="1" flipV="1">
            <a:off x="4481463" y="2156882"/>
            <a:ext cx="76835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/>
          <p:cNvCxnSpPr>
            <a:stCxn id="69" idx="1"/>
          </p:cNvCxnSpPr>
          <p:nvPr/>
        </p:nvCxnSpPr>
        <p:spPr>
          <a:xfrm flipV="1">
            <a:off x="4889768" y="3131845"/>
            <a:ext cx="170264" cy="57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/>
          <p:cNvCxnSpPr>
            <a:stCxn id="69" idx="1"/>
          </p:cNvCxnSpPr>
          <p:nvPr/>
        </p:nvCxnSpPr>
        <p:spPr>
          <a:xfrm>
            <a:off x="4889768" y="3137560"/>
            <a:ext cx="74295" cy="142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ZoneTexte 76"/>
          <p:cNvSpPr txBox="1"/>
          <p:nvPr/>
        </p:nvSpPr>
        <p:spPr>
          <a:xfrm>
            <a:off x="3549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 3 eutectiques binaires</a:t>
            </a:r>
            <a:endParaRPr lang="fr-FR" sz="2400" dirty="0"/>
          </a:p>
        </p:txBody>
      </p:sp>
      <p:cxnSp>
        <p:nvCxnSpPr>
          <p:cNvPr id="78" name="Connecteur droit avec flèche 77"/>
          <p:cNvCxnSpPr/>
          <p:nvPr/>
        </p:nvCxnSpPr>
        <p:spPr>
          <a:xfrm>
            <a:off x="7596336" y="5733256"/>
            <a:ext cx="492125" cy="36004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/>
          <p:cNvCxnSpPr/>
          <p:nvPr/>
        </p:nvCxnSpPr>
        <p:spPr>
          <a:xfrm flipH="1">
            <a:off x="8129736" y="5733256"/>
            <a:ext cx="438150" cy="36004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avec flèche 79"/>
          <p:cNvCxnSpPr/>
          <p:nvPr/>
        </p:nvCxnSpPr>
        <p:spPr>
          <a:xfrm flipH="1" flipV="1">
            <a:off x="8110686" y="6093296"/>
            <a:ext cx="521" cy="504056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ZoneTexte 80"/>
          <p:cNvSpPr txBox="1"/>
          <p:nvPr/>
        </p:nvSpPr>
        <p:spPr>
          <a:xfrm>
            <a:off x="5990519" y="5241394"/>
            <a:ext cx="2370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tx2"/>
                </a:solidFill>
              </a:rPr>
              <a:t>3</a:t>
            </a:r>
            <a:r>
              <a:rPr lang="fr-FR" sz="2400" b="1" dirty="0" smtClean="0">
                <a:solidFill>
                  <a:schemeClr val="tx2"/>
                </a:solidFill>
              </a:rPr>
              <a:t> vallées entrent</a:t>
            </a:r>
            <a:endParaRPr lang="fr-FR" sz="2400" b="1" dirty="0">
              <a:solidFill>
                <a:schemeClr val="tx2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5990518" y="5227539"/>
            <a:ext cx="3136893" cy="16166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800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4" name="Picture 4" descr="Class-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2" t="24896" r="18776" b="19572"/>
          <a:stretch>
            <a:fillRect/>
          </a:stretch>
        </p:blipFill>
        <p:spPr bwMode="auto">
          <a:xfrm>
            <a:off x="76200" y="980728"/>
            <a:ext cx="5791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5"/>
          <p:cNvSpPr>
            <a:spLocks/>
          </p:cNvSpPr>
          <p:nvPr/>
        </p:nvSpPr>
        <p:spPr bwMode="auto">
          <a:xfrm>
            <a:off x="1044575" y="1574453"/>
            <a:ext cx="4013200" cy="1681163"/>
          </a:xfrm>
          <a:custGeom>
            <a:avLst/>
            <a:gdLst>
              <a:gd name="T0" fmla="*/ 0 w 2528"/>
              <a:gd name="T1" fmla="*/ 53975 h 1059"/>
              <a:gd name="T2" fmla="*/ 4013200 w 2528"/>
              <a:gd name="T3" fmla="*/ 0 h 1059"/>
              <a:gd name="T4" fmla="*/ 2860675 w 2528"/>
              <a:gd name="T5" fmla="*/ 1681163 h 1059"/>
              <a:gd name="T6" fmla="*/ 0 w 2528"/>
              <a:gd name="T7" fmla="*/ 53975 h 105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28" h="1059">
                <a:moveTo>
                  <a:pt x="0" y="34"/>
                </a:moveTo>
                <a:lnTo>
                  <a:pt x="2528" y="0"/>
                </a:lnTo>
                <a:lnTo>
                  <a:pt x="1802" y="1059"/>
                </a:lnTo>
                <a:lnTo>
                  <a:pt x="0" y="34"/>
                </a:lnTo>
                <a:close/>
              </a:path>
            </a:pathLst>
          </a:cu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 flipV="1">
            <a:off x="5194300" y="2047528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211763" y="1925926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8" name="Freeform 14"/>
          <p:cNvSpPr>
            <a:spLocks/>
          </p:cNvSpPr>
          <p:nvPr/>
        </p:nvSpPr>
        <p:spPr bwMode="auto">
          <a:xfrm>
            <a:off x="1128713" y="1623666"/>
            <a:ext cx="104775" cy="58737"/>
          </a:xfrm>
          <a:custGeom>
            <a:avLst/>
            <a:gdLst>
              <a:gd name="T0" fmla="*/ 104775 w 66"/>
              <a:gd name="T1" fmla="*/ 0 h 37"/>
              <a:gd name="T2" fmla="*/ 0 w 66"/>
              <a:gd name="T3" fmla="*/ 58737 h 3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6" h="37">
                <a:moveTo>
                  <a:pt x="66" y="0"/>
                </a:moveTo>
                <a:cubicBezTo>
                  <a:pt x="55" y="7"/>
                  <a:pt x="14" y="29"/>
                  <a:pt x="0" y="37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" name="Freeform 15"/>
          <p:cNvSpPr>
            <a:spLocks/>
          </p:cNvSpPr>
          <p:nvPr/>
        </p:nvSpPr>
        <p:spPr bwMode="auto">
          <a:xfrm>
            <a:off x="1995488" y="1604616"/>
            <a:ext cx="728662" cy="557212"/>
          </a:xfrm>
          <a:custGeom>
            <a:avLst/>
            <a:gdLst>
              <a:gd name="T0" fmla="*/ 728662 w 459"/>
              <a:gd name="T1" fmla="*/ 0 h 351"/>
              <a:gd name="T2" fmla="*/ 576262 w 459"/>
              <a:gd name="T3" fmla="*/ 200025 h 351"/>
              <a:gd name="T4" fmla="*/ 352425 w 459"/>
              <a:gd name="T5" fmla="*/ 376237 h 351"/>
              <a:gd name="T6" fmla="*/ 0 w 459"/>
              <a:gd name="T7" fmla="*/ 557212 h 35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59" h="351">
                <a:moveTo>
                  <a:pt x="459" y="0"/>
                </a:moveTo>
                <a:cubicBezTo>
                  <a:pt x="443" y="21"/>
                  <a:pt x="402" y="87"/>
                  <a:pt x="363" y="126"/>
                </a:cubicBezTo>
                <a:cubicBezTo>
                  <a:pt x="324" y="165"/>
                  <a:pt x="282" y="200"/>
                  <a:pt x="222" y="237"/>
                </a:cubicBezTo>
                <a:cubicBezTo>
                  <a:pt x="162" y="274"/>
                  <a:pt x="46" y="327"/>
                  <a:pt x="0" y="351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" name="Forme libre 10"/>
          <p:cNvSpPr/>
          <p:nvPr/>
        </p:nvSpPr>
        <p:spPr>
          <a:xfrm>
            <a:off x="5360670" y="2066578"/>
            <a:ext cx="182880" cy="251460"/>
          </a:xfrm>
          <a:custGeom>
            <a:avLst/>
            <a:gdLst>
              <a:gd name="connsiteX0" fmla="*/ 0 w 182880"/>
              <a:gd name="connsiteY0" fmla="*/ 251460 h 251460"/>
              <a:gd name="connsiteX1" fmla="*/ 80010 w 182880"/>
              <a:gd name="connsiteY1" fmla="*/ 114300 h 251460"/>
              <a:gd name="connsiteX2" fmla="*/ 182880 w 182880"/>
              <a:gd name="connsiteY2" fmla="*/ 0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" h="251460">
                <a:moveTo>
                  <a:pt x="0" y="251460"/>
                </a:moveTo>
                <a:cubicBezTo>
                  <a:pt x="24765" y="203835"/>
                  <a:pt x="49530" y="156210"/>
                  <a:pt x="80010" y="114300"/>
                </a:cubicBezTo>
                <a:cubicBezTo>
                  <a:pt x="110490" y="72390"/>
                  <a:pt x="146685" y="36195"/>
                  <a:pt x="18288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orme libre 11"/>
          <p:cNvSpPr/>
          <p:nvPr/>
        </p:nvSpPr>
        <p:spPr>
          <a:xfrm>
            <a:off x="5817870" y="2066578"/>
            <a:ext cx="617220" cy="994410"/>
          </a:xfrm>
          <a:custGeom>
            <a:avLst/>
            <a:gdLst>
              <a:gd name="connsiteX0" fmla="*/ 617220 w 617220"/>
              <a:gd name="connsiteY0" fmla="*/ 0 h 994410"/>
              <a:gd name="connsiteX1" fmla="*/ 434340 w 617220"/>
              <a:gd name="connsiteY1" fmla="*/ 422910 h 994410"/>
              <a:gd name="connsiteX2" fmla="*/ 0 w 617220"/>
              <a:gd name="connsiteY2" fmla="*/ 994410 h 99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7220" h="994410">
                <a:moveTo>
                  <a:pt x="617220" y="0"/>
                </a:moveTo>
                <a:cubicBezTo>
                  <a:pt x="577215" y="128587"/>
                  <a:pt x="537210" y="257175"/>
                  <a:pt x="434340" y="422910"/>
                </a:cubicBezTo>
                <a:cubicBezTo>
                  <a:pt x="331470" y="588645"/>
                  <a:pt x="165735" y="791527"/>
                  <a:pt x="0" y="99441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7049943" y="287632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5452110" y="2194451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+ </a:t>
            </a:r>
            <a:r>
              <a:rPr lang="fr-FR" dirty="0" smtClean="0">
                <a:sym typeface="Symbol"/>
              </a:rPr>
              <a:t></a:t>
            </a:r>
            <a:endParaRPr lang="fr-FR" dirty="0"/>
          </a:p>
        </p:txBody>
      </p:sp>
      <p:sp>
        <p:nvSpPr>
          <p:cNvPr id="15" name="Forme libre 14"/>
          <p:cNvSpPr/>
          <p:nvPr/>
        </p:nvSpPr>
        <p:spPr>
          <a:xfrm>
            <a:off x="7360920" y="2043718"/>
            <a:ext cx="161003" cy="1143000"/>
          </a:xfrm>
          <a:custGeom>
            <a:avLst/>
            <a:gdLst>
              <a:gd name="connsiteX0" fmla="*/ 0 w 161003"/>
              <a:gd name="connsiteY0" fmla="*/ 0 h 1143000"/>
              <a:gd name="connsiteX1" fmla="*/ 137160 w 161003"/>
              <a:gd name="connsiteY1" fmla="*/ 754380 h 1143000"/>
              <a:gd name="connsiteX2" fmla="*/ 160020 w 161003"/>
              <a:gd name="connsiteY2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1003" h="1143000">
                <a:moveTo>
                  <a:pt x="0" y="0"/>
                </a:moveTo>
                <a:cubicBezTo>
                  <a:pt x="55245" y="281940"/>
                  <a:pt x="110490" y="563880"/>
                  <a:pt x="137160" y="754380"/>
                </a:cubicBezTo>
                <a:cubicBezTo>
                  <a:pt x="163830" y="944880"/>
                  <a:pt x="161925" y="1043940"/>
                  <a:pt x="160020" y="1143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orme libre 15"/>
          <p:cNvSpPr/>
          <p:nvPr/>
        </p:nvSpPr>
        <p:spPr>
          <a:xfrm>
            <a:off x="7509510" y="3186718"/>
            <a:ext cx="582930" cy="457200"/>
          </a:xfrm>
          <a:custGeom>
            <a:avLst/>
            <a:gdLst>
              <a:gd name="connsiteX0" fmla="*/ 0 w 582930"/>
              <a:gd name="connsiteY0" fmla="*/ 0 h 457200"/>
              <a:gd name="connsiteX1" fmla="*/ 354330 w 582930"/>
              <a:gd name="connsiteY1" fmla="*/ 228600 h 457200"/>
              <a:gd name="connsiteX2" fmla="*/ 582930 w 582930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2930" h="457200">
                <a:moveTo>
                  <a:pt x="0" y="0"/>
                </a:moveTo>
                <a:cubicBezTo>
                  <a:pt x="128587" y="76200"/>
                  <a:pt x="257175" y="152400"/>
                  <a:pt x="354330" y="228600"/>
                </a:cubicBezTo>
                <a:cubicBezTo>
                  <a:pt x="451485" y="304800"/>
                  <a:pt x="517207" y="381000"/>
                  <a:pt x="582930" y="4572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orme libre 16"/>
          <p:cNvSpPr/>
          <p:nvPr/>
        </p:nvSpPr>
        <p:spPr>
          <a:xfrm>
            <a:off x="6309360" y="3198148"/>
            <a:ext cx="1211580" cy="800100"/>
          </a:xfrm>
          <a:custGeom>
            <a:avLst/>
            <a:gdLst>
              <a:gd name="connsiteX0" fmla="*/ 0 w 1211580"/>
              <a:gd name="connsiteY0" fmla="*/ 800100 h 800100"/>
              <a:gd name="connsiteX1" fmla="*/ 685800 w 1211580"/>
              <a:gd name="connsiteY1" fmla="*/ 365760 h 800100"/>
              <a:gd name="connsiteX2" fmla="*/ 1211580 w 1211580"/>
              <a:gd name="connsiteY2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580" h="800100">
                <a:moveTo>
                  <a:pt x="0" y="800100"/>
                </a:moveTo>
                <a:cubicBezTo>
                  <a:pt x="241935" y="649605"/>
                  <a:pt x="483870" y="499110"/>
                  <a:pt x="685800" y="365760"/>
                </a:cubicBezTo>
                <a:cubicBezTo>
                  <a:pt x="887730" y="232410"/>
                  <a:pt x="1049655" y="116205"/>
                  <a:pt x="12115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17"/>
          <p:cNvCxnSpPr/>
          <p:nvPr/>
        </p:nvCxnSpPr>
        <p:spPr>
          <a:xfrm flipV="1">
            <a:off x="7482036" y="2592388"/>
            <a:ext cx="68580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 flipH="1" flipV="1">
            <a:off x="7405201" y="2592388"/>
            <a:ext cx="76835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 flipH="1" flipV="1">
            <a:off x="6831652" y="3537238"/>
            <a:ext cx="173762" cy="228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 flipH="1">
            <a:off x="6918533" y="3560098"/>
            <a:ext cx="86881" cy="1638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 flipV="1">
            <a:off x="7751782" y="3467899"/>
            <a:ext cx="170264" cy="57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>
            <a:off x="7861508" y="3318188"/>
            <a:ext cx="74295" cy="142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eutectiques et 1 </a:t>
            </a:r>
            <a:r>
              <a:rPr lang="fr-FR" sz="2400" dirty="0" err="1" smtClean="0"/>
              <a:t>peritectique</a:t>
            </a:r>
            <a:r>
              <a:rPr lang="fr-FR" sz="2400" dirty="0" smtClean="0"/>
              <a:t> binaires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16053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5" name="Picture 4" descr="Class-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2" t="24896" r="18776" b="19572"/>
          <a:stretch>
            <a:fillRect/>
          </a:stretch>
        </p:blipFill>
        <p:spPr bwMode="auto">
          <a:xfrm>
            <a:off x="76200" y="976599"/>
            <a:ext cx="5791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5"/>
          <p:cNvSpPr>
            <a:spLocks/>
          </p:cNvSpPr>
          <p:nvPr/>
        </p:nvSpPr>
        <p:spPr bwMode="auto">
          <a:xfrm>
            <a:off x="1044575" y="2049749"/>
            <a:ext cx="4013200" cy="1681163"/>
          </a:xfrm>
          <a:custGeom>
            <a:avLst/>
            <a:gdLst>
              <a:gd name="T0" fmla="*/ 0 w 2528"/>
              <a:gd name="T1" fmla="*/ 53975 h 1059"/>
              <a:gd name="T2" fmla="*/ 4013200 w 2528"/>
              <a:gd name="T3" fmla="*/ 0 h 1059"/>
              <a:gd name="T4" fmla="*/ 2860675 w 2528"/>
              <a:gd name="T5" fmla="*/ 1681163 h 1059"/>
              <a:gd name="T6" fmla="*/ 0 w 2528"/>
              <a:gd name="T7" fmla="*/ 53975 h 105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28" h="1059">
                <a:moveTo>
                  <a:pt x="0" y="34"/>
                </a:moveTo>
                <a:lnTo>
                  <a:pt x="2528" y="0"/>
                </a:lnTo>
                <a:lnTo>
                  <a:pt x="1802" y="1059"/>
                </a:lnTo>
                <a:lnTo>
                  <a:pt x="0" y="34"/>
                </a:lnTo>
                <a:close/>
              </a:path>
            </a:pathLst>
          </a:cu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 flipV="1">
            <a:off x="5194300" y="2043399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8" name="Freeform 9"/>
          <p:cNvSpPr>
            <a:spLocks/>
          </p:cNvSpPr>
          <p:nvPr/>
        </p:nvSpPr>
        <p:spPr bwMode="auto">
          <a:xfrm>
            <a:off x="1576388" y="2095787"/>
            <a:ext cx="66675" cy="38100"/>
          </a:xfrm>
          <a:custGeom>
            <a:avLst/>
            <a:gdLst>
              <a:gd name="T0" fmla="*/ 0 w 42"/>
              <a:gd name="T1" fmla="*/ 0 h 24"/>
              <a:gd name="T2" fmla="*/ 66675 w 42"/>
              <a:gd name="T3" fmla="*/ 38100 h 2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42" h="24">
                <a:moveTo>
                  <a:pt x="0" y="0"/>
                </a:moveTo>
                <a:cubicBezTo>
                  <a:pt x="7" y="3"/>
                  <a:pt x="33" y="19"/>
                  <a:pt x="42" y="24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" name="Freeform 10"/>
          <p:cNvSpPr>
            <a:spLocks/>
          </p:cNvSpPr>
          <p:nvPr/>
        </p:nvSpPr>
        <p:spPr bwMode="auto">
          <a:xfrm>
            <a:off x="2595563" y="2167224"/>
            <a:ext cx="1390650" cy="828675"/>
          </a:xfrm>
          <a:custGeom>
            <a:avLst/>
            <a:gdLst>
              <a:gd name="T0" fmla="*/ 1390650 w 876"/>
              <a:gd name="T1" fmla="*/ 0 h 522"/>
              <a:gd name="T2" fmla="*/ 1019175 w 876"/>
              <a:gd name="T3" fmla="*/ 376238 h 522"/>
              <a:gd name="T4" fmla="*/ 566738 w 876"/>
              <a:gd name="T5" fmla="*/ 652463 h 522"/>
              <a:gd name="T6" fmla="*/ 0 w 876"/>
              <a:gd name="T7" fmla="*/ 828675 h 52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76" h="522">
                <a:moveTo>
                  <a:pt x="876" y="0"/>
                </a:moveTo>
                <a:cubicBezTo>
                  <a:pt x="837" y="39"/>
                  <a:pt x="729" y="168"/>
                  <a:pt x="642" y="237"/>
                </a:cubicBezTo>
                <a:cubicBezTo>
                  <a:pt x="555" y="306"/>
                  <a:pt x="464" y="364"/>
                  <a:pt x="357" y="411"/>
                </a:cubicBezTo>
                <a:cubicBezTo>
                  <a:pt x="250" y="458"/>
                  <a:pt x="74" y="499"/>
                  <a:pt x="0" y="522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>
            <a:spLocks/>
          </p:cNvSpPr>
          <p:nvPr/>
        </p:nvSpPr>
        <p:spPr bwMode="auto">
          <a:xfrm>
            <a:off x="1652588" y="2133887"/>
            <a:ext cx="2333625" cy="28575"/>
          </a:xfrm>
          <a:custGeom>
            <a:avLst/>
            <a:gdLst>
              <a:gd name="T0" fmla="*/ 0 w 1470"/>
              <a:gd name="T1" fmla="*/ 4763 h 18"/>
              <a:gd name="T2" fmla="*/ 2333625 w 1470"/>
              <a:gd name="T3" fmla="*/ 28575 h 18"/>
              <a:gd name="T4" fmla="*/ 1595438 w 1470"/>
              <a:gd name="T5" fmla="*/ 0 h 18"/>
              <a:gd name="T6" fmla="*/ 0 w 1470"/>
              <a:gd name="T7" fmla="*/ 4763 h 1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70" h="18">
                <a:moveTo>
                  <a:pt x="0" y="3"/>
                </a:moveTo>
                <a:lnTo>
                  <a:pt x="1470" y="18"/>
                </a:lnTo>
                <a:lnTo>
                  <a:pt x="1005" y="0"/>
                </a:lnTo>
                <a:lnTo>
                  <a:pt x="0" y="3"/>
                </a:lnTo>
                <a:close/>
              </a:path>
            </a:pathLst>
          </a:custGeom>
          <a:solidFill>
            <a:srgbClr val="FF8989">
              <a:alpha val="50195"/>
            </a:srgbClr>
          </a:solidFill>
          <a:ln w="9525">
            <a:solidFill>
              <a:srgbClr val="D6009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>
            <a:spLocks/>
          </p:cNvSpPr>
          <p:nvPr/>
        </p:nvSpPr>
        <p:spPr bwMode="auto">
          <a:xfrm>
            <a:off x="1304925" y="2138649"/>
            <a:ext cx="347663" cy="109538"/>
          </a:xfrm>
          <a:custGeom>
            <a:avLst/>
            <a:gdLst>
              <a:gd name="T0" fmla="*/ 347663 w 219"/>
              <a:gd name="T1" fmla="*/ 0 h 69"/>
              <a:gd name="T2" fmla="*/ 176213 w 219"/>
              <a:gd name="T3" fmla="*/ 76200 h 69"/>
              <a:gd name="T4" fmla="*/ 0 w 219"/>
              <a:gd name="T5" fmla="*/ 109538 h 6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9" h="69">
                <a:moveTo>
                  <a:pt x="219" y="0"/>
                </a:moveTo>
                <a:cubicBezTo>
                  <a:pt x="201" y="8"/>
                  <a:pt x="147" y="37"/>
                  <a:pt x="111" y="48"/>
                </a:cubicBezTo>
                <a:cubicBezTo>
                  <a:pt x="75" y="59"/>
                  <a:pt x="23" y="65"/>
                  <a:pt x="0" y="69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3252788" y="2071974"/>
            <a:ext cx="100012" cy="57150"/>
          </a:xfrm>
          <a:custGeom>
            <a:avLst/>
            <a:gdLst>
              <a:gd name="T0" fmla="*/ 100012 w 63"/>
              <a:gd name="T1" fmla="*/ 0 h 36"/>
              <a:gd name="T2" fmla="*/ 0 w 63"/>
              <a:gd name="T3" fmla="*/ 57150 h 3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3" h="36">
                <a:moveTo>
                  <a:pt x="63" y="0"/>
                </a:moveTo>
                <a:cubicBezTo>
                  <a:pt x="53" y="6"/>
                  <a:pt x="13" y="29"/>
                  <a:pt x="0" y="36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Freeform 14"/>
          <p:cNvSpPr>
            <a:spLocks/>
          </p:cNvSpPr>
          <p:nvPr/>
        </p:nvSpPr>
        <p:spPr bwMode="auto">
          <a:xfrm>
            <a:off x="3248025" y="2067212"/>
            <a:ext cx="209550" cy="52387"/>
          </a:xfrm>
          <a:custGeom>
            <a:avLst/>
            <a:gdLst>
              <a:gd name="T0" fmla="*/ 209550 w 132"/>
              <a:gd name="T1" fmla="*/ 0 h 33"/>
              <a:gd name="T2" fmla="*/ 0 w 132"/>
              <a:gd name="T3" fmla="*/ 52387 h 3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32" h="33">
                <a:moveTo>
                  <a:pt x="132" y="0"/>
                </a:moveTo>
                <a:cubicBezTo>
                  <a:pt x="110" y="6"/>
                  <a:pt x="27" y="26"/>
                  <a:pt x="0" y="33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Freeform 15"/>
          <p:cNvSpPr>
            <a:spLocks/>
          </p:cNvSpPr>
          <p:nvPr/>
        </p:nvSpPr>
        <p:spPr bwMode="auto">
          <a:xfrm>
            <a:off x="3976688" y="2057687"/>
            <a:ext cx="385762" cy="109537"/>
          </a:xfrm>
          <a:custGeom>
            <a:avLst/>
            <a:gdLst>
              <a:gd name="T0" fmla="*/ 385762 w 243"/>
              <a:gd name="T1" fmla="*/ 0 h 69"/>
              <a:gd name="T2" fmla="*/ 0 w 243"/>
              <a:gd name="T3" fmla="*/ 109537 h 6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43" h="69">
                <a:moveTo>
                  <a:pt x="243" y="0"/>
                </a:moveTo>
                <a:cubicBezTo>
                  <a:pt x="203" y="11"/>
                  <a:pt x="51" y="55"/>
                  <a:pt x="0" y="69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Freeform 16"/>
          <p:cNvSpPr>
            <a:spLocks/>
          </p:cNvSpPr>
          <p:nvPr/>
        </p:nvSpPr>
        <p:spPr bwMode="auto">
          <a:xfrm>
            <a:off x="3227388" y="3307049"/>
            <a:ext cx="903287" cy="82550"/>
          </a:xfrm>
          <a:custGeom>
            <a:avLst/>
            <a:gdLst>
              <a:gd name="T0" fmla="*/ 903287 w 569"/>
              <a:gd name="T1" fmla="*/ 82550 h 52"/>
              <a:gd name="T2" fmla="*/ 484187 w 569"/>
              <a:gd name="T3" fmla="*/ 6350 h 52"/>
              <a:gd name="T4" fmla="*/ 0 w 569"/>
              <a:gd name="T5" fmla="*/ 39688 h 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69" h="52">
                <a:moveTo>
                  <a:pt x="569" y="52"/>
                </a:moveTo>
                <a:cubicBezTo>
                  <a:pt x="525" y="44"/>
                  <a:pt x="400" y="8"/>
                  <a:pt x="305" y="4"/>
                </a:cubicBezTo>
                <a:cubicBezTo>
                  <a:pt x="210" y="0"/>
                  <a:pt x="64" y="21"/>
                  <a:pt x="0" y="25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Freeform 17"/>
          <p:cNvSpPr>
            <a:spLocks/>
          </p:cNvSpPr>
          <p:nvPr/>
        </p:nvSpPr>
        <p:spPr bwMode="auto">
          <a:xfrm>
            <a:off x="3689350" y="3626137"/>
            <a:ext cx="280988" cy="20637"/>
          </a:xfrm>
          <a:custGeom>
            <a:avLst/>
            <a:gdLst>
              <a:gd name="T0" fmla="*/ 280988 w 177"/>
              <a:gd name="T1" fmla="*/ 20637 h 13"/>
              <a:gd name="T2" fmla="*/ 0 w 177"/>
              <a:gd name="T3" fmla="*/ 0 h 1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77" h="13">
                <a:moveTo>
                  <a:pt x="177" y="13"/>
                </a:moveTo>
                <a:cubicBezTo>
                  <a:pt x="149" y="11"/>
                  <a:pt x="37" y="3"/>
                  <a:pt x="0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5268913" y="1956087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6948264" y="2918419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5884158" y="2423655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+ </a:t>
            </a:r>
            <a:r>
              <a:rPr lang="fr-FR" dirty="0" smtClean="0">
                <a:sym typeface="Symbol"/>
              </a:rPr>
              <a:t></a:t>
            </a:r>
            <a:endParaRPr lang="fr-FR" dirty="0"/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7648621" y="4934643"/>
            <a:ext cx="6473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Arial" pitchFamily="34" charset="0"/>
                <a:ea typeface="ＭＳ Ｐゴシック" charset="0"/>
                <a:cs typeface="Arial" pitchFamily="34" charset="0"/>
                <a:sym typeface="Symbol"/>
              </a:rPr>
              <a:t>L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+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22" name="Forme libre 21"/>
          <p:cNvSpPr/>
          <p:nvPr/>
        </p:nvSpPr>
        <p:spPr>
          <a:xfrm>
            <a:off x="7164288" y="4953931"/>
            <a:ext cx="491490" cy="137160"/>
          </a:xfrm>
          <a:custGeom>
            <a:avLst/>
            <a:gdLst>
              <a:gd name="connsiteX0" fmla="*/ 491490 w 491490"/>
              <a:gd name="connsiteY0" fmla="*/ 137160 h 137160"/>
              <a:gd name="connsiteX1" fmla="*/ 217170 w 491490"/>
              <a:gd name="connsiteY1" fmla="*/ 102870 h 137160"/>
              <a:gd name="connsiteX2" fmla="*/ 0 w 491490"/>
              <a:gd name="connsiteY2" fmla="*/ 0 h 137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1490" h="137160">
                <a:moveTo>
                  <a:pt x="491490" y="137160"/>
                </a:moveTo>
                <a:cubicBezTo>
                  <a:pt x="395287" y="131445"/>
                  <a:pt x="299085" y="125730"/>
                  <a:pt x="217170" y="102870"/>
                </a:cubicBezTo>
                <a:cubicBezTo>
                  <a:pt x="135255" y="80010"/>
                  <a:pt x="67627" y="40005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orme libre 22"/>
          <p:cNvSpPr/>
          <p:nvPr/>
        </p:nvSpPr>
        <p:spPr>
          <a:xfrm>
            <a:off x="7080850" y="5265111"/>
            <a:ext cx="491490" cy="137160"/>
          </a:xfrm>
          <a:custGeom>
            <a:avLst/>
            <a:gdLst>
              <a:gd name="connsiteX0" fmla="*/ 491490 w 491490"/>
              <a:gd name="connsiteY0" fmla="*/ 137160 h 137160"/>
              <a:gd name="connsiteX1" fmla="*/ 217170 w 491490"/>
              <a:gd name="connsiteY1" fmla="*/ 102870 h 137160"/>
              <a:gd name="connsiteX2" fmla="*/ 0 w 491490"/>
              <a:gd name="connsiteY2" fmla="*/ 0 h 137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1490" h="137160">
                <a:moveTo>
                  <a:pt x="491490" y="137160"/>
                </a:moveTo>
                <a:cubicBezTo>
                  <a:pt x="395287" y="131445"/>
                  <a:pt x="299085" y="125730"/>
                  <a:pt x="217170" y="102870"/>
                </a:cubicBezTo>
                <a:cubicBezTo>
                  <a:pt x="135255" y="80010"/>
                  <a:pt x="67627" y="40005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orme libre 23"/>
          <p:cNvSpPr/>
          <p:nvPr/>
        </p:nvSpPr>
        <p:spPr>
          <a:xfrm>
            <a:off x="5623560" y="2062449"/>
            <a:ext cx="102870" cy="148590"/>
          </a:xfrm>
          <a:custGeom>
            <a:avLst/>
            <a:gdLst>
              <a:gd name="connsiteX0" fmla="*/ 0 w 102870"/>
              <a:gd name="connsiteY0" fmla="*/ 0 h 148590"/>
              <a:gd name="connsiteX1" fmla="*/ 57150 w 102870"/>
              <a:gd name="connsiteY1" fmla="*/ 114300 h 148590"/>
              <a:gd name="connsiteX2" fmla="*/ 102870 w 102870"/>
              <a:gd name="connsiteY2" fmla="*/ 148590 h 148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870" h="148590">
                <a:moveTo>
                  <a:pt x="0" y="0"/>
                </a:moveTo>
                <a:cubicBezTo>
                  <a:pt x="20002" y="44767"/>
                  <a:pt x="40005" y="89535"/>
                  <a:pt x="57150" y="114300"/>
                </a:cubicBezTo>
                <a:cubicBezTo>
                  <a:pt x="74295" y="139065"/>
                  <a:pt x="88582" y="143827"/>
                  <a:pt x="102870" y="14859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orme libre 24"/>
          <p:cNvSpPr>
            <a:spLocks noChangeAspect="1"/>
          </p:cNvSpPr>
          <p:nvPr/>
        </p:nvSpPr>
        <p:spPr>
          <a:xfrm>
            <a:off x="5486400" y="2222469"/>
            <a:ext cx="221513" cy="256489"/>
          </a:xfrm>
          <a:custGeom>
            <a:avLst/>
            <a:gdLst>
              <a:gd name="connsiteX0" fmla="*/ 217170 w 217170"/>
              <a:gd name="connsiteY0" fmla="*/ 0 h 251460"/>
              <a:gd name="connsiteX1" fmla="*/ 160020 w 217170"/>
              <a:gd name="connsiteY1" fmla="*/ 80010 h 251460"/>
              <a:gd name="connsiteX2" fmla="*/ 0 w 217170"/>
              <a:gd name="connsiteY2" fmla="*/ 251460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" h="251460">
                <a:moveTo>
                  <a:pt x="217170" y="0"/>
                </a:moveTo>
                <a:cubicBezTo>
                  <a:pt x="206692" y="19050"/>
                  <a:pt x="196215" y="38100"/>
                  <a:pt x="160020" y="80010"/>
                </a:cubicBezTo>
                <a:cubicBezTo>
                  <a:pt x="123825" y="121920"/>
                  <a:pt x="61912" y="186690"/>
                  <a:pt x="0" y="25146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orme libre 25"/>
          <p:cNvSpPr/>
          <p:nvPr/>
        </p:nvSpPr>
        <p:spPr>
          <a:xfrm>
            <a:off x="7360920" y="2039589"/>
            <a:ext cx="161003" cy="1143000"/>
          </a:xfrm>
          <a:custGeom>
            <a:avLst/>
            <a:gdLst>
              <a:gd name="connsiteX0" fmla="*/ 0 w 161003"/>
              <a:gd name="connsiteY0" fmla="*/ 0 h 1143000"/>
              <a:gd name="connsiteX1" fmla="*/ 137160 w 161003"/>
              <a:gd name="connsiteY1" fmla="*/ 754380 h 1143000"/>
              <a:gd name="connsiteX2" fmla="*/ 160020 w 161003"/>
              <a:gd name="connsiteY2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1003" h="1143000">
                <a:moveTo>
                  <a:pt x="0" y="0"/>
                </a:moveTo>
                <a:cubicBezTo>
                  <a:pt x="55245" y="281940"/>
                  <a:pt x="110490" y="563880"/>
                  <a:pt x="137160" y="754380"/>
                </a:cubicBezTo>
                <a:cubicBezTo>
                  <a:pt x="163830" y="944880"/>
                  <a:pt x="161925" y="1043940"/>
                  <a:pt x="160020" y="1143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orme libre 26"/>
          <p:cNvSpPr/>
          <p:nvPr/>
        </p:nvSpPr>
        <p:spPr>
          <a:xfrm>
            <a:off x="7509510" y="3182589"/>
            <a:ext cx="582930" cy="457200"/>
          </a:xfrm>
          <a:custGeom>
            <a:avLst/>
            <a:gdLst>
              <a:gd name="connsiteX0" fmla="*/ 0 w 582930"/>
              <a:gd name="connsiteY0" fmla="*/ 0 h 457200"/>
              <a:gd name="connsiteX1" fmla="*/ 354330 w 582930"/>
              <a:gd name="connsiteY1" fmla="*/ 228600 h 457200"/>
              <a:gd name="connsiteX2" fmla="*/ 582930 w 582930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2930" h="457200">
                <a:moveTo>
                  <a:pt x="0" y="0"/>
                </a:moveTo>
                <a:cubicBezTo>
                  <a:pt x="128587" y="76200"/>
                  <a:pt x="257175" y="152400"/>
                  <a:pt x="354330" y="228600"/>
                </a:cubicBezTo>
                <a:cubicBezTo>
                  <a:pt x="451485" y="304800"/>
                  <a:pt x="517207" y="381000"/>
                  <a:pt x="582930" y="4572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orme libre 27"/>
          <p:cNvSpPr/>
          <p:nvPr/>
        </p:nvSpPr>
        <p:spPr>
          <a:xfrm>
            <a:off x="6309360" y="3194019"/>
            <a:ext cx="1211580" cy="800100"/>
          </a:xfrm>
          <a:custGeom>
            <a:avLst/>
            <a:gdLst>
              <a:gd name="connsiteX0" fmla="*/ 0 w 1211580"/>
              <a:gd name="connsiteY0" fmla="*/ 800100 h 800100"/>
              <a:gd name="connsiteX1" fmla="*/ 685800 w 1211580"/>
              <a:gd name="connsiteY1" fmla="*/ 365760 h 800100"/>
              <a:gd name="connsiteX2" fmla="*/ 1211580 w 1211580"/>
              <a:gd name="connsiteY2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580" h="800100">
                <a:moveTo>
                  <a:pt x="0" y="800100"/>
                </a:moveTo>
                <a:cubicBezTo>
                  <a:pt x="241935" y="649605"/>
                  <a:pt x="483870" y="499110"/>
                  <a:pt x="685800" y="365760"/>
                </a:cubicBezTo>
                <a:cubicBezTo>
                  <a:pt x="887730" y="232410"/>
                  <a:pt x="1049655" y="116205"/>
                  <a:pt x="12115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9" name="Connecteur droit 28"/>
          <p:cNvCxnSpPr/>
          <p:nvPr/>
        </p:nvCxnSpPr>
        <p:spPr>
          <a:xfrm flipV="1">
            <a:off x="7482036" y="2588259"/>
            <a:ext cx="68580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 flipH="1" flipV="1">
            <a:off x="7405201" y="2588259"/>
            <a:ext cx="76835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 flipH="1" flipV="1">
            <a:off x="6831652" y="3533109"/>
            <a:ext cx="173762" cy="228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/>
          <p:cNvCxnSpPr/>
          <p:nvPr/>
        </p:nvCxnSpPr>
        <p:spPr>
          <a:xfrm flipH="1">
            <a:off x="6918533" y="3555969"/>
            <a:ext cx="86881" cy="1638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 flipV="1">
            <a:off x="7751782" y="3463770"/>
            <a:ext cx="170264" cy="57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>
            <a:off x="7861508" y="3314059"/>
            <a:ext cx="74295" cy="142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orme libre 34"/>
          <p:cNvSpPr/>
          <p:nvPr/>
        </p:nvSpPr>
        <p:spPr>
          <a:xfrm>
            <a:off x="6972300" y="5091399"/>
            <a:ext cx="240030" cy="80010"/>
          </a:xfrm>
          <a:custGeom>
            <a:avLst/>
            <a:gdLst>
              <a:gd name="connsiteX0" fmla="*/ 0 w 240030"/>
              <a:gd name="connsiteY0" fmla="*/ 0 h 80010"/>
              <a:gd name="connsiteX1" fmla="*/ 125730 w 240030"/>
              <a:gd name="connsiteY1" fmla="*/ 57150 h 80010"/>
              <a:gd name="connsiteX2" fmla="*/ 240030 w 240030"/>
              <a:gd name="connsiteY2" fmla="*/ 80010 h 8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030" h="80010">
                <a:moveTo>
                  <a:pt x="0" y="0"/>
                </a:moveTo>
                <a:cubicBezTo>
                  <a:pt x="42862" y="21907"/>
                  <a:pt x="85725" y="43815"/>
                  <a:pt x="125730" y="57150"/>
                </a:cubicBezTo>
                <a:cubicBezTo>
                  <a:pt x="165735" y="70485"/>
                  <a:pt x="202882" y="75247"/>
                  <a:pt x="240030" y="8001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Forme libre 35"/>
          <p:cNvSpPr/>
          <p:nvPr/>
        </p:nvSpPr>
        <p:spPr>
          <a:xfrm>
            <a:off x="6743700" y="4725639"/>
            <a:ext cx="662940" cy="102870"/>
          </a:xfrm>
          <a:custGeom>
            <a:avLst/>
            <a:gdLst>
              <a:gd name="connsiteX0" fmla="*/ 0 w 662940"/>
              <a:gd name="connsiteY0" fmla="*/ 0 h 102870"/>
              <a:gd name="connsiteX1" fmla="*/ 320040 w 662940"/>
              <a:gd name="connsiteY1" fmla="*/ 11430 h 102870"/>
              <a:gd name="connsiteX2" fmla="*/ 662940 w 662940"/>
              <a:gd name="connsiteY2" fmla="*/ 102870 h 102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2940" h="102870">
                <a:moveTo>
                  <a:pt x="0" y="0"/>
                </a:moveTo>
                <a:lnTo>
                  <a:pt x="320040" y="11430"/>
                </a:lnTo>
                <a:cubicBezTo>
                  <a:pt x="430530" y="28575"/>
                  <a:pt x="546735" y="65722"/>
                  <a:pt x="662940" y="10287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7596336" y="5222675"/>
            <a:ext cx="336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38" name="Forme libre 37"/>
          <p:cNvSpPr/>
          <p:nvPr/>
        </p:nvSpPr>
        <p:spPr>
          <a:xfrm>
            <a:off x="6172200" y="2291049"/>
            <a:ext cx="1234440" cy="1405890"/>
          </a:xfrm>
          <a:custGeom>
            <a:avLst/>
            <a:gdLst>
              <a:gd name="connsiteX0" fmla="*/ 0 w 1234440"/>
              <a:gd name="connsiteY0" fmla="*/ 1405890 h 1405890"/>
              <a:gd name="connsiteX1" fmla="*/ 697230 w 1234440"/>
              <a:gd name="connsiteY1" fmla="*/ 868680 h 1405890"/>
              <a:gd name="connsiteX2" fmla="*/ 1234440 w 1234440"/>
              <a:gd name="connsiteY2" fmla="*/ 0 h 140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4440" h="1405890">
                <a:moveTo>
                  <a:pt x="0" y="1405890"/>
                </a:moveTo>
                <a:cubicBezTo>
                  <a:pt x="245745" y="1254442"/>
                  <a:pt x="491490" y="1102995"/>
                  <a:pt x="697230" y="868680"/>
                </a:cubicBezTo>
                <a:cubicBezTo>
                  <a:pt x="902970" y="634365"/>
                  <a:pt x="1068705" y="317182"/>
                  <a:pt x="123444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Forme libre 38"/>
          <p:cNvSpPr/>
          <p:nvPr/>
        </p:nvSpPr>
        <p:spPr>
          <a:xfrm>
            <a:off x="7395210" y="2062449"/>
            <a:ext cx="388620" cy="217170"/>
          </a:xfrm>
          <a:custGeom>
            <a:avLst/>
            <a:gdLst>
              <a:gd name="connsiteX0" fmla="*/ 0 w 388620"/>
              <a:gd name="connsiteY0" fmla="*/ 217170 h 217170"/>
              <a:gd name="connsiteX1" fmla="*/ 194310 w 388620"/>
              <a:gd name="connsiteY1" fmla="*/ 148590 h 217170"/>
              <a:gd name="connsiteX2" fmla="*/ 388620 w 388620"/>
              <a:gd name="connsiteY2" fmla="*/ 0 h 217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8620" h="217170">
                <a:moveTo>
                  <a:pt x="0" y="217170"/>
                </a:moveTo>
                <a:cubicBezTo>
                  <a:pt x="64770" y="200977"/>
                  <a:pt x="129540" y="184785"/>
                  <a:pt x="194310" y="148590"/>
                </a:cubicBezTo>
                <a:cubicBezTo>
                  <a:pt x="259080" y="112395"/>
                  <a:pt x="388620" y="0"/>
                  <a:pt x="38862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Triangle isocèle 39"/>
          <p:cNvSpPr/>
          <p:nvPr/>
        </p:nvSpPr>
        <p:spPr>
          <a:xfrm>
            <a:off x="5726430" y="2129123"/>
            <a:ext cx="1680210" cy="93345"/>
          </a:xfrm>
          <a:prstGeom prst="triangle">
            <a:avLst>
              <a:gd name="adj" fmla="val 72617"/>
            </a:avLst>
          </a:prstGeom>
          <a:solidFill>
            <a:srgbClr val="FFC000"/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6972300" y="2051019"/>
            <a:ext cx="127000" cy="97155"/>
          </a:xfrm>
          <a:custGeom>
            <a:avLst/>
            <a:gdLst>
              <a:gd name="connsiteX0" fmla="*/ 57150 w 57150"/>
              <a:gd name="connsiteY0" fmla="*/ 0 h 91440"/>
              <a:gd name="connsiteX1" fmla="*/ 11430 w 57150"/>
              <a:gd name="connsiteY1" fmla="*/ 45720 h 91440"/>
              <a:gd name="connsiteX2" fmla="*/ 0 w 57150"/>
              <a:gd name="connsiteY2" fmla="*/ 9144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150" h="91440">
                <a:moveTo>
                  <a:pt x="57150" y="0"/>
                </a:moveTo>
                <a:cubicBezTo>
                  <a:pt x="39052" y="15240"/>
                  <a:pt x="20955" y="30480"/>
                  <a:pt x="11430" y="45720"/>
                </a:cubicBezTo>
                <a:cubicBezTo>
                  <a:pt x="1905" y="60960"/>
                  <a:pt x="952" y="76200"/>
                  <a:pt x="0" y="9144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/>
          <p:cNvSpPr/>
          <p:nvPr/>
        </p:nvSpPr>
        <p:spPr>
          <a:xfrm>
            <a:off x="6000750" y="1822419"/>
            <a:ext cx="217170" cy="308610"/>
          </a:xfrm>
          <a:custGeom>
            <a:avLst/>
            <a:gdLst>
              <a:gd name="connsiteX0" fmla="*/ 217170 w 217170"/>
              <a:gd name="connsiteY0" fmla="*/ 0 h 308610"/>
              <a:gd name="connsiteX1" fmla="*/ 102870 w 217170"/>
              <a:gd name="connsiteY1" fmla="*/ 171450 h 308610"/>
              <a:gd name="connsiteX2" fmla="*/ 0 w 217170"/>
              <a:gd name="connsiteY2" fmla="*/ 308610 h 30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" h="308610">
                <a:moveTo>
                  <a:pt x="217170" y="0"/>
                </a:moveTo>
                <a:cubicBezTo>
                  <a:pt x="178117" y="60007"/>
                  <a:pt x="139065" y="120015"/>
                  <a:pt x="102870" y="171450"/>
                </a:cubicBezTo>
                <a:cubicBezTo>
                  <a:pt x="66675" y="222885"/>
                  <a:pt x="33337" y="265747"/>
                  <a:pt x="0" y="30861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orme libre 42"/>
          <p:cNvSpPr/>
          <p:nvPr/>
        </p:nvSpPr>
        <p:spPr>
          <a:xfrm>
            <a:off x="6871682" y="1582389"/>
            <a:ext cx="148590" cy="502920"/>
          </a:xfrm>
          <a:custGeom>
            <a:avLst/>
            <a:gdLst>
              <a:gd name="connsiteX0" fmla="*/ 0 w 148590"/>
              <a:gd name="connsiteY0" fmla="*/ 0 h 502920"/>
              <a:gd name="connsiteX1" fmla="*/ 114300 w 148590"/>
              <a:gd name="connsiteY1" fmla="*/ 297180 h 502920"/>
              <a:gd name="connsiteX2" fmla="*/ 148590 w 148590"/>
              <a:gd name="connsiteY2" fmla="*/ 50292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590" h="502920">
                <a:moveTo>
                  <a:pt x="0" y="0"/>
                </a:moveTo>
                <a:cubicBezTo>
                  <a:pt x="44767" y="106680"/>
                  <a:pt x="89535" y="213360"/>
                  <a:pt x="114300" y="297180"/>
                </a:cubicBezTo>
                <a:cubicBezTo>
                  <a:pt x="139065" y="381000"/>
                  <a:pt x="143827" y="441960"/>
                  <a:pt x="148590" y="50292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>
            <a:off x="7520940" y="1479519"/>
            <a:ext cx="274320" cy="662940"/>
          </a:xfrm>
          <a:custGeom>
            <a:avLst/>
            <a:gdLst>
              <a:gd name="connsiteX0" fmla="*/ 274320 w 274320"/>
              <a:gd name="connsiteY0" fmla="*/ 0 h 662940"/>
              <a:gd name="connsiteX1" fmla="*/ 91440 w 274320"/>
              <a:gd name="connsiteY1" fmla="*/ 320040 h 662940"/>
              <a:gd name="connsiteX2" fmla="*/ 0 w 274320"/>
              <a:gd name="connsiteY2" fmla="*/ 662940 h 662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320" h="662940">
                <a:moveTo>
                  <a:pt x="274320" y="0"/>
                </a:moveTo>
                <a:cubicBezTo>
                  <a:pt x="205740" y="104775"/>
                  <a:pt x="137160" y="209550"/>
                  <a:pt x="91440" y="320040"/>
                </a:cubicBezTo>
                <a:cubicBezTo>
                  <a:pt x="45720" y="430530"/>
                  <a:pt x="22860" y="546735"/>
                  <a:pt x="0" y="66294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ZoneTexte 44"/>
          <p:cNvSpPr txBox="1"/>
          <p:nvPr/>
        </p:nvSpPr>
        <p:spPr>
          <a:xfrm>
            <a:off x="5486400" y="1479519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</a:t>
            </a:r>
            <a:endParaRPr lang="fr-FR" dirty="0"/>
          </a:p>
        </p:txBody>
      </p:sp>
      <p:sp>
        <p:nvSpPr>
          <p:cNvPr id="46" name="ZoneTexte 45"/>
          <p:cNvSpPr txBox="1"/>
          <p:nvPr/>
        </p:nvSpPr>
        <p:spPr>
          <a:xfrm>
            <a:off x="6640830" y="1319499"/>
            <a:ext cx="29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48" name="ZoneTexte 47"/>
          <p:cNvSpPr txBox="1"/>
          <p:nvPr/>
        </p:nvSpPr>
        <p:spPr>
          <a:xfrm>
            <a:off x="7524313" y="1055503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ym typeface="Symbol"/>
              </a:rPr>
              <a:t> + L</a:t>
            </a:r>
            <a:endParaRPr lang="fr-FR" dirty="0"/>
          </a:p>
        </p:txBody>
      </p:sp>
      <p:sp>
        <p:nvSpPr>
          <p:cNvPr id="49" name="Forme libre 48"/>
          <p:cNvSpPr/>
          <p:nvPr/>
        </p:nvSpPr>
        <p:spPr>
          <a:xfrm>
            <a:off x="6960870" y="2062449"/>
            <a:ext cx="11430" cy="68580"/>
          </a:xfrm>
          <a:custGeom>
            <a:avLst/>
            <a:gdLst>
              <a:gd name="connsiteX0" fmla="*/ 0 w 11430"/>
              <a:gd name="connsiteY0" fmla="*/ 68580 h 68580"/>
              <a:gd name="connsiteX1" fmla="*/ 11430 w 11430"/>
              <a:gd name="connsiteY1" fmla="*/ 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30" h="68580">
                <a:moveTo>
                  <a:pt x="0" y="68580"/>
                </a:moveTo>
                <a:lnTo>
                  <a:pt x="11430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ZoneTexte 50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eutectiques et 1 </a:t>
            </a:r>
            <a:r>
              <a:rPr lang="fr-FR" sz="2400" dirty="0" err="1" smtClean="0"/>
              <a:t>peritectique</a:t>
            </a:r>
            <a:r>
              <a:rPr lang="fr-FR" sz="2400" dirty="0" smtClean="0"/>
              <a:t> binaires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16053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5" name="Picture 4" descr="Class-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2" t="24896" r="18776" b="19572"/>
          <a:stretch>
            <a:fillRect/>
          </a:stretch>
        </p:blipFill>
        <p:spPr bwMode="auto">
          <a:xfrm>
            <a:off x="76200" y="976599"/>
            <a:ext cx="5791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5"/>
          <p:cNvSpPr>
            <a:spLocks/>
          </p:cNvSpPr>
          <p:nvPr/>
        </p:nvSpPr>
        <p:spPr bwMode="auto">
          <a:xfrm>
            <a:off x="1044575" y="2257712"/>
            <a:ext cx="4013200" cy="1681162"/>
          </a:xfrm>
          <a:custGeom>
            <a:avLst/>
            <a:gdLst>
              <a:gd name="T0" fmla="*/ 0 w 2528"/>
              <a:gd name="T1" fmla="*/ 53975 h 1059"/>
              <a:gd name="T2" fmla="*/ 4013200 w 2528"/>
              <a:gd name="T3" fmla="*/ 0 h 1059"/>
              <a:gd name="T4" fmla="*/ 2860675 w 2528"/>
              <a:gd name="T5" fmla="*/ 1681162 h 1059"/>
              <a:gd name="T6" fmla="*/ 0 w 2528"/>
              <a:gd name="T7" fmla="*/ 53975 h 105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28" h="1059">
                <a:moveTo>
                  <a:pt x="0" y="34"/>
                </a:moveTo>
                <a:lnTo>
                  <a:pt x="2528" y="0"/>
                </a:lnTo>
                <a:lnTo>
                  <a:pt x="1802" y="1059"/>
                </a:lnTo>
                <a:lnTo>
                  <a:pt x="0" y="34"/>
                </a:lnTo>
                <a:close/>
              </a:path>
            </a:pathLst>
          </a:cu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1509713" y="2305337"/>
            <a:ext cx="195262" cy="104775"/>
          </a:xfrm>
          <a:custGeom>
            <a:avLst/>
            <a:gdLst>
              <a:gd name="T0" fmla="*/ 0 w 123"/>
              <a:gd name="T1" fmla="*/ 0 h 66"/>
              <a:gd name="T2" fmla="*/ 109537 w 123"/>
              <a:gd name="T3" fmla="*/ 47625 h 66"/>
              <a:gd name="T4" fmla="*/ 195262 w 123"/>
              <a:gd name="T5" fmla="*/ 104775 h 6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3" h="66">
                <a:moveTo>
                  <a:pt x="0" y="0"/>
                </a:moveTo>
                <a:cubicBezTo>
                  <a:pt x="11" y="5"/>
                  <a:pt x="49" y="19"/>
                  <a:pt x="69" y="30"/>
                </a:cubicBezTo>
                <a:cubicBezTo>
                  <a:pt x="89" y="41"/>
                  <a:pt x="112" y="59"/>
                  <a:pt x="123" y="66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2686050" y="2567274"/>
            <a:ext cx="1338263" cy="676275"/>
          </a:xfrm>
          <a:custGeom>
            <a:avLst/>
            <a:gdLst>
              <a:gd name="T0" fmla="*/ 1338263 w 843"/>
              <a:gd name="T1" fmla="*/ 0 h 426"/>
              <a:gd name="T2" fmla="*/ 1076325 w 843"/>
              <a:gd name="T3" fmla="*/ 209550 h 426"/>
              <a:gd name="T4" fmla="*/ 619125 w 843"/>
              <a:gd name="T5" fmla="*/ 433388 h 426"/>
              <a:gd name="T6" fmla="*/ 0 w 843"/>
              <a:gd name="T7" fmla="*/ 676275 h 42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43" h="426">
                <a:moveTo>
                  <a:pt x="843" y="0"/>
                </a:moveTo>
                <a:cubicBezTo>
                  <a:pt x="816" y="22"/>
                  <a:pt x="754" y="86"/>
                  <a:pt x="678" y="132"/>
                </a:cubicBezTo>
                <a:cubicBezTo>
                  <a:pt x="602" y="178"/>
                  <a:pt x="503" y="224"/>
                  <a:pt x="390" y="273"/>
                </a:cubicBezTo>
                <a:cubicBezTo>
                  <a:pt x="277" y="322"/>
                  <a:pt x="81" y="394"/>
                  <a:pt x="0" y="426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1719263" y="2367249"/>
            <a:ext cx="2300287" cy="200025"/>
          </a:xfrm>
          <a:custGeom>
            <a:avLst/>
            <a:gdLst>
              <a:gd name="T0" fmla="*/ 0 w 1449"/>
              <a:gd name="T1" fmla="*/ 42863 h 126"/>
              <a:gd name="T2" fmla="*/ 2300287 w 1449"/>
              <a:gd name="T3" fmla="*/ 200025 h 126"/>
              <a:gd name="T4" fmla="*/ 1671637 w 1449"/>
              <a:gd name="T5" fmla="*/ 0 h 126"/>
              <a:gd name="T6" fmla="*/ 0 w 1449"/>
              <a:gd name="T7" fmla="*/ 42863 h 12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49" h="126">
                <a:moveTo>
                  <a:pt x="0" y="27"/>
                </a:moveTo>
                <a:lnTo>
                  <a:pt x="1449" y="126"/>
                </a:lnTo>
                <a:lnTo>
                  <a:pt x="1053" y="0"/>
                </a:lnTo>
                <a:lnTo>
                  <a:pt x="0" y="27"/>
                </a:lnTo>
                <a:close/>
              </a:path>
            </a:pathLst>
          </a:custGeom>
          <a:solidFill>
            <a:srgbClr val="FF8989">
              <a:alpha val="50195"/>
            </a:srgbClr>
          </a:solidFill>
          <a:ln w="9525">
            <a:solidFill>
              <a:srgbClr val="D6009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" name="Freeform 12"/>
          <p:cNvSpPr>
            <a:spLocks/>
          </p:cNvSpPr>
          <p:nvPr/>
        </p:nvSpPr>
        <p:spPr bwMode="auto">
          <a:xfrm>
            <a:off x="1362075" y="2410112"/>
            <a:ext cx="361950" cy="57150"/>
          </a:xfrm>
          <a:custGeom>
            <a:avLst/>
            <a:gdLst>
              <a:gd name="T0" fmla="*/ 361950 w 228"/>
              <a:gd name="T1" fmla="*/ 0 h 36"/>
              <a:gd name="T2" fmla="*/ 176213 w 228"/>
              <a:gd name="T3" fmla="*/ 47625 h 36"/>
              <a:gd name="T4" fmla="*/ 0 w 228"/>
              <a:gd name="T5" fmla="*/ 57150 h 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8" h="36">
                <a:moveTo>
                  <a:pt x="228" y="0"/>
                </a:moveTo>
                <a:cubicBezTo>
                  <a:pt x="209" y="5"/>
                  <a:pt x="149" y="24"/>
                  <a:pt x="111" y="30"/>
                </a:cubicBezTo>
                <a:cubicBezTo>
                  <a:pt x="73" y="36"/>
                  <a:pt x="23" y="35"/>
                  <a:pt x="0" y="36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Freeform 13"/>
          <p:cNvSpPr>
            <a:spLocks/>
          </p:cNvSpPr>
          <p:nvPr/>
        </p:nvSpPr>
        <p:spPr bwMode="auto">
          <a:xfrm>
            <a:off x="3395663" y="2271999"/>
            <a:ext cx="347662" cy="95250"/>
          </a:xfrm>
          <a:custGeom>
            <a:avLst/>
            <a:gdLst>
              <a:gd name="T0" fmla="*/ 347662 w 219"/>
              <a:gd name="T1" fmla="*/ 0 h 60"/>
              <a:gd name="T2" fmla="*/ 0 w 219"/>
              <a:gd name="T3" fmla="*/ 95250 h 6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19" h="60">
                <a:moveTo>
                  <a:pt x="219" y="0"/>
                </a:moveTo>
                <a:cubicBezTo>
                  <a:pt x="183" y="9"/>
                  <a:pt x="46" y="48"/>
                  <a:pt x="0" y="6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Freeform 14"/>
          <p:cNvSpPr>
            <a:spLocks/>
          </p:cNvSpPr>
          <p:nvPr/>
        </p:nvSpPr>
        <p:spPr bwMode="auto">
          <a:xfrm>
            <a:off x="3386138" y="2267237"/>
            <a:ext cx="795337" cy="100012"/>
          </a:xfrm>
          <a:custGeom>
            <a:avLst/>
            <a:gdLst>
              <a:gd name="T0" fmla="*/ 795337 w 501"/>
              <a:gd name="T1" fmla="*/ 0 h 63"/>
              <a:gd name="T2" fmla="*/ 0 w 501"/>
              <a:gd name="T3" fmla="*/ 100012 h 6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01" h="63">
                <a:moveTo>
                  <a:pt x="501" y="0"/>
                </a:moveTo>
                <a:cubicBezTo>
                  <a:pt x="418" y="11"/>
                  <a:pt x="105" y="50"/>
                  <a:pt x="0" y="63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Freeform 15"/>
          <p:cNvSpPr>
            <a:spLocks/>
          </p:cNvSpPr>
          <p:nvPr/>
        </p:nvSpPr>
        <p:spPr bwMode="auto">
          <a:xfrm>
            <a:off x="4019550" y="2262474"/>
            <a:ext cx="819150" cy="304800"/>
          </a:xfrm>
          <a:custGeom>
            <a:avLst/>
            <a:gdLst>
              <a:gd name="T0" fmla="*/ 819150 w 516"/>
              <a:gd name="T1" fmla="*/ 0 h 192"/>
              <a:gd name="T2" fmla="*/ 428625 w 516"/>
              <a:gd name="T3" fmla="*/ 209550 h 192"/>
              <a:gd name="T4" fmla="*/ 0 w 516"/>
              <a:gd name="T5" fmla="*/ 3048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16" h="192">
                <a:moveTo>
                  <a:pt x="516" y="0"/>
                </a:moveTo>
                <a:cubicBezTo>
                  <a:pt x="475" y="22"/>
                  <a:pt x="356" y="100"/>
                  <a:pt x="270" y="132"/>
                </a:cubicBezTo>
                <a:cubicBezTo>
                  <a:pt x="184" y="164"/>
                  <a:pt x="56" y="180"/>
                  <a:pt x="0" y="192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Freeform 16"/>
          <p:cNvSpPr>
            <a:spLocks/>
          </p:cNvSpPr>
          <p:nvPr/>
        </p:nvSpPr>
        <p:spPr bwMode="auto">
          <a:xfrm>
            <a:off x="2786063" y="3178462"/>
            <a:ext cx="1566862" cy="122237"/>
          </a:xfrm>
          <a:custGeom>
            <a:avLst/>
            <a:gdLst>
              <a:gd name="T0" fmla="*/ 1566862 w 987"/>
              <a:gd name="T1" fmla="*/ 98425 h 77"/>
              <a:gd name="T2" fmla="*/ 838200 w 987"/>
              <a:gd name="T3" fmla="*/ 3175 h 77"/>
              <a:gd name="T4" fmla="*/ 0 w 987"/>
              <a:gd name="T5" fmla="*/ 122237 h 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87" h="77">
                <a:moveTo>
                  <a:pt x="987" y="62"/>
                </a:moveTo>
                <a:cubicBezTo>
                  <a:pt x="911" y="52"/>
                  <a:pt x="692" y="0"/>
                  <a:pt x="528" y="2"/>
                </a:cubicBezTo>
                <a:cubicBezTo>
                  <a:pt x="364" y="4"/>
                  <a:pt x="110" y="61"/>
                  <a:pt x="0" y="77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Freeform 17"/>
          <p:cNvSpPr>
            <a:spLocks/>
          </p:cNvSpPr>
          <p:nvPr/>
        </p:nvSpPr>
        <p:spPr bwMode="auto">
          <a:xfrm>
            <a:off x="3505200" y="3711862"/>
            <a:ext cx="523875" cy="50800"/>
          </a:xfrm>
          <a:custGeom>
            <a:avLst/>
            <a:gdLst>
              <a:gd name="T0" fmla="*/ 523875 w 330"/>
              <a:gd name="T1" fmla="*/ 50800 h 32"/>
              <a:gd name="T2" fmla="*/ 295275 w 330"/>
              <a:gd name="T3" fmla="*/ 7938 h 32"/>
              <a:gd name="T4" fmla="*/ 0 w 330"/>
              <a:gd name="T5" fmla="*/ 3175 h 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0" h="32">
                <a:moveTo>
                  <a:pt x="330" y="32"/>
                </a:moveTo>
                <a:cubicBezTo>
                  <a:pt x="306" y="27"/>
                  <a:pt x="241" y="10"/>
                  <a:pt x="186" y="5"/>
                </a:cubicBezTo>
                <a:cubicBezTo>
                  <a:pt x="131" y="0"/>
                  <a:pt x="39" y="3"/>
                  <a:pt x="0" y="2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auto">
          <a:xfrm flipV="1">
            <a:off x="5194300" y="2043399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5268913" y="1956087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7449062" y="2947019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5884158" y="2423655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+ </a:t>
            </a:r>
            <a:r>
              <a:rPr lang="fr-FR" dirty="0" smtClean="0">
                <a:sym typeface="Symbol"/>
              </a:rPr>
              <a:t></a:t>
            </a:r>
            <a:endParaRPr lang="fr-FR" dirty="0"/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6784525" y="4295863"/>
            <a:ext cx="6473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Arial" pitchFamily="34" charset="0"/>
                <a:ea typeface="ＭＳ Ｐゴシック" charset="0"/>
                <a:cs typeface="Arial" pitchFamily="34" charset="0"/>
                <a:sym typeface="Symbol"/>
              </a:rPr>
              <a:t>L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+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22" name="Forme libre 21"/>
          <p:cNvSpPr/>
          <p:nvPr/>
        </p:nvSpPr>
        <p:spPr>
          <a:xfrm>
            <a:off x="7360920" y="2039589"/>
            <a:ext cx="161003" cy="1143000"/>
          </a:xfrm>
          <a:custGeom>
            <a:avLst/>
            <a:gdLst>
              <a:gd name="connsiteX0" fmla="*/ 0 w 161003"/>
              <a:gd name="connsiteY0" fmla="*/ 0 h 1143000"/>
              <a:gd name="connsiteX1" fmla="*/ 137160 w 161003"/>
              <a:gd name="connsiteY1" fmla="*/ 754380 h 1143000"/>
              <a:gd name="connsiteX2" fmla="*/ 160020 w 161003"/>
              <a:gd name="connsiteY2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1003" h="1143000">
                <a:moveTo>
                  <a:pt x="0" y="0"/>
                </a:moveTo>
                <a:cubicBezTo>
                  <a:pt x="55245" y="281940"/>
                  <a:pt x="110490" y="563880"/>
                  <a:pt x="137160" y="754380"/>
                </a:cubicBezTo>
                <a:cubicBezTo>
                  <a:pt x="163830" y="944880"/>
                  <a:pt x="161925" y="1043940"/>
                  <a:pt x="160020" y="1143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orme libre 22"/>
          <p:cNvSpPr/>
          <p:nvPr/>
        </p:nvSpPr>
        <p:spPr>
          <a:xfrm>
            <a:off x="7509510" y="3182589"/>
            <a:ext cx="582930" cy="457200"/>
          </a:xfrm>
          <a:custGeom>
            <a:avLst/>
            <a:gdLst>
              <a:gd name="connsiteX0" fmla="*/ 0 w 582930"/>
              <a:gd name="connsiteY0" fmla="*/ 0 h 457200"/>
              <a:gd name="connsiteX1" fmla="*/ 354330 w 582930"/>
              <a:gd name="connsiteY1" fmla="*/ 228600 h 457200"/>
              <a:gd name="connsiteX2" fmla="*/ 582930 w 582930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2930" h="457200">
                <a:moveTo>
                  <a:pt x="0" y="0"/>
                </a:moveTo>
                <a:cubicBezTo>
                  <a:pt x="128587" y="76200"/>
                  <a:pt x="257175" y="152400"/>
                  <a:pt x="354330" y="228600"/>
                </a:cubicBezTo>
                <a:cubicBezTo>
                  <a:pt x="451485" y="304800"/>
                  <a:pt x="517207" y="381000"/>
                  <a:pt x="582930" y="4572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orme libre 23"/>
          <p:cNvSpPr/>
          <p:nvPr/>
        </p:nvSpPr>
        <p:spPr>
          <a:xfrm>
            <a:off x="6309360" y="3194019"/>
            <a:ext cx="1211580" cy="800100"/>
          </a:xfrm>
          <a:custGeom>
            <a:avLst/>
            <a:gdLst>
              <a:gd name="connsiteX0" fmla="*/ 0 w 1211580"/>
              <a:gd name="connsiteY0" fmla="*/ 800100 h 800100"/>
              <a:gd name="connsiteX1" fmla="*/ 685800 w 1211580"/>
              <a:gd name="connsiteY1" fmla="*/ 365760 h 800100"/>
              <a:gd name="connsiteX2" fmla="*/ 1211580 w 1211580"/>
              <a:gd name="connsiteY2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580" h="800100">
                <a:moveTo>
                  <a:pt x="0" y="800100"/>
                </a:moveTo>
                <a:cubicBezTo>
                  <a:pt x="241935" y="649605"/>
                  <a:pt x="483870" y="499110"/>
                  <a:pt x="685800" y="365760"/>
                </a:cubicBezTo>
                <a:cubicBezTo>
                  <a:pt x="887730" y="232410"/>
                  <a:pt x="1049655" y="116205"/>
                  <a:pt x="12115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" name="Connecteur droit 24"/>
          <p:cNvCxnSpPr/>
          <p:nvPr/>
        </p:nvCxnSpPr>
        <p:spPr>
          <a:xfrm flipV="1">
            <a:off x="7444318" y="2372235"/>
            <a:ext cx="68580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 flipH="1" flipV="1">
            <a:off x="7367483" y="2372235"/>
            <a:ext cx="76835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 flipH="1" flipV="1">
            <a:off x="6831652" y="3533109"/>
            <a:ext cx="173762" cy="228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flipH="1">
            <a:off x="6918533" y="3555969"/>
            <a:ext cx="86881" cy="1638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flipV="1">
            <a:off x="7751782" y="3463770"/>
            <a:ext cx="170264" cy="57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7861508" y="3314059"/>
            <a:ext cx="74295" cy="142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5268913" y="1956087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32" name="Forme libre 31"/>
          <p:cNvSpPr/>
          <p:nvPr/>
        </p:nvSpPr>
        <p:spPr>
          <a:xfrm>
            <a:off x="5474970" y="2291049"/>
            <a:ext cx="274320" cy="182880"/>
          </a:xfrm>
          <a:custGeom>
            <a:avLst/>
            <a:gdLst>
              <a:gd name="connsiteX0" fmla="*/ 0 w 274320"/>
              <a:gd name="connsiteY0" fmla="*/ 182880 h 182880"/>
              <a:gd name="connsiteX1" fmla="*/ 171450 w 274320"/>
              <a:gd name="connsiteY1" fmla="*/ 102870 h 182880"/>
              <a:gd name="connsiteX2" fmla="*/ 274320 w 274320"/>
              <a:gd name="connsiteY2" fmla="*/ 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320" h="182880">
                <a:moveTo>
                  <a:pt x="0" y="182880"/>
                </a:moveTo>
                <a:cubicBezTo>
                  <a:pt x="62865" y="158115"/>
                  <a:pt x="125730" y="133350"/>
                  <a:pt x="171450" y="102870"/>
                </a:cubicBezTo>
                <a:cubicBezTo>
                  <a:pt x="217170" y="72390"/>
                  <a:pt x="245745" y="36195"/>
                  <a:pt x="27432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Forme libre 32"/>
          <p:cNvSpPr/>
          <p:nvPr/>
        </p:nvSpPr>
        <p:spPr>
          <a:xfrm>
            <a:off x="5646420" y="2062449"/>
            <a:ext cx="105029" cy="217170"/>
          </a:xfrm>
          <a:custGeom>
            <a:avLst/>
            <a:gdLst>
              <a:gd name="connsiteX0" fmla="*/ 0 w 105029"/>
              <a:gd name="connsiteY0" fmla="*/ 0 h 217170"/>
              <a:gd name="connsiteX1" fmla="*/ 91440 w 105029"/>
              <a:gd name="connsiteY1" fmla="*/ 102870 h 217170"/>
              <a:gd name="connsiteX2" fmla="*/ 102870 w 105029"/>
              <a:gd name="connsiteY2" fmla="*/ 217170 h 217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5029" h="217170">
                <a:moveTo>
                  <a:pt x="0" y="0"/>
                </a:moveTo>
                <a:cubicBezTo>
                  <a:pt x="37147" y="33337"/>
                  <a:pt x="74295" y="66675"/>
                  <a:pt x="91440" y="102870"/>
                </a:cubicBezTo>
                <a:cubicBezTo>
                  <a:pt x="108585" y="139065"/>
                  <a:pt x="105727" y="178117"/>
                  <a:pt x="102870" y="21717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Forme libre 33"/>
          <p:cNvSpPr/>
          <p:nvPr/>
        </p:nvSpPr>
        <p:spPr>
          <a:xfrm>
            <a:off x="6309360" y="2793969"/>
            <a:ext cx="1188720" cy="1143000"/>
          </a:xfrm>
          <a:custGeom>
            <a:avLst/>
            <a:gdLst>
              <a:gd name="connsiteX0" fmla="*/ 1188720 w 1188720"/>
              <a:gd name="connsiteY0" fmla="*/ 0 h 1143000"/>
              <a:gd name="connsiteX1" fmla="*/ 948690 w 1188720"/>
              <a:gd name="connsiteY1" fmla="*/ 411480 h 1143000"/>
              <a:gd name="connsiteX2" fmla="*/ 0 w 1188720"/>
              <a:gd name="connsiteY2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88720" h="1143000">
                <a:moveTo>
                  <a:pt x="1188720" y="0"/>
                </a:moveTo>
                <a:cubicBezTo>
                  <a:pt x="1167765" y="110490"/>
                  <a:pt x="1146810" y="220980"/>
                  <a:pt x="948690" y="411480"/>
                </a:cubicBezTo>
                <a:cubicBezTo>
                  <a:pt x="750570" y="601980"/>
                  <a:pt x="375285" y="872490"/>
                  <a:pt x="0" y="11430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Forme libre 34"/>
          <p:cNvSpPr/>
          <p:nvPr/>
        </p:nvSpPr>
        <p:spPr>
          <a:xfrm>
            <a:off x="7486650" y="2051019"/>
            <a:ext cx="1337310" cy="731520"/>
          </a:xfrm>
          <a:custGeom>
            <a:avLst/>
            <a:gdLst>
              <a:gd name="connsiteX0" fmla="*/ 0 w 1337310"/>
              <a:gd name="connsiteY0" fmla="*/ 731520 h 731520"/>
              <a:gd name="connsiteX1" fmla="*/ 834390 w 1337310"/>
              <a:gd name="connsiteY1" fmla="*/ 434340 h 731520"/>
              <a:gd name="connsiteX2" fmla="*/ 1337310 w 1337310"/>
              <a:gd name="connsiteY2" fmla="*/ 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7310" h="731520">
                <a:moveTo>
                  <a:pt x="0" y="731520"/>
                </a:moveTo>
                <a:cubicBezTo>
                  <a:pt x="305752" y="643890"/>
                  <a:pt x="611505" y="556260"/>
                  <a:pt x="834390" y="434340"/>
                </a:cubicBezTo>
                <a:cubicBezTo>
                  <a:pt x="1057275" y="312420"/>
                  <a:pt x="1197292" y="156210"/>
                  <a:pt x="133731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Forme libre 35"/>
          <p:cNvSpPr/>
          <p:nvPr/>
        </p:nvSpPr>
        <p:spPr>
          <a:xfrm>
            <a:off x="6343650" y="3811461"/>
            <a:ext cx="1600200" cy="216948"/>
          </a:xfrm>
          <a:custGeom>
            <a:avLst/>
            <a:gdLst>
              <a:gd name="connsiteX0" fmla="*/ 0 w 1600200"/>
              <a:gd name="connsiteY0" fmla="*/ 216948 h 216948"/>
              <a:gd name="connsiteX1" fmla="*/ 822960 w 1600200"/>
              <a:gd name="connsiteY1" fmla="*/ 11208 h 216948"/>
              <a:gd name="connsiteX2" fmla="*/ 1600200 w 1600200"/>
              <a:gd name="connsiteY2" fmla="*/ 45498 h 21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0200" h="216948">
                <a:moveTo>
                  <a:pt x="0" y="216948"/>
                </a:moveTo>
                <a:cubicBezTo>
                  <a:pt x="278130" y="128365"/>
                  <a:pt x="556260" y="39783"/>
                  <a:pt x="822960" y="11208"/>
                </a:cubicBezTo>
                <a:cubicBezTo>
                  <a:pt x="1089660" y="-17367"/>
                  <a:pt x="1344930" y="14065"/>
                  <a:pt x="1600200" y="45498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Forme libre 36"/>
          <p:cNvSpPr/>
          <p:nvPr/>
        </p:nvSpPr>
        <p:spPr>
          <a:xfrm>
            <a:off x="6892290" y="4954239"/>
            <a:ext cx="377190" cy="57150"/>
          </a:xfrm>
          <a:custGeom>
            <a:avLst/>
            <a:gdLst>
              <a:gd name="connsiteX0" fmla="*/ 0 w 377190"/>
              <a:gd name="connsiteY0" fmla="*/ 0 h 57150"/>
              <a:gd name="connsiteX1" fmla="*/ 194310 w 377190"/>
              <a:gd name="connsiteY1" fmla="*/ 11430 h 57150"/>
              <a:gd name="connsiteX2" fmla="*/ 377190 w 377190"/>
              <a:gd name="connsiteY2" fmla="*/ 5715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7190" h="57150">
                <a:moveTo>
                  <a:pt x="0" y="0"/>
                </a:moveTo>
                <a:cubicBezTo>
                  <a:pt x="65722" y="952"/>
                  <a:pt x="131445" y="1905"/>
                  <a:pt x="194310" y="11430"/>
                </a:cubicBezTo>
                <a:cubicBezTo>
                  <a:pt x="257175" y="20955"/>
                  <a:pt x="317182" y="39052"/>
                  <a:pt x="377190" y="571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riangle isocèle 37"/>
          <p:cNvSpPr/>
          <p:nvPr/>
        </p:nvSpPr>
        <p:spPr>
          <a:xfrm rot="792685">
            <a:off x="5775993" y="2210285"/>
            <a:ext cx="1769688" cy="311646"/>
          </a:xfrm>
          <a:prstGeom prst="triangle">
            <a:avLst>
              <a:gd name="adj" fmla="val 76390"/>
            </a:avLst>
          </a:prstGeom>
          <a:solidFill>
            <a:schemeClr val="accent6">
              <a:lumMod val="60000"/>
              <a:lumOff val="40000"/>
            </a:schemeClr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Forme libre 38"/>
          <p:cNvSpPr/>
          <p:nvPr/>
        </p:nvSpPr>
        <p:spPr>
          <a:xfrm>
            <a:off x="7155180" y="2073879"/>
            <a:ext cx="125730" cy="251460"/>
          </a:xfrm>
          <a:custGeom>
            <a:avLst/>
            <a:gdLst>
              <a:gd name="connsiteX0" fmla="*/ 0 w 125730"/>
              <a:gd name="connsiteY0" fmla="*/ 251460 h 251460"/>
              <a:gd name="connsiteX1" fmla="*/ 68580 w 125730"/>
              <a:gd name="connsiteY1" fmla="*/ 160020 h 251460"/>
              <a:gd name="connsiteX2" fmla="*/ 125730 w 125730"/>
              <a:gd name="connsiteY2" fmla="*/ 0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730" h="251460">
                <a:moveTo>
                  <a:pt x="0" y="251460"/>
                </a:moveTo>
                <a:cubicBezTo>
                  <a:pt x="23812" y="226695"/>
                  <a:pt x="47625" y="201930"/>
                  <a:pt x="68580" y="160020"/>
                </a:cubicBezTo>
                <a:cubicBezTo>
                  <a:pt x="89535" y="118110"/>
                  <a:pt x="107632" y="59055"/>
                  <a:pt x="12573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Forme libre 39"/>
          <p:cNvSpPr/>
          <p:nvPr/>
        </p:nvSpPr>
        <p:spPr>
          <a:xfrm>
            <a:off x="7166610" y="2051019"/>
            <a:ext cx="468630" cy="297180"/>
          </a:xfrm>
          <a:custGeom>
            <a:avLst/>
            <a:gdLst>
              <a:gd name="connsiteX0" fmla="*/ 0 w 468630"/>
              <a:gd name="connsiteY0" fmla="*/ 297180 h 297180"/>
              <a:gd name="connsiteX1" fmla="*/ 354330 w 468630"/>
              <a:gd name="connsiteY1" fmla="*/ 114300 h 297180"/>
              <a:gd name="connsiteX2" fmla="*/ 468630 w 468630"/>
              <a:gd name="connsiteY2" fmla="*/ 0 h 29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8630" h="297180">
                <a:moveTo>
                  <a:pt x="0" y="297180"/>
                </a:moveTo>
                <a:cubicBezTo>
                  <a:pt x="138112" y="230505"/>
                  <a:pt x="276225" y="163830"/>
                  <a:pt x="354330" y="114300"/>
                </a:cubicBezTo>
                <a:cubicBezTo>
                  <a:pt x="432435" y="64770"/>
                  <a:pt x="450532" y="32385"/>
                  <a:pt x="46863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7254582" y="1628109"/>
            <a:ext cx="148590" cy="502920"/>
          </a:xfrm>
          <a:custGeom>
            <a:avLst/>
            <a:gdLst>
              <a:gd name="connsiteX0" fmla="*/ 0 w 148590"/>
              <a:gd name="connsiteY0" fmla="*/ 0 h 502920"/>
              <a:gd name="connsiteX1" fmla="*/ 114300 w 148590"/>
              <a:gd name="connsiteY1" fmla="*/ 297180 h 502920"/>
              <a:gd name="connsiteX2" fmla="*/ 148590 w 148590"/>
              <a:gd name="connsiteY2" fmla="*/ 50292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590" h="502920">
                <a:moveTo>
                  <a:pt x="0" y="0"/>
                </a:moveTo>
                <a:cubicBezTo>
                  <a:pt x="44767" y="106680"/>
                  <a:pt x="89535" y="213360"/>
                  <a:pt x="114300" y="297180"/>
                </a:cubicBezTo>
                <a:cubicBezTo>
                  <a:pt x="139065" y="381000"/>
                  <a:pt x="143827" y="441960"/>
                  <a:pt x="148590" y="50292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ZoneTexte 41"/>
          <p:cNvSpPr txBox="1"/>
          <p:nvPr/>
        </p:nvSpPr>
        <p:spPr>
          <a:xfrm>
            <a:off x="5834241" y="1967517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</a:t>
            </a:r>
            <a:endParaRPr lang="fr-FR" dirty="0"/>
          </a:p>
        </p:txBody>
      </p:sp>
      <p:sp>
        <p:nvSpPr>
          <p:cNvPr id="43" name="ZoneTexte 42"/>
          <p:cNvSpPr txBox="1"/>
          <p:nvPr/>
        </p:nvSpPr>
        <p:spPr>
          <a:xfrm>
            <a:off x="7023730" y="1365219"/>
            <a:ext cx="29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44" name="ZoneTexte 43"/>
          <p:cNvSpPr txBox="1"/>
          <p:nvPr/>
        </p:nvSpPr>
        <p:spPr>
          <a:xfrm>
            <a:off x="7524313" y="2072773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 + L</a:t>
            </a:r>
            <a:endParaRPr lang="fr-FR" dirty="0"/>
          </a:p>
        </p:txBody>
      </p:sp>
      <p:sp>
        <p:nvSpPr>
          <p:cNvPr id="45" name="Text Box 7"/>
          <p:cNvSpPr txBox="1">
            <a:spLocks noChangeArrowheads="1"/>
          </p:cNvSpPr>
          <p:nvPr/>
        </p:nvSpPr>
        <p:spPr bwMode="auto">
          <a:xfrm>
            <a:off x="6899344" y="4909645"/>
            <a:ext cx="336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46" name="Forme libre 45"/>
          <p:cNvSpPr/>
          <p:nvPr/>
        </p:nvSpPr>
        <p:spPr>
          <a:xfrm>
            <a:off x="6320790" y="1525239"/>
            <a:ext cx="548640" cy="960120"/>
          </a:xfrm>
          <a:custGeom>
            <a:avLst/>
            <a:gdLst>
              <a:gd name="connsiteX0" fmla="*/ 0 w 548640"/>
              <a:gd name="connsiteY0" fmla="*/ 0 h 960120"/>
              <a:gd name="connsiteX1" fmla="*/ 422910 w 548640"/>
              <a:gd name="connsiteY1" fmla="*/ 514350 h 960120"/>
              <a:gd name="connsiteX2" fmla="*/ 548640 w 548640"/>
              <a:gd name="connsiteY2" fmla="*/ 960120 h 96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" h="960120">
                <a:moveTo>
                  <a:pt x="0" y="0"/>
                </a:moveTo>
                <a:cubicBezTo>
                  <a:pt x="165735" y="177165"/>
                  <a:pt x="331470" y="354330"/>
                  <a:pt x="422910" y="514350"/>
                </a:cubicBezTo>
                <a:cubicBezTo>
                  <a:pt x="514350" y="674370"/>
                  <a:pt x="531495" y="817245"/>
                  <a:pt x="548640" y="96012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ZoneTexte 46"/>
          <p:cNvSpPr txBox="1"/>
          <p:nvPr/>
        </p:nvSpPr>
        <p:spPr>
          <a:xfrm>
            <a:off x="5796136" y="1199519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L +  + </a:t>
            </a:r>
            <a:endParaRPr lang="fr-FR" dirty="0"/>
          </a:p>
        </p:txBody>
      </p:sp>
      <p:sp>
        <p:nvSpPr>
          <p:cNvPr id="48" name="ZoneTexte 47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eutectiques et 1 </a:t>
            </a:r>
            <a:r>
              <a:rPr lang="fr-FR" sz="2400" dirty="0" err="1" smtClean="0"/>
              <a:t>peritectique</a:t>
            </a:r>
            <a:r>
              <a:rPr lang="fr-FR" sz="2400" dirty="0" smtClean="0"/>
              <a:t> binaires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60473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5" name="Picture 4" descr="Class-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2" t="24896" r="18776" b="19572"/>
          <a:stretch>
            <a:fillRect/>
          </a:stretch>
        </p:blipFill>
        <p:spPr bwMode="auto">
          <a:xfrm>
            <a:off x="76200" y="976599"/>
            <a:ext cx="5791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5"/>
          <p:cNvSpPr>
            <a:spLocks/>
          </p:cNvSpPr>
          <p:nvPr/>
        </p:nvSpPr>
        <p:spPr bwMode="auto">
          <a:xfrm>
            <a:off x="1044575" y="2429162"/>
            <a:ext cx="4013200" cy="1681162"/>
          </a:xfrm>
          <a:custGeom>
            <a:avLst/>
            <a:gdLst>
              <a:gd name="T0" fmla="*/ 0 w 2528"/>
              <a:gd name="T1" fmla="*/ 53975 h 1059"/>
              <a:gd name="T2" fmla="*/ 4013200 w 2528"/>
              <a:gd name="T3" fmla="*/ 0 h 1059"/>
              <a:gd name="T4" fmla="*/ 2860675 w 2528"/>
              <a:gd name="T5" fmla="*/ 1681162 h 1059"/>
              <a:gd name="T6" fmla="*/ 0 w 2528"/>
              <a:gd name="T7" fmla="*/ 53975 h 105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28" h="1059">
                <a:moveTo>
                  <a:pt x="0" y="34"/>
                </a:moveTo>
                <a:lnTo>
                  <a:pt x="2528" y="0"/>
                </a:lnTo>
                <a:lnTo>
                  <a:pt x="1802" y="1059"/>
                </a:lnTo>
                <a:lnTo>
                  <a:pt x="0" y="34"/>
                </a:lnTo>
                <a:close/>
              </a:path>
            </a:pathLst>
          </a:cu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1466850" y="2481549"/>
            <a:ext cx="280988" cy="57150"/>
          </a:xfrm>
          <a:custGeom>
            <a:avLst/>
            <a:gdLst>
              <a:gd name="T0" fmla="*/ 0 w 177"/>
              <a:gd name="T1" fmla="*/ 0 h 36"/>
              <a:gd name="T2" fmla="*/ 133350 w 177"/>
              <a:gd name="T3" fmla="*/ 33338 h 36"/>
              <a:gd name="T4" fmla="*/ 280988 w 177"/>
              <a:gd name="T5" fmla="*/ 57150 h 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7" h="36">
                <a:moveTo>
                  <a:pt x="0" y="0"/>
                </a:moveTo>
                <a:cubicBezTo>
                  <a:pt x="14" y="4"/>
                  <a:pt x="55" y="15"/>
                  <a:pt x="84" y="21"/>
                </a:cubicBezTo>
                <a:cubicBezTo>
                  <a:pt x="113" y="27"/>
                  <a:pt x="158" y="33"/>
                  <a:pt x="177" y="36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3600450" y="2733962"/>
            <a:ext cx="423863" cy="266700"/>
          </a:xfrm>
          <a:custGeom>
            <a:avLst/>
            <a:gdLst>
              <a:gd name="T0" fmla="*/ 423863 w 267"/>
              <a:gd name="T1" fmla="*/ 0 h 168"/>
              <a:gd name="T2" fmla="*/ 266700 w 267"/>
              <a:gd name="T3" fmla="*/ 123825 h 168"/>
              <a:gd name="T4" fmla="*/ 0 w 267"/>
              <a:gd name="T5" fmla="*/ 266700 h 16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7" h="168">
                <a:moveTo>
                  <a:pt x="267" y="0"/>
                </a:moveTo>
                <a:cubicBezTo>
                  <a:pt x="250" y="13"/>
                  <a:pt x="212" y="50"/>
                  <a:pt x="168" y="78"/>
                </a:cubicBezTo>
                <a:cubicBezTo>
                  <a:pt x="124" y="106"/>
                  <a:pt x="35" y="149"/>
                  <a:pt x="0" y="168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1771650" y="2481549"/>
            <a:ext cx="2257425" cy="252413"/>
          </a:xfrm>
          <a:custGeom>
            <a:avLst/>
            <a:gdLst>
              <a:gd name="T0" fmla="*/ 0 w 1422"/>
              <a:gd name="T1" fmla="*/ 66675 h 159"/>
              <a:gd name="T2" fmla="*/ 2257425 w 1422"/>
              <a:gd name="T3" fmla="*/ 252413 h 159"/>
              <a:gd name="T4" fmla="*/ 1681163 w 1422"/>
              <a:gd name="T5" fmla="*/ 0 h 159"/>
              <a:gd name="T6" fmla="*/ 0 w 1422"/>
              <a:gd name="T7" fmla="*/ 66675 h 15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2" h="159">
                <a:moveTo>
                  <a:pt x="0" y="42"/>
                </a:moveTo>
                <a:lnTo>
                  <a:pt x="1422" y="159"/>
                </a:lnTo>
                <a:lnTo>
                  <a:pt x="1059" y="0"/>
                </a:lnTo>
                <a:lnTo>
                  <a:pt x="0" y="42"/>
                </a:lnTo>
                <a:close/>
              </a:path>
            </a:pathLst>
          </a:custGeom>
          <a:solidFill>
            <a:srgbClr val="FF8989">
              <a:alpha val="50195"/>
            </a:srgbClr>
          </a:solidFill>
          <a:ln w="9525">
            <a:solidFill>
              <a:srgbClr val="D6009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" name="Freeform 12"/>
          <p:cNvSpPr>
            <a:spLocks/>
          </p:cNvSpPr>
          <p:nvPr/>
        </p:nvSpPr>
        <p:spPr bwMode="auto">
          <a:xfrm>
            <a:off x="1547813" y="2548224"/>
            <a:ext cx="209550" cy="52388"/>
          </a:xfrm>
          <a:custGeom>
            <a:avLst/>
            <a:gdLst>
              <a:gd name="T0" fmla="*/ 209550 w 132"/>
              <a:gd name="T1" fmla="*/ 0 h 33"/>
              <a:gd name="T2" fmla="*/ 76200 w 132"/>
              <a:gd name="T3" fmla="*/ 14288 h 33"/>
              <a:gd name="T4" fmla="*/ 0 w 132"/>
              <a:gd name="T5" fmla="*/ 52388 h 3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2" h="33">
                <a:moveTo>
                  <a:pt x="132" y="0"/>
                </a:moveTo>
                <a:cubicBezTo>
                  <a:pt x="118" y="2"/>
                  <a:pt x="70" y="4"/>
                  <a:pt x="48" y="9"/>
                </a:cubicBezTo>
                <a:cubicBezTo>
                  <a:pt x="26" y="14"/>
                  <a:pt x="10" y="28"/>
                  <a:pt x="0" y="33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Freeform 13"/>
          <p:cNvSpPr>
            <a:spLocks/>
          </p:cNvSpPr>
          <p:nvPr/>
        </p:nvSpPr>
        <p:spPr bwMode="auto">
          <a:xfrm>
            <a:off x="3462338" y="2443449"/>
            <a:ext cx="509587" cy="42863"/>
          </a:xfrm>
          <a:custGeom>
            <a:avLst/>
            <a:gdLst>
              <a:gd name="T0" fmla="*/ 509587 w 321"/>
              <a:gd name="T1" fmla="*/ 0 h 27"/>
              <a:gd name="T2" fmla="*/ 0 w 321"/>
              <a:gd name="T3" fmla="*/ 42863 h 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21" h="27">
                <a:moveTo>
                  <a:pt x="321" y="0"/>
                </a:moveTo>
                <a:cubicBezTo>
                  <a:pt x="268" y="4"/>
                  <a:pt x="67" y="22"/>
                  <a:pt x="0" y="27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Freeform 14"/>
          <p:cNvSpPr>
            <a:spLocks/>
          </p:cNvSpPr>
          <p:nvPr/>
        </p:nvSpPr>
        <p:spPr bwMode="auto">
          <a:xfrm>
            <a:off x="3448050" y="2433924"/>
            <a:ext cx="1590675" cy="47625"/>
          </a:xfrm>
          <a:custGeom>
            <a:avLst/>
            <a:gdLst>
              <a:gd name="T0" fmla="*/ 1590675 w 1002"/>
              <a:gd name="T1" fmla="*/ 0 h 30"/>
              <a:gd name="T2" fmla="*/ 0 w 1002"/>
              <a:gd name="T3" fmla="*/ 47625 h 3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002" h="30">
                <a:moveTo>
                  <a:pt x="1002" y="0"/>
                </a:moveTo>
                <a:cubicBezTo>
                  <a:pt x="835" y="4"/>
                  <a:pt x="209" y="24"/>
                  <a:pt x="0" y="3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Freeform 15"/>
          <p:cNvSpPr>
            <a:spLocks/>
          </p:cNvSpPr>
          <p:nvPr/>
        </p:nvSpPr>
        <p:spPr bwMode="auto">
          <a:xfrm>
            <a:off x="4014788" y="2433924"/>
            <a:ext cx="1042987" cy="295275"/>
          </a:xfrm>
          <a:custGeom>
            <a:avLst/>
            <a:gdLst>
              <a:gd name="T0" fmla="*/ 1042987 w 657"/>
              <a:gd name="T1" fmla="*/ 0 h 186"/>
              <a:gd name="T2" fmla="*/ 528637 w 657"/>
              <a:gd name="T3" fmla="*/ 228600 h 186"/>
              <a:gd name="T4" fmla="*/ 0 w 657"/>
              <a:gd name="T5" fmla="*/ 295275 h 18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57" h="186">
                <a:moveTo>
                  <a:pt x="657" y="0"/>
                </a:moveTo>
                <a:cubicBezTo>
                  <a:pt x="603" y="24"/>
                  <a:pt x="442" y="113"/>
                  <a:pt x="333" y="144"/>
                </a:cubicBezTo>
                <a:cubicBezTo>
                  <a:pt x="224" y="175"/>
                  <a:pt x="69" y="177"/>
                  <a:pt x="0" y="186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Freeform 16"/>
          <p:cNvSpPr>
            <a:spLocks/>
          </p:cNvSpPr>
          <p:nvPr/>
        </p:nvSpPr>
        <p:spPr bwMode="auto">
          <a:xfrm>
            <a:off x="3600450" y="3000662"/>
            <a:ext cx="909638" cy="228600"/>
          </a:xfrm>
          <a:custGeom>
            <a:avLst/>
            <a:gdLst>
              <a:gd name="T0" fmla="*/ 909638 w 573"/>
              <a:gd name="T1" fmla="*/ 228600 h 144"/>
              <a:gd name="T2" fmla="*/ 538163 w 573"/>
              <a:gd name="T3" fmla="*/ 95250 h 144"/>
              <a:gd name="T4" fmla="*/ 0 w 573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3" h="144">
                <a:moveTo>
                  <a:pt x="573" y="144"/>
                </a:moveTo>
                <a:cubicBezTo>
                  <a:pt x="534" y="130"/>
                  <a:pt x="434" y="84"/>
                  <a:pt x="339" y="60"/>
                </a:cubicBezTo>
                <a:cubicBezTo>
                  <a:pt x="244" y="36"/>
                  <a:pt x="71" y="13"/>
                  <a:pt x="0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Freeform 17"/>
          <p:cNvSpPr>
            <a:spLocks/>
          </p:cNvSpPr>
          <p:nvPr/>
        </p:nvSpPr>
        <p:spPr bwMode="auto">
          <a:xfrm>
            <a:off x="3481388" y="3629312"/>
            <a:ext cx="590550" cy="247650"/>
          </a:xfrm>
          <a:custGeom>
            <a:avLst/>
            <a:gdLst>
              <a:gd name="T0" fmla="*/ 590550 w 372"/>
              <a:gd name="T1" fmla="*/ 247650 h 156"/>
              <a:gd name="T2" fmla="*/ 319088 w 372"/>
              <a:gd name="T3" fmla="*/ 152400 h 156"/>
              <a:gd name="T4" fmla="*/ 0 w 372"/>
              <a:gd name="T5" fmla="*/ 0 h 1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72" h="156">
                <a:moveTo>
                  <a:pt x="372" y="156"/>
                </a:moveTo>
                <a:cubicBezTo>
                  <a:pt x="343" y="146"/>
                  <a:pt x="263" y="122"/>
                  <a:pt x="201" y="96"/>
                </a:cubicBezTo>
                <a:cubicBezTo>
                  <a:pt x="139" y="70"/>
                  <a:pt x="42" y="20"/>
                  <a:pt x="0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Freeform 18"/>
          <p:cNvSpPr>
            <a:spLocks/>
          </p:cNvSpPr>
          <p:nvPr/>
        </p:nvSpPr>
        <p:spPr bwMode="auto">
          <a:xfrm>
            <a:off x="1595438" y="2610137"/>
            <a:ext cx="2005012" cy="1019175"/>
          </a:xfrm>
          <a:custGeom>
            <a:avLst/>
            <a:gdLst>
              <a:gd name="T0" fmla="*/ 0 w 1263"/>
              <a:gd name="T1" fmla="*/ 0 h 642"/>
              <a:gd name="T2" fmla="*/ 1885950 w 1263"/>
              <a:gd name="T3" fmla="*/ 1019175 h 642"/>
              <a:gd name="T4" fmla="*/ 2005012 w 1263"/>
              <a:gd name="T5" fmla="*/ 390525 h 642"/>
              <a:gd name="T6" fmla="*/ 0 w 1263"/>
              <a:gd name="T7" fmla="*/ 0 h 6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63" h="642">
                <a:moveTo>
                  <a:pt x="0" y="0"/>
                </a:moveTo>
                <a:lnTo>
                  <a:pt x="1188" y="642"/>
                </a:lnTo>
                <a:lnTo>
                  <a:pt x="1263" y="246"/>
                </a:lnTo>
                <a:lnTo>
                  <a:pt x="0" y="0"/>
                </a:lnTo>
                <a:close/>
              </a:path>
            </a:pathLst>
          </a:custGeom>
          <a:solidFill>
            <a:srgbClr val="00CC00">
              <a:alpha val="50195"/>
            </a:srgbClr>
          </a:solidFill>
          <a:ln w="9525">
            <a:solidFill>
              <a:srgbClr val="D6009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Freeform 19"/>
          <p:cNvSpPr>
            <a:spLocks/>
          </p:cNvSpPr>
          <p:nvPr/>
        </p:nvSpPr>
        <p:spPr bwMode="auto">
          <a:xfrm>
            <a:off x="1333500" y="2595849"/>
            <a:ext cx="214313" cy="57150"/>
          </a:xfrm>
          <a:custGeom>
            <a:avLst/>
            <a:gdLst>
              <a:gd name="T0" fmla="*/ 214313 w 135"/>
              <a:gd name="T1" fmla="*/ 0 h 36"/>
              <a:gd name="T2" fmla="*/ 85725 w 135"/>
              <a:gd name="T3" fmla="*/ 19050 h 36"/>
              <a:gd name="T4" fmla="*/ 0 w 135"/>
              <a:gd name="T5" fmla="*/ 57150 h 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5" h="36">
                <a:moveTo>
                  <a:pt x="135" y="0"/>
                </a:moveTo>
                <a:cubicBezTo>
                  <a:pt x="122" y="2"/>
                  <a:pt x="76" y="6"/>
                  <a:pt x="54" y="12"/>
                </a:cubicBezTo>
                <a:cubicBezTo>
                  <a:pt x="32" y="18"/>
                  <a:pt x="11" y="31"/>
                  <a:pt x="0" y="36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Freeform 20"/>
          <p:cNvSpPr>
            <a:spLocks/>
          </p:cNvSpPr>
          <p:nvPr/>
        </p:nvSpPr>
        <p:spPr bwMode="auto">
          <a:xfrm>
            <a:off x="3481388" y="3634074"/>
            <a:ext cx="77787" cy="276225"/>
          </a:xfrm>
          <a:custGeom>
            <a:avLst/>
            <a:gdLst>
              <a:gd name="T0" fmla="*/ 71437 w 49"/>
              <a:gd name="T1" fmla="*/ 276225 h 174"/>
              <a:gd name="T2" fmla="*/ 66675 w 49"/>
              <a:gd name="T3" fmla="*/ 128588 h 174"/>
              <a:gd name="T4" fmla="*/ 0 w 49"/>
              <a:gd name="T5" fmla="*/ 0 h 17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9" h="174">
                <a:moveTo>
                  <a:pt x="45" y="174"/>
                </a:moveTo>
                <a:cubicBezTo>
                  <a:pt x="45" y="159"/>
                  <a:pt x="49" y="110"/>
                  <a:pt x="42" y="81"/>
                </a:cubicBezTo>
                <a:cubicBezTo>
                  <a:pt x="35" y="52"/>
                  <a:pt x="9" y="17"/>
                  <a:pt x="0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auto">
          <a:xfrm flipV="1">
            <a:off x="5194300" y="2043399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5268913" y="1956087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7520940" y="293029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6426339" y="2682646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+ </a:t>
            </a:r>
            <a:r>
              <a:rPr lang="fr-FR" dirty="0" smtClean="0">
                <a:sym typeface="Symbol"/>
              </a:rPr>
              <a:t></a:t>
            </a:r>
            <a:endParaRPr lang="fr-FR" dirty="0"/>
          </a:p>
        </p:txBody>
      </p: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7099300" y="3869104"/>
            <a:ext cx="6473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Arial" pitchFamily="34" charset="0"/>
                <a:ea typeface="ＭＳ Ｐゴシック" charset="0"/>
                <a:cs typeface="Arial" pitchFamily="34" charset="0"/>
                <a:sym typeface="Symbol"/>
              </a:rPr>
              <a:t>L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+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25" name="Forme libre 24"/>
          <p:cNvSpPr/>
          <p:nvPr/>
        </p:nvSpPr>
        <p:spPr>
          <a:xfrm>
            <a:off x="7360920" y="2039589"/>
            <a:ext cx="161003" cy="1143000"/>
          </a:xfrm>
          <a:custGeom>
            <a:avLst/>
            <a:gdLst>
              <a:gd name="connsiteX0" fmla="*/ 0 w 161003"/>
              <a:gd name="connsiteY0" fmla="*/ 0 h 1143000"/>
              <a:gd name="connsiteX1" fmla="*/ 137160 w 161003"/>
              <a:gd name="connsiteY1" fmla="*/ 754380 h 1143000"/>
              <a:gd name="connsiteX2" fmla="*/ 160020 w 161003"/>
              <a:gd name="connsiteY2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1003" h="1143000">
                <a:moveTo>
                  <a:pt x="0" y="0"/>
                </a:moveTo>
                <a:cubicBezTo>
                  <a:pt x="55245" y="281940"/>
                  <a:pt x="110490" y="563880"/>
                  <a:pt x="137160" y="754380"/>
                </a:cubicBezTo>
                <a:cubicBezTo>
                  <a:pt x="163830" y="944880"/>
                  <a:pt x="161925" y="1043940"/>
                  <a:pt x="160020" y="1143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orme libre 25"/>
          <p:cNvSpPr/>
          <p:nvPr/>
        </p:nvSpPr>
        <p:spPr>
          <a:xfrm>
            <a:off x="7509510" y="3182589"/>
            <a:ext cx="582930" cy="457200"/>
          </a:xfrm>
          <a:custGeom>
            <a:avLst/>
            <a:gdLst>
              <a:gd name="connsiteX0" fmla="*/ 0 w 582930"/>
              <a:gd name="connsiteY0" fmla="*/ 0 h 457200"/>
              <a:gd name="connsiteX1" fmla="*/ 354330 w 582930"/>
              <a:gd name="connsiteY1" fmla="*/ 228600 h 457200"/>
              <a:gd name="connsiteX2" fmla="*/ 582930 w 582930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2930" h="457200">
                <a:moveTo>
                  <a:pt x="0" y="0"/>
                </a:moveTo>
                <a:cubicBezTo>
                  <a:pt x="128587" y="76200"/>
                  <a:pt x="257175" y="152400"/>
                  <a:pt x="354330" y="228600"/>
                </a:cubicBezTo>
                <a:cubicBezTo>
                  <a:pt x="451485" y="304800"/>
                  <a:pt x="517207" y="381000"/>
                  <a:pt x="582930" y="4572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orme libre 26"/>
          <p:cNvSpPr/>
          <p:nvPr/>
        </p:nvSpPr>
        <p:spPr>
          <a:xfrm>
            <a:off x="6309360" y="3194019"/>
            <a:ext cx="1211580" cy="800100"/>
          </a:xfrm>
          <a:custGeom>
            <a:avLst/>
            <a:gdLst>
              <a:gd name="connsiteX0" fmla="*/ 0 w 1211580"/>
              <a:gd name="connsiteY0" fmla="*/ 800100 h 800100"/>
              <a:gd name="connsiteX1" fmla="*/ 685800 w 1211580"/>
              <a:gd name="connsiteY1" fmla="*/ 365760 h 800100"/>
              <a:gd name="connsiteX2" fmla="*/ 1211580 w 1211580"/>
              <a:gd name="connsiteY2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580" h="800100">
                <a:moveTo>
                  <a:pt x="0" y="800100"/>
                </a:moveTo>
                <a:cubicBezTo>
                  <a:pt x="241935" y="649605"/>
                  <a:pt x="483870" y="499110"/>
                  <a:pt x="685800" y="365760"/>
                </a:cubicBezTo>
                <a:cubicBezTo>
                  <a:pt x="887730" y="232410"/>
                  <a:pt x="1049655" y="116205"/>
                  <a:pt x="12115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" name="Connecteur droit 27"/>
          <p:cNvCxnSpPr/>
          <p:nvPr/>
        </p:nvCxnSpPr>
        <p:spPr>
          <a:xfrm flipV="1">
            <a:off x="7482036" y="2588259"/>
            <a:ext cx="68580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flipH="1" flipV="1">
            <a:off x="7405201" y="2588259"/>
            <a:ext cx="76835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 flipH="1" flipV="1">
            <a:off x="6831652" y="3533109"/>
            <a:ext cx="173762" cy="228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 flipH="1">
            <a:off x="6918533" y="3555969"/>
            <a:ext cx="86881" cy="1638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/>
          <p:cNvCxnSpPr/>
          <p:nvPr/>
        </p:nvCxnSpPr>
        <p:spPr>
          <a:xfrm flipV="1">
            <a:off x="7751782" y="3463770"/>
            <a:ext cx="170264" cy="57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>
            <a:off x="7861508" y="3314059"/>
            <a:ext cx="74295" cy="142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orme libre 33"/>
          <p:cNvSpPr/>
          <p:nvPr/>
        </p:nvSpPr>
        <p:spPr>
          <a:xfrm>
            <a:off x="5532120" y="2039589"/>
            <a:ext cx="182880" cy="197720"/>
          </a:xfrm>
          <a:custGeom>
            <a:avLst/>
            <a:gdLst>
              <a:gd name="connsiteX0" fmla="*/ 0 w 182880"/>
              <a:gd name="connsiteY0" fmla="*/ 0 h 197720"/>
              <a:gd name="connsiteX1" fmla="*/ 148590 w 182880"/>
              <a:gd name="connsiteY1" fmla="*/ 171450 h 197720"/>
              <a:gd name="connsiteX2" fmla="*/ 182880 w 182880"/>
              <a:gd name="connsiteY2" fmla="*/ 194310 h 19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" h="197720">
                <a:moveTo>
                  <a:pt x="0" y="0"/>
                </a:moveTo>
                <a:cubicBezTo>
                  <a:pt x="59055" y="69532"/>
                  <a:pt x="118110" y="139065"/>
                  <a:pt x="148590" y="171450"/>
                </a:cubicBezTo>
                <a:cubicBezTo>
                  <a:pt x="179070" y="203835"/>
                  <a:pt x="180975" y="199072"/>
                  <a:pt x="182880" y="19431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Forme libre 34"/>
          <p:cNvSpPr/>
          <p:nvPr/>
        </p:nvSpPr>
        <p:spPr>
          <a:xfrm>
            <a:off x="5566410" y="2233899"/>
            <a:ext cx="137160" cy="102870"/>
          </a:xfrm>
          <a:custGeom>
            <a:avLst/>
            <a:gdLst>
              <a:gd name="connsiteX0" fmla="*/ 137160 w 137160"/>
              <a:gd name="connsiteY0" fmla="*/ 0 h 102870"/>
              <a:gd name="connsiteX1" fmla="*/ 45720 w 137160"/>
              <a:gd name="connsiteY1" fmla="*/ 57150 h 102870"/>
              <a:gd name="connsiteX2" fmla="*/ 0 w 137160"/>
              <a:gd name="connsiteY2" fmla="*/ 102870 h 102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" h="102870">
                <a:moveTo>
                  <a:pt x="137160" y="0"/>
                </a:moveTo>
                <a:cubicBezTo>
                  <a:pt x="102870" y="20002"/>
                  <a:pt x="68580" y="40005"/>
                  <a:pt x="45720" y="57150"/>
                </a:cubicBezTo>
                <a:cubicBezTo>
                  <a:pt x="22860" y="74295"/>
                  <a:pt x="11430" y="88582"/>
                  <a:pt x="0" y="10287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Forme libre 35"/>
          <p:cNvSpPr/>
          <p:nvPr/>
        </p:nvSpPr>
        <p:spPr>
          <a:xfrm>
            <a:off x="5429250" y="2348199"/>
            <a:ext cx="137160" cy="57150"/>
          </a:xfrm>
          <a:custGeom>
            <a:avLst/>
            <a:gdLst>
              <a:gd name="connsiteX0" fmla="*/ 137160 w 137160"/>
              <a:gd name="connsiteY0" fmla="*/ 0 h 57150"/>
              <a:gd name="connsiteX1" fmla="*/ 80010 w 137160"/>
              <a:gd name="connsiteY1" fmla="*/ 11430 h 57150"/>
              <a:gd name="connsiteX2" fmla="*/ 0 w 137160"/>
              <a:gd name="connsiteY2" fmla="*/ 5715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" h="57150">
                <a:moveTo>
                  <a:pt x="137160" y="0"/>
                </a:moveTo>
                <a:cubicBezTo>
                  <a:pt x="120015" y="952"/>
                  <a:pt x="102870" y="1905"/>
                  <a:pt x="80010" y="11430"/>
                </a:cubicBezTo>
                <a:cubicBezTo>
                  <a:pt x="57150" y="20955"/>
                  <a:pt x="28575" y="39052"/>
                  <a:pt x="0" y="571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Forme libre 36"/>
          <p:cNvSpPr/>
          <p:nvPr/>
        </p:nvSpPr>
        <p:spPr>
          <a:xfrm>
            <a:off x="7109460" y="2942559"/>
            <a:ext cx="400050" cy="525780"/>
          </a:xfrm>
          <a:custGeom>
            <a:avLst/>
            <a:gdLst>
              <a:gd name="connsiteX0" fmla="*/ 0 w 400050"/>
              <a:gd name="connsiteY0" fmla="*/ 525780 h 525780"/>
              <a:gd name="connsiteX1" fmla="*/ 240030 w 400050"/>
              <a:gd name="connsiteY1" fmla="*/ 251460 h 525780"/>
              <a:gd name="connsiteX2" fmla="*/ 400050 w 400050"/>
              <a:gd name="connsiteY2" fmla="*/ 0 h 5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050" h="525780">
                <a:moveTo>
                  <a:pt x="0" y="525780"/>
                </a:moveTo>
                <a:cubicBezTo>
                  <a:pt x="86677" y="432435"/>
                  <a:pt x="173355" y="339090"/>
                  <a:pt x="240030" y="251460"/>
                </a:cubicBezTo>
                <a:cubicBezTo>
                  <a:pt x="306705" y="163830"/>
                  <a:pt x="353377" y="81915"/>
                  <a:pt x="40005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Forme libre 37"/>
          <p:cNvSpPr/>
          <p:nvPr/>
        </p:nvSpPr>
        <p:spPr>
          <a:xfrm>
            <a:off x="7509510" y="2051019"/>
            <a:ext cx="1485900" cy="891540"/>
          </a:xfrm>
          <a:custGeom>
            <a:avLst/>
            <a:gdLst>
              <a:gd name="connsiteX0" fmla="*/ 0 w 1485900"/>
              <a:gd name="connsiteY0" fmla="*/ 891540 h 891540"/>
              <a:gd name="connsiteX1" fmla="*/ 697230 w 1485900"/>
              <a:gd name="connsiteY1" fmla="*/ 628650 h 891540"/>
              <a:gd name="connsiteX2" fmla="*/ 1485900 w 1485900"/>
              <a:gd name="connsiteY2" fmla="*/ 0 h 891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5900" h="891540">
                <a:moveTo>
                  <a:pt x="0" y="891540"/>
                </a:moveTo>
                <a:cubicBezTo>
                  <a:pt x="224790" y="834390"/>
                  <a:pt x="449580" y="777240"/>
                  <a:pt x="697230" y="628650"/>
                </a:cubicBezTo>
                <a:cubicBezTo>
                  <a:pt x="944880" y="480060"/>
                  <a:pt x="1215390" y="240030"/>
                  <a:pt x="148590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Forme libre 38"/>
          <p:cNvSpPr/>
          <p:nvPr/>
        </p:nvSpPr>
        <p:spPr>
          <a:xfrm>
            <a:off x="7109460" y="3479769"/>
            <a:ext cx="937260" cy="251460"/>
          </a:xfrm>
          <a:custGeom>
            <a:avLst/>
            <a:gdLst>
              <a:gd name="connsiteX0" fmla="*/ 0 w 937260"/>
              <a:gd name="connsiteY0" fmla="*/ 0 h 251460"/>
              <a:gd name="connsiteX1" fmla="*/ 502920 w 937260"/>
              <a:gd name="connsiteY1" fmla="*/ 91440 h 251460"/>
              <a:gd name="connsiteX2" fmla="*/ 937260 w 937260"/>
              <a:gd name="connsiteY2" fmla="*/ 251460 h 2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7260" h="251460">
                <a:moveTo>
                  <a:pt x="0" y="0"/>
                </a:moveTo>
                <a:cubicBezTo>
                  <a:pt x="173355" y="24765"/>
                  <a:pt x="346710" y="49530"/>
                  <a:pt x="502920" y="91440"/>
                </a:cubicBezTo>
                <a:cubicBezTo>
                  <a:pt x="659130" y="133350"/>
                  <a:pt x="798195" y="192405"/>
                  <a:pt x="937260" y="25146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Forme libre 39"/>
          <p:cNvSpPr/>
          <p:nvPr/>
        </p:nvSpPr>
        <p:spPr>
          <a:xfrm>
            <a:off x="6903720" y="4679919"/>
            <a:ext cx="75179" cy="308610"/>
          </a:xfrm>
          <a:custGeom>
            <a:avLst/>
            <a:gdLst>
              <a:gd name="connsiteX0" fmla="*/ 0 w 75179"/>
              <a:gd name="connsiteY0" fmla="*/ 308610 h 308610"/>
              <a:gd name="connsiteX1" fmla="*/ 68580 w 75179"/>
              <a:gd name="connsiteY1" fmla="*/ 125730 h 308610"/>
              <a:gd name="connsiteX2" fmla="*/ 68580 w 75179"/>
              <a:gd name="connsiteY2" fmla="*/ 0 h 30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79" h="308610">
                <a:moveTo>
                  <a:pt x="0" y="308610"/>
                </a:moveTo>
                <a:cubicBezTo>
                  <a:pt x="28575" y="242887"/>
                  <a:pt x="57150" y="177165"/>
                  <a:pt x="68580" y="125730"/>
                </a:cubicBezTo>
                <a:cubicBezTo>
                  <a:pt x="80010" y="74295"/>
                  <a:pt x="74295" y="37147"/>
                  <a:pt x="6858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6972300" y="4645629"/>
            <a:ext cx="400050" cy="205740"/>
          </a:xfrm>
          <a:custGeom>
            <a:avLst/>
            <a:gdLst>
              <a:gd name="connsiteX0" fmla="*/ 0 w 400050"/>
              <a:gd name="connsiteY0" fmla="*/ 0 h 205740"/>
              <a:gd name="connsiteX1" fmla="*/ 182880 w 400050"/>
              <a:gd name="connsiteY1" fmla="*/ 114300 h 205740"/>
              <a:gd name="connsiteX2" fmla="*/ 400050 w 400050"/>
              <a:gd name="connsiteY2" fmla="*/ 205740 h 205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050" h="205740">
                <a:moveTo>
                  <a:pt x="0" y="0"/>
                </a:moveTo>
                <a:cubicBezTo>
                  <a:pt x="58102" y="40005"/>
                  <a:pt x="116205" y="80010"/>
                  <a:pt x="182880" y="114300"/>
                </a:cubicBezTo>
                <a:cubicBezTo>
                  <a:pt x="249555" y="148590"/>
                  <a:pt x="324802" y="177165"/>
                  <a:pt x="400050" y="20574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Triangle isocèle 41"/>
          <p:cNvSpPr/>
          <p:nvPr/>
        </p:nvSpPr>
        <p:spPr>
          <a:xfrm rot="1200000">
            <a:off x="5761398" y="2001202"/>
            <a:ext cx="1921387" cy="602180"/>
          </a:xfrm>
          <a:prstGeom prst="triangle">
            <a:avLst>
              <a:gd name="adj" fmla="val 71764"/>
            </a:avLst>
          </a:prstGeom>
          <a:solidFill>
            <a:schemeClr val="accent6">
              <a:lumMod val="60000"/>
              <a:lumOff val="40000"/>
            </a:schemeClr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orme libre 42"/>
          <p:cNvSpPr/>
          <p:nvPr/>
        </p:nvSpPr>
        <p:spPr>
          <a:xfrm>
            <a:off x="7223760" y="2062449"/>
            <a:ext cx="125730" cy="102870"/>
          </a:xfrm>
          <a:custGeom>
            <a:avLst/>
            <a:gdLst>
              <a:gd name="connsiteX0" fmla="*/ 0 w 125730"/>
              <a:gd name="connsiteY0" fmla="*/ 102870 h 102870"/>
              <a:gd name="connsiteX1" fmla="*/ 80010 w 125730"/>
              <a:gd name="connsiteY1" fmla="*/ 68580 h 102870"/>
              <a:gd name="connsiteX2" fmla="*/ 125730 w 125730"/>
              <a:gd name="connsiteY2" fmla="*/ 0 h 102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730" h="102870">
                <a:moveTo>
                  <a:pt x="0" y="102870"/>
                </a:moveTo>
                <a:cubicBezTo>
                  <a:pt x="29527" y="94297"/>
                  <a:pt x="59055" y="85725"/>
                  <a:pt x="80010" y="68580"/>
                </a:cubicBezTo>
                <a:cubicBezTo>
                  <a:pt x="100965" y="51435"/>
                  <a:pt x="113347" y="25717"/>
                  <a:pt x="12573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>
            <a:off x="7235190" y="2051019"/>
            <a:ext cx="1760220" cy="137160"/>
          </a:xfrm>
          <a:custGeom>
            <a:avLst/>
            <a:gdLst>
              <a:gd name="connsiteX0" fmla="*/ 0 w 1760220"/>
              <a:gd name="connsiteY0" fmla="*/ 137160 h 137160"/>
              <a:gd name="connsiteX1" fmla="*/ 1268730 w 1760220"/>
              <a:gd name="connsiteY1" fmla="*/ 68580 h 137160"/>
              <a:gd name="connsiteX2" fmla="*/ 1760220 w 1760220"/>
              <a:gd name="connsiteY2" fmla="*/ 0 h 137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60220" h="137160">
                <a:moveTo>
                  <a:pt x="0" y="137160"/>
                </a:moveTo>
                <a:lnTo>
                  <a:pt x="1268730" y="68580"/>
                </a:lnTo>
                <a:cubicBezTo>
                  <a:pt x="1562100" y="45720"/>
                  <a:pt x="1661160" y="22860"/>
                  <a:pt x="176022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Triangle isocèle 44"/>
          <p:cNvSpPr/>
          <p:nvPr/>
        </p:nvSpPr>
        <p:spPr>
          <a:xfrm rot="3421750">
            <a:off x="5240438" y="2942578"/>
            <a:ext cx="2685195" cy="730215"/>
          </a:xfrm>
          <a:prstGeom prst="triangle">
            <a:avLst>
              <a:gd name="adj" fmla="val 66359"/>
            </a:avLst>
          </a:prstGeom>
          <a:solidFill>
            <a:srgbClr val="92D050"/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Text Box 7"/>
          <p:cNvSpPr txBox="1">
            <a:spLocks noChangeArrowheads="1"/>
          </p:cNvSpPr>
          <p:nvPr/>
        </p:nvSpPr>
        <p:spPr bwMode="auto">
          <a:xfrm>
            <a:off x="6899344" y="4727911"/>
            <a:ext cx="336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47" name="Forme libre 46"/>
          <p:cNvSpPr/>
          <p:nvPr/>
        </p:nvSpPr>
        <p:spPr>
          <a:xfrm>
            <a:off x="7519754" y="1628109"/>
            <a:ext cx="148590" cy="502920"/>
          </a:xfrm>
          <a:custGeom>
            <a:avLst/>
            <a:gdLst>
              <a:gd name="connsiteX0" fmla="*/ 0 w 148590"/>
              <a:gd name="connsiteY0" fmla="*/ 0 h 502920"/>
              <a:gd name="connsiteX1" fmla="*/ 114300 w 148590"/>
              <a:gd name="connsiteY1" fmla="*/ 297180 h 502920"/>
              <a:gd name="connsiteX2" fmla="*/ 148590 w 148590"/>
              <a:gd name="connsiteY2" fmla="*/ 50292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590" h="502920">
                <a:moveTo>
                  <a:pt x="0" y="0"/>
                </a:moveTo>
                <a:cubicBezTo>
                  <a:pt x="44767" y="106680"/>
                  <a:pt x="89535" y="213360"/>
                  <a:pt x="114300" y="297180"/>
                </a:cubicBezTo>
                <a:cubicBezTo>
                  <a:pt x="139065" y="381000"/>
                  <a:pt x="143827" y="441960"/>
                  <a:pt x="148590" y="50292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ZoneTexte 47"/>
          <p:cNvSpPr txBox="1"/>
          <p:nvPr/>
        </p:nvSpPr>
        <p:spPr>
          <a:xfrm>
            <a:off x="7296904" y="1365219"/>
            <a:ext cx="29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49" name="ZoneTexte 48"/>
          <p:cNvSpPr txBox="1"/>
          <p:nvPr/>
        </p:nvSpPr>
        <p:spPr>
          <a:xfrm>
            <a:off x="7452320" y="2270347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 + L</a:t>
            </a:r>
            <a:endParaRPr lang="fr-FR" dirty="0"/>
          </a:p>
        </p:txBody>
      </p:sp>
      <p:sp>
        <p:nvSpPr>
          <p:cNvPr id="50" name="ZoneTexte 49"/>
          <p:cNvSpPr txBox="1"/>
          <p:nvPr/>
        </p:nvSpPr>
        <p:spPr>
          <a:xfrm>
            <a:off x="5681836" y="1931029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</a:t>
            </a:r>
            <a:endParaRPr lang="fr-FR" dirty="0"/>
          </a:p>
        </p:txBody>
      </p:sp>
      <p:sp>
        <p:nvSpPr>
          <p:cNvPr id="51" name="Forme libre 50"/>
          <p:cNvSpPr/>
          <p:nvPr/>
        </p:nvSpPr>
        <p:spPr>
          <a:xfrm>
            <a:off x="6320790" y="1525239"/>
            <a:ext cx="548640" cy="960120"/>
          </a:xfrm>
          <a:custGeom>
            <a:avLst/>
            <a:gdLst>
              <a:gd name="connsiteX0" fmla="*/ 0 w 548640"/>
              <a:gd name="connsiteY0" fmla="*/ 0 h 960120"/>
              <a:gd name="connsiteX1" fmla="*/ 422910 w 548640"/>
              <a:gd name="connsiteY1" fmla="*/ 514350 h 960120"/>
              <a:gd name="connsiteX2" fmla="*/ 548640 w 548640"/>
              <a:gd name="connsiteY2" fmla="*/ 960120 h 96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" h="960120">
                <a:moveTo>
                  <a:pt x="0" y="0"/>
                </a:moveTo>
                <a:cubicBezTo>
                  <a:pt x="165735" y="177165"/>
                  <a:pt x="331470" y="354330"/>
                  <a:pt x="422910" y="514350"/>
                </a:cubicBezTo>
                <a:cubicBezTo>
                  <a:pt x="514350" y="674370"/>
                  <a:pt x="531495" y="817245"/>
                  <a:pt x="548640" y="96012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ZoneTexte 51"/>
          <p:cNvSpPr txBox="1"/>
          <p:nvPr/>
        </p:nvSpPr>
        <p:spPr>
          <a:xfrm>
            <a:off x="5796136" y="1199519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L +  + </a:t>
            </a:r>
            <a:endParaRPr lang="fr-FR" dirty="0"/>
          </a:p>
        </p:txBody>
      </p:sp>
      <p:sp>
        <p:nvSpPr>
          <p:cNvPr id="53" name="Forme libre 52"/>
          <p:cNvSpPr/>
          <p:nvPr/>
        </p:nvSpPr>
        <p:spPr>
          <a:xfrm>
            <a:off x="5715000" y="3136869"/>
            <a:ext cx="240030" cy="891540"/>
          </a:xfrm>
          <a:custGeom>
            <a:avLst/>
            <a:gdLst>
              <a:gd name="connsiteX0" fmla="*/ 0 w 240030"/>
              <a:gd name="connsiteY0" fmla="*/ 891540 h 891540"/>
              <a:gd name="connsiteX1" fmla="*/ 91440 w 240030"/>
              <a:gd name="connsiteY1" fmla="*/ 422910 h 891540"/>
              <a:gd name="connsiteX2" fmla="*/ 240030 w 240030"/>
              <a:gd name="connsiteY2" fmla="*/ 0 h 891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030" h="891540">
                <a:moveTo>
                  <a:pt x="0" y="891540"/>
                </a:moveTo>
                <a:cubicBezTo>
                  <a:pt x="25717" y="731520"/>
                  <a:pt x="51435" y="571500"/>
                  <a:pt x="91440" y="422910"/>
                </a:cubicBezTo>
                <a:cubicBezTo>
                  <a:pt x="131445" y="274320"/>
                  <a:pt x="185737" y="137160"/>
                  <a:pt x="24003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ZoneTexte 53"/>
          <p:cNvSpPr txBox="1"/>
          <p:nvPr/>
        </p:nvSpPr>
        <p:spPr>
          <a:xfrm>
            <a:off x="5220072" y="3935823"/>
            <a:ext cx="945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</a:t>
            </a:r>
            <a:endParaRPr lang="fr-FR" dirty="0"/>
          </a:p>
        </p:txBody>
      </p:sp>
      <p:sp>
        <p:nvSpPr>
          <p:cNvPr id="55" name="Forme libre 54"/>
          <p:cNvSpPr/>
          <p:nvPr/>
        </p:nvSpPr>
        <p:spPr>
          <a:xfrm>
            <a:off x="6206490" y="3685509"/>
            <a:ext cx="468630" cy="994410"/>
          </a:xfrm>
          <a:custGeom>
            <a:avLst/>
            <a:gdLst>
              <a:gd name="connsiteX0" fmla="*/ 0 w 468630"/>
              <a:gd name="connsiteY0" fmla="*/ 994410 h 994410"/>
              <a:gd name="connsiteX1" fmla="*/ 205740 w 468630"/>
              <a:gd name="connsiteY1" fmla="*/ 445770 h 994410"/>
              <a:gd name="connsiteX2" fmla="*/ 468630 w 468630"/>
              <a:gd name="connsiteY2" fmla="*/ 0 h 99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8630" h="994410">
                <a:moveTo>
                  <a:pt x="0" y="994410"/>
                </a:moveTo>
                <a:cubicBezTo>
                  <a:pt x="63817" y="802957"/>
                  <a:pt x="127635" y="611505"/>
                  <a:pt x="205740" y="445770"/>
                </a:cubicBezTo>
                <a:cubicBezTo>
                  <a:pt x="283845" y="280035"/>
                  <a:pt x="376237" y="140017"/>
                  <a:pt x="46863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ZoneTexte 55"/>
          <p:cNvSpPr txBox="1"/>
          <p:nvPr/>
        </p:nvSpPr>
        <p:spPr>
          <a:xfrm>
            <a:off x="5597525" y="4646611"/>
            <a:ext cx="10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 + L</a:t>
            </a:r>
            <a:endParaRPr lang="fr-FR" dirty="0"/>
          </a:p>
        </p:txBody>
      </p:sp>
      <p:sp>
        <p:nvSpPr>
          <p:cNvPr id="58" name="ZoneTexte 57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eutectiques et 1 </a:t>
            </a:r>
            <a:r>
              <a:rPr lang="fr-FR" sz="2400" dirty="0" err="1" smtClean="0"/>
              <a:t>peritectique</a:t>
            </a:r>
            <a:r>
              <a:rPr lang="fr-FR" sz="2400" dirty="0" smtClean="0"/>
              <a:t> binaires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64382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5" name="Picture 4" descr="Class-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2" t="24896" r="18776" b="19572"/>
          <a:stretch>
            <a:fillRect/>
          </a:stretch>
        </p:blipFill>
        <p:spPr bwMode="auto">
          <a:xfrm>
            <a:off x="76200" y="976599"/>
            <a:ext cx="5791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5"/>
          <p:cNvSpPr>
            <a:spLocks/>
          </p:cNvSpPr>
          <p:nvPr/>
        </p:nvSpPr>
        <p:spPr bwMode="auto">
          <a:xfrm>
            <a:off x="1044575" y="2462499"/>
            <a:ext cx="4013200" cy="1681163"/>
          </a:xfrm>
          <a:custGeom>
            <a:avLst/>
            <a:gdLst>
              <a:gd name="T0" fmla="*/ 0 w 2528"/>
              <a:gd name="T1" fmla="*/ 53975 h 1059"/>
              <a:gd name="T2" fmla="*/ 4013200 w 2528"/>
              <a:gd name="T3" fmla="*/ 0 h 1059"/>
              <a:gd name="T4" fmla="*/ 2860675 w 2528"/>
              <a:gd name="T5" fmla="*/ 1681163 h 1059"/>
              <a:gd name="T6" fmla="*/ 0 w 2528"/>
              <a:gd name="T7" fmla="*/ 53975 h 105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28" h="1059">
                <a:moveTo>
                  <a:pt x="0" y="34"/>
                </a:moveTo>
                <a:lnTo>
                  <a:pt x="2528" y="0"/>
                </a:lnTo>
                <a:lnTo>
                  <a:pt x="1802" y="1059"/>
                </a:lnTo>
                <a:lnTo>
                  <a:pt x="0" y="34"/>
                </a:lnTo>
                <a:close/>
              </a:path>
            </a:pathLst>
          </a:cu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1462088" y="2510124"/>
            <a:ext cx="328612" cy="123825"/>
          </a:xfrm>
          <a:custGeom>
            <a:avLst/>
            <a:gdLst>
              <a:gd name="T0" fmla="*/ 0 w 207"/>
              <a:gd name="T1" fmla="*/ 0 h 78"/>
              <a:gd name="T2" fmla="*/ 142875 w 207"/>
              <a:gd name="T3" fmla="*/ 61913 h 78"/>
              <a:gd name="T4" fmla="*/ 328612 w 207"/>
              <a:gd name="T5" fmla="*/ 123825 h 7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7" h="78">
                <a:moveTo>
                  <a:pt x="0" y="0"/>
                </a:moveTo>
                <a:cubicBezTo>
                  <a:pt x="15" y="7"/>
                  <a:pt x="55" y="26"/>
                  <a:pt x="90" y="39"/>
                </a:cubicBezTo>
                <a:cubicBezTo>
                  <a:pt x="125" y="52"/>
                  <a:pt x="183" y="70"/>
                  <a:pt x="207" y="78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1795463" y="2529174"/>
            <a:ext cx="2233612" cy="352425"/>
          </a:xfrm>
          <a:custGeom>
            <a:avLst/>
            <a:gdLst>
              <a:gd name="T0" fmla="*/ 0 w 1407"/>
              <a:gd name="T1" fmla="*/ 109538 h 222"/>
              <a:gd name="T2" fmla="*/ 2233612 w 1407"/>
              <a:gd name="T3" fmla="*/ 352425 h 222"/>
              <a:gd name="T4" fmla="*/ 1657350 w 1407"/>
              <a:gd name="T5" fmla="*/ 0 h 222"/>
              <a:gd name="T6" fmla="*/ 0 w 1407"/>
              <a:gd name="T7" fmla="*/ 109538 h 22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07" h="222">
                <a:moveTo>
                  <a:pt x="0" y="69"/>
                </a:moveTo>
                <a:lnTo>
                  <a:pt x="1407" y="222"/>
                </a:lnTo>
                <a:lnTo>
                  <a:pt x="1044" y="0"/>
                </a:lnTo>
                <a:lnTo>
                  <a:pt x="0" y="69"/>
                </a:lnTo>
                <a:close/>
              </a:path>
            </a:pathLst>
          </a:custGeom>
          <a:solidFill>
            <a:srgbClr val="FF8989">
              <a:alpha val="50195"/>
            </a:srgbClr>
          </a:solidFill>
          <a:ln w="9525">
            <a:solidFill>
              <a:srgbClr val="D6009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3467100" y="2472024"/>
            <a:ext cx="557213" cy="52388"/>
          </a:xfrm>
          <a:custGeom>
            <a:avLst/>
            <a:gdLst>
              <a:gd name="T0" fmla="*/ 557213 w 351"/>
              <a:gd name="T1" fmla="*/ 0 h 33"/>
              <a:gd name="T2" fmla="*/ 0 w 351"/>
              <a:gd name="T3" fmla="*/ 52388 h 3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51" h="33">
                <a:moveTo>
                  <a:pt x="351" y="0"/>
                </a:moveTo>
                <a:cubicBezTo>
                  <a:pt x="293" y="5"/>
                  <a:pt x="73" y="26"/>
                  <a:pt x="0" y="33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1" name="Freeform 12"/>
          <p:cNvSpPr>
            <a:spLocks/>
          </p:cNvSpPr>
          <p:nvPr/>
        </p:nvSpPr>
        <p:spPr bwMode="auto">
          <a:xfrm>
            <a:off x="3462338" y="2508537"/>
            <a:ext cx="1562100" cy="15875"/>
          </a:xfrm>
          <a:custGeom>
            <a:avLst/>
            <a:gdLst>
              <a:gd name="T0" fmla="*/ 1562100 w 984"/>
              <a:gd name="T1" fmla="*/ 6350 h 10"/>
              <a:gd name="T2" fmla="*/ 781050 w 984"/>
              <a:gd name="T3" fmla="*/ 1588 h 10"/>
              <a:gd name="T4" fmla="*/ 0 w 984"/>
              <a:gd name="T5" fmla="*/ 15875 h 1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84" h="10">
                <a:moveTo>
                  <a:pt x="984" y="4"/>
                </a:moveTo>
                <a:cubicBezTo>
                  <a:pt x="902" y="3"/>
                  <a:pt x="656" y="0"/>
                  <a:pt x="492" y="1"/>
                </a:cubicBezTo>
                <a:cubicBezTo>
                  <a:pt x="328" y="2"/>
                  <a:pt x="102" y="8"/>
                  <a:pt x="0" y="1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2" name="Freeform 13"/>
          <p:cNvSpPr>
            <a:spLocks/>
          </p:cNvSpPr>
          <p:nvPr/>
        </p:nvSpPr>
        <p:spPr bwMode="auto">
          <a:xfrm>
            <a:off x="4010025" y="2695862"/>
            <a:ext cx="885825" cy="220662"/>
          </a:xfrm>
          <a:custGeom>
            <a:avLst/>
            <a:gdLst>
              <a:gd name="T0" fmla="*/ 885825 w 558"/>
              <a:gd name="T1" fmla="*/ 0 h 139"/>
              <a:gd name="T2" fmla="*/ 500063 w 558"/>
              <a:gd name="T3" fmla="*/ 190500 h 139"/>
              <a:gd name="T4" fmla="*/ 0 w 558"/>
              <a:gd name="T5" fmla="*/ 180975 h 13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58" h="139">
                <a:moveTo>
                  <a:pt x="558" y="0"/>
                </a:moveTo>
                <a:cubicBezTo>
                  <a:pt x="518" y="20"/>
                  <a:pt x="408" y="101"/>
                  <a:pt x="315" y="120"/>
                </a:cubicBezTo>
                <a:cubicBezTo>
                  <a:pt x="222" y="139"/>
                  <a:pt x="66" y="115"/>
                  <a:pt x="0" y="114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3" name="Freeform 14"/>
          <p:cNvSpPr>
            <a:spLocks/>
          </p:cNvSpPr>
          <p:nvPr/>
        </p:nvSpPr>
        <p:spPr bwMode="auto">
          <a:xfrm>
            <a:off x="4024313" y="2886362"/>
            <a:ext cx="500062" cy="338137"/>
          </a:xfrm>
          <a:custGeom>
            <a:avLst/>
            <a:gdLst>
              <a:gd name="T0" fmla="*/ 500062 w 315"/>
              <a:gd name="T1" fmla="*/ 338137 h 213"/>
              <a:gd name="T2" fmla="*/ 323850 w 315"/>
              <a:gd name="T3" fmla="*/ 171450 h 213"/>
              <a:gd name="T4" fmla="*/ 0 w 315"/>
              <a:gd name="T5" fmla="*/ 0 h 21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5" h="213">
                <a:moveTo>
                  <a:pt x="315" y="213"/>
                </a:moveTo>
                <a:cubicBezTo>
                  <a:pt x="297" y="196"/>
                  <a:pt x="257" y="143"/>
                  <a:pt x="204" y="108"/>
                </a:cubicBezTo>
                <a:cubicBezTo>
                  <a:pt x="151" y="73"/>
                  <a:pt x="42" y="22"/>
                  <a:pt x="0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4" name="Freeform 15"/>
          <p:cNvSpPr>
            <a:spLocks/>
          </p:cNvSpPr>
          <p:nvPr/>
        </p:nvSpPr>
        <p:spPr bwMode="auto">
          <a:xfrm>
            <a:off x="3514725" y="3534062"/>
            <a:ext cx="557213" cy="342900"/>
          </a:xfrm>
          <a:custGeom>
            <a:avLst/>
            <a:gdLst>
              <a:gd name="T0" fmla="*/ 557213 w 351"/>
              <a:gd name="T1" fmla="*/ 342900 h 216"/>
              <a:gd name="T2" fmla="*/ 319088 w 351"/>
              <a:gd name="T3" fmla="*/ 157163 h 216"/>
              <a:gd name="T4" fmla="*/ 0 w 351"/>
              <a:gd name="T5" fmla="*/ 0 h 2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51" h="216">
                <a:moveTo>
                  <a:pt x="351" y="216"/>
                </a:moveTo>
                <a:cubicBezTo>
                  <a:pt x="326" y="197"/>
                  <a:pt x="260" y="135"/>
                  <a:pt x="201" y="99"/>
                </a:cubicBezTo>
                <a:cubicBezTo>
                  <a:pt x="142" y="63"/>
                  <a:pt x="42" y="21"/>
                  <a:pt x="0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5" name="Freeform 16"/>
          <p:cNvSpPr>
            <a:spLocks/>
          </p:cNvSpPr>
          <p:nvPr/>
        </p:nvSpPr>
        <p:spPr bwMode="auto">
          <a:xfrm>
            <a:off x="1795463" y="2633949"/>
            <a:ext cx="2224087" cy="904875"/>
          </a:xfrm>
          <a:custGeom>
            <a:avLst/>
            <a:gdLst>
              <a:gd name="T0" fmla="*/ 0 w 1401"/>
              <a:gd name="T1" fmla="*/ 0 h 570"/>
              <a:gd name="T2" fmla="*/ 1719262 w 1401"/>
              <a:gd name="T3" fmla="*/ 904875 h 570"/>
              <a:gd name="T4" fmla="*/ 2224087 w 1401"/>
              <a:gd name="T5" fmla="*/ 242888 h 570"/>
              <a:gd name="T6" fmla="*/ 0 w 1401"/>
              <a:gd name="T7" fmla="*/ 0 h 57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01" h="570">
                <a:moveTo>
                  <a:pt x="0" y="0"/>
                </a:moveTo>
                <a:lnTo>
                  <a:pt x="1083" y="570"/>
                </a:lnTo>
                <a:lnTo>
                  <a:pt x="1401" y="153"/>
                </a:lnTo>
                <a:lnTo>
                  <a:pt x="0" y="0"/>
                </a:lnTo>
                <a:close/>
              </a:path>
            </a:pathLst>
          </a:custGeom>
          <a:solidFill>
            <a:srgbClr val="00CC00">
              <a:alpha val="50195"/>
            </a:srgbClr>
          </a:solidFill>
          <a:ln w="9525">
            <a:solidFill>
              <a:srgbClr val="D6009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6" name="Freeform 17"/>
          <p:cNvSpPr>
            <a:spLocks/>
          </p:cNvSpPr>
          <p:nvPr/>
        </p:nvSpPr>
        <p:spPr bwMode="auto">
          <a:xfrm>
            <a:off x="1323975" y="2638712"/>
            <a:ext cx="466725" cy="42862"/>
          </a:xfrm>
          <a:custGeom>
            <a:avLst/>
            <a:gdLst>
              <a:gd name="T0" fmla="*/ 466725 w 294"/>
              <a:gd name="T1" fmla="*/ 0 h 27"/>
              <a:gd name="T2" fmla="*/ 176213 w 294"/>
              <a:gd name="T3" fmla="*/ 23812 h 27"/>
              <a:gd name="T4" fmla="*/ 0 w 294"/>
              <a:gd name="T5" fmla="*/ 42862 h 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4" h="27">
                <a:moveTo>
                  <a:pt x="294" y="0"/>
                </a:moveTo>
                <a:cubicBezTo>
                  <a:pt x="264" y="2"/>
                  <a:pt x="160" y="11"/>
                  <a:pt x="111" y="15"/>
                </a:cubicBezTo>
                <a:cubicBezTo>
                  <a:pt x="62" y="19"/>
                  <a:pt x="23" y="25"/>
                  <a:pt x="0" y="27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7" name="Freeform 18"/>
          <p:cNvSpPr>
            <a:spLocks/>
          </p:cNvSpPr>
          <p:nvPr/>
        </p:nvSpPr>
        <p:spPr bwMode="auto">
          <a:xfrm>
            <a:off x="3519488" y="3534062"/>
            <a:ext cx="38100" cy="409575"/>
          </a:xfrm>
          <a:custGeom>
            <a:avLst/>
            <a:gdLst>
              <a:gd name="T0" fmla="*/ 38100 w 24"/>
              <a:gd name="T1" fmla="*/ 409575 h 258"/>
              <a:gd name="T2" fmla="*/ 28575 w 24"/>
              <a:gd name="T3" fmla="*/ 223838 h 258"/>
              <a:gd name="T4" fmla="*/ 0 w 24"/>
              <a:gd name="T5" fmla="*/ 0 h 25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" h="258">
                <a:moveTo>
                  <a:pt x="24" y="258"/>
                </a:moveTo>
                <a:cubicBezTo>
                  <a:pt x="23" y="239"/>
                  <a:pt x="22" y="184"/>
                  <a:pt x="18" y="141"/>
                </a:cubicBezTo>
                <a:cubicBezTo>
                  <a:pt x="14" y="98"/>
                  <a:pt x="4" y="29"/>
                  <a:pt x="0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auto">
          <a:xfrm flipV="1">
            <a:off x="5194300" y="2043399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5268913" y="1956087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7668344" y="3134443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</a:t>
            </a:r>
            <a:endParaRPr lang="fr-FR" dirty="0"/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7099300" y="3869104"/>
            <a:ext cx="6473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Arial" pitchFamily="34" charset="0"/>
                <a:ea typeface="ＭＳ Ｐゴシック" charset="0"/>
                <a:cs typeface="Arial" pitchFamily="34" charset="0"/>
                <a:sym typeface="Symbol"/>
              </a:rPr>
              <a:t>L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+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22" name="Forme libre 21"/>
          <p:cNvSpPr/>
          <p:nvPr/>
        </p:nvSpPr>
        <p:spPr>
          <a:xfrm>
            <a:off x="7360920" y="2039589"/>
            <a:ext cx="161003" cy="1143000"/>
          </a:xfrm>
          <a:custGeom>
            <a:avLst/>
            <a:gdLst>
              <a:gd name="connsiteX0" fmla="*/ 0 w 161003"/>
              <a:gd name="connsiteY0" fmla="*/ 0 h 1143000"/>
              <a:gd name="connsiteX1" fmla="*/ 137160 w 161003"/>
              <a:gd name="connsiteY1" fmla="*/ 754380 h 1143000"/>
              <a:gd name="connsiteX2" fmla="*/ 160020 w 161003"/>
              <a:gd name="connsiteY2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1003" h="1143000">
                <a:moveTo>
                  <a:pt x="0" y="0"/>
                </a:moveTo>
                <a:cubicBezTo>
                  <a:pt x="55245" y="281940"/>
                  <a:pt x="110490" y="563880"/>
                  <a:pt x="137160" y="754380"/>
                </a:cubicBezTo>
                <a:cubicBezTo>
                  <a:pt x="163830" y="944880"/>
                  <a:pt x="161925" y="1043940"/>
                  <a:pt x="160020" y="1143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orme libre 22"/>
          <p:cNvSpPr/>
          <p:nvPr/>
        </p:nvSpPr>
        <p:spPr>
          <a:xfrm>
            <a:off x="7509510" y="3182589"/>
            <a:ext cx="582930" cy="457200"/>
          </a:xfrm>
          <a:custGeom>
            <a:avLst/>
            <a:gdLst>
              <a:gd name="connsiteX0" fmla="*/ 0 w 582930"/>
              <a:gd name="connsiteY0" fmla="*/ 0 h 457200"/>
              <a:gd name="connsiteX1" fmla="*/ 354330 w 582930"/>
              <a:gd name="connsiteY1" fmla="*/ 228600 h 457200"/>
              <a:gd name="connsiteX2" fmla="*/ 582930 w 582930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2930" h="457200">
                <a:moveTo>
                  <a:pt x="0" y="0"/>
                </a:moveTo>
                <a:cubicBezTo>
                  <a:pt x="128587" y="76200"/>
                  <a:pt x="257175" y="152400"/>
                  <a:pt x="354330" y="228600"/>
                </a:cubicBezTo>
                <a:cubicBezTo>
                  <a:pt x="451485" y="304800"/>
                  <a:pt x="517207" y="381000"/>
                  <a:pt x="582930" y="4572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orme libre 23"/>
          <p:cNvSpPr/>
          <p:nvPr/>
        </p:nvSpPr>
        <p:spPr>
          <a:xfrm>
            <a:off x="6309360" y="3194019"/>
            <a:ext cx="1211580" cy="800100"/>
          </a:xfrm>
          <a:custGeom>
            <a:avLst/>
            <a:gdLst>
              <a:gd name="connsiteX0" fmla="*/ 0 w 1211580"/>
              <a:gd name="connsiteY0" fmla="*/ 800100 h 800100"/>
              <a:gd name="connsiteX1" fmla="*/ 685800 w 1211580"/>
              <a:gd name="connsiteY1" fmla="*/ 365760 h 800100"/>
              <a:gd name="connsiteX2" fmla="*/ 1211580 w 1211580"/>
              <a:gd name="connsiteY2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580" h="800100">
                <a:moveTo>
                  <a:pt x="0" y="800100"/>
                </a:moveTo>
                <a:cubicBezTo>
                  <a:pt x="241935" y="649605"/>
                  <a:pt x="483870" y="499110"/>
                  <a:pt x="685800" y="365760"/>
                </a:cubicBezTo>
                <a:cubicBezTo>
                  <a:pt x="887730" y="232410"/>
                  <a:pt x="1049655" y="116205"/>
                  <a:pt x="12115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" name="Connecteur droit 24"/>
          <p:cNvCxnSpPr/>
          <p:nvPr/>
        </p:nvCxnSpPr>
        <p:spPr>
          <a:xfrm flipV="1">
            <a:off x="7482036" y="2588259"/>
            <a:ext cx="68580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 flipH="1" flipV="1">
            <a:off x="7405201" y="2588259"/>
            <a:ext cx="76835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 flipH="1" flipV="1">
            <a:off x="6831652" y="3533109"/>
            <a:ext cx="173762" cy="228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flipH="1">
            <a:off x="6918533" y="3555969"/>
            <a:ext cx="86881" cy="1638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flipV="1">
            <a:off x="7751782" y="3463770"/>
            <a:ext cx="170264" cy="57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7861508" y="3314059"/>
            <a:ext cx="74295" cy="142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orme libre 30"/>
          <p:cNvSpPr/>
          <p:nvPr/>
        </p:nvSpPr>
        <p:spPr>
          <a:xfrm>
            <a:off x="5532120" y="2039589"/>
            <a:ext cx="264016" cy="230758"/>
          </a:xfrm>
          <a:custGeom>
            <a:avLst/>
            <a:gdLst>
              <a:gd name="connsiteX0" fmla="*/ 0 w 182880"/>
              <a:gd name="connsiteY0" fmla="*/ 0 h 197720"/>
              <a:gd name="connsiteX1" fmla="*/ 148590 w 182880"/>
              <a:gd name="connsiteY1" fmla="*/ 171450 h 197720"/>
              <a:gd name="connsiteX2" fmla="*/ 182880 w 182880"/>
              <a:gd name="connsiteY2" fmla="*/ 194310 h 19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" h="197720">
                <a:moveTo>
                  <a:pt x="0" y="0"/>
                </a:moveTo>
                <a:cubicBezTo>
                  <a:pt x="59055" y="69532"/>
                  <a:pt x="118110" y="139065"/>
                  <a:pt x="148590" y="171450"/>
                </a:cubicBezTo>
                <a:cubicBezTo>
                  <a:pt x="179070" y="203835"/>
                  <a:pt x="180975" y="199072"/>
                  <a:pt x="182880" y="19431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Forme libre 31"/>
          <p:cNvSpPr/>
          <p:nvPr/>
        </p:nvSpPr>
        <p:spPr>
          <a:xfrm>
            <a:off x="6972300" y="4381122"/>
            <a:ext cx="400050" cy="450155"/>
          </a:xfrm>
          <a:custGeom>
            <a:avLst/>
            <a:gdLst>
              <a:gd name="connsiteX0" fmla="*/ 0 w 400050"/>
              <a:gd name="connsiteY0" fmla="*/ 0 h 205740"/>
              <a:gd name="connsiteX1" fmla="*/ 182880 w 400050"/>
              <a:gd name="connsiteY1" fmla="*/ 114300 h 205740"/>
              <a:gd name="connsiteX2" fmla="*/ 400050 w 400050"/>
              <a:gd name="connsiteY2" fmla="*/ 205740 h 205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050" h="205740">
                <a:moveTo>
                  <a:pt x="0" y="0"/>
                </a:moveTo>
                <a:cubicBezTo>
                  <a:pt x="58102" y="40005"/>
                  <a:pt x="116205" y="80010"/>
                  <a:pt x="182880" y="114300"/>
                </a:cubicBezTo>
                <a:cubicBezTo>
                  <a:pt x="249555" y="148590"/>
                  <a:pt x="324802" y="177165"/>
                  <a:pt x="400050" y="20574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riangle isocèle 32"/>
          <p:cNvSpPr/>
          <p:nvPr/>
        </p:nvSpPr>
        <p:spPr>
          <a:xfrm rot="1560000">
            <a:off x="5782816" y="2218510"/>
            <a:ext cx="1962620" cy="534832"/>
          </a:xfrm>
          <a:prstGeom prst="triangle">
            <a:avLst>
              <a:gd name="adj" fmla="val 66645"/>
            </a:avLst>
          </a:prstGeom>
          <a:solidFill>
            <a:schemeClr val="accent6">
              <a:lumMod val="60000"/>
              <a:lumOff val="40000"/>
            </a:schemeClr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riangle isocèle 33"/>
          <p:cNvSpPr/>
          <p:nvPr/>
        </p:nvSpPr>
        <p:spPr>
          <a:xfrm rot="3480000">
            <a:off x="5603911" y="2540006"/>
            <a:ext cx="2448329" cy="1049683"/>
          </a:xfrm>
          <a:prstGeom prst="triangle">
            <a:avLst>
              <a:gd name="adj" fmla="val 69611"/>
            </a:avLst>
          </a:prstGeom>
          <a:solidFill>
            <a:srgbClr val="92D050"/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auto">
          <a:xfrm>
            <a:off x="6899344" y="4727911"/>
            <a:ext cx="336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36" name="Forme libre 35"/>
          <p:cNvSpPr/>
          <p:nvPr/>
        </p:nvSpPr>
        <p:spPr>
          <a:xfrm>
            <a:off x="7519754" y="1628109"/>
            <a:ext cx="148590" cy="502920"/>
          </a:xfrm>
          <a:custGeom>
            <a:avLst/>
            <a:gdLst>
              <a:gd name="connsiteX0" fmla="*/ 0 w 148590"/>
              <a:gd name="connsiteY0" fmla="*/ 0 h 502920"/>
              <a:gd name="connsiteX1" fmla="*/ 114300 w 148590"/>
              <a:gd name="connsiteY1" fmla="*/ 297180 h 502920"/>
              <a:gd name="connsiteX2" fmla="*/ 148590 w 148590"/>
              <a:gd name="connsiteY2" fmla="*/ 50292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590" h="502920">
                <a:moveTo>
                  <a:pt x="0" y="0"/>
                </a:moveTo>
                <a:cubicBezTo>
                  <a:pt x="44767" y="106680"/>
                  <a:pt x="89535" y="213360"/>
                  <a:pt x="114300" y="297180"/>
                </a:cubicBezTo>
                <a:cubicBezTo>
                  <a:pt x="139065" y="381000"/>
                  <a:pt x="143827" y="441960"/>
                  <a:pt x="148590" y="50292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ZoneTexte 36"/>
          <p:cNvSpPr txBox="1"/>
          <p:nvPr/>
        </p:nvSpPr>
        <p:spPr>
          <a:xfrm>
            <a:off x="7296904" y="1365219"/>
            <a:ext cx="29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38" name="ZoneTexte 37"/>
          <p:cNvSpPr txBox="1"/>
          <p:nvPr/>
        </p:nvSpPr>
        <p:spPr>
          <a:xfrm>
            <a:off x="7452320" y="2270347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 + L</a:t>
            </a:r>
            <a:endParaRPr lang="fr-FR" dirty="0"/>
          </a:p>
        </p:txBody>
      </p:sp>
      <p:sp>
        <p:nvSpPr>
          <p:cNvPr id="39" name="ZoneTexte 38"/>
          <p:cNvSpPr txBox="1"/>
          <p:nvPr/>
        </p:nvSpPr>
        <p:spPr>
          <a:xfrm>
            <a:off x="5681836" y="1931029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</a:t>
            </a:r>
            <a:endParaRPr lang="fr-FR" dirty="0"/>
          </a:p>
        </p:txBody>
      </p:sp>
      <p:sp>
        <p:nvSpPr>
          <p:cNvPr id="40" name="Forme libre 39"/>
          <p:cNvSpPr/>
          <p:nvPr/>
        </p:nvSpPr>
        <p:spPr>
          <a:xfrm>
            <a:off x="6320790" y="1525239"/>
            <a:ext cx="548640" cy="960120"/>
          </a:xfrm>
          <a:custGeom>
            <a:avLst/>
            <a:gdLst>
              <a:gd name="connsiteX0" fmla="*/ 0 w 548640"/>
              <a:gd name="connsiteY0" fmla="*/ 0 h 960120"/>
              <a:gd name="connsiteX1" fmla="*/ 422910 w 548640"/>
              <a:gd name="connsiteY1" fmla="*/ 514350 h 960120"/>
              <a:gd name="connsiteX2" fmla="*/ 548640 w 548640"/>
              <a:gd name="connsiteY2" fmla="*/ 960120 h 96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" h="960120">
                <a:moveTo>
                  <a:pt x="0" y="0"/>
                </a:moveTo>
                <a:cubicBezTo>
                  <a:pt x="165735" y="177165"/>
                  <a:pt x="331470" y="354330"/>
                  <a:pt x="422910" y="514350"/>
                </a:cubicBezTo>
                <a:cubicBezTo>
                  <a:pt x="514350" y="674370"/>
                  <a:pt x="531495" y="817245"/>
                  <a:pt x="548640" y="96012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ZoneTexte 40"/>
          <p:cNvSpPr txBox="1"/>
          <p:nvPr/>
        </p:nvSpPr>
        <p:spPr>
          <a:xfrm>
            <a:off x="5796136" y="1199519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L +  + </a:t>
            </a:r>
            <a:endParaRPr lang="fr-FR" dirty="0"/>
          </a:p>
        </p:txBody>
      </p:sp>
      <p:sp>
        <p:nvSpPr>
          <p:cNvPr id="42" name="Forme libre 41"/>
          <p:cNvSpPr/>
          <p:nvPr/>
        </p:nvSpPr>
        <p:spPr>
          <a:xfrm>
            <a:off x="5772130" y="3071727"/>
            <a:ext cx="240030" cy="891540"/>
          </a:xfrm>
          <a:custGeom>
            <a:avLst/>
            <a:gdLst>
              <a:gd name="connsiteX0" fmla="*/ 0 w 240030"/>
              <a:gd name="connsiteY0" fmla="*/ 891540 h 891540"/>
              <a:gd name="connsiteX1" fmla="*/ 91440 w 240030"/>
              <a:gd name="connsiteY1" fmla="*/ 422910 h 891540"/>
              <a:gd name="connsiteX2" fmla="*/ 240030 w 240030"/>
              <a:gd name="connsiteY2" fmla="*/ 0 h 891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030" h="891540">
                <a:moveTo>
                  <a:pt x="0" y="891540"/>
                </a:moveTo>
                <a:cubicBezTo>
                  <a:pt x="25717" y="731520"/>
                  <a:pt x="51435" y="571500"/>
                  <a:pt x="91440" y="422910"/>
                </a:cubicBezTo>
                <a:cubicBezTo>
                  <a:pt x="131445" y="274320"/>
                  <a:pt x="185737" y="137160"/>
                  <a:pt x="24003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ZoneTexte 42"/>
          <p:cNvSpPr txBox="1"/>
          <p:nvPr/>
        </p:nvSpPr>
        <p:spPr>
          <a:xfrm>
            <a:off x="5220072" y="3935823"/>
            <a:ext cx="945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</a:t>
            </a:r>
            <a:endParaRPr lang="fr-FR" dirty="0"/>
          </a:p>
        </p:txBody>
      </p:sp>
      <p:sp>
        <p:nvSpPr>
          <p:cNvPr id="44" name="Forme libre 43"/>
          <p:cNvSpPr/>
          <p:nvPr/>
        </p:nvSpPr>
        <p:spPr>
          <a:xfrm>
            <a:off x="6206490" y="3685509"/>
            <a:ext cx="468630" cy="994410"/>
          </a:xfrm>
          <a:custGeom>
            <a:avLst/>
            <a:gdLst>
              <a:gd name="connsiteX0" fmla="*/ 0 w 468630"/>
              <a:gd name="connsiteY0" fmla="*/ 994410 h 994410"/>
              <a:gd name="connsiteX1" fmla="*/ 205740 w 468630"/>
              <a:gd name="connsiteY1" fmla="*/ 445770 h 994410"/>
              <a:gd name="connsiteX2" fmla="*/ 468630 w 468630"/>
              <a:gd name="connsiteY2" fmla="*/ 0 h 99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8630" h="994410">
                <a:moveTo>
                  <a:pt x="0" y="994410"/>
                </a:moveTo>
                <a:cubicBezTo>
                  <a:pt x="63817" y="802957"/>
                  <a:pt x="127635" y="611505"/>
                  <a:pt x="205740" y="445770"/>
                </a:cubicBezTo>
                <a:cubicBezTo>
                  <a:pt x="283845" y="280035"/>
                  <a:pt x="376237" y="140017"/>
                  <a:pt x="46863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ZoneTexte 44"/>
          <p:cNvSpPr txBox="1"/>
          <p:nvPr/>
        </p:nvSpPr>
        <p:spPr>
          <a:xfrm>
            <a:off x="5597525" y="4646611"/>
            <a:ext cx="10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 + L</a:t>
            </a:r>
            <a:endParaRPr lang="fr-FR" dirty="0"/>
          </a:p>
        </p:txBody>
      </p:sp>
      <p:sp>
        <p:nvSpPr>
          <p:cNvPr id="46" name="Forme libre 45"/>
          <p:cNvSpPr/>
          <p:nvPr/>
        </p:nvSpPr>
        <p:spPr>
          <a:xfrm>
            <a:off x="7520940" y="2759679"/>
            <a:ext cx="1074420" cy="432482"/>
          </a:xfrm>
          <a:custGeom>
            <a:avLst/>
            <a:gdLst>
              <a:gd name="connsiteX0" fmla="*/ 0 w 1074420"/>
              <a:gd name="connsiteY0" fmla="*/ 422910 h 432482"/>
              <a:gd name="connsiteX1" fmla="*/ 457200 w 1074420"/>
              <a:gd name="connsiteY1" fmla="*/ 377190 h 432482"/>
              <a:gd name="connsiteX2" fmla="*/ 1074420 w 1074420"/>
              <a:gd name="connsiteY2" fmla="*/ 0 h 4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4420" h="432482">
                <a:moveTo>
                  <a:pt x="0" y="422910"/>
                </a:moveTo>
                <a:cubicBezTo>
                  <a:pt x="139065" y="435292"/>
                  <a:pt x="278130" y="447675"/>
                  <a:pt x="457200" y="377190"/>
                </a:cubicBezTo>
                <a:cubicBezTo>
                  <a:pt x="636270" y="306705"/>
                  <a:pt x="855345" y="153352"/>
                  <a:pt x="107442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>
            <a:off x="7520940" y="3205449"/>
            <a:ext cx="445770" cy="617220"/>
          </a:xfrm>
          <a:custGeom>
            <a:avLst/>
            <a:gdLst>
              <a:gd name="connsiteX0" fmla="*/ 0 w 445770"/>
              <a:gd name="connsiteY0" fmla="*/ 0 h 617220"/>
              <a:gd name="connsiteX1" fmla="*/ 262890 w 445770"/>
              <a:gd name="connsiteY1" fmla="*/ 297180 h 617220"/>
              <a:gd name="connsiteX2" fmla="*/ 445770 w 445770"/>
              <a:gd name="connsiteY2" fmla="*/ 617220 h 617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5770" h="617220">
                <a:moveTo>
                  <a:pt x="0" y="0"/>
                </a:moveTo>
                <a:cubicBezTo>
                  <a:pt x="94297" y="97155"/>
                  <a:pt x="188595" y="194310"/>
                  <a:pt x="262890" y="297180"/>
                </a:cubicBezTo>
                <a:cubicBezTo>
                  <a:pt x="337185" y="400050"/>
                  <a:pt x="391477" y="508635"/>
                  <a:pt x="445770" y="61722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Forme libre 47"/>
          <p:cNvSpPr/>
          <p:nvPr/>
        </p:nvSpPr>
        <p:spPr>
          <a:xfrm>
            <a:off x="7178040" y="2051019"/>
            <a:ext cx="217170" cy="354330"/>
          </a:xfrm>
          <a:custGeom>
            <a:avLst/>
            <a:gdLst>
              <a:gd name="connsiteX0" fmla="*/ 217170 w 217170"/>
              <a:gd name="connsiteY0" fmla="*/ 0 h 342900"/>
              <a:gd name="connsiteX1" fmla="*/ 137160 w 217170"/>
              <a:gd name="connsiteY1" fmla="*/ 205740 h 342900"/>
              <a:gd name="connsiteX2" fmla="*/ 0 w 217170"/>
              <a:gd name="connsiteY2" fmla="*/ 3429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" h="342900">
                <a:moveTo>
                  <a:pt x="217170" y="0"/>
                </a:moveTo>
                <a:cubicBezTo>
                  <a:pt x="195262" y="74295"/>
                  <a:pt x="173355" y="148590"/>
                  <a:pt x="137160" y="205740"/>
                </a:cubicBezTo>
                <a:cubicBezTo>
                  <a:pt x="100965" y="262890"/>
                  <a:pt x="50482" y="302895"/>
                  <a:pt x="0" y="3429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Forme libre 48"/>
          <p:cNvSpPr/>
          <p:nvPr/>
        </p:nvSpPr>
        <p:spPr>
          <a:xfrm>
            <a:off x="7166610" y="2155852"/>
            <a:ext cx="1771650" cy="238067"/>
          </a:xfrm>
          <a:custGeom>
            <a:avLst/>
            <a:gdLst>
              <a:gd name="connsiteX0" fmla="*/ 0 w 1771650"/>
              <a:gd name="connsiteY0" fmla="*/ 238067 h 238067"/>
              <a:gd name="connsiteX1" fmla="*/ 1028700 w 1771650"/>
              <a:gd name="connsiteY1" fmla="*/ 20897 h 238067"/>
              <a:gd name="connsiteX2" fmla="*/ 1771650 w 1771650"/>
              <a:gd name="connsiteY2" fmla="*/ 20897 h 238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1650" h="238067">
                <a:moveTo>
                  <a:pt x="0" y="238067"/>
                </a:moveTo>
                <a:cubicBezTo>
                  <a:pt x="366712" y="147579"/>
                  <a:pt x="733425" y="57092"/>
                  <a:pt x="1028700" y="20897"/>
                </a:cubicBezTo>
                <a:cubicBezTo>
                  <a:pt x="1323975" y="-15298"/>
                  <a:pt x="1547812" y="2799"/>
                  <a:pt x="1771650" y="2089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Forme libre 49"/>
          <p:cNvSpPr/>
          <p:nvPr/>
        </p:nvSpPr>
        <p:spPr>
          <a:xfrm>
            <a:off x="5429250" y="2268189"/>
            <a:ext cx="342900" cy="125730"/>
          </a:xfrm>
          <a:custGeom>
            <a:avLst/>
            <a:gdLst>
              <a:gd name="connsiteX0" fmla="*/ 342900 w 342900"/>
              <a:gd name="connsiteY0" fmla="*/ 0 h 125730"/>
              <a:gd name="connsiteX1" fmla="*/ 182880 w 342900"/>
              <a:gd name="connsiteY1" fmla="*/ 34290 h 125730"/>
              <a:gd name="connsiteX2" fmla="*/ 0 w 342900"/>
              <a:gd name="connsiteY2" fmla="*/ 125730 h 125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" h="125730">
                <a:moveTo>
                  <a:pt x="342900" y="0"/>
                </a:moveTo>
                <a:cubicBezTo>
                  <a:pt x="291465" y="6667"/>
                  <a:pt x="240030" y="13335"/>
                  <a:pt x="182880" y="34290"/>
                </a:cubicBezTo>
                <a:cubicBezTo>
                  <a:pt x="125730" y="55245"/>
                  <a:pt x="62865" y="90487"/>
                  <a:pt x="0" y="12573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Forme libre 50"/>
          <p:cNvSpPr/>
          <p:nvPr/>
        </p:nvSpPr>
        <p:spPr>
          <a:xfrm>
            <a:off x="6869430" y="4394169"/>
            <a:ext cx="125730" cy="457200"/>
          </a:xfrm>
          <a:custGeom>
            <a:avLst/>
            <a:gdLst>
              <a:gd name="connsiteX0" fmla="*/ 125730 w 125730"/>
              <a:gd name="connsiteY0" fmla="*/ 0 h 457200"/>
              <a:gd name="connsiteX1" fmla="*/ 80010 w 125730"/>
              <a:gd name="connsiteY1" fmla="*/ 240030 h 457200"/>
              <a:gd name="connsiteX2" fmla="*/ 0 w 125730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730" h="457200">
                <a:moveTo>
                  <a:pt x="125730" y="0"/>
                </a:moveTo>
                <a:cubicBezTo>
                  <a:pt x="113347" y="81915"/>
                  <a:pt x="100965" y="163830"/>
                  <a:pt x="80010" y="240030"/>
                </a:cubicBezTo>
                <a:cubicBezTo>
                  <a:pt x="59055" y="316230"/>
                  <a:pt x="29527" y="386715"/>
                  <a:pt x="0" y="4572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ZoneTexte 52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eutectiques et 1 </a:t>
            </a:r>
            <a:r>
              <a:rPr lang="fr-FR" sz="2400" dirty="0" err="1" smtClean="0"/>
              <a:t>peritectique</a:t>
            </a:r>
            <a:r>
              <a:rPr lang="fr-FR" sz="2400" dirty="0" smtClean="0"/>
              <a:t> binaires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64382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Class-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2" t="24896" r="18776" b="19572"/>
          <a:stretch>
            <a:fillRect/>
          </a:stretch>
        </p:blipFill>
        <p:spPr bwMode="auto">
          <a:xfrm>
            <a:off x="76200" y="976599"/>
            <a:ext cx="5791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5" name="Triangle isocèle 4"/>
          <p:cNvSpPr/>
          <p:nvPr/>
        </p:nvSpPr>
        <p:spPr>
          <a:xfrm rot="3480000">
            <a:off x="5647039" y="2435179"/>
            <a:ext cx="2448329" cy="1179205"/>
          </a:xfrm>
          <a:prstGeom prst="triangle">
            <a:avLst>
              <a:gd name="adj" fmla="val 34080"/>
            </a:avLst>
          </a:prstGeom>
          <a:solidFill>
            <a:srgbClr val="684FD1"/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reeform 5"/>
          <p:cNvSpPr>
            <a:spLocks/>
          </p:cNvSpPr>
          <p:nvPr/>
        </p:nvSpPr>
        <p:spPr bwMode="auto">
          <a:xfrm>
            <a:off x="1044575" y="2462499"/>
            <a:ext cx="4013200" cy="1681163"/>
          </a:xfrm>
          <a:custGeom>
            <a:avLst/>
            <a:gdLst>
              <a:gd name="T0" fmla="*/ 0 w 2528"/>
              <a:gd name="T1" fmla="*/ 53975 h 1059"/>
              <a:gd name="T2" fmla="*/ 4013200 w 2528"/>
              <a:gd name="T3" fmla="*/ 0 h 1059"/>
              <a:gd name="T4" fmla="*/ 2860675 w 2528"/>
              <a:gd name="T5" fmla="*/ 1681163 h 1059"/>
              <a:gd name="T6" fmla="*/ 0 w 2528"/>
              <a:gd name="T7" fmla="*/ 53975 h 105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28" h="1059">
                <a:moveTo>
                  <a:pt x="0" y="34"/>
                </a:moveTo>
                <a:lnTo>
                  <a:pt x="2528" y="0"/>
                </a:lnTo>
                <a:lnTo>
                  <a:pt x="1802" y="1059"/>
                </a:lnTo>
                <a:lnTo>
                  <a:pt x="0" y="34"/>
                </a:lnTo>
                <a:close/>
              </a:path>
            </a:pathLst>
          </a:cu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8" name="Freeform 9"/>
          <p:cNvSpPr>
            <a:spLocks/>
          </p:cNvSpPr>
          <p:nvPr/>
        </p:nvSpPr>
        <p:spPr bwMode="auto">
          <a:xfrm>
            <a:off x="1462088" y="2510124"/>
            <a:ext cx="328612" cy="123825"/>
          </a:xfrm>
          <a:custGeom>
            <a:avLst/>
            <a:gdLst>
              <a:gd name="T0" fmla="*/ 0 w 207"/>
              <a:gd name="T1" fmla="*/ 0 h 78"/>
              <a:gd name="T2" fmla="*/ 142875 w 207"/>
              <a:gd name="T3" fmla="*/ 61913 h 78"/>
              <a:gd name="T4" fmla="*/ 328612 w 207"/>
              <a:gd name="T5" fmla="*/ 123825 h 7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7" h="78">
                <a:moveTo>
                  <a:pt x="0" y="0"/>
                </a:moveTo>
                <a:cubicBezTo>
                  <a:pt x="15" y="7"/>
                  <a:pt x="55" y="26"/>
                  <a:pt x="90" y="39"/>
                </a:cubicBezTo>
                <a:cubicBezTo>
                  <a:pt x="125" y="52"/>
                  <a:pt x="183" y="70"/>
                  <a:pt x="207" y="78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9" name="Freeform 10"/>
          <p:cNvSpPr>
            <a:spLocks/>
          </p:cNvSpPr>
          <p:nvPr/>
        </p:nvSpPr>
        <p:spPr bwMode="auto">
          <a:xfrm>
            <a:off x="1795463" y="2529174"/>
            <a:ext cx="1719262" cy="1004888"/>
          </a:xfrm>
          <a:custGeom>
            <a:avLst/>
            <a:gdLst>
              <a:gd name="T0" fmla="*/ 0 w 1083"/>
              <a:gd name="T1" fmla="*/ 109538 h 633"/>
              <a:gd name="T2" fmla="*/ 1719262 w 1083"/>
              <a:gd name="T3" fmla="*/ 1004888 h 633"/>
              <a:gd name="T4" fmla="*/ 1657350 w 1083"/>
              <a:gd name="T5" fmla="*/ 0 h 633"/>
              <a:gd name="T6" fmla="*/ 0 w 1083"/>
              <a:gd name="T7" fmla="*/ 109538 h 63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3" h="633">
                <a:moveTo>
                  <a:pt x="0" y="69"/>
                </a:moveTo>
                <a:lnTo>
                  <a:pt x="1083" y="633"/>
                </a:lnTo>
                <a:lnTo>
                  <a:pt x="1044" y="0"/>
                </a:lnTo>
                <a:lnTo>
                  <a:pt x="0" y="69"/>
                </a:lnTo>
                <a:close/>
              </a:path>
            </a:pathLst>
          </a:custGeom>
          <a:solidFill>
            <a:srgbClr val="0000FF">
              <a:alpha val="50195"/>
            </a:srgbClr>
          </a:solidFill>
          <a:ln w="9525">
            <a:solidFill>
              <a:srgbClr val="D6009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1" name="Freeform 11"/>
          <p:cNvSpPr>
            <a:spLocks/>
          </p:cNvSpPr>
          <p:nvPr/>
        </p:nvSpPr>
        <p:spPr bwMode="auto">
          <a:xfrm>
            <a:off x="3467100" y="2472024"/>
            <a:ext cx="557213" cy="52388"/>
          </a:xfrm>
          <a:custGeom>
            <a:avLst/>
            <a:gdLst>
              <a:gd name="T0" fmla="*/ 557213 w 351"/>
              <a:gd name="T1" fmla="*/ 0 h 33"/>
              <a:gd name="T2" fmla="*/ 0 w 351"/>
              <a:gd name="T3" fmla="*/ 52388 h 3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51" h="33">
                <a:moveTo>
                  <a:pt x="351" y="0"/>
                </a:moveTo>
                <a:cubicBezTo>
                  <a:pt x="293" y="5"/>
                  <a:pt x="73" y="26"/>
                  <a:pt x="0" y="33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2" name="Freeform 12"/>
          <p:cNvSpPr>
            <a:spLocks/>
          </p:cNvSpPr>
          <p:nvPr/>
        </p:nvSpPr>
        <p:spPr bwMode="auto">
          <a:xfrm>
            <a:off x="3462338" y="2508537"/>
            <a:ext cx="1562100" cy="15875"/>
          </a:xfrm>
          <a:custGeom>
            <a:avLst/>
            <a:gdLst>
              <a:gd name="T0" fmla="*/ 1562100 w 984"/>
              <a:gd name="T1" fmla="*/ 6350 h 10"/>
              <a:gd name="T2" fmla="*/ 781050 w 984"/>
              <a:gd name="T3" fmla="*/ 1588 h 10"/>
              <a:gd name="T4" fmla="*/ 0 w 984"/>
              <a:gd name="T5" fmla="*/ 15875 h 1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84" h="10">
                <a:moveTo>
                  <a:pt x="984" y="4"/>
                </a:moveTo>
                <a:cubicBezTo>
                  <a:pt x="902" y="3"/>
                  <a:pt x="656" y="0"/>
                  <a:pt x="492" y="1"/>
                </a:cubicBezTo>
                <a:cubicBezTo>
                  <a:pt x="328" y="2"/>
                  <a:pt x="102" y="8"/>
                  <a:pt x="0" y="1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4010025" y="2695862"/>
            <a:ext cx="885825" cy="220662"/>
          </a:xfrm>
          <a:custGeom>
            <a:avLst/>
            <a:gdLst>
              <a:gd name="T0" fmla="*/ 885825 w 558"/>
              <a:gd name="T1" fmla="*/ 0 h 139"/>
              <a:gd name="T2" fmla="*/ 500063 w 558"/>
              <a:gd name="T3" fmla="*/ 190500 h 139"/>
              <a:gd name="T4" fmla="*/ 0 w 558"/>
              <a:gd name="T5" fmla="*/ 180975 h 13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58" h="139">
                <a:moveTo>
                  <a:pt x="558" y="0"/>
                </a:moveTo>
                <a:cubicBezTo>
                  <a:pt x="518" y="20"/>
                  <a:pt x="408" y="101"/>
                  <a:pt x="315" y="120"/>
                </a:cubicBezTo>
                <a:cubicBezTo>
                  <a:pt x="222" y="139"/>
                  <a:pt x="66" y="115"/>
                  <a:pt x="0" y="114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4" name="Freeform 14"/>
          <p:cNvSpPr>
            <a:spLocks/>
          </p:cNvSpPr>
          <p:nvPr/>
        </p:nvSpPr>
        <p:spPr bwMode="auto">
          <a:xfrm>
            <a:off x="4024313" y="2886362"/>
            <a:ext cx="500062" cy="338137"/>
          </a:xfrm>
          <a:custGeom>
            <a:avLst/>
            <a:gdLst>
              <a:gd name="T0" fmla="*/ 500062 w 315"/>
              <a:gd name="T1" fmla="*/ 338137 h 213"/>
              <a:gd name="T2" fmla="*/ 323850 w 315"/>
              <a:gd name="T3" fmla="*/ 171450 h 213"/>
              <a:gd name="T4" fmla="*/ 0 w 315"/>
              <a:gd name="T5" fmla="*/ 0 h 21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5" h="213">
                <a:moveTo>
                  <a:pt x="315" y="213"/>
                </a:moveTo>
                <a:cubicBezTo>
                  <a:pt x="297" y="196"/>
                  <a:pt x="257" y="143"/>
                  <a:pt x="204" y="108"/>
                </a:cubicBezTo>
                <a:cubicBezTo>
                  <a:pt x="151" y="73"/>
                  <a:pt x="42" y="22"/>
                  <a:pt x="0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5" name="Freeform 15"/>
          <p:cNvSpPr>
            <a:spLocks/>
          </p:cNvSpPr>
          <p:nvPr/>
        </p:nvSpPr>
        <p:spPr bwMode="auto">
          <a:xfrm>
            <a:off x="3514725" y="3534062"/>
            <a:ext cx="557213" cy="342900"/>
          </a:xfrm>
          <a:custGeom>
            <a:avLst/>
            <a:gdLst>
              <a:gd name="T0" fmla="*/ 557213 w 351"/>
              <a:gd name="T1" fmla="*/ 342900 h 216"/>
              <a:gd name="T2" fmla="*/ 319088 w 351"/>
              <a:gd name="T3" fmla="*/ 157163 h 216"/>
              <a:gd name="T4" fmla="*/ 0 w 351"/>
              <a:gd name="T5" fmla="*/ 0 h 2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51" h="216">
                <a:moveTo>
                  <a:pt x="351" y="216"/>
                </a:moveTo>
                <a:cubicBezTo>
                  <a:pt x="326" y="197"/>
                  <a:pt x="260" y="135"/>
                  <a:pt x="201" y="99"/>
                </a:cubicBezTo>
                <a:cubicBezTo>
                  <a:pt x="142" y="63"/>
                  <a:pt x="42" y="21"/>
                  <a:pt x="0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6" name="Freeform 16"/>
          <p:cNvSpPr>
            <a:spLocks/>
          </p:cNvSpPr>
          <p:nvPr/>
        </p:nvSpPr>
        <p:spPr bwMode="auto">
          <a:xfrm>
            <a:off x="3457575" y="2524412"/>
            <a:ext cx="566738" cy="1014412"/>
          </a:xfrm>
          <a:custGeom>
            <a:avLst/>
            <a:gdLst>
              <a:gd name="T0" fmla="*/ 0 w 357"/>
              <a:gd name="T1" fmla="*/ 0 h 639"/>
              <a:gd name="T2" fmla="*/ 57150 w 357"/>
              <a:gd name="T3" fmla="*/ 1014412 h 639"/>
              <a:gd name="T4" fmla="*/ 566738 w 357"/>
              <a:gd name="T5" fmla="*/ 352425 h 639"/>
              <a:gd name="T6" fmla="*/ 0 w 357"/>
              <a:gd name="T7" fmla="*/ 0 h 63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57" h="639">
                <a:moveTo>
                  <a:pt x="0" y="0"/>
                </a:moveTo>
                <a:lnTo>
                  <a:pt x="36" y="639"/>
                </a:lnTo>
                <a:lnTo>
                  <a:pt x="357" y="222"/>
                </a:lnTo>
                <a:lnTo>
                  <a:pt x="0" y="0"/>
                </a:lnTo>
                <a:close/>
              </a:path>
            </a:pathLst>
          </a:custGeom>
          <a:solidFill>
            <a:srgbClr val="FF00FF">
              <a:alpha val="50195"/>
            </a:srgbClr>
          </a:solidFill>
          <a:ln w="9525">
            <a:solidFill>
              <a:srgbClr val="D6009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7" name="Freeform 17"/>
          <p:cNvSpPr>
            <a:spLocks/>
          </p:cNvSpPr>
          <p:nvPr/>
        </p:nvSpPr>
        <p:spPr bwMode="auto">
          <a:xfrm>
            <a:off x="1323975" y="2638712"/>
            <a:ext cx="466725" cy="42862"/>
          </a:xfrm>
          <a:custGeom>
            <a:avLst/>
            <a:gdLst>
              <a:gd name="T0" fmla="*/ 466725 w 294"/>
              <a:gd name="T1" fmla="*/ 0 h 27"/>
              <a:gd name="T2" fmla="*/ 176213 w 294"/>
              <a:gd name="T3" fmla="*/ 23812 h 27"/>
              <a:gd name="T4" fmla="*/ 0 w 294"/>
              <a:gd name="T5" fmla="*/ 42862 h 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4" h="27">
                <a:moveTo>
                  <a:pt x="294" y="0"/>
                </a:moveTo>
                <a:cubicBezTo>
                  <a:pt x="264" y="2"/>
                  <a:pt x="160" y="11"/>
                  <a:pt x="111" y="15"/>
                </a:cubicBezTo>
                <a:cubicBezTo>
                  <a:pt x="62" y="19"/>
                  <a:pt x="23" y="25"/>
                  <a:pt x="0" y="27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8" name="Freeform 18"/>
          <p:cNvSpPr>
            <a:spLocks/>
          </p:cNvSpPr>
          <p:nvPr/>
        </p:nvSpPr>
        <p:spPr bwMode="auto">
          <a:xfrm>
            <a:off x="3519488" y="3534062"/>
            <a:ext cx="38100" cy="409575"/>
          </a:xfrm>
          <a:custGeom>
            <a:avLst/>
            <a:gdLst>
              <a:gd name="T0" fmla="*/ 38100 w 24"/>
              <a:gd name="T1" fmla="*/ 409575 h 258"/>
              <a:gd name="T2" fmla="*/ 28575 w 24"/>
              <a:gd name="T3" fmla="*/ 223838 h 258"/>
              <a:gd name="T4" fmla="*/ 0 w 24"/>
              <a:gd name="T5" fmla="*/ 0 h 25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" h="258">
                <a:moveTo>
                  <a:pt x="24" y="258"/>
                </a:moveTo>
                <a:cubicBezTo>
                  <a:pt x="23" y="239"/>
                  <a:pt x="22" y="184"/>
                  <a:pt x="18" y="141"/>
                </a:cubicBezTo>
                <a:cubicBezTo>
                  <a:pt x="14" y="98"/>
                  <a:pt x="4" y="29"/>
                  <a:pt x="0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auto">
          <a:xfrm flipV="1">
            <a:off x="5194300" y="2043399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5268913" y="1956087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7668344" y="3134443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</a:t>
            </a:r>
            <a:endParaRPr lang="fr-FR" dirty="0"/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7099300" y="3869104"/>
            <a:ext cx="6473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Arial" pitchFamily="34" charset="0"/>
                <a:ea typeface="ＭＳ Ｐゴシック" charset="0"/>
                <a:cs typeface="Arial" pitchFamily="34" charset="0"/>
                <a:sym typeface="Symbol"/>
              </a:rPr>
              <a:t>L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+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23" name="Forme libre 22"/>
          <p:cNvSpPr/>
          <p:nvPr/>
        </p:nvSpPr>
        <p:spPr>
          <a:xfrm>
            <a:off x="7360920" y="2039589"/>
            <a:ext cx="161003" cy="1143000"/>
          </a:xfrm>
          <a:custGeom>
            <a:avLst/>
            <a:gdLst>
              <a:gd name="connsiteX0" fmla="*/ 0 w 161003"/>
              <a:gd name="connsiteY0" fmla="*/ 0 h 1143000"/>
              <a:gd name="connsiteX1" fmla="*/ 137160 w 161003"/>
              <a:gd name="connsiteY1" fmla="*/ 754380 h 1143000"/>
              <a:gd name="connsiteX2" fmla="*/ 160020 w 161003"/>
              <a:gd name="connsiteY2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1003" h="1143000">
                <a:moveTo>
                  <a:pt x="0" y="0"/>
                </a:moveTo>
                <a:cubicBezTo>
                  <a:pt x="55245" y="281940"/>
                  <a:pt x="110490" y="563880"/>
                  <a:pt x="137160" y="754380"/>
                </a:cubicBezTo>
                <a:cubicBezTo>
                  <a:pt x="163830" y="944880"/>
                  <a:pt x="161925" y="1043940"/>
                  <a:pt x="160020" y="1143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orme libre 23"/>
          <p:cNvSpPr/>
          <p:nvPr/>
        </p:nvSpPr>
        <p:spPr>
          <a:xfrm>
            <a:off x="7509510" y="3182589"/>
            <a:ext cx="582930" cy="457200"/>
          </a:xfrm>
          <a:custGeom>
            <a:avLst/>
            <a:gdLst>
              <a:gd name="connsiteX0" fmla="*/ 0 w 582930"/>
              <a:gd name="connsiteY0" fmla="*/ 0 h 457200"/>
              <a:gd name="connsiteX1" fmla="*/ 354330 w 582930"/>
              <a:gd name="connsiteY1" fmla="*/ 228600 h 457200"/>
              <a:gd name="connsiteX2" fmla="*/ 582930 w 582930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2930" h="457200">
                <a:moveTo>
                  <a:pt x="0" y="0"/>
                </a:moveTo>
                <a:cubicBezTo>
                  <a:pt x="128587" y="76200"/>
                  <a:pt x="257175" y="152400"/>
                  <a:pt x="354330" y="228600"/>
                </a:cubicBezTo>
                <a:cubicBezTo>
                  <a:pt x="451485" y="304800"/>
                  <a:pt x="517207" y="381000"/>
                  <a:pt x="582930" y="4572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orme libre 24"/>
          <p:cNvSpPr/>
          <p:nvPr/>
        </p:nvSpPr>
        <p:spPr>
          <a:xfrm>
            <a:off x="6309360" y="3194019"/>
            <a:ext cx="1211580" cy="800100"/>
          </a:xfrm>
          <a:custGeom>
            <a:avLst/>
            <a:gdLst>
              <a:gd name="connsiteX0" fmla="*/ 0 w 1211580"/>
              <a:gd name="connsiteY0" fmla="*/ 800100 h 800100"/>
              <a:gd name="connsiteX1" fmla="*/ 685800 w 1211580"/>
              <a:gd name="connsiteY1" fmla="*/ 365760 h 800100"/>
              <a:gd name="connsiteX2" fmla="*/ 1211580 w 1211580"/>
              <a:gd name="connsiteY2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580" h="800100">
                <a:moveTo>
                  <a:pt x="0" y="800100"/>
                </a:moveTo>
                <a:cubicBezTo>
                  <a:pt x="241935" y="649605"/>
                  <a:pt x="483870" y="499110"/>
                  <a:pt x="685800" y="365760"/>
                </a:cubicBezTo>
                <a:cubicBezTo>
                  <a:pt x="887730" y="232410"/>
                  <a:pt x="1049655" y="116205"/>
                  <a:pt x="12115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6" name="Connecteur droit 25"/>
          <p:cNvCxnSpPr/>
          <p:nvPr/>
        </p:nvCxnSpPr>
        <p:spPr>
          <a:xfrm flipV="1">
            <a:off x="7482036" y="2588259"/>
            <a:ext cx="68580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 flipH="1" flipV="1">
            <a:off x="7405201" y="2588259"/>
            <a:ext cx="76835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flipH="1" flipV="1">
            <a:off x="6831652" y="3533109"/>
            <a:ext cx="173762" cy="228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flipH="1">
            <a:off x="6918533" y="3555969"/>
            <a:ext cx="86881" cy="1638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 flipV="1">
            <a:off x="7751782" y="3463770"/>
            <a:ext cx="170264" cy="57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7861508" y="3314059"/>
            <a:ext cx="74295" cy="1428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orme libre 31"/>
          <p:cNvSpPr/>
          <p:nvPr/>
        </p:nvSpPr>
        <p:spPr>
          <a:xfrm>
            <a:off x="5532120" y="2039589"/>
            <a:ext cx="264016" cy="230758"/>
          </a:xfrm>
          <a:custGeom>
            <a:avLst/>
            <a:gdLst>
              <a:gd name="connsiteX0" fmla="*/ 0 w 182880"/>
              <a:gd name="connsiteY0" fmla="*/ 0 h 197720"/>
              <a:gd name="connsiteX1" fmla="*/ 148590 w 182880"/>
              <a:gd name="connsiteY1" fmla="*/ 171450 h 197720"/>
              <a:gd name="connsiteX2" fmla="*/ 182880 w 182880"/>
              <a:gd name="connsiteY2" fmla="*/ 194310 h 19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" h="197720">
                <a:moveTo>
                  <a:pt x="0" y="0"/>
                </a:moveTo>
                <a:cubicBezTo>
                  <a:pt x="59055" y="69532"/>
                  <a:pt x="118110" y="139065"/>
                  <a:pt x="148590" y="171450"/>
                </a:cubicBezTo>
                <a:cubicBezTo>
                  <a:pt x="179070" y="203835"/>
                  <a:pt x="180975" y="199072"/>
                  <a:pt x="182880" y="19431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Forme libre 32"/>
          <p:cNvSpPr/>
          <p:nvPr/>
        </p:nvSpPr>
        <p:spPr>
          <a:xfrm>
            <a:off x="6972300" y="4381122"/>
            <a:ext cx="400050" cy="450155"/>
          </a:xfrm>
          <a:custGeom>
            <a:avLst/>
            <a:gdLst>
              <a:gd name="connsiteX0" fmla="*/ 0 w 400050"/>
              <a:gd name="connsiteY0" fmla="*/ 0 h 205740"/>
              <a:gd name="connsiteX1" fmla="*/ 182880 w 400050"/>
              <a:gd name="connsiteY1" fmla="*/ 114300 h 205740"/>
              <a:gd name="connsiteX2" fmla="*/ 400050 w 400050"/>
              <a:gd name="connsiteY2" fmla="*/ 205740 h 205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050" h="205740">
                <a:moveTo>
                  <a:pt x="0" y="0"/>
                </a:moveTo>
                <a:cubicBezTo>
                  <a:pt x="58102" y="40005"/>
                  <a:pt x="116205" y="80010"/>
                  <a:pt x="182880" y="114300"/>
                </a:cubicBezTo>
                <a:cubicBezTo>
                  <a:pt x="249555" y="148590"/>
                  <a:pt x="324802" y="177165"/>
                  <a:pt x="400050" y="20574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riangle isocèle 33"/>
          <p:cNvSpPr/>
          <p:nvPr/>
        </p:nvSpPr>
        <p:spPr>
          <a:xfrm rot="5640000">
            <a:off x="6293428" y="3206494"/>
            <a:ext cx="1980692" cy="396460"/>
          </a:xfrm>
          <a:prstGeom prst="triangle">
            <a:avLst>
              <a:gd name="adj" fmla="val 38851"/>
            </a:avLst>
          </a:prstGeom>
          <a:solidFill>
            <a:srgbClr val="FF7C80"/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auto">
          <a:xfrm>
            <a:off x="6899344" y="4727911"/>
            <a:ext cx="336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36" name="Forme libre 35"/>
          <p:cNvSpPr/>
          <p:nvPr/>
        </p:nvSpPr>
        <p:spPr>
          <a:xfrm>
            <a:off x="7519754" y="1628109"/>
            <a:ext cx="148590" cy="502920"/>
          </a:xfrm>
          <a:custGeom>
            <a:avLst/>
            <a:gdLst>
              <a:gd name="connsiteX0" fmla="*/ 0 w 148590"/>
              <a:gd name="connsiteY0" fmla="*/ 0 h 502920"/>
              <a:gd name="connsiteX1" fmla="*/ 114300 w 148590"/>
              <a:gd name="connsiteY1" fmla="*/ 297180 h 502920"/>
              <a:gd name="connsiteX2" fmla="*/ 148590 w 148590"/>
              <a:gd name="connsiteY2" fmla="*/ 50292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590" h="502920">
                <a:moveTo>
                  <a:pt x="0" y="0"/>
                </a:moveTo>
                <a:cubicBezTo>
                  <a:pt x="44767" y="106680"/>
                  <a:pt x="89535" y="213360"/>
                  <a:pt x="114300" y="297180"/>
                </a:cubicBezTo>
                <a:cubicBezTo>
                  <a:pt x="139065" y="381000"/>
                  <a:pt x="143827" y="441960"/>
                  <a:pt x="148590" y="50292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ZoneTexte 36"/>
          <p:cNvSpPr txBox="1"/>
          <p:nvPr/>
        </p:nvSpPr>
        <p:spPr>
          <a:xfrm>
            <a:off x="7296904" y="1365219"/>
            <a:ext cx="29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38" name="ZoneTexte 37"/>
          <p:cNvSpPr txBox="1"/>
          <p:nvPr/>
        </p:nvSpPr>
        <p:spPr>
          <a:xfrm>
            <a:off x="7452320" y="2270347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 + L</a:t>
            </a:r>
            <a:endParaRPr lang="fr-FR" dirty="0"/>
          </a:p>
        </p:txBody>
      </p:sp>
      <p:sp>
        <p:nvSpPr>
          <p:cNvPr id="39" name="ZoneTexte 38"/>
          <p:cNvSpPr txBox="1"/>
          <p:nvPr/>
        </p:nvSpPr>
        <p:spPr>
          <a:xfrm>
            <a:off x="6012145" y="1982315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</a:t>
            </a:r>
            <a:endParaRPr lang="fr-FR" dirty="0"/>
          </a:p>
        </p:txBody>
      </p:sp>
      <p:sp>
        <p:nvSpPr>
          <p:cNvPr id="40" name="ZoneTexte 39"/>
          <p:cNvSpPr txBox="1"/>
          <p:nvPr/>
        </p:nvSpPr>
        <p:spPr>
          <a:xfrm>
            <a:off x="7890824" y="4253437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L +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</a:t>
            </a:r>
            <a:r>
              <a:rPr lang="fr-FR" dirty="0" smtClean="0">
                <a:sym typeface="Symbol"/>
              </a:rPr>
              <a:t> + </a:t>
            </a:r>
            <a:endParaRPr lang="fr-FR" dirty="0"/>
          </a:p>
        </p:txBody>
      </p:sp>
      <p:sp>
        <p:nvSpPr>
          <p:cNvPr id="41" name="Forme libre 40"/>
          <p:cNvSpPr/>
          <p:nvPr/>
        </p:nvSpPr>
        <p:spPr>
          <a:xfrm>
            <a:off x="5772130" y="3071727"/>
            <a:ext cx="240030" cy="891540"/>
          </a:xfrm>
          <a:custGeom>
            <a:avLst/>
            <a:gdLst>
              <a:gd name="connsiteX0" fmla="*/ 0 w 240030"/>
              <a:gd name="connsiteY0" fmla="*/ 891540 h 891540"/>
              <a:gd name="connsiteX1" fmla="*/ 91440 w 240030"/>
              <a:gd name="connsiteY1" fmla="*/ 422910 h 891540"/>
              <a:gd name="connsiteX2" fmla="*/ 240030 w 240030"/>
              <a:gd name="connsiteY2" fmla="*/ 0 h 891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030" h="891540">
                <a:moveTo>
                  <a:pt x="0" y="891540"/>
                </a:moveTo>
                <a:cubicBezTo>
                  <a:pt x="25717" y="731520"/>
                  <a:pt x="51435" y="571500"/>
                  <a:pt x="91440" y="422910"/>
                </a:cubicBezTo>
                <a:cubicBezTo>
                  <a:pt x="131445" y="274320"/>
                  <a:pt x="185737" y="137160"/>
                  <a:pt x="24003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ZoneTexte 41"/>
          <p:cNvSpPr txBox="1"/>
          <p:nvPr/>
        </p:nvSpPr>
        <p:spPr>
          <a:xfrm>
            <a:off x="5220072" y="3935823"/>
            <a:ext cx="945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</a:t>
            </a:r>
            <a:endParaRPr lang="fr-FR" dirty="0"/>
          </a:p>
        </p:txBody>
      </p:sp>
      <p:sp>
        <p:nvSpPr>
          <p:cNvPr id="43" name="ZoneTexte 42"/>
          <p:cNvSpPr txBox="1"/>
          <p:nvPr/>
        </p:nvSpPr>
        <p:spPr>
          <a:xfrm>
            <a:off x="6090741" y="2606588"/>
            <a:ext cx="10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chemeClr val="bg1"/>
                </a:solidFill>
                <a:sym typeface="Symbol"/>
              </a:rPr>
              <a:t> +  + </a:t>
            </a:r>
            <a:r>
              <a:rPr lang="fr-FR" dirty="0">
                <a:solidFill>
                  <a:schemeClr val="bg1"/>
                </a:solidFill>
                <a:sym typeface="Symbol"/>
              </a:rPr>
              <a:t>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4" name="Forme libre 43"/>
          <p:cNvSpPr/>
          <p:nvPr/>
        </p:nvSpPr>
        <p:spPr>
          <a:xfrm>
            <a:off x="7520940" y="2759679"/>
            <a:ext cx="1074420" cy="432482"/>
          </a:xfrm>
          <a:custGeom>
            <a:avLst/>
            <a:gdLst>
              <a:gd name="connsiteX0" fmla="*/ 0 w 1074420"/>
              <a:gd name="connsiteY0" fmla="*/ 422910 h 432482"/>
              <a:gd name="connsiteX1" fmla="*/ 457200 w 1074420"/>
              <a:gd name="connsiteY1" fmla="*/ 377190 h 432482"/>
              <a:gd name="connsiteX2" fmla="*/ 1074420 w 1074420"/>
              <a:gd name="connsiteY2" fmla="*/ 0 h 4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4420" h="432482">
                <a:moveTo>
                  <a:pt x="0" y="422910"/>
                </a:moveTo>
                <a:cubicBezTo>
                  <a:pt x="139065" y="435292"/>
                  <a:pt x="278130" y="447675"/>
                  <a:pt x="457200" y="377190"/>
                </a:cubicBezTo>
                <a:cubicBezTo>
                  <a:pt x="636270" y="306705"/>
                  <a:pt x="855345" y="153352"/>
                  <a:pt x="107442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7520940" y="3205449"/>
            <a:ext cx="445770" cy="617220"/>
          </a:xfrm>
          <a:custGeom>
            <a:avLst/>
            <a:gdLst>
              <a:gd name="connsiteX0" fmla="*/ 0 w 445770"/>
              <a:gd name="connsiteY0" fmla="*/ 0 h 617220"/>
              <a:gd name="connsiteX1" fmla="*/ 262890 w 445770"/>
              <a:gd name="connsiteY1" fmla="*/ 297180 h 617220"/>
              <a:gd name="connsiteX2" fmla="*/ 445770 w 445770"/>
              <a:gd name="connsiteY2" fmla="*/ 617220 h 617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5770" h="617220">
                <a:moveTo>
                  <a:pt x="0" y="0"/>
                </a:moveTo>
                <a:cubicBezTo>
                  <a:pt x="94297" y="97155"/>
                  <a:pt x="188595" y="194310"/>
                  <a:pt x="262890" y="297180"/>
                </a:cubicBezTo>
                <a:cubicBezTo>
                  <a:pt x="337185" y="400050"/>
                  <a:pt x="391477" y="508635"/>
                  <a:pt x="445770" y="61722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>
            <a:off x="7178040" y="2051019"/>
            <a:ext cx="217170" cy="354330"/>
          </a:xfrm>
          <a:custGeom>
            <a:avLst/>
            <a:gdLst>
              <a:gd name="connsiteX0" fmla="*/ 217170 w 217170"/>
              <a:gd name="connsiteY0" fmla="*/ 0 h 342900"/>
              <a:gd name="connsiteX1" fmla="*/ 137160 w 217170"/>
              <a:gd name="connsiteY1" fmla="*/ 205740 h 342900"/>
              <a:gd name="connsiteX2" fmla="*/ 0 w 217170"/>
              <a:gd name="connsiteY2" fmla="*/ 3429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" h="342900">
                <a:moveTo>
                  <a:pt x="217170" y="0"/>
                </a:moveTo>
                <a:cubicBezTo>
                  <a:pt x="195262" y="74295"/>
                  <a:pt x="173355" y="148590"/>
                  <a:pt x="137160" y="205740"/>
                </a:cubicBezTo>
                <a:cubicBezTo>
                  <a:pt x="100965" y="262890"/>
                  <a:pt x="50482" y="302895"/>
                  <a:pt x="0" y="3429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>
            <a:off x="7166610" y="2155852"/>
            <a:ext cx="1771650" cy="238067"/>
          </a:xfrm>
          <a:custGeom>
            <a:avLst/>
            <a:gdLst>
              <a:gd name="connsiteX0" fmla="*/ 0 w 1771650"/>
              <a:gd name="connsiteY0" fmla="*/ 238067 h 238067"/>
              <a:gd name="connsiteX1" fmla="*/ 1028700 w 1771650"/>
              <a:gd name="connsiteY1" fmla="*/ 20897 h 238067"/>
              <a:gd name="connsiteX2" fmla="*/ 1771650 w 1771650"/>
              <a:gd name="connsiteY2" fmla="*/ 20897 h 238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1650" h="238067">
                <a:moveTo>
                  <a:pt x="0" y="238067"/>
                </a:moveTo>
                <a:cubicBezTo>
                  <a:pt x="366712" y="147579"/>
                  <a:pt x="733425" y="57092"/>
                  <a:pt x="1028700" y="20897"/>
                </a:cubicBezTo>
                <a:cubicBezTo>
                  <a:pt x="1323975" y="-15298"/>
                  <a:pt x="1547812" y="2799"/>
                  <a:pt x="1771650" y="2089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Forme libre 47"/>
          <p:cNvSpPr/>
          <p:nvPr/>
        </p:nvSpPr>
        <p:spPr>
          <a:xfrm>
            <a:off x="5429250" y="2268189"/>
            <a:ext cx="342900" cy="125730"/>
          </a:xfrm>
          <a:custGeom>
            <a:avLst/>
            <a:gdLst>
              <a:gd name="connsiteX0" fmla="*/ 342900 w 342900"/>
              <a:gd name="connsiteY0" fmla="*/ 0 h 125730"/>
              <a:gd name="connsiteX1" fmla="*/ 182880 w 342900"/>
              <a:gd name="connsiteY1" fmla="*/ 34290 h 125730"/>
              <a:gd name="connsiteX2" fmla="*/ 0 w 342900"/>
              <a:gd name="connsiteY2" fmla="*/ 125730 h 125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" h="125730">
                <a:moveTo>
                  <a:pt x="342900" y="0"/>
                </a:moveTo>
                <a:cubicBezTo>
                  <a:pt x="291465" y="6667"/>
                  <a:pt x="240030" y="13335"/>
                  <a:pt x="182880" y="34290"/>
                </a:cubicBezTo>
                <a:cubicBezTo>
                  <a:pt x="125730" y="55245"/>
                  <a:pt x="62865" y="90487"/>
                  <a:pt x="0" y="12573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Forme libre 48"/>
          <p:cNvSpPr/>
          <p:nvPr/>
        </p:nvSpPr>
        <p:spPr>
          <a:xfrm>
            <a:off x="6869430" y="4394169"/>
            <a:ext cx="125730" cy="457200"/>
          </a:xfrm>
          <a:custGeom>
            <a:avLst/>
            <a:gdLst>
              <a:gd name="connsiteX0" fmla="*/ 125730 w 125730"/>
              <a:gd name="connsiteY0" fmla="*/ 0 h 457200"/>
              <a:gd name="connsiteX1" fmla="*/ 80010 w 125730"/>
              <a:gd name="connsiteY1" fmla="*/ 240030 h 457200"/>
              <a:gd name="connsiteX2" fmla="*/ 0 w 125730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730" h="457200">
                <a:moveTo>
                  <a:pt x="125730" y="0"/>
                </a:moveTo>
                <a:cubicBezTo>
                  <a:pt x="113347" y="81915"/>
                  <a:pt x="100965" y="163830"/>
                  <a:pt x="80010" y="240030"/>
                </a:cubicBezTo>
                <a:cubicBezTo>
                  <a:pt x="59055" y="316230"/>
                  <a:pt x="29527" y="386715"/>
                  <a:pt x="0" y="4572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Forme libre 49"/>
          <p:cNvSpPr/>
          <p:nvPr/>
        </p:nvSpPr>
        <p:spPr>
          <a:xfrm>
            <a:off x="7269480" y="3319749"/>
            <a:ext cx="742950" cy="994410"/>
          </a:xfrm>
          <a:custGeom>
            <a:avLst/>
            <a:gdLst>
              <a:gd name="connsiteX0" fmla="*/ 742950 w 742950"/>
              <a:gd name="connsiteY0" fmla="*/ 994410 h 994410"/>
              <a:gd name="connsiteX1" fmla="*/ 365760 w 742950"/>
              <a:gd name="connsiteY1" fmla="*/ 388620 h 994410"/>
              <a:gd name="connsiteX2" fmla="*/ 0 w 742950"/>
              <a:gd name="connsiteY2" fmla="*/ 0 h 99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2950" h="994410">
                <a:moveTo>
                  <a:pt x="742950" y="994410"/>
                </a:moveTo>
                <a:cubicBezTo>
                  <a:pt x="616267" y="774382"/>
                  <a:pt x="489585" y="554355"/>
                  <a:pt x="365760" y="388620"/>
                </a:cubicBezTo>
                <a:cubicBezTo>
                  <a:pt x="241935" y="222885"/>
                  <a:pt x="120967" y="111442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ZoneTexte 51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eutectiques et 1 </a:t>
            </a:r>
            <a:r>
              <a:rPr lang="fr-FR" sz="2400" dirty="0" err="1" smtClean="0"/>
              <a:t>peritectique</a:t>
            </a:r>
            <a:r>
              <a:rPr lang="fr-FR" sz="2400" dirty="0" smtClean="0"/>
              <a:t> binaires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64382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5" name="Picture 4" descr="Class-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2" t="24896" r="18776" b="19572"/>
          <a:stretch>
            <a:fillRect/>
          </a:stretch>
        </p:blipFill>
        <p:spPr bwMode="auto">
          <a:xfrm>
            <a:off x="76200" y="980728"/>
            <a:ext cx="5791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riangle isocèle 5"/>
          <p:cNvSpPr/>
          <p:nvPr/>
        </p:nvSpPr>
        <p:spPr>
          <a:xfrm rot="3480000">
            <a:off x="5645788" y="2356834"/>
            <a:ext cx="2550969" cy="1314029"/>
          </a:xfrm>
          <a:prstGeom prst="triangle">
            <a:avLst>
              <a:gd name="adj" fmla="val 37785"/>
            </a:avLst>
          </a:prstGeom>
          <a:solidFill>
            <a:srgbClr val="684FD1"/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reeform 5"/>
          <p:cNvSpPr>
            <a:spLocks/>
          </p:cNvSpPr>
          <p:nvPr/>
        </p:nvSpPr>
        <p:spPr bwMode="auto">
          <a:xfrm>
            <a:off x="1044575" y="2604741"/>
            <a:ext cx="4013200" cy="1681162"/>
          </a:xfrm>
          <a:custGeom>
            <a:avLst/>
            <a:gdLst>
              <a:gd name="T0" fmla="*/ 0 w 2528"/>
              <a:gd name="T1" fmla="*/ 53975 h 1059"/>
              <a:gd name="T2" fmla="*/ 4013200 w 2528"/>
              <a:gd name="T3" fmla="*/ 0 h 1059"/>
              <a:gd name="T4" fmla="*/ 2860675 w 2528"/>
              <a:gd name="T5" fmla="*/ 1681162 h 1059"/>
              <a:gd name="T6" fmla="*/ 0 w 2528"/>
              <a:gd name="T7" fmla="*/ 53975 h 105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28" h="1059">
                <a:moveTo>
                  <a:pt x="0" y="34"/>
                </a:moveTo>
                <a:lnTo>
                  <a:pt x="2528" y="0"/>
                </a:lnTo>
                <a:lnTo>
                  <a:pt x="1802" y="1059"/>
                </a:lnTo>
                <a:lnTo>
                  <a:pt x="0" y="34"/>
                </a:lnTo>
                <a:close/>
              </a:path>
            </a:pathLst>
          </a:cu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8" name="Freeform 9"/>
          <p:cNvSpPr>
            <a:spLocks/>
          </p:cNvSpPr>
          <p:nvPr/>
        </p:nvSpPr>
        <p:spPr bwMode="auto">
          <a:xfrm>
            <a:off x="1438275" y="2652366"/>
            <a:ext cx="309563" cy="38100"/>
          </a:xfrm>
          <a:custGeom>
            <a:avLst/>
            <a:gdLst>
              <a:gd name="T0" fmla="*/ 0 w 195"/>
              <a:gd name="T1" fmla="*/ 0 h 24"/>
              <a:gd name="T2" fmla="*/ 119063 w 195"/>
              <a:gd name="T3" fmla="*/ 19050 h 24"/>
              <a:gd name="T4" fmla="*/ 309563 w 195"/>
              <a:gd name="T5" fmla="*/ 38100 h 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5" h="24">
                <a:moveTo>
                  <a:pt x="0" y="0"/>
                </a:moveTo>
                <a:cubicBezTo>
                  <a:pt x="12" y="2"/>
                  <a:pt x="43" y="8"/>
                  <a:pt x="75" y="12"/>
                </a:cubicBezTo>
                <a:cubicBezTo>
                  <a:pt x="107" y="16"/>
                  <a:pt x="170" y="22"/>
                  <a:pt x="195" y="24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9" name="Freeform 10"/>
          <p:cNvSpPr>
            <a:spLocks/>
          </p:cNvSpPr>
          <p:nvPr/>
        </p:nvSpPr>
        <p:spPr bwMode="auto">
          <a:xfrm>
            <a:off x="1752600" y="2661891"/>
            <a:ext cx="2090738" cy="947737"/>
          </a:xfrm>
          <a:custGeom>
            <a:avLst/>
            <a:gdLst>
              <a:gd name="T0" fmla="*/ 0 w 1317"/>
              <a:gd name="T1" fmla="*/ 38100 h 597"/>
              <a:gd name="T2" fmla="*/ 1804988 w 1317"/>
              <a:gd name="T3" fmla="*/ 947737 h 597"/>
              <a:gd name="T4" fmla="*/ 2090738 w 1317"/>
              <a:gd name="T5" fmla="*/ 0 h 597"/>
              <a:gd name="T6" fmla="*/ 0 w 1317"/>
              <a:gd name="T7" fmla="*/ 38100 h 5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17" h="597">
                <a:moveTo>
                  <a:pt x="0" y="24"/>
                </a:moveTo>
                <a:lnTo>
                  <a:pt x="1137" y="597"/>
                </a:lnTo>
                <a:lnTo>
                  <a:pt x="1317" y="0"/>
                </a:lnTo>
                <a:lnTo>
                  <a:pt x="0" y="24"/>
                </a:lnTo>
                <a:close/>
              </a:path>
            </a:pathLst>
          </a:custGeom>
          <a:solidFill>
            <a:srgbClr val="0000FF">
              <a:alpha val="50195"/>
            </a:srgbClr>
          </a:solidFill>
          <a:ln w="9525">
            <a:solidFill>
              <a:srgbClr val="D6009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1" name="Freeform 11"/>
          <p:cNvSpPr>
            <a:spLocks/>
          </p:cNvSpPr>
          <p:nvPr/>
        </p:nvSpPr>
        <p:spPr bwMode="auto">
          <a:xfrm>
            <a:off x="3843338" y="2655541"/>
            <a:ext cx="452437" cy="44450"/>
          </a:xfrm>
          <a:custGeom>
            <a:avLst/>
            <a:gdLst>
              <a:gd name="T0" fmla="*/ 452437 w 285"/>
              <a:gd name="T1" fmla="*/ 44450 h 28"/>
              <a:gd name="T2" fmla="*/ 242887 w 285"/>
              <a:gd name="T3" fmla="*/ 6350 h 28"/>
              <a:gd name="T4" fmla="*/ 0 w 285"/>
              <a:gd name="T5" fmla="*/ 6350 h 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5" h="28">
                <a:moveTo>
                  <a:pt x="285" y="28"/>
                </a:moveTo>
                <a:cubicBezTo>
                  <a:pt x="263" y="24"/>
                  <a:pt x="200" y="8"/>
                  <a:pt x="153" y="4"/>
                </a:cubicBezTo>
                <a:cubicBezTo>
                  <a:pt x="106" y="0"/>
                  <a:pt x="32" y="4"/>
                  <a:pt x="0" y="4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2" name="Freeform 12"/>
          <p:cNvSpPr>
            <a:spLocks/>
          </p:cNvSpPr>
          <p:nvPr/>
        </p:nvSpPr>
        <p:spPr bwMode="auto">
          <a:xfrm>
            <a:off x="4295775" y="2706341"/>
            <a:ext cx="623888" cy="88900"/>
          </a:xfrm>
          <a:custGeom>
            <a:avLst/>
            <a:gdLst>
              <a:gd name="T0" fmla="*/ 623888 w 393"/>
              <a:gd name="T1" fmla="*/ 88900 h 56"/>
              <a:gd name="T2" fmla="*/ 223838 w 393"/>
              <a:gd name="T3" fmla="*/ 12700 h 56"/>
              <a:gd name="T4" fmla="*/ 0 w 393"/>
              <a:gd name="T5" fmla="*/ 7938 h 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3" h="56">
                <a:moveTo>
                  <a:pt x="393" y="56"/>
                </a:moveTo>
                <a:cubicBezTo>
                  <a:pt x="351" y="48"/>
                  <a:pt x="206" y="16"/>
                  <a:pt x="141" y="8"/>
                </a:cubicBezTo>
                <a:cubicBezTo>
                  <a:pt x="76" y="0"/>
                  <a:pt x="29" y="6"/>
                  <a:pt x="0" y="5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4524375" y="3114328"/>
            <a:ext cx="171450" cy="9525"/>
          </a:xfrm>
          <a:custGeom>
            <a:avLst/>
            <a:gdLst>
              <a:gd name="T0" fmla="*/ 171450 w 108"/>
              <a:gd name="T1" fmla="*/ 4763 h 6"/>
              <a:gd name="T2" fmla="*/ 95250 w 108"/>
              <a:gd name="T3" fmla="*/ 9525 h 6"/>
              <a:gd name="T4" fmla="*/ 0 w 108"/>
              <a:gd name="T5" fmla="*/ 0 h 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8" h="6">
                <a:moveTo>
                  <a:pt x="108" y="3"/>
                </a:moveTo>
                <a:cubicBezTo>
                  <a:pt x="100" y="4"/>
                  <a:pt x="78" y="6"/>
                  <a:pt x="60" y="6"/>
                </a:cubicBezTo>
                <a:cubicBezTo>
                  <a:pt x="42" y="6"/>
                  <a:pt x="12" y="1"/>
                  <a:pt x="0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4" name="Freeform 14"/>
          <p:cNvSpPr>
            <a:spLocks/>
          </p:cNvSpPr>
          <p:nvPr/>
        </p:nvSpPr>
        <p:spPr bwMode="auto">
          <a:xfrm>
            <a:off x="4524375" y="3114328"/>
            <a:ext cx="95250" cy="123825"/>
          </a:xfrm>
          <a:custGeom>
            <a:avLst/>
            <a:gdLst>
              <a:gd name="T0" fmla="*/ 95250 w 60"/>
              <a:gd name="T1" fmla="*/ 123825 h 78"/>
              <a:gd name="T2" fmla="*/ 0 w 60"/>
              <a:gd name="T3" fmla="*/ 0 h 7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0" h="78">
                <a:moveTo>
                  <a:pt x="60" y="78"/>
                </a:moveTo>
                <a:cubicBezTo>
                  <a:pt x="50" y="65"/>
                  <a:pt x="12" y="16"/>
                  <a:pt x="0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5" name="Freeform 15"/>
          <p:cNvSpPr>
            <a:spLocks/>
          </p:cNvSpPr>
          <p:nvPr/>
        </p:nvSpPr>
        <p:spPr bwMode="auto">
          <a:xfrm>
            <a:off x="3743325" y="3681066"/>
            <a:ext cx="361950" cy="304800"/>
          </a:xfrm>
          <a:custGeom>
            <a:avLst/>
            <a:gdLst>
              <a:gd name="T0" fmla="*/ 361950 w 228"/>
              <a:gd name="T1" fmla="*/ 304800 h 192"/>
              <a:gd name="T2" fmla="*/ 233363 w 228"/>
              <a:gd name="T3" fmla="*/ 166688 h 192"/>
              <a:gd name="T4" fmla="*/ 0 w 228"/>
              <a:gd name="T5" fmla="*/ 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8" h="192">
                <a:moveTo>
                  <a:pt x="228" y="192"/>
                </a:moveTo>
                <a:cubicBezTo>
                  <a:pt x="215" y="178"/>
                  <a:pt x="185" y="137"/>
                  <a:pt x="147" y="105"/>
                </a:cubicBezTo>
                <a:cubicBezTo>
                  <a:pt x="109" y="73"/>
                  <a:pt x="31" y="22"/>
                  <a:pt x="0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6" name="Freeform 16"/>
          <p:cNvSpPr>
            <a:spLocks/>
          </p:cNvSpPr>
          <p:nvPr/>
        </p:nvSpPr>
        <p:spPr bwMode="auto">
          <a:xfrm>
            <a:off x="3738563" y="2709516"/>
            <a:ext cx="785812" cy="971550"/>
          </a:xfrm>
          <a:custGeom>
            <a:avLst/>
            <a:gdLst>
              <a:gd name="T0" fmla="*/ 561975 w 495"/>
              <a:gd name="T1" fmla="*/ 0 h 612"/>
              <a:gd name="T2" fmla="*/ 0 w 495"/>
              <a:gd name="T3" fmla="*/ 971550 h 612"/>
              <a:gd name="T4" fmla="*/ 785812 w 495"/>
              <a:gd name="T5" fmla="*/ 404813 h 612"/>
              <a:gd name="T6" fmla="*/ 561975 w 495"/>
              <a:gd name="T7" fmla="*/ 0 h 6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95" h="612">
                <a:moveTo>
                  <a:pt x="354" y="0"/>
                </a:moveTo>
                <a:lnTo>
                  <a:pt x="0" y="612"/>
                </a:lnTo>
                <a:lnTo>
                  <a:pt x="495" y="255"/>
                </a:lnTo>
                <a:lnTo>
                  <a:pt x="354" y="0"/>
                </a:lnTo>
                <a:close/>
              </a:path>
            </a:pathLst>
          </a:custGeom>
          <a:solidFill>
            <a:srgbClr val="FF00FF">
              <a:alpha val="50195"/>
            </a:srgbClr>
          </a:solidFill>
          <a:ln w="9525">
            <a:solidFill>
              <a:srgbClr val="D6009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7" name="Freeform 17"/>
          <p:cNvSpPr>
            <a:spLocks/>
          </p:cNvSpPr>
          <p:nvPr/>
        </p:nvSpPr>
        <p:spPr bwMode="auto">
          <a:xfrm>
            <a:off x="1290638" y="2704753"/>
            <a:ext cx="457200" cy="95250"/>
          </a:xfrm>
          <a:custGeom>
            <a:avLst/>
            <a:gdLst>
              <a:gd name="T0" fmla="*/ 457200 w 288"/>
              <a:gd name="T1" fmla="*/ 0 h 60"/>
              <a:gd name="T2" fmla="*/ 214313 w 288"/>
              <a:gd name="T3" fmla="*/ 33338 h 60"/>
              <a:gd name="T4" fmla="*/ 0 w 288"/>
              <a:gd name="T5" fmla="*/ 95250 h 6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8" h="60">
                <a:moveTo>
                  <a:pt x="288" y="0"/>
                </a:moveTo>
                <a:cubicBezTo>
                  <a:pt x="263" y="3"/>
                  <a:pt x="183" y="11"/>
                  <a:pt x="135" y="21"/>
                </a:cubicBezTo>
                <a:cubicBezTo>
                  <a:pt x="87" y="31"/>
                  <a:pt x="28" y="52"/>
                  <a:pt x="0" y="6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8" name="Freeform 18"/>
          <p:cNvSpPr>
            <a:spLocks/>
          </p:cNvSpPr>
          <p:nvPr/>
        </p:nvSpPr>
        <p:spPr bwMode="auto">
          <a:xfrm>
            <a:off x="3562350" y="3628678"/>
            <a:ext cx="38100" cy="481013"/>
          </a:xfrm>
          <a:custGeom>
            <a:avLst/>
            <a:gdLst>
              <a:gd name="T0" fmla="*/ 38100 w 24"/>
              <a:gd name="T1" fmla="*/ 481013 h 303"/>
              <a:gd name="T2" fmla="*/ 23813 w 24"/>
              <a:gd name="T3" fmla="*/ 209550 h 303"/>
              <a:gd name="T4" fmla="*/ 0 w 24"/>
              <a:gd name="T5" fmla="*/ 0 h 30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" h="303">
                <a:moveTo>
                  <a:pt x="24" y="303"/>
                </a:moveTo>
                <a:cubicBezTo>
                  <a:pt x="23" y="275"/>
                  <a:pt x="19" y="182"/>
                  <a:pt x="15" y="132"/>
                </a:cubicBezTo>
                <a:cubicBezTo>
                  <a:pt x="11" y="82"/>
                  <a:pt x="3" y="27"/>
                  <a:pt x="0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9" name="Freeform 19"/>
          <p:cNvSpPr>
            <a:spLocks/>
          </p:cNvSpPr>
          <p:nvPr/>
        </p:nvSpPr>
        <p:spPr bwMode="auto">
          <a:xfrm>
            <a:off x="3557588" y="3614391"/>
            <a:ext cx="180975" cy="73025"/>
          </a:xfrm>
          <a:custGeom>
            <a:avLst/>
            <a:gdLst>
              <a:gd name="T0" fmla="*/ 180975 w 114"/>
              <a:gd name="T1" fmla="*/ 66675 h 46"/>
              <a:gd name="T2" fmla="*/ 104775 w 114"/>
              <a:gd name="T3" fmla="*/ 61913 h 46"/>
              <a:gd name="T4" fmla="*/ 0 w 114"/>
              <a:gd name="T5" fmla="*/ 0 h 4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4" h="46">
                <a:moveTo>
                  <a:pt x="114" y="42"/>
                </a:moveTo>
                <a:cubicBezTo>
                  <a:pt x="106" y="41"/>
                  <a:pt x="85" y="46"/>
                  <a:pt x="66" y="39"/>
                </a:cubicBezTo>
                <a:cubicBezTo>
                  <a:pt x="47" y="32"/>
                  <a:pt x="14" y="8"/>
                  <a:pt x="0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20" name="Freeform 20"/>
          <p:cNvSpPr>
            <a:spLocks/>
          </p:cNvSpPr>
          <p:nvPr/>
        </p:nvSpPr>
        <p:spPr bwMode="auto">
          <a:xfrm>
            <a:off x="3843338" y="2619028"/>
            <a:ext cx="319087" cy="42863"/>
          </a:xfrm>
          <a:custGeom>
            <a:avLst/>
            <a:gdLst>
              <a:gd name="T0" fmla="*/ 319087 w 201"/>
              <a:gd name="T1" fmla="*/ 0 h 27"/>
              <a:gd name="T2" fmla="*/ 0 w 201"/>
              <a:gd name="T3" fmla="*/ 42863 h 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01" h="27">
                <a:moveTo>
                  <a:pt x="201" y="0"/>
                </a:moveTo>
                <a:cubicBezTo>
                  <a:pt x="168" y="5"/>
                  <a:pt x="42" y="22"/>
                  <a:pt x="0" y="27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auto">
          <a:xfrm flipV="1">
            <a:off x="5194300" y="2047528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5268913" y="1960216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8058150" y="3474667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</a:t>
            </a:r>
            <a:endParaRPr lang="fr-FR" dirty="0"/>
          </a:p>
        </p:txBody>
      </p: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7749540" y="4745732"/>
            <a:ext cx="6473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Arial" pitchFamily="34" charset="0"/>
                <a:ea typeface="ＭＳ Ｐゴシック" charset="0"/>
                <a:cs typeface="Arial" pitchFamily="34" charset="0"/>
                <a:sym typeface="Symbol"/>
              </a:rPr>
              <a:t>L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+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25" name="Forme libre 24"/>
          <p:cNvSpPr/>
          <p:nvPr/>
        </p:nvSpPr>
        <p:spPr>
          <a:xfrm>
            <a:off x="7360920" y="2043718"/>
            <a:ext cx="161003" cy="1143000"/>
          </a:xfrm>
          <a:custGeom>
            <a:avLst/>
            <a:gdLst>
              <a:gd name="connsiteX0" fmla="*/ 0 w 161003"/>
              <a:gd name="connsiteY0" fmla="*/ 0 h 1143000"/>
              <a:gd name="connsiteX1" fmla="*/ 137160 w 161003"/>
              <a:gd name="connsiteY1" fmla="*/ 754380 h 1143000"/>
              <a:gd name="connsiteX2" fmla="*/ 160020 w 161003"/>
              <a:gd name="connsiteY2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1003" h="1143000">
                <a:moveTo>
                  <a:pt x="0" y="0"/>
                </a:moveTo>
                <a:cubicBezTo>
                  <a:pt x="55245" y="281940"/>
                  <a:pt x="110490" y="563880"/>
                  <a:pt x="137160" y="754380"/>
                </a:cubicBezTo>
                <a:cubicBezTo>
                  <a:pt x="163830" y="944880"/>
                  <a:pt x="161925" y="1043940"/>
                  <a:pt x="160020" y="1143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orme libre 25"/>
          <p:cNvSpPr/>
          <p:nvPr/>
        </p:nvSpPr>
        <p:spPr>
          <a:xfrm>
            <a:off x="7509510" y="3186718"/>
            <a:ext cx="582930" cy="457200"/>
          </a:xfrm>
          <a:custGeom>
            <a:avLst/>
            <a:gdLst>
              <a:gd name="connsiteX0" fmla="*/ 0 w 582930"/>
              <a:gd name="connsiteY0" fmla="*/ 0 h 457200"/>
              <a:gd name="connsiteX1" fmla="*/ 354330 w 582930"/>
              <a:gd name="connsiteY1" fmla="*/ 228600 h 457200"/>
              <a:gd name="connsiteX2" fmla="*/ 582930 w 582930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2930" h="457200">
                <a:moveTo>
                  <a:pt x="0" y="0"/>
                </a:moveTo>
                <a:cubicBezTo>
                  <a:pt x="128587" y="76200"/>
                  <a:pt x="257175" y="152400"/>
                  <a:pt x="354330" y="228600"/>
                </a:cubicBezTo>
                <a:cubicBezTo>
                  <a:pt x="451485" y="304800"/>
                  <a:pt x="517207" y="381000"/>
                  <a:pt x="582930" y="4572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orme libre 26"/>
          <p:cNvSpPr/>
          <p:nvPr/>
        </p:nvSpPr>
        <p:spPr>
          <a:xfrm>
            <a:off x="6309360" y="3198148"/>
            <a:ext cx="1211580" cy="800100"/>
          </a:xfrm>
          <a:custGeom>
            <a:avLst/>
            <a:gdLst>
              <a:gd name="connsiteX0" fmla="*/ 0 w 1211580"/>
              <a:gd name="connsiteY0" fmla="*/ 800100 h 800100"/>
              <a:gd name="connsiteX1" fmla="*/ 685800 w 1211580"/>
              <a:gd name="connsiteY1" fmla="*/ 365760 h 800100"/>
              <a:gd name="connsiteX2" fmla="*/ 1211580 w 1211580"/>
              <a:gd name="connsiteY2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580" h="800100">
                <a:moveTo>
                  <a:pt x="0" y="800100"/>
                </a:moveTo>
                <a:cubicBezTo>
                  <a:pt x="241935" y="649605"/>
                  <a:pt x="483870" y="499110"/>
                  <a:pt x="685800" y="365760"/>
                </a:cubicBezTo>
                <a:cubicBezTo>
                  <a:pt x="887730" y="232410"/>
                  <a:pt x="1049655" y="116205"/>
                  <a:pt x="12115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" name="Connecteur droit 27"/>
          <p:cNvCxnSpPr/>
          <p:nvPr/>
        </p:nvCxnSpPr>
        <p:spPr>
          <a:xfrm flipV="1">
            <a:off x="7482036" y="2592388"/>
            <a:ext cx="68580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flipH="1" flipV="1">
            <a:off x="7405201" y="2592388"/>
            <a:ext cx="76835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 flipH="1" flipV="1">
            <a:off x="6831652" y="3537238"/>
            <a:ext cx="173762" cy="228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 flipH="1">
            <a:off x="6918533" y="3560098"/>
            <a:ext cx="86881" cy="1638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orme libre 31"/>
          <p:cNvSpPr/>
          <p:nvPr/>
        </p:nvSpPr>
        <p:spPr>
          <a:xfrm>
            <a:off x="5497830" y="2043718"/>
            <a:ext cx="264016" cy="230758"/>
          </a:xfrm>
          <a:custGeom>
            <a:avLst/>
            <a:gdLst>
              <a:gd name="connsiteX0" fmla="*/ 0 w 182880"/>
              <a:gd name="connsiteY0" fmla="*/ 0 h 197720"/>
              <a:gd name="connsiteX1" fmla="*/ 148590 w 182880"/>
              <a:gd name="connsiteY1" fmla="*/ 171450 h 197720"/>
              <a:gd name="connsiteX2" fmla="*/ 182880 w 182880"/>
              <a:gd name="connsiteY2" fmla="*/ 194310 h 19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" h="197720">
                <a:moveTo>
                  <a:pt x="0" y="0"/>
                </a:moveTo>
                <a:cubicBezTo>
                  <a:pt x="59055" y="69532"/>
                  <a:pt x="118110" y="139065"/>
                  <a:pt x="148590" y="171450"/>
                </a:cubicBezTo>
                <a:cubicBezTo>
                  <a:pt x="179070" y="203835"/>
                  <a:pt x="180975" y="199072"/>
                  <a:pt x="182880" y="19431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riangle isocèle 32"/>
          <p:cNvSpPr/>
          <p:nvPr/>
        </p:nvSpPr>
        <p:spPr>
          <a:xfrm rot="6445351">
            <a:off x="6685942" y="3394353"/>
            <a:ext cx="1980692" cy="420314"/>
          </a:xfrm>
          <a:prstGeom prst="triangle">
            <a:avLst>
              <a:gd name="adj" fmla="val 38851"/>
            </a:avLst>
          </a:prstGeom>
          <a:solidFill>
            <a:srgbClr val="FF7C80"/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6899344" y="4732040"/>
            <a:ext cx="336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8014707" y="2066578"/>
            <a:ext cx="29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36" name="ZoneTexte 35"/>
          <p:cNvSpPr txBox="1"/>
          <p:nvPr/>
        </p:nvSpPr>
        <p:spPr>
          <a:xfrm>
            <a:off x="6012145" y="1986444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</a:t>
            </a:r>
            <a:endParaRPr lang="fr-FR" dirty="0"/>
          </a:p>
        </p:txBody>
      </p:sp>
      <p:sp>
        <p:nvSpPr>
          <p:cNvPr id="37" name="ZoneTexte 36"/>
          <p:cNvSpPr txBox="1"/>
          <p:nvPr/>
        </p:nvSpPr>
        <p:spPr>
          <a:xfrm>
            <a:off x="7890824" y="4257566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L +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</a:t>
            </a:r>
            <a:r>
              <a:rPr lang="fr-FR" dirty="0" smtClean="0">
                <a:sym typeface="Symbol"/>
              </a:rPr>
              <a:t> + </a:t>
            </a:r>
            <a:endParaRPr lang="fr-FR" dirty="0"/>
          </a:p>
        </p:txBody>
      </p:sp>
      <p:sp>
        <p:nvSpPr>
          <p:cNvPr id="38" name="Forme libre 37"/>
          <p:cNvSpPr/>
          <p:nvPr/>
        </p:nvSpPr>
        <p:spPr>
          <a:xfrm>
            <a:off x="5772130" y="3075856"/>
            <a:ext cx="240030" cy="891540"/>
          </a:xfrm>
          <a:custGeom>
            <a:avLst/>
            <a:gdLst>
              <a:gd name="connsiteX0" fmla="*/ 0 w 240030"/>
              <a:gd name="connsiteY0" fmla="*/ 891540 h 891540"/>
              <a:gd name="connsiteX1" fmla="*/ 91440 w 240030"/>
              <a:gd name="connsiteY1" fmla="*/ 422910 h 891540"/>
              <a:gd name="connsiteX2" fmla="*/ 240030 w 240030"/>
              <a:gd name="connsiteY2" fmla="*/ 0 h 891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030" h="891540">
                <a:moveTo>
                  <a:pt x="0" y="891540"/>
                </a:moveTo>
                <a:cubicBezTo>
                  <a:pt x="25717" y="731520"/>
                  <a:pt x="51435" y="571500"/>
                  <a:pt x="91440" y="422910"/>
                </a:cubicBezTo>
                <a:cubicBezTo>
                  <a:pt x="131445" y="274320"/>
                  <a:pt x="185737" y="137160"/>
                  <a:pt x="24003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/>
          <p:cNvSpPr txBox="1"/>
          <p:nvPr/>
        </p:nvSpPr>
        <p:spPr>
          <a:xfrm>
            <a:off x="5220072" y="3939952"/>
            <a:ext cx="945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</a:t>
            </a:r>
            <a:endParaRPr lang="fr-FR" dirty="0"/>
          </a:p>
        </p:txBody>
      </p:sp>
      <p:sp>
        <p:nvSpPr>
          <p:cNvPr id="40" name="ZoneTexte 39"/>
          <p:cNvSpPr txBox="1"/>
          <p:nvPr/>
        </p:nvSpPr>
        <p:spPr>
          <a:xfrm>
            <a:off x="6090741" y="2610717"/>
            <a:ext cx="10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chemeClr val="bg1"/>
                </a:solidFill>
                <a:sym typeface="Symbol"/>
              </a:rPr>
              <a:t> +  + </a:t>
            </a:r>
            <a:r>
              <a:rPr lang="fr-FR" dirty="0">
                <a:solidFill>
                  <a:schemeClr val="bg1"/>
                </a:solidFill>
                <a:sym typeface="Symbol"/>
              </a:rPr>
              <a:t>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1" name="Forme libre 40"/>
          <p:cNvSpPr/>
          <p:nvPr/>
        </p:nvSpPr>
        <p:spPr>
          <a:xfrm>
            <a:off x="5394960" y="2249458"/>
            <a:ext cx="342900" cy="125730"/>
          </a:xfrm>
          <a:custGeom>
            <a:avLst/>
            <a:gdLst>
              <a:gd name="connsiteX0" fmla="*/ 342900 w 342900"/>
              <a:gd name="connsiteY0" fmla="*/ 0 h 125730"/>
              <a:gd name="connsiteX1" fmla="*/ 182880 w 342900"/>
              <a:gd name="connsiteY1" fmla="*/ 34290 h 125730"/>
              <a:gd name="connsiteX2" fmla="*/ 0 w 342900"/>
              <a:gd name="connsiteY2" fmla="*/ 125730 h 125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" h="125730">
                <a:moveTo>
                  <a:pt x="342900" y="0"/>
                </a:moveTo>
                <a:cubicBezTo>
                  <a:pt x="291465" y="6667"/>
                  <a:pt x="240030" y="13335"/>
                  <a:pt x="182880" y="34290"/>
                </a:cubicBezTo>
                <a:cubicBezTo>
                  <a:pt x="125730" y="55245"/>
                  <a:pt x="62865" y="90487"/>
                  <a:pt x="0" y="12573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/>
          <p:cNvSpPr/>
          <p:nvPr/>
        </p:nvSpPr>
        <p:spPr>
          <a:xfrm>
            <a:off x="6858000" y="4444018"/>
            <a:ext cx="125730" cy="457200"/>
          </a:xfrm>
          <a:custGeom>
            <a:avLst/>
            <a:gdLst>
              <a:gd name="connsiteX0" fmla="*/ 125730 w 125730"/>
              <a:gd name="connsiteY0" fmla="*/ 0 h 457200"/>
              <a:gd name="connsiteX1" fmla="*/ 80010 w 125730"/>
              <a:gd name="connsiteY1" fmla="*/ 240030 h 457200"/>
              <a:gd name="connsiteX2" fmla="*/ 0 w 125730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730" h="457200">
                <a:moveTo>
                  <a:pt x="125730" y="0"/>
                </a:moveTo>
                <a:cubicBezTo>
                  <a:pt x="113347" y="81915"/>
                  <a:pt x="100965" y="163830"/>
                  <a:pt x="80010" y="240030"/>
                </a:cubicBezTo>
                <a:cubicBezTo>
                  <a:pt x="59055" y="316230"/>
                  <a:pt x="29527" y="386715"/>
                  <a:pt x="0" y="4572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orme libre 42"/>
          <p:cNvSpPr/>
          <p:nvPr/>
        </p:nvSpPr>
        <p:spPr>
          <a:xfrm>
            <a:off x="7943850" y="3495328"/>
            <a:ext cx="57150" cy="274320"/>
          </a:xfrm>
          <a:custGeom>
            <a:avLst/>
            <a:gdLst>
              <a:gd name="connsiteX0" fmla="*/ 0 w 57150"/>
              <a:gd name="connsiteY0" fmla="*/ 0 h 274320"/>
              <a:gd name="connsiteX1" fmla="*/ 45720 w 57150"/>
              <a:gd name="connsiteY1" fmla="*/ 160020 h 274320"/>
              <a:gd name="connsiteX2" fmla="*/ 57150 w 57150"/>
              <a:gd name="connsiteY2" fmla="*/ 27432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150" h="274320">
                <a:moveTo>
                  <a:pt x="0" y="0"/>
                </a:moveTo>
                <a:cubicBezTo>
                  <a:pt x="18097" y="57150"/>
                  <a:pt x="36195" y="114300"/>
                  <a:pt x="45720" y="160020"/>
                </a:cubicBezTo>
                <a:cubicBezTo>
                  <a:pt x="55245" y="205740"/>
                  <a:pt x="56197" y="240030"/>
                  <a:pt x="57150" y="27432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>
            <a:off x="7943850" y="3449608"/>
            <a:ext cx="228600" cy="25059"/>
          </a:xfrm>
          <a:custGeom>
            <a:avLst/>
            <a:gdLst>
              <a:gd name="connsiteX0" fmla="*/ 0 w 228600"/>
              <a:gd name="connsiteY0" fmla="*/ 22860 h 25059"/>
              <a:gd name="connsiteX1" fmla="*/ 102870 w 228600"/>
              <a:gd name="connsiteY1" fmla="*/ 22860 h 25059"/>
              <a:gd name="connsiteX2" fmla="*/ 228600 w 228600"/>
              <a:gd name="connsiteY2" fmla="*/ 0 h 25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5059">
                <a:moveTo>
                  <a:pt x="0" y="22860"/>
                </a:moveTo>
                <a:cubicBezTo>
                  <a:pt x="32385" y="24765"/>
                  <a:pt x="64770" y="26670"/>
                  <a:pt x="102870" y="22860"/>
                </a:cubicBezTo>
                <a:cubicBezTo>
                  <a:pt x="140970" y="19050"/>
                  <a:pt x="184785" y="9525"/>
                  <a:pt x="22860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7338060" y="2066578"/>
            <a:ext cx="411480" cy="342900"/>
          </a:xfrm>
          <a:custGeom>
            <a:avLst/>
            <a:gdLst>
              <a:gd name="connsiteX0" fmla="*/ 0 w 411480"/>
              <a:gd name="connsiteY0" fmla="*/ 342900 h 342900"/>
              <a:gd name="connsiteX1" fmla="*/ 228600 w 411480"/>
              <a:gd name="connsiteY1" fmla="*/ 194310 h 342900"/>
              <a:gd name="connsiteX2" fmla="*/ 411480 w 411480"/>
              <a:gd name="connsiteY2" fmla="*/ 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1480" h="342900">
                <a:moveTo>
                  <a:pt x="0" y="342900"/>
                </a:moveTo>
                <a:cubicBezTo>
                  <a:pt x="80010" y="297180"/>
                  <a:pt x="160020" y="251460"/>
                  <a:pt x="228600" y="194310"/>
                </a:cubicBezTo>
                <a:cubicBezTo>
                  <a:pt x="297180" y="137160"/>
                  <a:pt x="354330" y="68580"/>
                  <a:pt x="41148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>
            <a:off x="6983730" y="4432588"/>
            <a:ext cx="171450" cy="62649"/>
          </a:xfrm>
          <a:custGeom>
            <a:avLst/>
            <a:gdLst>
              <a:gd name="connsiteX0" fmla="*/ 0 w 171450"/>
              <a:gd name="connsiteY0" fmla="*/ 0 h 62649"/>
              <a:gd name="connsiteX1" fmla="*/ 57150 w 171450"/>
              <a:gd name="connsiteY1" fmla="*/ 57150 h 62649"/>
              <a:gd name="connsiteX2" fmla="*/ 171450 w 171450"/>
              <a:gd name="connsiteY2" fmla="*/ 57150 h 62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450" h="62649">
                <a:moveTo>
                  <a:pt x="0" y="0"/>
                </a:moveTo>
                <a:cubicBezTo>
                  <a:pt x="14287" y="23812"/>
                  <a:pt x="28575" y="47625"/>
                  <a:pt x="57150" y="57150"/>
                </a:cubicBezTo>
                <a:cubicBezTo>
                  <a:pt x="85725" y="66675"/>
                  <a:pt x="128587" y="61912"/>
                  <a:pt x="171450" y="571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>
            <a:off x="7326630" y="2409478"/>
            <a:ext cx="491490" cy="182880"/>
          </a:xfrm>
          <a:custGeom>
            <a:avLst/>
            <a:gdLst>
              <a:gd name="connsiteX0" fmla="*/ 0 w 491490"/>
              <a:gd name="connsiteY0" fmla="*/ 0 h 182880"/>
              <a:gd name="connsiteX1" fmla="*/ 285750 w 491490"/>
              <a:gd name="connsiteY1" fmla="*/ 68580 h 182880"/>
              <a:gd name="connsiteX2" fmla="*/ 491490 w 491490"/>
              <a:gd name="connsiteY2" fmla="*/ 18288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1490" h="182880">
                <a:moveTo>
                  <a:pt x="0" y="0"/>
                </a:moveTo>
                <a:cubicBezTo>
                  <a:pt x="101917" y="19050"/>
                  <a:pt x="203835" y="38100"/>
                  <a:pt x="285750" y="68580"/>
                </a:cubicBezTo>
                <a:cubicBezTo>
                  <a:pt x="367665" y="99060"/>
                  <a:pt x="429577" y="140970"/>
                  <a:pt x="491490" y="18288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Forme libre 47"/>
          <p:cNvSpPr/>
          <p:nvPr/>
        </p:nvSpPr>
        <p:spPr>
          <a:xfrm>
            <a:off x="7806690" y="2567338"/>
            <a:ext cx="811530" cy="105030"/>
          </a:xfrm>
          <a:custGeom>
            <a:avLst/>
            <a:gdLst>
              <a:gd name="connsiteX0" fmla="*/ 0 w 811530"/>
              <a:gd name="connsiteY0" fmla="*/ 2160 h 105030"/>
              <a:gd name="connsiteX1" fmla="*/ 217170 w 811530"/>
              <a:gd name="connsiteY1" fmla="*/ 13590 h 105030"/>
              <a:gd name="connsiteX2" fmla="*/ 811530 w 811530"/>
              <a:gd name="connsiteY2" fmla="*/ 105030 h 105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1530" h="105030">
                <a:moveTo>
                  <a:pt x="0" y="2160"/>
                </a:moveTo>
                <a:cubicBezTo>
                  <a:pt x="40957" y="-698"/>
                  <a:pt x="81915" y="-3555"/>
                  <a:pt x="217170" y="13590"/>
                </a:cubicBezTo>
                <a:cubicBezTo>
                  <a:pt x="352425" y="30735"/>
                  <a:pt x="581977" y="67882"/>
                  <a:pt x="811530" y="10503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Forme libre 48"/>
          <p:cNvSpPr/>
          <p:nvPr/>
        </p:nvSpPr>
        <p:spPr>
          <a:xfrm>
            <a:off x="7143750" y="4489738"/>
            <a:ext cx="331470" cy="217170"/>
          </a:xfrm>
          <a:custGeom>
            <a:avLst/>
            <a:gdLst>
              <a:gd name="connsiteX0" fmla="*/ 0 w 331470"/>
              <a:gd name="connsiteY0" fmla="*/ 0 h 217170"/>
              <a:gd name="connsiteX1" fmla="*/ 262890 w 331470"/>
              <a:gd name="connsiteY1" fmla="*/ 137160 h 217170"/>
              <a:gd name="connsiteX2" fmla="*/ 331470 w 331470"/>
              <a:gd name="connsiteY2" fmla="*/ 217170 h 217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1470" h="217170">
                <a:moveTo>
                  <a:pt x="0" y="0"/>
                </a:moveTo>
                <a:cubicBezTo>
                  <a:pt x="103822" y="50482"/>
                  <a:pt x="207645" y="100965"/>
                  <a:pt x="262890" y="137160"/>
                </a:cubicBezTo>
                <a:cubicBezTo>
                  <a:pt x="318135" y="173355"/>
                  <a:pt x="324802" y="195262"/>
                  <a:pt x="331470" y="21717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Forme libre 49"/>
          <p:cNvSpPr/>
          <p:nvPr/>
        </p:nvSpPr>
        <p:spPr>
          <a:xfrm>
            <a:off x="7692390" y="3426748"/>
            <a:ext cx="342900" cy="834390"/>
          </a:xfrm>
          <a:custGeom>
            <a:avLst/>
            <a:gdLst>
              <a:gd name="connsiteX0" fmla="*/ 342900 w 342900"/>
              <a:gd name="connsiteY0" fmla="*/ 834390 h 834390"/>
              <a:gd name="connsiteX1" fmla="*/ 194310 w 342900"/>
              <a:gd name="connsiteY1" fmla="*/ 377190 h 834390"/>
              <a:gd name="connsiteX2" fmla="*/ 0 w 342900"/>
              <a:gd name="connsiteY2" fmla="*/ 0 h 8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" h="834390">
                <a:moveTo>
                  <a:pt x="342900" y="834390"/>
                </a:moveTo>
                <a:cubicBezTo>
                  <a:pt x="297180" y="675322"/>
                  <a:pt x="251460" y="516255"/>
                  <a:pt x="194310" y="377190"/>
                </a:cubicBezTo>
                <a:cubicBezTo>
                  <a:pt x="137160" y="238125"/>
                  <a:pt x="68580" y="119062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Forme libre 50"/>
          <p:cNvSpPr/>
          <p:nvPr/>
        </p:nvSpPr>
        <p:spPr>
          <a:xfrm>
            <a:off x="8046720" y="3541048"/>
            <a:ext cx="262890" cy="102870"/>
          </a:xfrm>
          <a:custGeom>
            <a:avLst/>
            <a:gdLst>
              <a:gd name="connsiteX0" fmla="*/ 262890 w 262890"/>
              <a:gd name="connsiteY0" fmla="*/ 102870 h 102870"/>
              <a:gd name="connsiteX1" fmla="*/ 0 w 262890"/>
              <a:gd name="connsiteY1" fmla="*/ 0 h 102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2890" h="102870">
                <a:moveTo>
                  <a:pt x="262890" y="102870"/>
                </a:moveTo>
                <a:lnTo>
                  <a:pt x="0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Forme libre 51"/>
          <p:cNvSpPr/>
          <p:nvPr/>
        </p:nvSpPr>
        <p:spPr>
          <a:xfrm>
            <a:off x="7646670" y="4101118"/>
            <a:ext cx="240030" cy="651510"/>
          </a:xfrm>
          <a:custGeom>
            <a:avLst/>
            <a:gdLst>
              <a:gd name="connsiteX0" fmla="*/ 240030 w 240030"/>
              <a:gd name="connsiteY0" fmla="*/ 651510 h 651510"/>
              <a:gd name="connsiteX1" fmla="*/ 148590 w 240030"/>
              <a:gd name="connsiteY1" fmla="*/ 262890 h 651510"/>
              <a:gd name="connsiteX2" fmla="*/ 0 w 240030"/>
              <a:gd name="connsiteY2" fmla="*/ 0 h 65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030" h="651510">
                <a:moveTo>
                  <a:pt x="240030" y="651510"/>
                </a:moveTo>
                <a:cubicBezTo>
                  <a:pt x="214312" y="511492"/>
                  <a:pt x="188595" y="371475"/>
                  <a:pt x="148590" y="262890"/>
                </a:cubicBezTo>
                <a:cubicBezTo>
                  <a:pt x="108585" y="154305"/>
                  <a:pt x="54292" y="77152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ZoneTexte 52"/>
          <p:cNvSpPr txBox="1"/>
          <p:nvPr/>
        </p:nvSpPr>
        <p:spPr>
          <a:xfrm>
            <a:off x="7619138" y="2777143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L +  </a:t>
            </a:r>
            <a:endParaRPr lang="fr-FR" dirty="0"/>
          </a:p>
        </p:txBody>
      </p:sp>
      <p:sp>
        <p:nvSpPr>
          <p:cNvPr id="54" name="ZoneTexte 53"/>
          <p:cNvSpPr txBox="1"/>
          <p:nvPr/>
        </p:nvSpPr>
        <p:spPr>
          <a:xfrm rot="17040932">
            <a:off x="6705601" y="3451259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</a:t>
            </a:r>
            <a:r>
              <a:rPr lang="fr-FR" dirty="0" smtClean="0">
                <a:sym typeface="Symbol"/>
              </a:rPr>
              <a:t> + </a:t>
            </a:r>
            <a:endParaRPr lang="fr-FR" dirty="0"/>
          </a:p>
        </p:txBody>
      </p:sp>
      <p:sp>
        <p:nvSpPr>
          <p:cNvPr id="56" name="ZoneTexte 55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eutectiques et 1 </a:t>
            </a:r>
            <a:r>
              <a:rPr lang="fr-FR" sz="2400" dirty="0" err="1" smtClean="0"/>
              <a:t>peritectique</a:t>
            </a:r>
            <a:r>
              <a:rPr lang="fr-FR" sz="2400" dirty="0" smtClean="0"/>
              <a:t> binaires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60473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5" name="Picture 4" descr="Class-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2" t="24896" r="18776" b="19572"/>
          <a:stretch>
            <a:fillRect/>
          </a:stretch>
        </p:blipFill>
        <p:spPr bwMode="auto">
          <a:xfrm>
            <a:off x="76200" y="976599"/>
            <a:ext cx="5791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5"/>
          <p:cNvSpPr>
            <a:spLocks/>
          </p:cNvSpPr>
          <p:nvPr/>
        </p:nvSpPr>
        <p:spPr bwMode="auto">
          <a:xfrm>
            <a:off x="1044575" y="2953037"/>
            <a:ext cx="4013200" cy="1681162"/>
          </a:xfrm>
          <a:custGeom>
            <a:avLst/>
            <a:gdLst>
              <a:gd name="T0" fmla="*/ 0 w 2528"/>
              <a:gd name="T1" fmla="*/ 53975 h 1059"/>
              <a:gd name="T2" fmla="*/ 4013200 w 2528"/>
              <a:gd name="T3" fmla="*/ 0 h 1059"/>
              <a:gd name="T4" fmla="*/ 2860675 w 2528"/>
              <a:gd name="T5" fmla="*/ 1681162 h 1059"/>
              <a:gd name="T6" fmla="*/ 0 w 2528"/>
              <a:gd name="T7" fmla="*/ 53975 h 105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28" h="1059">
                <a:moveTo>
                  <a:pt x="0" y="34"/>
                </a:moveTo>
                <a:lnTo>
                  <a:pt x="2528" y="0"/>
                </a:lnTo>
                <a:lnTo>
                  <a:pt x="1802" y="1059"/>
                </a:lnTo>
                <a:lnTo>
                  <a:pt x="0" y="34"/>
                </a:lnTo>
                <a:close/>
              </a:path>
            </a:pathLst>
          </a:cu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1404938" y="3000662"/>
            <a:ext cx="200025" cy="133350"/>
          </a:xfrm>
          <a:custGeom>
            <a:avLst/>
            <a:gdLst>
              <a:gd name="T0" fmla="*/ 0 w 126"/>
              <a:gd name="T1" fmla="*/ 0 h 84"/>
              <a:gd name="T2" fmla="*/ 95250 w 126"/>
              <a:gd name="T3" fmla="*/ 76200 h 84"/>
              <a:gd name="T4" fmla="*/ 200025 w 126"/>
              <a:gd name="T5" fmla="*/ 133350 h 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6" h="84">
                <a:moveTo>
                  <a:pt x="0" y="0"/>
                </a:moveTo>
                <a:cubicBezTo>
                  <a:pt x="10" y="8"/>
                  <a:pt x="39" y="34"/>
                  <a:pt x="60" y="48"/>
                </a:cubicBezTo>
                <a:cubicBezTo>
                  <a:pt x="81" y="62"/>
                  <a:pt x="112" y="76"/>
                  <a:pt x="126" y="84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1604963" y="3114962"/>
            <a:ext cx="2638425" cy="1100137"/>
          </a:xfrm>
          <a:custGeom>
            <a:avLst/>
            <a:gdLst>
              <a:gd name="T0" fmla="*/ 0 w 1662"/>
              <a:gd name="T1" fmla="*/ 28575 h 693"/>
              <a:gd name="T2" fmla="*/ 2128838 w 1662"/>
              <a:gd name="T3" fmla="*/ 1100137 h 693"/>
              <a:gd name="T4" fmla="*/ 2638425 w 1662"/>
              <a:gd name="T5" fmla="*/ 0 h 693"/>
              <a:gd name="T6" fmla="*/ 0 w 1662"/>
              <a:gd name="T7" fmla="*/ 28575 h 69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62" h="693">
                <a:moveTo>
                  <a:pt x="0" y="18"/>
                </a:moveTo>
                <a:lnTo>
                  <a:pt x="1341" y="693"/>
                </a:lnTo>
                <a:lnTo>
                  <a:pt x="1662" y="0"/>
                </a:lnTo>
                <a:lnTo>
                  <a:pt x="0" y="18"/>
                </a:lnTo>
                <a:close/>
              </a:path>
            </a:pathLst>
          </a:custGeom>
          <a:solidFill>
            <a:srgbClr val="0000FF">
              <a:alpha val="50195"/>
            </a:srgbClr>
          </a:solidFill>
          <a:ln w="9525">
            <a:solidFill>
              <a:srgbClr val="D6009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4238625" y="3089562"/>
            <a:ext cx="709613" cy="25400"/>
          </a:xfrm>
          <a:custGeom>
            <a:avLst/>
            <a:gdLst>
              <a:gd name="T0" fmla="*/ 709613 w 447"/>
              <a:gd name="T1" fmla="*/ 15875 h 16"/>
              <a:gd name="T2" fmla="*/ 323850 w 447"/>
              <a:gd name="T3" fmla="*/ 1588 h 16"/>
              <a:gd name="T4" fmla="*/ 0 w 447"/>
              <a:gd name="T5" fmla="*/ 25400 h 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47" h="16">
                <a:moveTo>
                  <a:pt x="447" y="10"/>
                </a:moveTo>
                <a:cubicBezTo>
                  <a:pt x="407" y="9"/>
                  <a:pt x="278" y="0"/>
                  <a:pt x="204" y="1"/>
                </a:cubicBezTo>
                <a:cubicBezTo>
                  <a:pt x="130" y="2"/>
                  <a:pt x="42" y="13"/>
                  <a:pt x="0" y="16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1" name="Freeform 12"/>
          <p:cNvSpPr>
            <a:spLocks/>
          </p:cNvSpPr>
          <p:nvPr/>
        </p:nvSpPr>
        <p:spPr bwMode="auto">
          <a:xfrm>
            <a:off x="3738563" y="4215099"/>
            <a:ext cx="323850" cy="190500"/>
          </a:xfrm>
          <a:custGeom>
            <a:avLst/>
            <a:gdLst>
              <a:gd name="T0" fmla="*/ 323850 w 204"/>
              <a:gd name="T1" fmla="*/ 190500 h 120"/>
              <a:gd name="T2" fmla="*/ 128588 w 204"/>
              <a:gd name="T3" fmla="*/ 128588 h 120"/>
              <a:gd name="T4" fmla="*/ 0 w 204"/>
              <a:gd name="T5" fmla="*/ 0 h 1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4" h="120">
                <a:moveTo>
                  <a:pt x="204" y="120"/>
                </a:moveTo>
                <a:cubicBezTo>
                  <a:pt x="184" y="114"/>
                  <a:pt x="115" y="101"/>
                  <a:pt x="81" y="81"/>
                </a:cubicBezTo>
                <a:cubicBezTo>
                  <a:pt x="47" y="61"/>
                  <a:pt x="17" y="17"/>
                  <a:pt x="0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2" name="Freeform 13"/>
          <p:cNvSpPr>
            <a:spLocks/>
          </p:cNvSpPr>
          <p:nvPr/>
        </p:nvSpPr>
        <p:spPr bwMode="auto">
          <a:xfrm>
            <a:off x="1252538" y="3107024"/>
            <a:ext cx="352425" cy="36513"/>
          </a:xfrm>
          <a:custGeom>
            <a:avLst/>
            <a:gdLst>
              <a:gd name="T0" fmla="*/ 352425 w 222"/>
              <a:gd name="T1" fmla="*/ 36513 h 23"/>
              <a:gd name="T2" fmla="*/ 166688 w 222"/>
              <a:gd name="T3" fmla="*/ 3175 h 23"/>
              <a:gd name="T4" fmla="*/ 0 w 222"/>
              <a:gd name="T5" fmla="*/ 12700 h 2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2" h="23">
                <a:moveTo>
                  <a:pt x="222" y="23"/>
                </a:moveTo>
                <a:cubicBezTo>
                  <a:pt x="203" y="20"/>
                  <a:pt x="142" y="4"/>
                  <a:pt x="105" y="2"/>
                </a:cubicBezTo>
                <a:cubicBezTo>
                  <a:pt x="68" y="0"/>
                  <a:pt x="22" y="7"/>
                  <a:pt x="0" y="8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3" name="Freeform 14"/>
          <p:cNvSpPr>
            <a:spLocks/>
          </p:cNvSpPr>
          <p:nvPr/>
        </p:nvSpPr>
        <p:spPr bwMode="auto">
          <a:xfrm>
            <a:off x="3652838" y="4215099"/>
            <a:ext cx="80962" cy="271463"/>
          </a:xfrm>
          <a:custGeom>
            <a:avLst/>
            <a:gdLst>
              <a:gd name="T0" fmla="*/ 0 w 51"/>
              <a:gd name="T1" fmla="*/ 271463 h 171"/>
              <a:gd name="T2" fmla="*/ 47625 w 51"/>
              <a:gd name="T3" fmla="*/ 166688 h 171"/>
              <a:gd name="T4" fmla="*/ 80962 w 51"/>
              <a:gd name="T5" fmla="*/ 0 h 1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1" h="171">
                <a:moveTo>
                  <a:pt x="0" y="171"/>
                </a:moveTo>
                <a:cubicBezTo>
                  <a:pt x="5" y="160"/>
                  <a:pt x="22" y="133"/>
                  <a:pt x="30" y="105"/>
                </a:cubicBezTo>
                <a:cubicBezTo>
                  <a:pt x="38" y="77"/>
                  <a:pt x="47" y="22"/>
                  <a:pt x="51" y="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4" name="Freeform 15"/>
          <p:cNvSpPr>
            <a:spLocks/>
          </p:cNvSpPr>
          <p:nvPr/>
        </p:nvSpPr>
        <p:spPr bwMode="auto">
          <a:xfrm>
            <a:off x="4243388" y="2967324"/>
            <a:ext cx="147637" cy="142875"/>
          </a:xfrm>
          <a:custGeom>
            <a:avLst/>
            <a:gdLst>
              <a:gd name="T0" fmla="*/ 147637 w 93"/>
              <a:gd name="T1" fmla="*/ 0 h 90"/>
              <a:gd name="T2" fmla="*/ 0 w 93"/>
              <a:gd name="T3" fmla="*/ 142875 h 9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3" h="90">
                <a:moveTo>
                  <a:pt x="93" y="0"/>
                </a:moveTo>
                <a:cubicBezTo>
                  <a:pt x="77" y="15"/>
                  <a:pt x="19" y="71"/>
                  <a:pt x="0" y="90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5" name="Triangle isocèle 14"/>
          <p:cNvSpPr/>
          <p:nvPr/>
        </p:nvSpPr>
        <p:spPr>
          <a:xfrm rot="3480000">
            <a:off x="5899402" y="1871928"/>
            <a:ext cx="2855145" cy="2165817"/>
          </a:xfrm>
          <a:prstGeom prst="triangle">
            <a:avLst>
              <a:gd name="adj" fmla="val 49477"/>
            </a:avLst>
          </a:prstGeom>
          <a:solidFill>
            <a:srgbClr val="684FD1"/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auto">
          <a:xfrm flipV="1">
            <a:off x="5194300" y="2043399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5268913" y="1956087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18" name="Forme libre 17"/>
          <p:cNvSpPr/>
          <p:nvPr/>
        </p:nvSpPr>
        <p:spPr>
          <a:xfrm>
            <a:off x="7360920" y="2039589"/>
            <a:ext cx="161003" cy="1143000"/>
          </a:xfrm>
          <a:custGeom>
            <a:avLst/>
            <a:gdLst>
              <a:gd name="connsiteX0" fmla="*/ 0 w 161003"/>
              <a:gd name="connsiteY0" fmla="*/ 0 h 1143000"/>
              <a:gd name="connsiteX1" fmla="*/ 137160 w 161003"/>
              <a:gd name="connsiteY1" fmla="*/ 754380 h 1143000"/>
              <a:gd name="connsiteX2" fmla="*/ 160020 w 161003"/>
              <a:gd name="connsiteY2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1003" h="1143000">
                <a:moveTo>
                  <a:pt x="0" y="0"/>
                </a:moveTo>
                <a:cubicBezTo>
                  <a:pt x="55245" y="281940"/>
                  <a:pt x="110490" y="563880"/>
                  <a:pt x="137160" y="754380"/>
                </a:cubicBezTo>
                <a:cubicBezTo>
                  <a:pt x="163830" y="944880"/>
                  <a:pt x="161925" y="1043940"/>
                  <a:pt x="160020" y="1143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orme libre 18"/>
          <p:cNvSpPr/>
          <p:nvPr/>
        </p:nvSpPr>
        <p:spPr>
          <a:xfrm>
            <a:off x="7509510" y="3182589"/>
            <a:ext cx="582930" cy="457200"/>
          </a:xfrm>
          <a:custGeom>
            <a:avLst/>
            <a:gdLst>
              <a:gd name="connsiteX0" fmla="*/ 0 w 582930"/>
              <a:gd name="connsiteY0" fmla="*/ 0 h 457200"/>
              <a:gd name="connsiteX1" fmla="*/ 354330 w 582930"/>
              <a:gd name="connsiteY1" fmla="*/ 228600 h 457200"/>
              <a:gd name="connsiteX2" fmla="*/ 582930 w 582930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2930" h="457200">
                <a:moveTo>
                  <a:pt x="0" y="0"/>
                </a:moveTo>
                <a:cubicBezTo>
                  <a:pt x="128587" y="76200"/>
                  <a:pt x="257175" y="152400"/>
                  <a:pt x="354330" y="228600"/>
                </a:cubicBezTo>
                <a:cubicBezTo>
                  <a:pt x="451485" y="304800"/>
                  <a:pt x="517207" y="381000"/>
                  <a:pt x="582930" y="4572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orme libre 19"/>
          <p:cNvSpPr/>
          <p:nvPr/>
        </p:nvSpPr>
        <p:spPr>
          <a:xfrm>
            <a:off x="6309360" y="3194019"/>
            <a:ext cx="1211580" cy="800100"/>
          </a:xfrm>
          <a:custGeom>
            <a:avLst/>
            <a:gdLst>
              <a:gd name="connsiteX0" fmla="*/ 0 w 1211580"/>
              <a:gd name="connsiteY0" fmla="*/ 800100 h 800100"/>
              <a:gd name="connsiteX1" fmla="*/ 685800 w 1211580"/>
              <a:gd name="connsiteY1" fmla="*/ 365760 h 800100"/>
              <a:gd name="connsiteX2" fmla="*/ 1211580 w 1211580"/>
              <a:gd name="connsiteY2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580" h="800100">
                <a:moveTo>
                  <a:pt x="0" y="800100"/>
                </a:moveTo>
                <a:cubicBezTo>
                  <a:pt x="241935" y="649605"/>
                  <a:pt x="483870" y="499110"/>
                  <a:pt x="685800" y="365760"/>
                </a:cubicBezTo>
                <a:cubicBezTo>
                  <a:pt x="887730" y="232410"/>
                  <a:pt x="1049655" y="116205"/>
                  <a:pt x="12115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orme libre 20"/>
          <p:cNvSpPr/>
          <p:nvPr/>
        </p:nvSpPr>
        <p:spPr>
          <a:xfrm>
            <a:off x="5497830" y="2039589"/>
            <a:ext cx="194878" cy="230758"/>
          </a:xfrm>
          <a:custGeom>
            <a:avLst/>
            <a:gdLst>
              <a:gd name="connsiteX0" fmla="*/ 0 w 182880"/>
              <a:gd name="connsiteY0" fmla="*/ 0 h 197720"/>
              <a:gd name="connsiteX1" fmla="*/ 148590 w 182880"/>
              <a:gd name="connsiteY1" fmla="*/ 171450 h 197720"/>
              <a:gd name="connsiteX2" fmla="*/ 182880 w 182880"/>
              <a:gd name="connsiteY2" fmla="*/ 194310 h 19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" h="197720">
                <a:moveTo>
                  <a:pt x="0" y="0"/>
                </a:moveTo>
                <a:cubicBezTo>
                  <a:pt x="59055" y="69532"/>
                  <a:pt x="118110" y="139065"/>
                  <a:pt x="148590" y="171450"/>
                </a:cubicBezTo>
                <a:cubicBezTo>
                  <a:pt x="179070" y="203835"/>
                  <a:pt x="180975" y="199072"/>
                  <a:pt x="182880" y="19431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6899344" y="4862635"/>
            <a:ext cx="336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8521040" y="2054323"/>
            <a:ext cx="29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>
            <a:off x="6012145" y="1982315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</a:t>
            </a:r>
            <a:endParaRPr lang="fr-FR" dirty="0"/>
          </a:p>
        </p:txBody>
      </p:sp>
      <p:sp>
        <p:nvSpPr>
          <p:cNvPr id="25" name="ZoneTexte 24"/>
          <p:cNvSpPr txBox="1"/>
          <p:nvPr/>
        </p:nvSpPr>
        <p:spPr>
          <a:xfrm rot="3603747">
            <a:off x="5709079" y="3226522"/>
            <a:ext cx="945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</a:t>
            </a:r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6387179" y="2796747"/>
            <a:ext cx="10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chemeClr val="bg1"/>
                </a:solidFill>
                <a:sym typeface="Symbol"/>
              </a:rPr>
              <a:t> +  + </a:t>
            </a:r>
            <a:r>
              <a:rPr lang="fr-FR" dirty="0">
                <a:solidFill>
                  <a:schemeClr val="bg1"/>
                </a:solidFill>
                <a:sym typeface="Symbol"/>
              </a:rPr>
              <a:t>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7" name="Forme libre 26"/>
          <p:cNvSpPr/>
          <p:nvPr/>
        </p:nvSpPr>
        <p:spPr>
          <a:xfrm>
            <a:off x="5394960" y="2270347"/>
            <a:ext cx="297748" cy="100712"/>
          </a:xfrm>
          <a:custGeom>
            <a:avLst/>
            <a:gdLst>
              <a:gd name="connsiteX0" fmla="*/ 342900 w 342900"/>
              <a:gd name="connsiteY0" fmla="*/ 0 h 125730"/>
              <a:gd name="connsiteX1" fmla="*/ 182880 w 342900"/>
              <a:gd name="connsiteY1" fmla="*/ 34290 h 125730"/>
              <a:gd name="connsiteX2" fmla="*/ 0 w 342900"/>
              <a:gd name="connsiteY2" fmla="*/ 125730 h 125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" h="125730">
                <a:moveTo>
                  <a:pt x="342900" y="0"/>
                </a:moveTo>
                <a:cubicBezTo>
                  <a:pt x="291465" y="6667"/>
                  <a:pt x="240030" y="13335"/>
                  <a:pt x="182880" y="34290"/>
                </a:cubicBezTo>
                <a:cubicBezTo>
                  <a:pt x="125730" y="55245"/>
                  <a:pt x="62865" y="90487"/>
                  <a:pt x="0" y="12573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orme libre 27"/>
          <p:cNvSpPr/>
          <p:nvPr/>
        </p:nvSpPr>
        <p:spPr>
          <a:xfrm>
            <a:off x="6959600" y="4748499"/>
            <a:ext cx="152400" cy="279400"/>
          </a:xfrm>
          <a:custGeom>
            <a:avLst/>
            <a:gdLst>
              <a:gd name="connsiteX0" fmla="*/ 152400 w 152400"/>
              <a:gd name="connsiteY0" fmla="*/ 0 h 279400"/>
              <a:gd name="connsiteX1" fmla="*/ 88900 w 152400"/>
              <a:gd name="connsiteY1" fmla="*/ 190500 h 279400"/>
              <a:gd name="connsiteX2" fmla="*/ 0 w 152400"/>
              <a:gd name="connsiteY2" fmla="*/ 279400 h 27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0" h="279400">
                <a:moveTo>
                  <a:pt x="152400" y="0"/>
                </a:moveTo>
                <a:cubicBezTo>
                  <a:pt x="133350" y="71966"/>
                  <a:pt x="114300" y="143933"/>
                  <a:pt x="88900" y="190500"/>
                </a:cubicBezTo>
                <a:cubicBezTo>
                  <a:pt x="63500" y="237067"/>
                  <a:pt x="31750" y="258233"/>
                  <a:pt x="0" y="2794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Forme libre 28"/>
          <p:cNvSpPr/>
          <p:nvPr/>
        </p:nvSpPr>
        <p:spPr>
          <a:xfrm>
            <a:off x="7099300" y="4723099"/>
            <a:ext cx="241300" cy="152400"/>
          </a:xfrm>
          <a:custGeom>
            <a:avLst/>
            <a:gdLst>
              <a:gd name="connsiteX0" fmla="*/ 0 w 241300"/>
              <a:gd name="connsiteY0" fmla="*/ 0 h 152400"/>
              <a:gd name="connsiteX1" fmla="*/ 101600 w 241300"/>
              <a:gd name="connsiteY1" fmla="*/ 101600 h 152400"/>
              <a:gd name="connsiteX2" fmla="*/ 241300 w 241300"/>
              <a:gd name="connsiteY2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300" h="152400">
                <a:moveTo>
                  <a:pt x="0" y="0"/>
                </a:moveTo>
                <a:cubicBezTo>
                  <a:pt x="30691" y="38100"/>
                  <a:pt x="61383" y="76200"/>
                  <a:pt x="101600" y="101600"/>
                </a:cubicBezTo>
                <a:cubicBezTo>
                  <a:pt x="141817" y="127000"/>
                  <a:pt x="191558" y="139700"/>
                  <a:pt x="241300" y="1524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Forme libre 29"/>
          <p:cNvSpPr/>
          <p:nvPr/>
        </p:nvSpPr>
        <p:spPr>
          <a:xfrm>
            <a:off x="8279477" y="2030699"/>
            <a:ext cx="64423" cy="392956"/>
          </a:xfrm>
          <a:custGeom>
            <a:avLst/>
            <a:gdLst>
              <a:gd name="connsiteX0" fmla="*/ 88900 w 88900"/>
              <a:gd name="connsiteY0" fmla="*/ 0 h 228600"/>
              <a:gd name="connsiteX1" fmla="*/ 63500 w 88900"/>
              <a:gd name="connsiteY1" fmla="*/ 127000 h 228600"/>
              <a:gd name="connsiteX2" fmla="*/ 0 w 88900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900" h="228600">
                <a:moveTo>
                  <a:pt x="88900" y="0"/>
                </a:moveTo>
                <a:cubicBezTo>
                  <a:pt x="83608" y="44450"/>
                  <a:pt x="78317" y="88900"/>
                  <a:pt x="63500" y="127000"/>
                </a:cubicBezTo>
                <a:cubicBezTo>
                  <a:pt x="48683" y="165100"/>
                  <a:pt x="24341" y="196850"/>
                  <a:pt x="0" y="2286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Forme libre 30"/>
          <p:cNvSpPr/>
          <p:nvPr/>
        </p:nvSpPr>
        <p:spPr>
          <a:xfrm>
            <a:off x="8280400" y="2395333"/>
            <a:ext cx="482600" cy="41766"/>
          </a:xfrm>
          <a:custGeom>
            <a:avLst/>
            <a:gdLst>
              <a:gd name="connsiteX0" fmla="*/ 0 w 482600"/>
              <a:gd name="connsiteY0" fmla="*/ 3666 h 41766"/>
              <a:gd name="connsiteX1" fmla="*/ 215900 w 482600"/>
              <a:gd name="connsiteY1" fmla="*/ 3666 h 41766"/>
              <a:gd name="connsiteX2" fmla="*/ 482600 w 482600"/>
              <a:gd name="connsiteY2" fmla="*/ 41766 h 41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2600" h="41766">
                <a:moveTo>
                  <a:pt x="0" y="3666"/>
                </a:moveTo>
                <a:cubicBezTo>
                  <a:pt x="67733" y="491"/>
                  <a:pt x="135467" y="-2684"/>
                  <a:pt x="215900" y="3666"/>
                </a:cubicBezTo>
                <a:cubicBezTo>
                  <a:pt x="296333" y="10016"/>
                  <a:pt x="389466" y="25891"/>
                  <a:pt x="482600" y="4176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ZoneTexte 31"/>
          <p:cNvSpPr txBox="1"/>
          <p:nvPr/>
        </p:nvSpPr>
        <p:spPr>
          <a:xfrm rot="17997754">
            <a:off x="7197951" y="3623088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</a:t>
            </a:r>
            <a:r>
              <a:rPr lang="fr-FR" dirty="0" smtClean="0">
                <a:sym typeface="Symbol"/>
              </a:rPr>
              <a:t> + </a:t>
            </a:r>
            <a:endParaRPr lang="fr-FR" dirty="0"/>
          </a:p>
        </p:txBody>
      </p:sp>
      <p:sp>
        <p:nvSpPr>
          <p:cNvPr id="34" name="ZoneTexte 33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eutectiques et 1 </a:t>
            </a:r>
            <a:r>
              <a:rPr lang="fr-FR" sz="2400" dirty="0" err="1" smtClean="0"/>
              <a:t>peritectique</a:t>
            </a:r>
            <a:r>
              <a:rPr lang="fr-FR" sz="2400" dirty="0" smtClean="0"/>
              <a:t> binaires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60473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5" name="Triangle isocèle 4"/>
          <p:cNvSpPr/>
          <p:nvPr/>
        </p:nvSpPr>
        <p:spPr>
          <a:xfrm rot="5640000">
            <a:off x="7008677" y="3251604"/>
            <a:ext cx="1980692" cy="396460"/>
          </a:xfrm>
          <a:prstGeom prst="triangle">
            <a:avLst>
              <a:gd name="adj" fmla="val 38851"/>
            </a:avLst>
          </a:prstGeom>
          <a:solidFill>
            <a:srgbClr val="FF7C80"/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17376" y="1874777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186498" y="3017697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1474802" y="2601336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+ </a:t>
            </a:r>
            <a:r>
              <a:rPr lang="fr-FR" dirty="0" smtClean="0">
                <a:sym typeface="Symbol"/>
              </a:rPr>
              <a:t></a:t>
            </a:r>
            <a:endParaRPr lang="fr-FR" dirty="0"/>
          </a:p>
        </p:txBody>
      </p:sp>
      <p:sp>
        <p:nvSpPr>
          <p:cNvPr id="9" name="Forme libre 8"/>
          <p:cNvSpPr/>
          <p:nvPr/>
        </p:nvSpPr>
        <p:spPr>
          <a:xfrm>
            <a:off x="614873" y="2152589"/>
            <a:ext cx="137160" cy="102870"/>
          </a:xfrm>
          <a:custGeom>
            <a:avLst/>
            <a:gdLst>
              <a:gd name="connsiteX0" fmla="*/ 137160 w 137160"/>
              <a:gd name="connsiteY0" fmla="*/ 0 h 102870"/>
              <a:gd name="connsiteX1" fmla="*/ 45720 w 137160"/>
              <a:gd name="connsiteY1" fmla="*/ 57150 h 102870"/>
              <a:gd name="connsiteX2" fmla="*/ 0 w 137160"/>
              <a:gd name="connsiteY2" fmla="*/ 102870 h 102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" h="102870">
                <a:moveTo>
                  <a:pt x="137160" y="0"/>
                </a:moveTo>
                <a:cubicBezTo>
                  <a:pt x="102870" y="20002"/>
                  <a:pt x="68580" y="40005"/>
                  <a:pt x="45720" y="57150"/>
                </a:cubicBezTo>
                <a:cubicBezTo>
                  <a:pt x="22860" y="74295"/>
                  <a:pt x="11430" y="88582"/>
                  <a:pt x="0" y="10287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orme libre 10"/>
          <p:cNvSpPr/>
          <p:nvPr/>
        </p:nvSpPr>
        <p:spPr>
          <a:xfrm>
            <a:off x="2157923" y="2861249"/>
            <a:ext cx="400050" cy="525780"/>
          </a:xfrm>
          <a:custGeom>
            <a:avLst/>
            <a:gdLst>
              <a:gd name="connsiteX0" fmla="*/ 0 w 400050"/>
              <a:gd name="connsiteY0" fmla="*/ 525780 h 525780"/>
              <a:gd name="connsiteX1" fmla="*/ 240030 w 400050"/>
              <a:gd name="connsiteY1" fmla="*/ 251460 h 525780"/>
              <a:gd name="connsiteX2" fmla="*/ 400050 w 400050"/>
              <a:gd name="connsiteY2" fmla="*/ 0 h 5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050" h="525780">
                <a:moveTo>
                  <a:pt x="0" y="525780"/>
                </a:moveTo>
                <a:cubicBezTo>
                  <a:pt x="86677" y="432435"/>
                  <a:pt x="173355" y="339090"/>
                  <a:pt x="240030" y="251460"/>
                </a:cubicBezTo>
                <a:cubicBezTo>
                  <a:pt x="306705" y="163830"/>
                  <a:pt x="353377" y="81915"/>
                  <a:pt x="400050" y="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riangle isocèle 11"/>
          <p:cNvSpPr/>
          <p:nvPr/>
        </p:nvSpPr>
        <p:spPr>
          <a:xfrm rot="1200000">
            <a:off x="809861" y="1919892"/>
            <a:ext cx="1921387" cy="602180"/>
          </a:xfrm>
          <a:prstGeom prst="triangle">
            <a:avLst>
              <a:gd name="adj" fmla="val 71764"/>
            </a:avLst>
          </a:prstGeom>
          <a:solidFill>
            <a:schemeClr val="accent6">
              <a:lumMod val="60000"/>
              <a:lumOff val="40000"/>
            </a:schemeClr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riangle isocèle 12"/>
          <p:cNvSpPr/>
          <p:nvPr/>
        </p:nvSpPr>
        <p:spPr>
          <a:xfrm rot="3421750">
            <a:off x="288901" y="2861268"/>
            <a:ext cx="2685195" cy="730215"/>
          </a:xfrm>
          <a:prstGeom prst="triangle">
            <a:avLst>
              <a:gd name="adj" fmla="val 66359"/>
            </a:avLst>
          </a:prstGeom>
          <a:solidFill>
            <a:srgbClr val="92D050"/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orme libre 13"/>
          <p:cNvSpPr/>
          <p:nvPr/>
        </p:nvSpPr>
        <p:spPr>
          <a:xfrm>
            <a:off x="1369253" y="1443929"/>
            <a:ext cx="548640" cy="960120"/>
          </a:xfrm>
          <a:custGeom>
            <a:avLst/>
            <a:gdLst>
              <a:gd name="connsiteX0" fmla="*/ 0 w 548640"/>
              <a:gd name="connsiteY0" fmla="*/ 0 h 960120"/>
              <a:gd name="connsiteX1" fmla="*/ 422910 w 548640"/>
              <a:gd name="connsiteY1" fmla="*/ 514350 h 960120"/>
              <a:gd name="connsiteX2" fmla="*/ 548640 w 548640"/>
              <a:gd name="connsiteY2" fmla="*/ 960120 h 96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" h="960120">
                <a:moveTo>
                  <a:pt x="0" y="0"/>
                </a:moveTo>
                <a:cubicBezTo>
                  <a:pt x="165735" y="177165"/>
                  <a:pt x="331470" y="354330"/>
                  <a:pt x="422910" y="514350"/>
                </a:cubicBezTo>
                <a:cubicBezTo>
                  <a:pt x="514350" y="674370"/>
                  <a:pt x="531495" y="817245"/>
                  <a:pt x="548640" y="96012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/>
          <p:cNvSpPr txBox="1"/>
          <p:nvPr/>
        </p:nvSpPr>
        <p:spPr>
          <a:xfrm>
            <a:off x="844599" y="1146085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L +  + </a:t>
            </a:r>
            <a:endParaRPr lang="fr-FR" dirty="0"/>
          </a:p>
        </p:txBody>
      </p:sp>
      <p:sp>
        <p:nvSpPr>
          <p:cNvPr id="16" name="Forme libre 15"/>
          <p:cNvSpPr/>
          <p:nvPr/>
        </p:nvSpPr>
        <p:spPr>
          <a:xfrm>
            <a:off x="1254953" y="3604199"/>
            <a:ext cx="468630" cy="994410"/>
          </a:xfrm>
          <a:custGeom>
            <a:avLst/>
            <a:gdLst>
              <a:gd name="connsiteX0" fmla="*/ 0 w 468630"/>
              <a:gd name="connsiteY0" fmla="*/ 994410 h 994410"/>
              <a:gd name="connsiteX1" fmla="*/ 205740 w 468630"/>
              <a:gd name="connsiteY1" fmla="*/ 445770 h 994410"/>
              <a:gd name="connsiteX2" fmla="*/ 468630 w 468630"/>
              <a:gd name="connsiteY2" fmla="*/ 0 h 99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8630" h="994410">
                <a:moveTo>
                  <a:pt x="0" y="994410"/>
                </a:moveTo>
                <a:cubicBezTo>
                  <a:pt x="63817" y="802957"/>
                  <a:pt x="127635" y="611505"/>
                  <a:pt x="205740" y="445770"/>
                </a:cubicBezTo>
                <a:cubicBezTo>
                  <a:pt x="283845" y="280035"/>
                  <a:pt x="376237" y="140017"/>
                  <a:pt x="46863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/>
          <p:cNvSpPr txBox="1"/>
          <p:nvPr/>
        </p:nvSpPr>
        <p:spPr>
          <a:xfrm>
            <a:off x="645988" y="4565301"/>
            <a:ext cx="10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 + L</a:t>
            </a:r>
            <a:endParaRPr lang="fr-FR" dirty="0"/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829544" y="4502585"/>
            <a:ext cx="336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2179936" y="1684753"/>
            <a:ext cx="29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3351029" y="1946785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5364088" y="305554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</a:t>
            </a:r>
            <a:endParaRPr lang="fr-FR" dirty="0"/>
          </a:p>
        </p:txBody>
      </p:sp>
      <p:sp>
        <p:nvSpPr>
          <p:cNvPr id="22" name="Triangle isocèle 21"/>
          <p:cNvSpPr/>
          <p:nvPr/>
        </p:nvSpPr>
        <p:spPr>
          <a:xfrm rot="1560000">
            <a:off x="3699832" y="2209208"/>
            <a:ext cx="1962620" cy="534832"/>
          </a:xfrm>
          <a:prstGeom prst="triangle">
            <a:avLst>
              <a:gd name="adj" fmla="val 66645"/>
            </a:avLst>
          </a:prstGeom>
          <a:solidFill>
            <a:schemeClr val="accent6">
              <a:lumMod val="60000"/>
              <a:lumOff val="40000"/>
            </a:schemeClr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riangle isocèle 22"/>
          <p:cNvSpPr/>
          <p:nvPr/>
        </p:nvSpPr>
        <p:spPr>
          <a:xfrm rot="3480000">
            <a:off x="3520927" y="2530704"/>
            <a:ext cx="2448329" cy="1049683"/>
          </a:xfrm>
          <a:prstGeom prst="triangle">
            <a:avLst>
              <a:gd name="adj" fmla="val 69611"/>
            </a:avLst>
          </a:prstGeom>
          <a:solidFill>
            <a:srgbClr val="92D050"/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4816360" y="4393772"/>
            <a:ext cx="336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5064204" y="2047819"/>
            <a:ext cx="29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26" name="Forme libre 25"/>
          <p:cNvSpPr/>
          <p:nvPr/>
        </p:nvSpPr>
        <p:spPr>
          <a:xfrm>
            <a:off x="4237806" y="1515937"/>
            <a:ext cx="548640" cy="960120"/>
          </a:xfrm>
          <a:custGeom>
            <a:avLst/>
            <a:gdLst>
              <a:gd name="connsiteX0" fmla="*/ 0 w 548640"/>
              <a:gd name="connsiteY0" fmla="*/ 0 h 960120"/>
              <a:gd name="connsiteX1" fmla="*/ 422910 w 548640"/>
              <a:gd name="connsiteY1" fmla="*/ 514350 h 960120"/>
              <a:gd name="connsiteX2" fmla="*/ 548640 w 548640"/>
              <a:gd name="connsiteY2" fmla="*/ 960120 h 96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" h="960120">
                <a:moveTo>
                  <a:pt x="0" y="0"/>
                </a:moveTo>
                <a:cubicBezTo>
                  <a:pt x="165735" y="177165"/>
                  <a:pt x="331470" y="354330"/>
                  <a:pt x="422910" y="514350"/>
                </a:cubicBezTo>
                <a:cubicBezTo>
                  <a:pt x="514350" y="674370"/>
                  <a:pt x="531495" y="817245"/>
                  <a:pt x="548640" y="96012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/>
          <p:cNvSpPr txBox="1"/>
          <p:nvPr/>
        </p:nvSpPr>
        <p:spPr>
          <a:xfrm>
            <a:off x="3713152" y="1190217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L +  + </a:t>
            </a:r>
            <a:endParaRPr lang="fr-FR" dirty="0"/>
          </a:p>
        </p:txBody>
      </p:sp>
      <p:sp>
        <p:nvSpPr>
          <p:cNvPr id="28" name="Forme libre 27"/>
          <p:cNvSpPr/>
          <p:nvPr/>
        </p:nvSpPr>
        <p:spPr>
          <a:xfrm>
            <a:off x="4123506" y="3676207"/>
            <a:ext cx="468630" cy="994410"/>
          </a:xfrm>
          <a:custGeom>
            <a:avLst/>
            <a:gdLst>
              <a:gd name="connsiteX0" fmla="*/ 0 w 468630"/>
              <a:gd name="connsiteY0" fmla="*/ 994410 h 994410"/>
              <a:gd name="connsiteX1" fmla="*/ 205740 w 468630"/>
              <a:gd name="connsiteY1" fmla="*/ 445770 h 994410"/>
              <a:gd name="connsiteX2" fmla="*/ 468630 w 468630"/>
              <a:gd name="connsiteY2" fmla="*/ 0 h 99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8630" h="994410">
                <a:moveTo>
                  <a:pt x="0" y="994410"/>
                </a:moveTo>
                <a:cubicBezTo>
                  <a:pt x="63817" y="802957"/>
                  <a:pt x="127635" y="611505"/>
                  <a:pt x="205740" y="445770"/>
                </a:cubicBezTo>
                <a:cubicBezTo>
                  <a:pt x="283845" y="280035"/>
                  <a:pt x="376237" y="140017"/>
                  <a:pt x="46863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/>
          <p:cNvSpPr txBox="1"/>
          <p:nvPr/>
        </p:nvSpPr>
        <p:spPr>
          <a:xfrm>
            <a:off x="3514541" y="4637309"/>
            <a:ext cx="10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 +  + L</a:t>
            </a:r>
            <a:endParaRPr lang="fr-FR" dirty="0"/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6122103" y="1929645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8028384" y="3294557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</a:t>
            </a:r>
            <a:endParaRPr lang="fr-FR" dirty="0"/>
          </a:p>
        </p:txBody>
      </p:sp>
      <p:sp>
        <p:nvSpPr>
          <p:cNvPr id="32" name="Triangle isocèle 31"/>
          <p:cNvSpPr/>
          <p:nvPr/>
        </p:nvSpPr>
        <p:spPr>
          <a:xfrm rot="3480000">
            <a:off x="6369426" y="2476282"/>
            <a:ext cx="2448329" cy="1179205"/>
          </a:xfrm>
          <a:prstGeom prst="triangle">
            <a:avLst>
              <a:gd name="adj" fmla="val 34080"/>
            </a:avLst>
          </a:prstGeom>
          <a:solidFill>
            <a:srgbClr val="684FD1"/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6423333" y="4226280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L +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</a:t>
            </a:r>
            <a:r>
              <a:rPr lang="fr-FR" dirty="0" smtClean="0">
                <a:sym typeface="Symbol"/>
              </a:rPr>
              <a:t> + </a:t>
            </a:r>
            <a:endParaRPr lang="fr-FR" dirty="0"/>
          </a:p>
        </p:txBody>
      </p:sp>
      <p:sp>
        <p:nvSpPr>
          <p:cNvPr id="34" name="ZoneTexte 33"/>
          <p:cNvSpPr txBox="1"/>
          <p:nvPr/>
        </p:nvSpPr>
        <p:spPr>
          <a:xfrm>
            <a:off x="6813128" y="2647691"/>
            <a:ext cx="10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chemeClr val="bg1"/>
                </a:solidFill>
                <a:sym typeface="Symbol"/>
              </a:rPr>
              <a:t> +  + </a:t>
            </a:r>
            <a:r>
              <a:rPr lang="fr-FR" dirty="0">
                <a:solidFill>
                  <a:schemeClr val="bg1"/>
                </a:solidFill>
                <a:sym typeface="Symbol"/>
              </a:rPr>
              <a:t>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auto">
          <a:xfrm>
            <a:off x="7593590" y="4410946"/>
            <a:ext cx="336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8016984" y="2054313"/>
            <a:ext cx="29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37" name="Forme libre 36"/>
          <p:cNvSpPr/>
          <p:nvPr/>
        </p:nvSpPr>
        <p:spPr>
          <a:xfrm>
            <a:off x="7113216" y="3401564"/>
            <a:ext cx="863600" cy="863600"/>
          </a:xfrm>
          <a:custGeom>
            <a:avLst/>
            <a:gdLst>
              <a:gd name="connsiteX0" fmla="*/ 0 w 863600"/>
              <a:gd name="connsiteY0" fmla="*/ 863600 h 863600"/>
              <a:gd name="connsiteX1" fmla="*/ 635000 w 863600"/>
              <a:gd name="connsiteY1" fmla="*/ 342900 h 863600"/>
              <a:gd name="connsiteX2" fmla="*/ 863600 w 863600"/>
              <a:gd name="connsiteY2" fmla="*/ 0 h 86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63600" h="863600">
                <a:moveTo>
                  <a:pt x="0" y="863600"/>
                </a:moveTo>
                <a:cubicBezTo>
                  <a:pt x="245533" y="675216"/>
                  <a:pt x="491067" y="486833"/>
                  <a:pt x="635000" y="342900"/>
                </a:cubicBezTo>
                <a:cubicBezTo>
                  <a:pt x="778933" y="198967"/>
                  <a:pt x="821266" y="99483"/>
                  <a:pt x="86360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riangle isocèle 37"/>
          <p:cNvSpPr/>
          <p:nvPr/>
        </p:nvSpPr>
        <p:spPr>
          <a:xfrm rot="6197985">
            <a:off x="7394727" y="3319674"/>
            <a:ext cx="1980692" cy="396460"/>
          </a:xfrm>
          <a:prstGeom prst="triangle">
            <a:avLst>
              <a:gd name="adj" fmla="val 46338"/>
            </a:avLst>
          </a:prstGeom>
          <a:noFill/>
          <a:ln w="9525">
            <a:solidFill>
              <a:srgbClr val="FF7C80"/>
            </a:solidFill>
            <a:prstDash val="solid"/>
          </a:ln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/>
          <p:cNvSpPr txBox="1"/>
          <p:nvPr/>
        </p:nvSpPr>
        <p:spPr>
          <a:xfrm>
            <a:off x="-71115" y="5408056"/>
            <a:ext cx="75234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La réaction </a:t>
            </a:r>
            <a:r>
              <a:rPr lang="fr-FR" sz="2400" u="sng" dirty="0" err="1" smtClean="0"/>
              <a:t>peritectique</a:t>
            </a:r>
            <a:r>
              <a:rPr lang="fr-FR" sz="2400" u="sng" dirty="0" smtClean="0"/>
              <a:t> ternaire  faible </a:t>
            </a:r>
          </a:p>
          <a:p>
            <a:r>
              <a:rPr lang="fr-FR" sz="2400" dirty="0" smtClean="0"/>
              <a:t>L + 1 phase solide </a:t>
            </a:r>
            <a:r>
              <a:rPr lang="fr-FR" sz="2400" dirty="0" smtClean="0">
                <a:sym typeface="Wingdings" pitchFamily="2" charset="2"/>
              </a:rPr>
              <a:t> 2 phases solides</a:t>
            </a:r>
          </a:p>
          <a:p>
            <a:endParaRPr lang="fr-FR" dirty="0">
              <a:sym typeface="Wingdings" pitchFamily="2" charset="2"/>
            </a:endParaRPr>
          </a:p>
          <a:p>
            <a:r>
              <a:rPr lang="fr-FR" dirty="0" smtClean="0">
                <a:sym typeface="Wingdings" pitchFamily="2" charset="2"/>
              </a:rPr>
              <a:t>			</a:t>
            </a:r>
            <a:r>
              <a:rPr lang="fr-FR" sz="2400" dirty="0" smtClean="0">
                <a:sym typeface="Wingdings" pitchFamily="2" charset="2"/>
              </a:rPr>
              <a:t>ici </a:t>
            </a:r>
            <a:r>
              <a:rPr lang="fr-FR" sz="2400" dirty="0" smtClean="0"/>
              <a:t>L + </a:t>
            </a:r>
            <a:r>
              <a:rPr lang="fr-FR" sz="2400" dirty="0">
                <a:sym typeface="Symbol"/>
              </a:rPr>
              <a:t></a:t>
            </a:r>
            <a:r>
              <a:rPr lang="fr-FR" sz="2400" dirty="0" smtClean="0"/>
              <a:t> </a:t>
            </a:r>
            <a:r>
              <a:rPr lang="fr-FR" sz="2400" dirty="0" smtClean="0">
                <a:sym typeface="Wingdings" pitchFamily="2" charset="2"/>
              </a:rPr>
              <a:t> </a:t>
            </a:r>
            <a:r>
              <a:rPr lang="fr-FR" sz="2400" dirty="0" smtClean="0">
                <a:sym typeface="Symbol"/>
              </a:rPr>
              <a:t> + </a:t>
            </a:r>
            <a:endParaRPr lang="fr-FR" sz="2400" dirty="0"/>
          </a:p>
        </p:txBody>
      </p:sp>
      <p:sp>
        <p:nvSpPr>
          <p:cNvPr id="40" name="Forme libre 39"/>
          <p:cNvSpPr/>
          <p:nvPr/>
        </p:nvSpPr>
        <p:spPr>
          <a:xfrm>
            <a:off x="5250820" y="2054313"/>
            <a:ext cx="161003" cy="1143000"/>
          </a:xfrm>
          <a:custGeom>
            <a:avLst/>
            <a:gdLst>
              <a:gd name="connsiteX0" fmla="*/ 0 w 161003"/>
              <a:gd name="connsiteY0" fmla="*/ 0 h 1143000"/>
              <a:gd name="connsiteX1" fmla="*/ 137160 w 161003"/>
              <a:gd name="connsiteY1" fmla="*/ 754380 h 1143000"/>
              <a:gd name="connsiteX2" fmla="*/ 160020 w 161003"/>
              <a:gd name="connsiteY2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1003" h="1143000">
                <a:moveTo>
                  <a:pt x="0" y="0"/>
                </a:moveTo>
                <a:cubicBezTo>
                  <a:pt x="55245" y="281940"/>
                  <a:pt x="110490" y="563880"/>
                  <a:pt x="137160" y="754380"/>
                </a:cubicBezTo>
                <a:cubicBezTo>
                  <a:pt x="163830" y="944880"/>
                  <a:pt x="161925" y="1043940"/>
                  <a:pt x="160020" y="1143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5399410" y="3197313"/>
            <a:ext cx="582930" cy="457200"/>
          </a:xfrm>
          <a:custGeom>
            <a:avLst/>
            <a:gdLst>
              <a:gd name="connsiteX0" fmla="*/ 0 w 582930"/>
              <a:gd name="connsiteY0" fmla="*/ 0 h 457200"/>
              <a:gd name="connsiteX1" fmla="*/ 354330 w 582930"/>
              <a:gd name="connsiteY1" fmla="*/ 228600 h 457200"/>
              <a:gd name="connsiteX2" fmla="*/ 582930 w 582930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2930" h="457200">
                <a:moveTo>
                  <a:pt x="0" y="0"/>
                </a:moveTo>
                <a:cubicBezTo>
                  <a:pt x="128587" y="76200"/>
                  <a:pt x="257175" y="152400"/>
                  <a:pt x="354330" y="228600"/>
                </a:cubicBezTo>
                <a:cubicBezTo>
                  <a:pt x="451485" y="304800"/>
                  <a:pt x="517207" y="381000"/>
                  <a:pt x="582930" y="457200"/>
                </a:cubicBezTo>
              </a:path>
            </a:pathLst>
          </a:custGeom>
          <a:noFill/>
          <a:ln>
            <a:prstDash val="dash"/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/>
          <p:cNvSpPr/>
          <p:nvPr/>
        </p:nvSpPr>
        <p:spPr>
          <a:xfrm>
            <a:off x="4199260" y="3208743"/>
            <a:ext cx="1211580" cy="800100"/>
          </a:xfrm>
          <a:custGeom>
            <a:avLst/>
            <a:gdLst>
              <a:gd name="connsiteX0" fmla="*/ 0 w 1211580"/>
              <a:gd name="connsiteY0" fmla="*/ 800100 h 800100"/>
              <a:gd name="connsiteX1" fmla="*/ 685800 w 1211580"/>
              <a:gd name="connsiteY1" fmla="*/ 365760 h 800100"/>
              <a:gd name="connsiteX2" fmla="*/ 1211580 w 1211580"/>
              <a:gd name="connsiteY2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580" h="800100">
                <a:moveTo>
                  <a:pt x="0" y="800100"/>
                </a:moveTo>
                <a:cubicBezTo>
                  <a:pt x="241935" y="649605"/>
                  <a:pt x="483870" y="499110"/>
                  <a:pt x="685800" y="365760"/>
                </a:cubicBezTo>
                <a:cubicBezTo>
                  <a:pt x="887730" y="232410"/>
                  <a:pt x="1049655" y="116205"/>
                  <a:pt x="1211580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3" name="Connecteur droit 42"/>
          <p:cNvCxnSpPr/>
          <p:nvPr/>
        </p:nvCxnSpPr>
        <p:spPr>
          <a:xfrm flipV="1">
            <a:off x="5371936" y="2602983"/>
            <a:ext cx="68580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 flipH="1" flipV="1">
            <a:off x="5295101" y="2602983"/>
            <a:ext cx="76835" cy="1234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 flipH="1" flipV="1">
            <a:off x="4721552" y="3547833"/>
            <a:ext cx="173762" cy="228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orme libre 45"/>
          <p:cNvSpPr/>
          <p:nvPr/>
        </p:nvSpPr>
        <p:spPr>
          <a:xfrm>
            <a:off x="8216334" y="3219141"/>
            <a:ext cx="582930" cy="457200"/>
          </a:xfrm>
          <a:custGeom>
            <a:avLst/>
            <a:gdLst>
              <a:gd name="connsiteX0" fmla="*/ 0 w 582930"/>
              <a:gd name="connsiteY0" fmla="*/ 0 h 457200"/>
              <a:gd name="connsiteX1" fmla="*/ 354330 w 582930"/>
              <a:gd name="connsiteY1" fmla="*/ 228600 h 457200"/>
              <a:gd name="connsiteX2" fmla="*/ 582930 w 582930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2930" h="457200">
                <a:moveTo>
                  <a:pt x="0" y="0"/>
                </a:moveTo>
                <a:cubicBezTo>
                  <a:pt x="128587" y="76200"/>
                  <a:pt x="257175" y="152400"/>
                  <a:pt x="354330" y="228600"/>
                </a:cubicBezTo>
                <a:cubicBezTo>
                  <a:pt x="451485" y="304800"/>
                  <a:pt x="517207" y="381000"/>
                  <a:pt x="582930" y="457200"/>
                </a:cubicBezTo>
              </a:path>
            </a:pathLst>
          </a:custGeom>
          <a:noFill/>
          <a:ln>
            <a:solidFill>
              <a:srgbClr val="FF7C80"/>
            </a:solidFill>
            <a:prstDash val="dash"/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7" name="Connecteur droit 46"/>
          <p:cNvCxnSpPr/>
          <p:nvPr/>
        </p:nvCxnSpPr>
        <p:spPr>
          <a:xfrm flipH="1">
            <a:off x="4813424" y="3579181"/>
            <a:ext cx="86881" cy="1638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orme libre 47"/>
          <p:cNvSpPr/>
          <p:nvPr/>
        </p:nvSpPr>
        <p:spPr>
          <a:xfrm>
            <a:off x="7848600" y="2398329"/>
            <a:ext cx="736600" cy="127000"/>
          </a:xfrm>
          <a:custGeom>
            <a:avLst/>
            <a:gdLst>
              <a:gd name="connsiteX0" fmla="*/ 0 w 736600"/>
              <a:gd name="connsiteY0" fmla="*/ 0 h 127000"/>
              <a:gd name="connsiteX1" fmla="*/ 431800 w 736600"/>
              <a:gd name="connsiteY1" fmla="*/ 12700 h 127000"/>
              <a:gd name="connsiteX2" fmla="*/ 736600 w 736600"/>
              <a:gd name="connsiteY2" fmla="*/ 12700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6600" h="127000">
                <a:moveTo>
                  <a:pt x="0" y="0"/>
                </a:moveTo>
                <a:lnTo>
                  <a:pt x="431800" y="12700"/>
                </a:lnTo>
                <a:cubicBezTo>
                  <a:pt x="554567" y="33867"/>
                  <a:pt x="645583" y="80433"/>
                  <a:pt x="736600" y="12700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Forme libre 48"/>
          <p:cNvSpPr/>
          <p:nvPr/>
        </p:nvSpPr>
        <p:spPr>
          <a:xfrm>
            <a:off x="7620000" y="4366829"/>
            <a:ext cx="469900" cy="55688"/>
          </a:xfrm>
          <a:custGeom>
            <a:avLst/>
            <a:gdLst>
              <a:gd name="connsiteX0" fmla="*/ 0 w 469900"/>
              <a:gd name="connsiteY0" fmla="*/ 50800 h 55688"/>
              <a:gd name="connsiteX1" fmla="*/ 203200 w 469900"/>
              <a:gd name="connsiteY1" fmla="*/ 50800 h 55688"/>
              <a:gd name="connsiteX2" fmla="*/ 469900 w 469900"/>
              <a:gd name="connsiteY2" fmla="*/ 0 h 5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5688">
                <a:moveTo>
                  <a:pt x="0" y="50800"/>
                </a:moveTo>
                <a:cubicBezTo>
                  <a:pt x="62441" y="55033"/>
                  <a:pt x="124883" y="59267"/>
                  <a:pt x="203200" y="50800"/>
                </a:cubicBezTo>
                <a:cubicBezTo>
                  <a:pt x="281517" y="42333"/>
                  <a:pt x="375708" y="21166"/>
                  <a:pt x="469900" y="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ZoneTexte 49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eutectiques et 1 </a:t>
            </a:r>
            <a:r>
              <a:rPr lang="fr-FR" sz="2400" dirty="0" err="1" smtClean="0"/>
              <a:t>peritectique</a:t>
            </a:r>
            <a:r>
              <a:rPr lang="fr-FR" sz="2400" dirty="0" smtClean="0"/>
              <a:t> binaires</a:t>
            </a:r>
            <a:endParaRPr lang="fr-FR" sz="2400" dirty="0"/>
          </a:p>
        </p:txBody>
      </p:sp>
      <p:cxnSp>
        <p:nvCxnSpPr>
          <p:cNvPr id="59" name="Connecteur droit avec flèche 58"/>
          <p:cNvCxnSpPr/>
          <p:nvPr/>
        </p:nvCxnSpPr>
        <p:spPr>
          <a:xfrm>
            <a:off x="7308304" y="5702258"/>
            <a:ext cx="568487" cy="35644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/>
          <p:cNvCxnSpPr/>
          <p:nvPr/>
        </p:nvCxnSpPr>
        <p:spPr>
          <a:xfrm flipV="1">
            <a:off x="7393267" y="6093296"/>
            <a:ext cx="483524" cy="504056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>
            <a:off x="7944179" y="6080596"/>
            <a:ext cx="536351" cy="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ZoneTexte 1"/>
          <p:cNvSpPr txBox="1"/>
          <p:nvPr/>
        </p:nvSpPr>
        <p:spPr>
          <a:xfrm>
            <a:off x="5652120" y="5241394"/>
            <a:ext cx="2370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tx2"/>
                </a:solidFill>
              </a:rPr>
              <a:t>2 vallées entrent, 1 vallée sort</a:t>
            </a:r>
            <a:endParaRPr lang="fr-FR" sz="2400" b="1" dirty="0">
              <a:solidFill>
                <a:schemeClr val="tx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38265" y="5227539"/>
            <a:ext cx="3491880" cy="16166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5098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</a:t>
            </a:r>
            <a:r>
              <a:rPr lang="fr-FR" sz="2400" dirty="0" err="1" smtClean="0"/>
              <a:t>peritectiques</a:t>
            </a:r>
            <a:r>
              <a:rPr lang="fr-FR" sz="2400" dirty="0" smtClean="0"/>
              <a:t> et 1 eutectique binaires</a:t>
            </a:r>
            <a:endParaRPr lang="fr-FR" sz="2400" dirty="0"/>
          </a:p>
        </p:txBody>
      </p:sp>
      <p:pic>
        <p:nvPicPr>
          <p:cNvPr id="6" name="Picture 4" descr="Class-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2" t="18051" r="19753" b="21094"/>
          <a:stretch>
            <a:fillRect/>
          </a:stretch>
        </p:blipFill>
        <p:spPr bwMode="auto">
          <a:xfrm>
            <a:off x="-36512" y="977698"/>
            <a:ext cx="55626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5"/>
          <p:cNvSpPr>
            <a:spLocks/>
          </p:cNvSpPr>
          <p:nvPr/>
        </p:nvSpPr>
        <p:spPr bwMode="auto">
          <a:xfrm>
            <a:off x="534988" y="2149273"/>
            <a:ext cx="4114800" cy="2095500"/>
          </a:xfrm>
          <a:custGeom>
            <a:avLst/>
            <a:gdLst>
              <a:gd name="T0" fmla="*/ 0 w 2592"/>
              <a:gd name="T1" fmla="*/ 66675 h 1320"/>
              <a:gd name="T2" fmla="*/ 4114800 w 2592"/>
              <a:gd name="T3" fmla="*/ 0 h 1320"/>
              <a:gd name="T4" fmla="*/ 1514475 w 2592"/>
              <a:gd name="T5" fmla="*/ 2095500 h 1320"/>
              <a:gd name="T6" fmla="*/ 0 w 2592"/>
              <a:gd name="T7" fmla="*/ 66675 h 13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92" h="1320">
                <a:moveTo>
                  <a:pt x="0" y="42"/>
                </a:moveTo>
                <a:lnTo>
                  <a:pt x="2592" y="0"/>
                </a:lnTo>
                <a:lnTo>
                  <a:pt x="954" y="1320"/>
                </a:lnTo>
                <a:lnTo>
                  <a:pt x="0" y="42"/>
                </a:lnTo>
                <a:close/>
              </a:path>
            </a:pathLst>
          </a:custGeom>
          <a:solidFill>
            <a:srgbClr val="FFFF99">
              <a:alpha val="39999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2030413" y="2192136"/>
            <a:ext cx="957263" cy="1295400"/>
          </a:xfrm>
          <a:custGeom>
            <a:avLst/>
            <a:gdLst>
              <a:gd name="T0" fmla="*/ 0 w 603"/>
              <a:gd name="T1" fmla="*/ 0 h 816"/>
              <a:gd name="T2" fmla="*/ 152400 w 603"/>
              <a:gd name="T3" fmla="*/ 500063 h 816"/>
              <a:gd name="T4" fmla="*/ 581025 w 603"/>
              <a:gd name="T5" fmla="*/ 1042988 h 816"/>
              <a:gd name="T6" fmla="*/ 957263 w 603"/>
              <a:gd name="T7" fmla="*/ 1295400 h 81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03" h="816">
                <a:moveTo>
                  <a:pt x="0" y="0"/>
                </a:moveTo>
                <a:cubicBezTo>
                  <a:pt x="16" y="53"/>
                  <a:pt x="35" y="206"/>
                  <a:pt x="96" y="315"/>
                </a:cubicBezTo>
                <a:cubicBezTo>
                  <a:pt x="157" y="424"/>
                  <a:pt x="282" y="574"/>
                  <a:pt x="366" y="657"/>
                </a:cubicBezTo>
                <a:cubicBezTo>
                  <a:pt x="450" y="740"/>
                  <a:pt x="554" y="783"/>
                  <a:pt x="603" y="816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>
            <a:off x="3783013" y="2163561"/>
            <a:ext cx="552450" cy="238125"/>
          </a:xfrm>
          <a:custGeom>
            <a:avLst/>
            <a:gdLst>
              <a:gd name="T0" fmla="*/ 0 w 348"/>
              <a:gd name="T1" fmla="*/ 0 h 150"/>
              <a:gd name="T2" fmla="*/ 200025 w 348"/>
              <a:gd name="T3" fmla="*/ 147638 h 150"/>
              <a:gd name="T4" fmla="*/ 552450 w 348"/>
              <a:gd name="T5" fmla="*/ 238125 h 15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48" h="150">
                <a:moveTo>
                  <a:pt x="0" y="0"/>
                </a:moveTo>
                <a:cubicBezTo>
                  <a:pt x="21" y="15"/>
                  <a:pt x="68" y="68"/>
                  <a:pt x="126" y="93"/>
                </a:cubicBezTo>
                <a:cubicBezTo>
                  <a:pt x="184" y="118"/>
                  <a:pt x="302" y="138"/>
                  <a:pt x="348" y="15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1" name="Freeform 8"/>
          <p:cNvSpPr>
            <a:spLocks/>
          </p:cNvSpPr>
          <p:nvPr/>
        </p:nvSpPr>
        <p:spPr bwMode="auto">
          <a:xfrm>
            <a:off x="744538" y="2211186"/>
            <a:ext cx="304800" cy="285750"/>
          </a:xfrm>
          <a:custGeom>
            <a:avLst/>
            <a:gdLst>
              <a:gd name="T0" fmla="*/ 304800 w 192"/>
              <a:gd name="T1" fmla="*/ 0 h 180"/>
              <a:gd name="T2" fmla="*/ 190500 w 192"/>
              <a:gd name="T3" fmla="*/ 166688 h 180"/>
              <a:gd name="T4" fmla="*/ 0 w 192"/>
              <a:gd name="T5" fmla="*/ 285750 h 1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" h="180">
                <a:moveTo>
                  <a:pt x="192" y="0"/>
                </a:moveTo>
                <a:cubicBezTo>
                  <a:pt x="180" y="17"/>
                  <a:pt x="152" y="75"/>
                  <a:pt x="120" y="105"/>
                </a:cubicBezTo>
                <a:cubicBezTo>
                  <a:pt x="88" y="135"/>
                  <a:pt x="25" y="165"/>
                  <a:pt x="0" y="18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2" name="Freeform 9"/>
          <p:cNvSpPr>
            <a:spLocks/>
          </p:cNvSpPr>
          <p:nvPr/>
        </p:nvSpPr>
        <p:spPr bwMode="auto">
          <a:xfrm>
            <a:off x="1420813" y="2192136"/>
            <a:ext cx="490538" cy="1204912"/>
          </a:xfrm>
          <a:custGeom>
            <a:avLst/>
            <a:gdLst>
              <a:gd name="T0" fmla="*/ 490538 w 309"/>
              <a:gd name="T1" fmla="*/ 0 h 759"/>
              <a:gd name="T2" fmla="*/ 385763 w 309"/>
              <a:gd name="T3" fmla="*/ 604837 h 759"/>
              <a:gd name="T4" fmla="*/ 204788 w 309"/>
              <a:gd name="T5" fmla="*/ 971550 h 759"/>
              <a:gd name="T6" fmla="*/ 0 w 309"/>
              <a:gd name="T7" fmla="*/ 1204912 h 75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09" h="759">
                <a:moveTo>
                  <a:pt x="309" y="0"/>
                </a:moveTo>
                <a:cubicBezTo>
                  <a:pt x="298" y="63"/>
                  <a:pt x="273" y="279"/>
                  <a:pt x="243" y="381"/>
                </a:cubicBezTo>
                <a:cubicBezTo>
                  <a:pt x="213" y="483"/>
                  <a:pt x="169" y="549"/>
                  <a:pt x="129" y="612"/>
                </a:cubicBezTo>
                <a:cubicBezTo>
                  <a:pt x="89" y="675"/>
                  <a:pt x="27" y="729"/>
                  <a:pt x="0" y="759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auto">
          <a:xfrm flipV="1">
            <a:off x="5194300" y="1968298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5211763" y="1846696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15" name="Forme libre 14"/>
          <p:cNvSpPr/>
          <p:nvPr/>
        </p:nvSpPr>
        <p:spPr>
          <a:xfrm>
            <a:off x="6012160" y="1987347"/>
            <a:ext cx="617220" cy="1297311"/>
          </a:xfrm>
          <a:custGeom>
            <a:avLst/>
            <a:gdLst>
              <a:gd name="connsiteX0" fmla="*/ 617220 w 617220"/>
              <a:gd name="connsiteY0" fmla="*/ 0 h 994410"/>
              <a:gd name="connsiteX1" fmla="*/ 434340 w 617220"/>
              <a:gd name="connsiteY1" fmla="*/ 422910 h 994410"/>
              <a:gd name="connsiteX2" fmla="*/ 0 w 617220"/>
              <a:gd name="connsiteY2" fmla="*/ 994410 h 99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7220" h="994410">
                <a:moveTo>
                  <a:pt x="617220" y="0"/>
                </a:moveTo>
                <a:cubicBezTo>
                  <a:pt x="577215" y="128587"/>
                  <a:pt x="537210" y="257175"/>
                  <a:pt x="434340" y="422910"/>
                </a:cubicBezTo>
                <a:cubicBezTo>
                  <a:pt x="331470" y="588645"/>
                  <a:pt x="165735" y="791527"/>
                  <a:pt x="0" y="99441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5452110" y="2115221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+ </a:t>
            </a:r>
            <a:r>
              <a:rPr lang="fr-FR" dirty="0" smtClean="0">
                <a:sym typeface="Symbol"/>
              </a:rPr>
              <a:t></a:t>
            </a:r>
            <a:endParaRPr lang="fr-FR" dirty="0"/>
          </a:p>
        </p:txBody>
      </p:sp>
      <p:sp>
        <p:nvSpPr>
          <p:cNvPr id="17" name="Forme libre 16"/>
          <p:cNvSpPr/>
          <p:nvPr/>
        </p:nvSpPr>
        <p:spPr>
          <a:xfrm>
            <a:off x="6718300" y="1968298"/>
            <a:ext cx="406400" cy="1841500"/>
          </a:xfrm>
          <a:custGeom>
            <a:avLst/>
            <a:gdLst>
              <a:gd name="connsiteX0" fmla="*/ 0 w 406400"/>
              <a:gd name="connsiteY0" fmla="*/ 0 h 1841500"/>
              <a:gd name="connsiteX1" fmla="*/ 304800 w 406400"/>
              <a:gd name="connsiteY1" fmla="*/ 1168400 h 1841500"/>
              <a:gd name="connsiteX2" fmla="*/ 406400 w 406400"/>
              <a:gd name="connsiteY2" fmla="*/ 1841500 h 18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400" h="1841500">
                <a:moveTo>
                  <a:pt x="0" y="0"/>
                </a:moveTo>
                <a:cubicBezTo>
                  <a:pt x="118533" y="430741"/>
                  <a:pt x="237067" y="861483"/>
                  <a:pt x="304800" y="1168400"/>
                </a:cubicBezTo>
                <a:cubicBezTo>
                  <a:pt x="372533" y="1475317"/>
                  <a:pt x="389466" y="1658408"/>
                  <a:pt x="406400" y="18415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orme libre 17"/>
          <p:cNvSpPr/>
          <p:nvPr/>
        </p:nvSpPr>
        <p:spPr>
          <a:xfrm>
            <a:off x="7124700" y="3797098"/>
            <a:ext cx="469900" cy="546100"/>
          </a:xfrm>
          <a:custGeom>
            <a:avLst/>
            <a:gdLst>
              <a:gd name="connsiteX0" fmla="*/ 0 w 469900"/>
              <a:gd name="connsiteY0" fmla="*/ 0 h 546100"/>
              <a:gd name="connsiteX1" fmla="*/ 228600 w 469900"/>
              <a:gd name="connsiteY1" fmla="*/ 215900 h 546100"/>
              <a:gd name="connsiteX2" fmla="*/ 469900 w 469900"/>
              <a:gd name="connsiteY2" fmla="*/ 54610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46100">
                <a:moveTo>
                  <a:pt x="0" y="0"/>
                </a:moveTo>
                <a:cubicBezTo>
                  <a:pt x="75141" y="62441"/>
                  <a:pt x="150283" y="124883"/>
                  <a:pt x="228600" y="215900"/>
                </a:cubicBezTo>
                <a:cubicBezTo>
                  <a:pt x="306917" y="306917"/>
                  <a:pt x="388408" y="426508"/>
                  <a:pt x="469900" y="5461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orme libre 18"/>
          <p:cNvSpPr/>
          <p:nvPr/>
        </p:nvSpPr>
        <p:spPr>
          <a:xfrm>
            <a:off x="6588224" y="3809798"/>
            <a:ext cx="536476" cy="533400"/>
          </a:xfrm>
          <a:custGeom>
            <a:avLst/>
            <a:gdLst>
              <a:gd name="connsiteX0" fmla="*/ 469900 w 469900"/>
              <a:gd name="connsiteY0" fmla="*/ 0 h 508000"/>
              <a:gd name="connsiteX1" fmla="*/ 292100 w 469900"/>
              <a:gd name="connsiteY1" fmla="*/ 228600 h 508000"/>
              <a:gd name="connsiteX2" fmla="*/ 0 w 469900"/>
              <a:gd name="connsiteY2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08000">
                <a:moveTo>
                  <a:pt x="469900" y="0"/>
                </a:moveTo>
                <a:cubicBezTo>
                  <a:pt x="420158" y="71966"/>
                  <a:pt x="370417" y="143933"/>
                  <a:pt x="292100" y="228600"/>
                </a:cubicBezTo>
                <a:cubicBezTo>
                  <a:pt x="213783" y="313267"/>
                  <a:pt x="106891" y="410633"/>
                  <a:pt x="0" y="508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orme libre 19"/>
          <p:cNvSpPr/>
          <p:nvPr/>
        </p:nvSpPr>
        <p:spPr>
          <a:xfrm>
            <a:off x="5397500" y="1980998"/>
            <a:ext cx="152400" cy="228600"/>
          </a:xfrm>
          <a:custGeom>
            <a:avLst/>
            <a:gdLst>
              <a:gd name="connsiteX0" fmla="*/ 152400 w 152400"/>
              <a:gd name="connsiteY0" fmla="*/ 0 h 228600"/>
              <a:gd name="connsiteX1" fmla="*/ 114300 w 152400"/>
              <a:gd name="connsiteY1" fmla="*/ 127000 h 228600"/>
              <a:gd name="connsiteX2" fmla="*/ 0 w 152400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0" h="228600">
                <a:moveTo>
                  <a:pt x="152400" y="0"/>
                </a:moveTo>
                <a:cubicBezTo>
                  <a:pt x="146050" y="44450"/>
                  <a:pt x="139700" y="88900"/>
                  <a:pt x="114300" y="127000"/>
                </a:cubicBezTo>
                <a:cubicBezTo>
                  <a:pt x="88900" y="165100"/>
                  <a:pt x="44450" y="196850"/>
                  <a:pt x="0" y="2286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orme libre 20"/>
          <p:cNvSpPr/>
          <p:nvPr/>
        </p:nvSpPr>
        <p:spPr>
          <a:xfrm>
            <a:off x="6804248" y="1980997"/>
            <a:ext cx="1224136" cy="1735709"/>
          </a:xfrm>
          <a:custGeom>
            <a:avLst/>
            <a:gdLst>
              <a:gd name="connsiteX0" fmla="*/ 0 w 1130300"/>
              <a:gd name="connsiteY0" fmla="*/ 0 h 1625600"/>
              <a:gd name="connsiteX1" fmla="*/ 546100 w 1130300"/>
              <a:gd name="connsiteY1" fmla="*/ 990600 h 1625600"/>
              <a:gd name="connsiteX2" fmla="*/ 1130300 w 1130300"/>
              <a:gd name="connsiteY2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0300" h="1625600">
                <a:moveTo>
                  <a:pt x="0" y="0"/>
                </a:moveTo>
                <a:cubicBezTo>
                  <a:pt x="178858" y="359833"/>
                  <a:pt x="357717" y="719667"/>
                  <a:pt x="546100" y="990600"/>
                </a:cubicBezTo>
                <a:cubicBezTo>
                  <a:pt x="734483" y="1261533"/>
                  <a:pt x="932391" y="1443566"/>
                  <a:pt x="1130300" y="16256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 21"/>
          <p:cNvSpPr/>
          <p:nvPr/>
        </p:nvSpPr>
        <p:spPr>
          <a:xfrm>
            <a:off x="8267700" y="1980998"/>
            <a:ext cx="419100" cy="546100"/>
          </a:xfrm>
          <a:custGeom>
            <a:avLst/>
            <a:gdLst>
              <a:gd name="connsiteX0" fmla="*/ 0 w 419100"/>
              <a:gd name="connsiteY0" fmla="*/ 0 h 546100"/>
              <a:gd name="connsiteX1" fmla="*/ 165100 w 419100"/>
              <a:gd name="connsiteY1" fmla="*/ 304800 h 546100"/>
              <a:gd name="connsiteX2" fmla="*/ 419100 w 419100"/>
              <a:gd name="connsiteY2" fmla="*/ 54610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9100" h="546100">
                <a:moveTo>
                  <a:pt x="0" y="0"/>
                </a:moveTo>
                <a:cubicBezTo>
                  <a:pt x="47625" y="106891"/>
                  <a:pt x="95250" y="213783"/>
                  <a:pt x="165100" y="304800"/>
                </a:cubicBezTo>
                <a:cubicBezTo>
                  <a:pt x="234950" y="395817"/>
                  <a:pt x="327025" y="470958"/>
                  <a:pt x="419100" y="5461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7532712" y="2267621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+ </a:t>
            </a:r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>
            <a:off x="6668616" y="3131350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</a:t>
            </a:r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805662" y="2794592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 rot="-1860000" flipH="1">
            <a:off x="6919962" y="2755202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 rot="-780000">
            <a:off x="7237710" y="3994990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rot="-3960000" flipH="1">
            <a:off x="7314407" y="3924563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rot="-2820000" flipH="1">
            <a:off x="6744535" y="4002659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 rot="360000" flipH="1">
            <a:off x="6829275" y="4081279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098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</a:t>
            </a:r>
            <a:r>
              <a:rPr lang="fr-FR" sz="2400" dirty="0" err="1" smtClean="0"/>
              <a:t>peritectiques</a:t>
            </a:r>
            <a:r>
              <a:rPr lang="fr-FR" sz="2400" dirty="0" smtClean="0"/>
              <a:t> et 1 eutectique binaires</a:t>
            </a:r>
            <a:endParaRPr lang="fr-FR" sz="2400" dirty="0"/>
          </a:p>
        </p:txBody>
      </p:sp>
      <p:pic>
        <p:nvPicPr>
          <p:cNvPr id="6" name="Picture 4" descr="Class-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2" t="18051" r="19753" b="21094"/>
          <a:stretch>
            <a:fillRect/>
          </a:stretch>
        </p:blipFill>
        <p:spPr bwMode="auto">
          <a:xfrm>
            <a:off x="-36512" y="977698"/>
            <a:ext cx="55626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5"/>
          <p:cNvSpPr>
            <a:spLocks/>
          </p:cNvSpPr>
          <p:nvPr/>
        </p:nvSpPr>
        <p:spPr bwMode="auto">
          <a:xfrm>
            <a:off x="534988" y="2311198"/>
            <a:ext cx="4114800" cy="2095500"/>
          </a:xfrm>
          <a:custGeom>
            <a:avLst/>
            <a:gdLst>
              <a:gd name="T0" fmla="*/ 0 w 2592"/>
              <a:gd name="T1" fmla="*/ 66675 h 1320"/>
              <a:gd name="T2" fmla="*/ 4114800 w 2592"/>
              <a:gd name="T3" fmla="*/ 0 h 1320"/>
              <a:gd name="T4" fmla="*/ 1514475 w 2592"/>
              <a:gd name="T5" fmla="*/ 2095500 h 1320"/>
              <a:gd name="T6" fmla="*/ 0 w 2592"/>
              <a:gd name="T7" fmla="*/ 66675 h 13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92" h="1320">
                <a:moveTo>
                  <a:pt x="0" y="42"/>
                </a:moveTo>
                <a:lnTo>
                  <a:pt x="2592" y="0"/>
                </a:lnTo>
                <a:lnTo>
                  <a:pt x="954" y="1320"/>
                </a:lnTo>
                <a:lnTo>
                  <a:pt x="0" y="42"/>
                </a:lnTo>
                <a:close/>
              </a:path>
            </a:pathLst>
          </a:custGeom>
          <a:solidFill>
            <a:srgbClr val="FFFF99">
              <a:alpha val="39999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2068513" y="2801736"/>
            <a:ext cx="809625" cy="933450"/>
          </a:xfrm>
          <a:custGeom>
            <a:avLst/>
            <a:gdLst>
              <a:gd name="T0" fmla="*/ 0 w 510"/>
              <a:gd name="T1" fmla="*/ 0 h 588"/>
              <a:gd name="T2" fmla="*/ 381000 w 510"/>
              <a:gd name="T3" fmla="*/ 547688 h 588"/>
              <a:gd name="T4" fmla="*/ 809625 w 510"/>
              <a:gd name="T5" fmla="*/ 933450 h 5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10" h="588">
                <a:moveTo>
                  <a:pt x="0" y="0"/>
                </a:moveTo>
                <a:cubicBezTo>
                  <a:pt x="40" y="57"/>
                  <a:pt x="155" y="247"/>
                  <a:pt x="240" y="345"/>
                </a:cubicBezTo>
                <a:cubicBezTo>
                  <a:pt x="325" y="443"/>
                  <a:pt x="454" y="538"/>
                  <a:pt x="510" y="588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>
            <a:off x="3825876" y="2482648"/>
            <a:ext cx="481012" cy="104775"/>
          </a:xfrm>
          <a:custGeom>
            <a:avLst/>
            <a:gdLst>
              <a:gd name="T0" fmla="*/ 0 w 303"/>
              <a:gd name="T1" fmla="*/ 0 h 66"/>
              <a:gd name="T2" fmla="*/ 247650 w 303"/>
              <a:gd name="T3" fmla="*/ 23813 h 66"/>
              <a:gd name="T4" fmla="*/ 481012 w 303"/>
              <a:gd name="T5" fmla="*/ 104775 h 6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3" h="66">
                <a:moveTo>
                  <a:pt x="0" y="0"/>
                </a:moveTo>
                <a:cubicBezTo>
                  <a:pt x="26" y="2"/>
                  <a:pt x="106" y="4"/>
                  <a:pt x="156" y="15"/>
                </a:cubicBezTo>
                <a:cubicBezTo>
                  <a:pt x="206" y="26"/>
                  <a:pt x="273" y="56"/>
                  <a:pt x="303" y="66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1" name="Freeform 8"/>
          <p:cNvSpPr>
            <a:spLocks/>
          </p:cNvSpPr>
          <p:nvPr/>
        </p:nvSpPr>
        <p:spPr bwMode="auto">
          <a:xfrm>
            <a:off x="801688" y="2535036"/>
            <a:ext cx="366713" cy="200025"/>
          </a:xfrm>
          <a:custGeom>
            <a:avLst/>
            <a:gdLst>
              <a:gd name="T0" fmla="*/ 366713 w 231"/>
              <a:gd name="T1" fmla="*/ 0 h 126"/>
              <a:gd name="T2" fmla="*/ 142875 w 231"/>
              <a:gd name="T3" fmla="*/ 80963 h 126"/>
              <a:gd name="T4" fmla="*/ 0 w 231"/>
              <a:gd name="T5" fmla="*/ 200025 h 12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31" h="126">
                <a:moveTo>
                  <a:pt x="231" y="0"/>
                </a:moveTo>
                <a:cubicBezTo>
                  <a:pt x="208" y="8"/>
                  <a:pt x="128" y="30"/>
                  <a:pt x="90" y="51"/>
                </a:cubicBezTo>
                <a:cubicBezTo>
                  <a:pt x="52" y="72"/>
                  <a:pt x="19" y="111"/>
                  <a:pt x="0" y="126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2" name="Freeform 9"/>
          <p:cNvSpPr>
            <a:spLocks/>
          </p:cNvSpPr>
          <p:nvPr/>
        </p:nvSpPr>
        <p:spPr bwMode="auto">
          <a:xfrm>
            <a:off x="1535113" y="2811261"/>
            <a:ext cx="528638" cy="919162"/>
          </a:xfrm>
          <a:custGeom>
            <a:avLst/>
            <a:gdLst>
              <a:gd name="T0" fmla="*/ 528638 w 333"/>
              <a:gd name="T1" fmla="*/ 0 h 579"/>
              <a:gd name="T2" fmla="*/ 319088 w 333"/>
              <a:gd name="T3" fmla="*/ 514350 h 579"/>
              <a:gd name="T4" fmla="*/ 0 w 333"/>
              <a:gd name="T5" fmla="*/ 919162 h 57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3" h="579">
                <a:moveTo>
                  <a:pt x="333" y="0"/>
                </a:moveTo>
                <a:cubicBezTo>
                  <a:pt x="311" y="54"/>
                  <a:pt x="256" y="228"/>
                  <a:pt x="201" y="324"/>
                </a:cubicBezTo>
                <a:cubicBezTo>
                  <a:pt x="146" y="420"/>
                  <a:pt x="42" y="526"/>
                  <a:pt x="0" y="579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3" name="Freeform 10"/>
          <p:cNvSpPr>
            <a:spLocks/>
          </p:cNvSpPr>
          <p:nvPr/>
        </p:nvSpPr>
        <p:spPr bwMode="auto">
          <a:xfrm>
            <a:off x="3830638" y="2320723"/>
            <a:ext cx="223838" cy="157163"/>
          </a:xfrm>
          <a:custGeom>
            <a:avLst/>
            <a:gdLst>
              <a:gd name="T0" fmla="*/ 0 w 141"/>
              <a:gd name="T1" fmla="*/ 157163 h 99"/>
              <a:gd name="T2" fmla="*/ 133350 w 141"/>
              <a:gd name="T3" fmla="*/ 90488 h 99"/>
              <a:gd name="T4" fmla="*/ 223838 w 141"/>
              <a:gd name="T5" fmla="*/ 0 h 9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1" h="99">
                <a:moveTo>
                  <a:pt x="0" y="99"/>
                </a:moveTo>
                <a:cubicBezTo>
                  <a:pt x="14" y="92"/>
                  <a:pt x="60" y="74"/>
                  <a:pt x="84" y="57"/>
                </a:cubicBezTo>
                <a:cubicBezTo>
                  <a:pt x="108" y="40"/>
                  <a:pt x="129" y="12"/>
                  <a:pt x="141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4" name="Freeform 11"/>
          <p:cNvSpPr>
            <a:spLocks/>
          </p:cNvSpPr>
          <p:nvPr/>
        </p:nvSpPr>
        <p:spPr bwMode="auto">
          <a:xfrm>
            <a:off x="1058863" y="2373111"/>
            <a:ext cx="104775" cy="161925"/>
          </a:xfrm>
          <a:custGeom>
            <a:avLst/>
            <a:gdLst>
              <a:gd name="T0" fmla="*/ 104775 w 66"/>
              <a:gd name="T1" fmla="*/ 161925 h 102"/>
              <a:gd name="T2" fmla="*/ 28575 w 66"/>
              <a:gd name="T3" fmla="*/ 95250 h 102"/>
              <a:gd name="T4" fmla="*/ 0 w 66"/>
              <a:gd name="T5" fmla="*/ 0 h 10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6" h="102">
                <a:moveTo>
                  <a:pt x="66" y="102"/>
                </a:moveTo>
                <a:cubicBezTo>
                  <a:pt x="58" y="95"/>
                  <a:pt x="29" y="77"/>
                  <a:pt x="18" y="60"/>
                </a:cubicBezTo>
                <a:cubicBezTo>
                  <a:pt x="7" y="43"/>
                  <a:pt x="4" y="12"/>
                  <a:pt x="0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5" name="Freeform 12"/>
          <p:cNvSpPr>
            <a:spLocks/>
          </p:cNvSpPr>
          <p:nvPr/>
        </p:nvSpPr>
        <p:spPr bwMode="auto">
          <a:xfrm>
            <a:off x="1158876" y="2477886"/>
            <a:ext cx="2686050" cy="323850"/>
          </a:xfrm>
          <a:custGeom>
            <a:avLst/>
            <a:gdLst>
              <a:gd name="T0" fmla="*/ 0 w 1692"/>
              <a:gd name="T1" fmla="*/ 52388 h 204"/>
              <a:gd name="T2" fmla="*/ 2686050 w 1692"/>
              <a:gd name="T3" fmla="*/ 0 h 204"/>
              <a:gd name="T4" fmla="*/ 914400 w 1692"/>
              <a:gd name="T5" fmla="*/ 323850 h 204"/>
              <a:gd name="T6" fmla="*/ 0 w 1692"/>
              <a:gd name="T7" fmla="*/ 52388 h 2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92" h="204">
                <a:moveTo>
                  <a:pt x="0" y="33"/>
                </a:moveTo>
                <a:lnTo>
                  <a:pt x="1692" y="0"/>
                </a:lnTo>
                <a:lnTo>
                  <a:pt x="576" y="204"/>
                </a:lnTo>
                <a:lnTo>
                  <a:pt x="0" y="33"/>
                </a:lnTo>
                <a:close/>
              </a:path>
            </a:pathLst>
          </a:custGeom>
          <a:solidFill>
            <a:srgbClr val="CC00CC">
              <a:alpha val="41176"/>
            </a:srgbClr>
          </a:solidFill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auto">
          <a:xfrm flipV="1">
            <a:off x="5194300" y="1968298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5300663" y="1948296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5892552" y="2735061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+ </a:t>
            </a:r>
            <a:r>
              <a:rPr lang="fr-FR" dirty="0" smtClean="0">
                <a:sym typeface="Symbol"/>
              </a:rPr>
              <a:t></a:t>
            </a:r>
            <a:endParaRPr lang="fr-FR" dirty="0"/>
          </a:p>
        </p:txBody>
      </p:sp>
      <p:sp>
        <p:nvSpPr>
          <p:cNvPr id="19" name="Forme libre 18"/>
          <p:cNvSpPr/>
          <p:nvPr/>
        </p:nvSpPr>
        <p:spPr>
          <a:xfrm>
            <a:off x="6718300" y="1968298"/>
            <a:ext cx="406400" cy="1841500"/>
          </a:xfrm>
          <a:custGeom>
            <a:avLst/>
            <a:gdLst>
              <a:gd name="connsiteX0" fmla="*/ 0 w 406400"/>
              <a:gd name="connsiteY0" fmla="*/ 0 h 1841500"/>
              <a:gd name="connsiteX1" fmla="*/ 304800 w 406400"/>
              <a:gd name="connsiteY1" fmla="*/ 1168400 h 1841500"/>
              <a:gd name="connsiteX2" fmla="*/ 406400 w 406400"/>
              <a:gd name="connsiteY2" fmla="*/ 1841500 h 18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400" h="1841500">
                <a:moveTo>
                  <a:pt x="0" y="0"/>
                </a:moveTo>
                <a:cubicBezTo>
                  <a:pt x="118533" y="430741"/>
                  <a:pt x="237067" y="861483"/>
                  <a:pt x="304800" y="1168400"/>
                </a:cubicBezTo>
                <a:cubicBezTo>
                  <a:pt x="372533" y="1475317"/>
                  <a:pt x="389466" y="1658408"/>
                  <a:pt x="406400" y="18415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orme libre 19"/>
          <p:cNvSpPr/>
          <p:nvPr/>
        </p:nvSpPr>
        <p:spPr>
          <a:xfrm>
            <a:off x="7124700" y="3797098"/>
            <a:ext cx="469900" cy="546100"/>
          </a:xfrm>
          <a:custGeom>
            <a:avLst/>
            <a:gdLst>
              <a:gd name="connsiteX0" fmla="*/ 0 w 469900"/>
              <a:gd name="connsiteY0" fmla="*/ 0 h 546100"/>
              <a:gd name="connsiteX1" fmla="*/ 228600 w 469900"/>
              <a:gd name="connsiteY1" fmla="*/ 215900 h 546100"/>
              <a:gd name="connsiteX2" fmla="*/ 469900 w 469900"/>
              <a:gd name="connsiteY2" fmla="*/ 54610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46100">
                <a:moveTo>
                  <a:pt x="0" y="0"/>
                </a:moveTo>
                <a:cubicBezTo>
                  <a:pt x="75141" y="62441"/>
                  <a:pt x="150283" y="124883"/>
                  <a:pt x="228600" y="215900"/>
                </a:cubicBezTo>
                <a:cubicBezTo>
                  <a:pt x="306917" y="306917"/>
                  <a:pt x="388408" y="426508"/>
                  <a:pt x="469900" y="5461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orme libre 20"/>
          <p:cNvSpPr/>
          <p:nvPr/>
        </p:nvSpPr>
        <p:spPr>
          <a:xfrm>
            <a:off x="6588224" y="3809798"/>
            <a:ext cx="536476" cy="533400"/>
          </a:xfrm>
          <a:custGeom>
            <a:avLst/>
            <a:gdLst>
              <a:gd name="connsiteX0" fmla="*/ 469900 w 469900"/>
              <a:gd name="connsiteY0" fmla="*/ 0 h 508000"/>
              <a:gd name="connsiteX1" fmla="*/ 292100 w 469900"/>
              <a:gd name="connsiteY1" fmla="*/ 228600 h 508000"/>
              <a:gd name="connsiteX2" fmla="*/ 0 w 469900"/>
              <a:gd name="connsiteY2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08000">
                <a:moveTo>
                  <a:pt x="469900" y="0"/>
                </a:moveTo>
                <a:cubicBezTo>
                  <a:pt x="420158" y="71966"/>
                  <a:pt x="370417" y="143933"/>
                  <a:pt x="292100" y="228600"/>
                </a:cubicBezTo>
                <a:cubicBezTo>
                  <a:pt x="213783" y="313267"/>
                  <a:pt x="106891" y="410633"/>
                  <a:pt x="0" y="508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7435850" y="2971439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+ </a:t>
            </a:r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6740624" y="4025698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 </a:t>
            </a:r>
            <a:endParaRPr lang="fr-FR" dirty="0"/>
          </a:p>
        </p:txBody>
      </p:sp>
      <p:sp>
        <p:nvSpPr>
          <p:cNvPr id="24" name="Forme libre 23"/>
          <p:cNvSpPr/>
          <p:nvPr/>
        </p:nvSpPr>
        <p:spPr>
          <a:xfrm>
            <a:off x="6248400" y="2730298"/>
            <a:ext cx="647700" cy="1028700"/>
          </a:xfrm>
          <a:custGeom>
            <a:avLst/>
            <a:gdLst>
              <a:gd name="connsiteX0" fmla="*/ 0 w 647700"/>
              <a:gd name="connsiteY0" fmla="*/ 1028700 h 1028700"/>
              <a:gd name="connsiteX1" fmla="*/ 381000 w 647700"/>
              <a:gd name="connsiteY1" fmla="*/ 558800 h 1028700"/>
              <a:gd name="connsiteX2" fmla="*/ 647700 w 647700"/>
              <a:gd name="connsiteY2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7700" h="1028700">
                <a:moveTo>
                  <a:pt x="0" y="1028700"/>
                </a:moveTo>
                <a:cubicBezTo>
                  <a:pt x="136525" y="879475"/>
                  <a:pt x="273050" y="730250"/>
                  <a:pt x="381000" y="558800"/>
                </a:cubicBezTo>
                <a:cubicBezTo>
                  <a:pt x="488950" y="387350"/>
                  <a:pt x="568325" y="193675"/>
                  <a:pt x="64770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orme libre 24"/>
          <p:cNvSpPr/>
          <p:nvPr/>
        </p:nvSpPr>
        <p:spPr>
          <a:xfrm>
            <a:off x="6934200" y="2755698"/>
            <a:ext cx="1003300" cy="1041400"/>
          </a:xfrm>
          <a:custGeom>
            <a:avLst/>
            <a:gdLst>
              <a:gd name="connsiteX0" fmla="*/ 1003300 w 1003300"/>
              <a:gd name="connsiteY0" fmla="*/ 1041400 h 1041400"/>
              <a:gd name="connsiteX1" fmla="*/ 558800 w 1003300"/>
              <a:gd name="connsiteY1" fmla="*/ 762000 h 1041400"/>
              <a:gd name="connsiteX2" fmla="*/ 0 w 1003300"/>
              <a:gd name="connsiteY2" fmla="*/ 0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3300" h="1041400">
                <a:moveTo>
                  <a:pt x="1003300" y="1041400"/>
                </a:moveTo>
                <a:cubicBezTo>
                  <a:pt x="864658" y="988483"/>
                  <a:pt x="726017" y="935567"/>
                  <a:pt x="558800" y="762000"/>
                </a:cubicBezTo>
                <a:cubicBezTo>
                  <a:pt x="391583" y="588433"/>
                  <a:pt x="195791" y="294216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riangle isocèle 25"/>
          <p:cNvSpPr/>
          <p:nvPr/>
        </p:nvSpPr>
        <p:spPr>
          <a:xfrm flipV="1">
            <a:off x="5851129" y="2311194"/>
            <a:ext cx="2490688" cy="393621"/>
          </a:xfrm>
          <a:prstGeom prst="triangle">
            <a:avLst>
              <a:gd name="adj" fmla="val 41615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orme libre 26"/>
          <p:cNvSpPr/>
          <p:nvPr/>
        </p:nvSpPr>
        <p:spPr>
          <a:xfrm>
            <a:off x="5638799" y="1980998"/>
            <a:ext cx="212329" cy="317500"/>
          </a:xfrm>
          <a:custGeom>
            <a:avLst/>
            <a:gdLst>
              <a:gd name="connsiteX0" fmla="*/ 0 w 177800"/>
              <a:gd name="connsiteY0" fmla="*/ 0 h 317500"/>
              <a:gd name="connsiteX1" fmla="*/ 38100 w 177800"/>
              <a:gd name="connsiteY1" fmla="*/ 139700 h 317500"/>
              <a:gd name="connsiteX2" fmla="*/ 177800 w 177800"/>
              <a:gd name="connsiteY2" fmla="*/ 317500 h 31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800" h="317500">
                <a:moveTo>
                  <a:pt x="0" y="0"/>
                </a:moveTo>
                <a:cubicBezTo>
                  <a:pt x="4233" y="43391"/>
                  <a:pt x="8467" y="86783"/>
                  <a:pt x="38100" y="139700"/>
                </a:cubicBezTo>
                <a:cubicBezTo>
                  <a:pt x="67733" y="192617"/>
                  <a:pt x="122766" y="255058"/>
                  <a:pt x="177800" y="3175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orme libre 27"/>
          <p:cNvSpPr/>
          <p:nvPr/>
        </p:nvSpPr>
        <p:spPr>
          <a:xfrm>
            <a:off x="5511800" y="2320722"/>
            <a:ext cx="339328" cy="142875"/>
          </a:xfrm>
          <a:custGeom>
            <a:avLst/>
            <a:gdLst>
              <a:gd name="connsiteX0" fmla="*/ 292100 w 292100"/>
              <a:gd name="connsiteY0" fmla="*/ 0 h 152400"/>
              <a:gd name="connsiteX1" fmla="*/ 139700 w 292100"/>
              <a:gd name="connsiteY1" fmla="*/ 25400 h 152400"/>
              <a:gd name="connsiteX2" fmla="*/ 0 w 292100"/>
              <a:gd name="connsiteY2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100" h="152400">
                <a:moveTo>
                  <a:pt x="292100" y="0"/>
                </a:moveTo>
                <a:cubicBezTo>
                  <a:pt x="240241" y="0"/>
                  <a:pt x="188383" y="0"/>
                  <a:pt x="139700" y="25400"/>
                </a:cubicBezTo>
                <a:cubicBezTo>
                  <a:pt x="91017" y="50800"/>
                  <a:pt x="45508" y="101600"/>
                  <a:pt x="0" y="1524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Forme libre 28"/>
          <p:cNvSpPr/>
          <p:nvPr/>
        </p:nvSpPr>
        <p:spPr>
          <a:xfrm>
            <a:off x="8341817" y="1993698"/>
            <a:ext cx="249931" cy="304800"/>
          </a:xfrm>
          <a:custGeom>
            <a:avLst/>
            <a:gdLst>
              <a:gd name="connsiteX0" fmla="*/ 0 w 177800"/>
              <a:gd name="connsiteY0" fmla="*/ 304800 h 304800"/>
              <a:gd name="connsiteX1" fmla="*/ 114300 w 177800"/>
              <a:gd name="connsiteY1" fmla="*/ 177800 h 304800"/>
              <a:gd name="connsiteX2" fmla="*/ 177800 w 177800"/>
              <a:gd name="connsiteY2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800" h="304800">
                <a:moveTo>
                  <a:pt x="0" y="304800"/>
                </a:moveTo>
                <a:cubicBezTo>
                  <a:pt x="42333" y="266700"/>
                  <a:pt x="84667" y="228600"/>
                  <a:pt x="114300" y="177800"/>
                </a:cubicBezTo>
                <a:cubicBezTo>
                  <a:pt x="143933" y="127000"/>
                  <a:pt x="160866" y="63500"/>
                  <a:pt x="17780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Forme libre 29"/>
          <p:cNvSpPr/>
          <p:nvPr/>
        </p:nvSpPr>
        <p:spPr>
          <a:xfrm>
            <a:off x="8343900" y="2311198"/>
            <a:ext cx="406400" cy="114300"/>
          </a:xfrm>
          <a:custGeom>
            <a:avLst/>
            <a:gdLst>
              <a:gd name="connsiteX0" fmla="*/ 0 w 406400"/>
              <a:gd name="connsiteY0" fmla="*/ 0 h 114300"/>
              <a:gd name="connsiteX1" fmla="*/ 190500 w 406400"/>
              <a:gd name="connsiteY1" fmla="*/ 25400 h 114300"/>
              <a:gd name="connsiteX2" fmla="*/ 406400 w 406400"/>
              <a:gd name="connsiteY2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400" h="114300">
                <a:moveTo>
                  <a:pt x="0" y="0"/>
                </a:moveTo>
                <a:cubicBezTo>
                  <a:pt x="61383" y="3175"/>
                  <a:pt x="122767" y="6350"/>
                  <a:pt x="190500" y="25400"/>
                </a:cubicBezTo>
                <a:cubicBezTo>
                  <a:pt x="258233" y="44450"/>
                  <a:pt x="332316" y="79375"/>
                  <a:pt x="406400" y="1143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/>
          <p:cNvSpPr txBox="1"/>
          <p:nvPr/>
        </p:nvSpPr>
        <p:spPr>
          <a:xfrm>
            <a:off x="8316416" y="1941866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6896100" y="1920450"/>
            <a:ext cx="7200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33" name="Text Box 7"/>
          <p:cNvSpPr txBox="1">
            <a:spLocks noChangeArrowheads="1"/>
          </p:cNvSpPr>
          <p:nvPr/>
        </p:nvSpPr>
        <p:spPr bwMode="auto">
          <a:xfrm>
            <a:off x="5629275" y="1493750"/>
            <a:ext cx="10390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 smtClean="0">
                <a:ea typeface="ＭＳ Ｐゴシック" charset="0"/>
                <a:sym typeface="Symbol"/>
              </a:rPr>
              <a:t>L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 + 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34" name="Forme libre 33"/>
          <p:cNvSpPr/>
          <p:nvPr/>
        </p:nvSpPr>
        <p:spPr>
          <a:xfrm>
            <a:off x="6286500" y="1815898"/>
            <a:ext cx="533400" cy="660400"/>
          </a:xfrm>
          <a:custGeom>
            <a:avLst/>
            <a:gdLst>
              <a:gd name="connsiteX0" fmla="*/ 0 w 533400"/>
              <a:gd name="connsiteY0" fmla="*/ 0 h 660400"/>
              <a:gd name="connsiteX1" fmla="*/ 330200 w 533400"/>
              <a:gd name="connsiteY1" fmla="*/ 317500 h 660400"/>
              <a:gd name="connsiteX2" fmla="*/ 533400 w 533400"/>
              <a:gd name="connsiteY2" fmla="*/ 660400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60400">
                <a:moveTo>
                  <a:pt x="0" y="0"/>
                </a:moveTo>
                <a:cubicBezTo>
                  <a:pt x="120650" y="103716"/>
                  <a:pt x="241300" y="207433"/>
                  <a:pt x="330200" y="317500"/>
                </a:cubicBezTo>
                <a:cubicBezTo>
                  <a:pt x="419100" y="427567"/>
                  <a:pt x="476250" y="543983"/>
                  <a:pt x="533400" y="66040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5098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</a:t>
            </a:r>
            <a:r>
              <a:rPr lang="fr-FR" sz="2400" dirty="0" err="1" smtClean="0"/>
              <a:t>peritectiques</a:t>
            </a:r>
            <a:r>
              <a:rPr lang="fr-FR" sz="2400" dirty="0" smtClean="0"/>
              <a:t> et 1 eutectique binaires</a:t>
            </a:r>
            <a:endParaRPr lang="fr-FR" sz="2400" dirty="0"/>
          </a:p>
        </p:txBody>
      </p:sp>
      <p:pic>
        <p:nvPicPr>
          <p:cNvPr id="4" name="Picture 4" descr="Class-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2" t="18051" r="19753" b="21094"/>
          <a:stretch>
            <a:fillRect/>
          </a:stretch>
        </p:blipFill>
        <p:spPr bwMode="auto">
          <a:xfrm>
            <a:off x="-36512" y="977698"/>
            <a:ext cx="55626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5"/>
          <p:cNvSpPr>
            <a:spLocks/>
          </p:cNvSpPr>
          <p:nvPr/>
        </p:nvSpPr>
        <p:spPr bwMode="auto">
          <a:xfrm>
            <a:off x="534988" y="2463598"/>
            <a:ext cx="4114800" cy="2095500"/>
          </a:xfrm>
          <a:custGeom>
            <a:avLst/>
            <a:gdLst>
              <a:gd name="T0" fmla="*/ 0 w 2592"/>
              <a:gd name="T1" fmla="*/ 66675 h 1320"/>
              <a:gd name="T2" fmla="*/ 4114800 w 2592"/>
              <a:gd name="T3" fmla="*/ 0 h 1320"/>
              <a:gd name="T4" fmla="*/ 1514475 w 2592"/>
              <a:gd name="T5" fmla="*/ 2095500 h 1320"/>
              <a:gd name="T6" fmla="*/ 0 w 2592"/>
              <a:gd name="T7" fmla="*/ 66675 h 13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92" h="1320">
                <a:moveTo>
                  <a:pt x="0" y="42"/>
                </a:moveTo>
                <a:lnTo>
                  <a:pt x="2592" y="0"/>
                </a:lnTo>
                <a:lnTo>
                  <a:pt x="954" y="1320"/>
                </a:lnTo>
                <a:lnTo>
                  <a:pt x="0" y="42"/>
                </a:lnTo>
                <a:close/>
              </a:path>
            </a:pathLst>
          </a:custGeom>
          <a:solidFill>
            <a:srgbClr val="FFFF99">
              <a:alpha val="39999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2163763" y="3892348"/>
            <a:ext cx="604838" cy="85725"/>
          </a:xfrm>
          <a:custGeom>
            <a:avLst/>
            <a:gdLst>
              <a:gd name="T0" fmla="*/ 0 w 381"/>
              <a:gd name="T1" fmla="*/ 0 h 54"/>
              <a:gd name="T2" fmla="*/ 257175 w 381"/>
              <a:gd name="T3" fmla="*/ 61913 h 54"/>
              <a:gd name="T4" fmla="*/ 604838 w 381"/>
              <a:gd name="T5" fmla="*/ 85725 h 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1" h="54">
                <a:moveTo>
                  <a:pt x="0" y="0"/>
                </a:moveTo>
                <a:cubicBezTo>
                  <a:pt x="27" y="6"/>
                  <a:pt x="98" y="30"/>
                  <a:pt x="162" y="39"/>
                </a:cubicBezTo>
                <a:cubicBezTo>
                  <a:pt x="226" y="48"/>
                  <a:pt x="336" y="51"/>
                  <a:pt x="381" y="54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3578226" y="2746173"/>
            <a:ext cx="700087" cy="36513"/>
          </a:xfrm>
          <a:custGeom>
            <a:avLst/>
            <a:gdLst>
              <a:gd name="T0" fmla="*/ 0 w 441"/>
              <a:gd name="T1" fmla="*/ 36513 h 23"/>
              <a:gd name="T2" fmla="*/ 409575 w 441"/>
              <a:gd name="T3" fmla="*/ 3175 h 23"/>
              <a:gd name="T4" fmla="*/ 700087 w 441"/>
              <a:gd name="T5" fmla="*/ 12700 h 2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41" h="23">
                <a:moveTo>
                  <a:pt x="0" y="23"/>
                </a:moveTo>
                <a:cubicBezTo>
                  <a:pt x="43" y="20"/>
                  <a:pt x="185" y="4"/>
                  <a:pt x="258" y="2"/>
                </a:cubicBezTo>
                <a:cubicBezTo>
                  <a:pt x="331" y="0"/>
                  <a:pt x="403" y="7"/>
                  <a:pt x="441" y="8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839788" y="2744586"/>
            <a:ext cx="423863" cy="200025"/>
          </a:xfrm>
          <a:custGeom>
            <a:avLst/>
            <a:gdLst>
              <a:gd name="T0" fmla="*/ 423863 w 267"/>
              <a:gd name="T1" fmla="*/ 0 h 126"/>
              <a:gd name="T2" fmla="*/ 195263 w 267"/>
              <a:gd name="T3" fmla="*/ 80963 h 126"/>
              <a:gd name="T4" fmla="*/ 0 w 267"/>
              <a:gd name="T5" fmla="*/ 200025 h 12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7" h="126">
                <a:moveTo>
                  <a:pt x="267" y="0"/>
                </a:moveTo>
                <a:cubicBezTo>
                  <a:pt x="243" y="8"/>
                  <a:pt x="168" y="30"/>
                  <a:pt x="123" y="51"/>
                </a:cubicBezTo>
                <a:cubicBezTo>
                  <a:pt x="78" y="72"/>
                  <a:pt x="26" y="110"/>
                  <a:pt x="0" y="126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1" name="Freeform 9"/>
          <p:cNvSpPr>
            <a:spLocks/>
          </p:cNvSpPr>
          <p:nvPr/>
        </p:nvSpPr>
        <p:spPr bwMode="auto">
          <a:xfrm>
            <a:off x="1639888" y="3887586"/>
            <a:ext cx="523875" cy="120650"/>
          </a:xfrm>
          <a:custGeom>
            <a:avLst/>
            <a:gdLst>
              <a:gd name="T0" fmla="*/ 523875 w 330"/>
              <a:gd name="T1" fmla="*/ 0 h 76"/>
              <a:gd name="T2" fmla="*/ 261938 w 330"/>
              <a:gd name="T3" fmla="*/ 100013 h 76"/>
              <a:gd name="T4" fmla="*/ 0 w 330"/>
              <a:gd name="T5" fmla="*/ 119063 h 7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0" h="76">
                <a:moveTo>
                  <a:pt x="330" y="0"/>
                </a:moveTo>
                <a:cubicBezTo>
                  <a:pt x="303" y="10"/>
                  <a:pt x="220" y="50"/>
                  <a:pt x="165" y="63"/>
                </a:cubicBezTo>
                <a:cubicBezTo>
                  <a:pt x="110" y="76"/>
                  <a:pt x="34" y="73"/>
                  <a:pt x="0" y="75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2" name="Freeform 10"/>
          <p:cNvSpPr>
            <a:spLocks/>
          </p:cNvSpPr>
          <p:nvPr/>
        </p:nvSpPr>
        <p:spPr bwMode="auto">
          <a:xfrm>
            <a:off x="3592513" y="2468361"/>
            <a:ext cx="523875" cy="309562"/>
          </a:xfrm>
          <a:custGeom>
            <a:avLst/>
            <a:gdLst>
              <a:gd name="T0" fmla="*/ 0 w 330"/>
              <a:gd name="T1" fmla="*/ 309562 h 195"/>
              <a:gd name="T2" fmla="*/ 309563 w 330"/>
              <a:gd name="T3" fmla="*/ 152400 h 195"/>
              <a:gd name="T4" fmla="*/ 523875 w 330"/>
              <a:gd name="T5" fmla="*/ 0 h 19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0" h="195">
                <a:moveTo>
                  <a:pt x="0" y="195"/>
                </a:moveTo>
                <a:cubicBezTo>
                  <a:pt x="32" y="179"/>
                  <a:pt x="140" y="128"/>
                  <a:pt x="195" y="96"/>
                </a:cubicBezTo>
                <a:cubicBezTo>
                  <a:pt x="250" y="64"/>
                  <a:pt x="302" y="20"/>
                  <a:pt x="330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3" name="Freeform 11"/>
          <p:cNvSpPr>
            <a:spLocks/>
          </p:cNvSpPr>
          <p:nvPr/>
        </p:nvSpPr>
        <p:spPr bwMode="auto">
          <a:xfrm>
            <a:off x="1025526" y="2525511"/>
            <a:ext cx="233362" cy="219075"/>
          </a:xfrm>
          <a:custGeom>
            <a:avLst/>
            <a:gdLst>
              <a:gd name="T0" fmla="*/ 233362 w 147"/>
              <a:gd name="T1" fmla="*/ 219075 h 138"/>
              <a:gd name="T2" fmla="*/ 104775 w 147"/>
              <a:gd name="T3" fmla="*/ 128588 h 138"/>
              <a:gd name="T4" fmla="*/ 0 w 147"/>
              <a:gd name="T5" fmla="*/ 0 h 13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7" h="138">
                <a:moveTo>
                  <a:pt x="147" y="138"/>
                </a:moveTo>
                <a:cubicBezTo>
                  <a:pt x="133" y="129"/>
                  <a:pt x="90" y="104"/>
                  <a:pt x="66" y="81"/>
                </a:cubicBezTo>
                <a:cubicBezTo>
                  <a:pt x="42" y="58"/>
                  <a:pt x="14" y="17"/>
                  <a:pt x="0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4" name="Freeform 12"/>
          <p:cNvSpPr>
            <a:spLocks/>
          </p:cNvSpPr>
          <p:nvPr/>
        </p:nvSpPr>
        <p:spPr bwMode="auto">
          <a:xfrm>
            <a:off x="1258888" y="2744586"/>
            <a:ext cx="2319338" cy="1143000"/>
          </a:xfrm>
          <a:custGeom>
            <a:avLst/>
            <a:gdLst>
              <a:gd name="T0" fmla="*/ 0 w 1461"/>
              <a:gd name="T1" fmla="*/ 0 h 720"/>
              <a:gd name="T2" fmla="*/ 2319338 w 1461"/>
              <a:gd name="T3" fmla="*/ 33338 h 720"/>
              <a:gd name="T4" fmla="*/ 904875 w 1461"/>
              <a:gd name="T5" fmla="*/ 1143000 h 720"/>
              <a:gd name="T6" fmla="*/ 0 w 1461"/>
              <a:gd name="T7" fmla="*/ 0 h 7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61" h="720">
                <a:moveTo>
                  <a:pt x="0" y="0"/>
                </a:moveTo>
                <a:lnTo>
                  <a:pt x="1461" y="21"/>
                </a:lnTo>
                <a:lnTo>
                  <a:pt x="570" y="720"/>
                </a:lnTo>
                <a:lnTo>
                  <a:pt x="0" y="0"/>
                </a:lnTo>
                <a:close/>
              </a:path>
            </a:pathLst>
          </a:custGeom>
          <a:solidFill>
            <a:srgbClr val="CC00CC">
              <a:alpha val="41176"/>
            </a:srgbClr>
          </a:solidFill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auto">
          <a:xfrm flipV="1">
            <a:off x="5194300" y="1968298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5300663" y="1948296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6028928" y="3246791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+ </a:t>
            </a:r>
            <a:r>
              <a:rPr lang="fr-FR" dirty="0" smtClean="0">
                <a:sym typeface="Symbol"/>
              </a:rPr>
              <a:t></a:t>
            </a:r>
            <a:endParaRPr lang="fr-FR" dirty="0"/>
          </a:p>
        </p:txBody>
      </p:sp>
      <p:sp>
        <p:nvSpPr>
          <p:cNvPr id="18" name="Forme libre 17"/>
          <p:cNvSpPr/>
          <p:nvPr/>
        </p:nvSpPr>
        <p:spPr>
          <a:xfrm>
            <a:off x="6718300" y="1968298"/>
            <a:ext cx="406400" cy="1841500"/>
          </a:xfrm>
          <a:custGeom>
            <a:avLst/>
            <a:gdLst>
              <a:gd name="connsiteX0" fmla="*/ 0 w 406400"/>
              <a:gd name="connsiteY0" fmla="*/ 0 h 1841500"/>
              <a:gd name="connsiteX1" fmla="*/ 304800 w 406400"/>
              <a:gd name="connsiteY1" fmla="*/ 1168400 h 1841500"/>
              <a:gd name="connsiteX2" fmla="*/ 406400 w 406400"/>
              <a:gd name="connsiteY2" fmla="*/ 1841500 h 18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400" h="1841500">
                <a:moveTo>
                  <a:pt x="0" y="0"/>
                </a:moveTo>
                <a:cubicBezTo>
                  <a:pt x="118533" y="430741"/>
                  <a:pt x="237067" y="861483"/>
                  <a:pt x="304800" y="1168400"/>
                </a:cubicBezTo>
                <a:cubicBezTo>
                  <a:pt x="372533" y="1475317"/>
                  <a:pt x="389466" y="1658408"/>
                  <a:pt x="406400" y="18415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orme libre 18"/>
          <p:cNvSpPr/>
          <p:nvPr/>
        </p:nvSpPr>
        <p:spPr>
          <a:xfrm>
            <a:off x="7124700" y="3797098"/>
            <a:ext cx="469900" cy="546100"/>
          </a:xfrm>
          <a:custGeom>
            <a:avLst/>
            <a:gdLst>
              <a:gd name="connsiteX0" fmla="*/ 0 w 469900"/>
              <a:gd name="connsiteY0" fmla="*/ 0 h 546100"/>
              <a:gd name="connsiteX1" fmla="*/ 228600 w 469900"/>
              <a:gd name="connsiteY1" fmla="*/ 215900 h 546100"/>
              <a:gd name="connsiteX2" fmla="*/ 469900 w 469900"/>
              <a:gd name="connsiteY2" fmla="*/ 54610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46100">
                <a:moveTo>
                  <a:pt x="0" y="0"/>
                </a:moveTo>
                <a:cubicBezTo>
                  <a:pt x="75141" y="62441"/>
                  <a:pt x="150283" y="124883"/>
                  <a:pt x="228600" y="215900"/>
                </a:cubicBezTo>
                <a:cubicBezTo>
                  <a:pt x="306917" y="306917"/>
                  <a:pt x="388408" y="426508"/>
                  <a:pt x="469900" y="5461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orme libre 19"/>
          <p:cNvSpPr/>
          <p:nvPr/>
        </p:nvSpPr>
        <p:spPr>
          <a:xfrm>
            <a:off x="6588224" y="3809798"/>
            <a:ext cx="536476" cy="533400"/>
          </a:xfrm>
          <a:custGeom>
            <a:avLst/>
            <a:gdLst>
              <a:gd name="connsiteX0" fmla="*/ 469900 w 469900"/>
              <a:gd name="connsiteY0" fmla="*/ 0 h 508000"/>
              <a:gd name="connsiteX1" fmla="*/ 292100 w 469900"/>
              <a:gd name="connsiteY1" fmla="*/ 228600 h 508000"/>
              <a:gd name="connsiteX2" fmla="*/ 0 w 469900"/>
              <a:gd name="connsiteY2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08000">
                <a:moveTo>
                  <a:pt x="469900" y="0"/>
                </a:moveTo>
                <a:cubicBezTo>
                  <a:pt x="420158" y="71966"/>
                  <a:pt x="370417" y="143933"/>
                  <a:pt x="292100" y="228600"/>
                </a:cubicBezTo>
                <a:cubicBezTo>
                  <a:pt x="213783" y="313267"/>
                  <a:pt x="106891" y="410633"/>
                  <a:pt x="0" y="508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/>
          <p:cNvSpPr txBox="1"/>
          <p:nvPr/>
        </p:nvSpPr>
        <p:spPr>
          <a:xfrm>
            <a:off x="7445796" y="3247664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+ </a:t>
            </a:r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6740624" y="4025698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 </a:t>
            </a:r>
            <a:endParaRPr lang="fr-FR" dirty="0"/>
          </a:p>
        </p:txBody>
      </p:sp>
      <p:sp>
        <p:nvSpPr>
          <p:cNvPr id="23" name="Triangle isocèle 22"/>
          <p:cNvSpPr/>
          <p:nvPr/>
        </p:nvSpPr>
        <p:spPr>
          <a:xfrm flipV="1">
            <a:off x="5851129" y="2311193"/>
            <a:ext cx="2490688" cy="1485904"/>
          </a:xfrm>
          <a:prstGeom prst="triangle">
            <a:avLst>
              <a:gd name="adj" fmla="val 50793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orme libre 23"/>
          <p:cNvSpPr/>
          <p:nvPr/>
        </p:nvSpPr>
        <p:spPr>
          <a:xfrm>
            <a:off x="5638799" y="1980998"/>
            <a:ext cx="212329" cy="317500"/>
          </a:xfrm>
          <a:custGeom>
            <a:avLst/>
            <a:gdLst>
              <a:gd name="connsiteX0" fmla="*/ 0 w 177800"/>
              <a:gd name="connsiteY0" fmla="*/ 0 h 317500"/>
              <a:gd name="connsiteX1" fmla="*/ 38100 w 177800"/>
              <a:gd name="connsiteY1" fmla="*/ 139700 h 317500"/>
              <a:gd name="connsiteX2" fmla="*/ 177800 w 177800"/>
              <a:gd name="connsiteY2" fmla="*/ 317500 h 31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800" h="317500">
                <a:moveTo>
                  <a:pt x="0" y="0"/>
                </a:moveTo>
                <a:cubicBezTo>
                  <a:pt x="4233" y="43391"/>
                  <a:pt x="8467" y="86783"/>
                  <a:pt x="38100" y="139700"/>
                </a:cubicBezTo>
                <a:cubicBezTo>
                  <a:pt x="67733" y="192617"/>
                  <a:pt x="122766" y="255058"/>
                  <a:pt x="177800" y="3175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orme libre 24"/>
          <p:cNvSpPr/>
          <p:nvPr/>
        </p:nvSpPr>
        <p:spPr>
          <a:xfrm>
            <a:off x="5511800" y="2320722"/>
            <a:ext cx="339328" cy="142875"/>
          </a:xfrm>
          <a:custGeom>
            <a:avLst/>
            <a:gdLst>
              <a:gd name="connsiteX0" fmla="*/ 292100 w 292100"/>
              <a:gd name="connsiteY0" fmla="*/ 0 h 152400"/>
              <a:gd name="connsiteX1" fmla="*/ 139700 w 292100"/>
              <a:gd name="connsiteY1" fmla="*/ 25400 h 152400"/>
              <a:gd name="connsiteX2" fmla="*/ 0 w 292100"/>
              <a:gd name="connsiteY2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100" h="152400">
                <a:moveTo>
                  <a:pt x="292100" y="0"/>
                </a:moveTo>
                <a:cubicBezTo>
                  <a:pt x="240241" y="0"/>
                  <a:pt x="188383" y="0"/>
                  <a:pt x="139700" y="25400"/>
                </a:cubicBezTo>
                <a:cubicBezTo>
                  <a:pt x="91017" y="50800"/>
                  <a:pt x="45508" y="101600"/>
                  <a:pt x="0" y="1524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orme libre 25"/>
          <p:cNvSpPr/>
          <p:nvPr/>
        </p:nvSpPr>
        <p:spPr>
          <a:xfrm>
            <a:off x="8341817" y="1993698"/>
            <a:ext cx="249931" cy="304800"/>
          </a:xfrm>
          <a:custGeom>
            <a:avLst/>
            <a:gdLst>
              <a:gd name="connsiteX0" fmla="*/ 0 w 177800"/>
              <a:gd name="connsiteY0" fmla="*/ 304800 h 304800"/>
              <a:gd name="connsiteX1" fmla="*/ 114300 w 177800"/>
              <a:gd name="connsiteY1" fmla="*/ 177800 h 304800"/>
              <a:gd name="connsiteX2" fmla="*/ 177800 w 177800"/>
              <a:gd name="connsiteY2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800" h="304800">
                <a:moveTo>
                  <a:pt x="0" y="304800"/>
                </a:moveTo>
                <a:cubicBezTo>
                  <a:pt x="42333" y="266700"/>
                  <a:pt x="84667" y="228600"/>
                  <a:pt x="114300" y="177800"/>
                </a:cubicBezTo>
                <a:cubicBezTo>
                  <a:pt x="143933" y="127000"/>
                  <a:pt x="160866" y="63500"/>
                  <a:pt x="17780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orme libre 26"/>
          <p:cNvSpPr/>
          <p:nvPr/>
        </p:nvSpPr>
        <p:spPr>
          <a:xfrm>
            <a:off x="8343900" y="2311198"/>
            <a:ext cx="406400" cy="114300"/>
          </a:xfrm>
          <a:custGeom>
            <a:avLst/>
            <a:gdLst>
              <a:gd name="connsiteX0" fmla="*/ 0 w 406400"/>
              <a:gd name="connsiteY0" fmla="*/ 0 h 114300"/>
              <a:gd name="connsiteX1" fmla="*/ 190500 w 406400"/>
              <a:gd name="connsiteY1" fmla="*/ 25400 h 114300"/>
              <a:gd name="connsiteX2" fmla="*/ 406400 w 406400"/>
              <a:gd name="connsiteY2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400" h="114300">
                <a:moveTo>
                  <a:pt x="0" y="0"/>
                </a:moveTo>
                <a:cubicBezTo>
                  <a:pt x="61383" y="3175"/>
                  <a:pt x="122767" y="6350"/>
                  <a:pt x="190500" y="25400"/>
                </a:cubicBezTo>
                <a:cubicBezTo>
                  <a:pt x="258233" y="44450"/>
                  <a:pt x="332316" y="79375"/>
                  <a:pt x="406400" y="1143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/>
          <p:cNvSpPr txBox="1"/>
          <p:nvPr/>
        </p:nvSpPr>
        <p:spPr>
          <a:xfrm>
            <a:off x="8316416" y="1941866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6896100" y="1920450"/>
            <a:ext cx="7200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5629275" y="1493750"/>
            <a:ext cx="10390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 smtClean="0">
                <a:ea typeface="ＭＳ Ｐゴシック" charset="0"/>
                <a:sym typeface="Symbol"/>
              </a:rPr>
              <a:t>L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 + 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31" name="Forme libre 30"/>
          <p:cNvSpPr/>
          <p:nvPr/>
        </p:nvSpPr>
        <p:spPr>
          <a:xfrm>
            <a:off x="6286500" y="1815898"/>
            <a:ext cx="533400" cy="660400"/>
          </a:xfrm>
          <a:custGeom>
            <a:avLst/>
            <a:gdLst>
              <a:gd name="connsiteX0" fmla="*/ 0 w 533400"/>
              <a:gd name="connsiteY0" fmla="*/ 0 h 660400"/>
              <a:gd name="connsiteX1" fmla="*/ 330200 w 533400"/>
              <a:gd name="connsiteY1" fmla="*/ 317500 h 660400"/>
              <a:gd name="connsiteX2" fmla="*/ 533400 w 533400"/>
              <a:gd name="connsiteY2" fmla="*/ 660400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660400">
                <a:moveTo>
                  <a:pt x="0" y="0"/>
                </a:moveTo>
                <a:cubicBezTo>
                  <a:pt x="120650" y="103716"/>
                  <a:pt x="241300" y="207433"/>
                  <a:pt x="330200" y="317500"/>
                </a:cubicBezTo>
                <a:cubicBezTo>
                  <a:pt x="419100" y="427567"/>
                  <a:pt x="476250" y="543983"/>
                  <a:pt x="533400" y="66040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Forme libre 31"/>
          <p:cNvSpPr/>
          <p:nvPr/>
        </p:nvSpPr>
        <p:spPr>
          <a:xfrm>
            <a:off x="7112000" y="3822498"/>
            <a:ext cx="711200" cy="203200"/>
          </a:xfrm>
          <a:custGeom>
            <a:avLst/>
            <a:gdLst>
              <a:gd name="connsiteX0" fmla="*/ 0 w 711200"/>
              <a:gd name="connsiteY0" fmla="*/ 0 h 203200"/>
              <a:gd name="connsiteX1" fmla="*/ 304800 w 711200"/>
              <a:gd name="connsiteY1" fmla="*/ 127000 h 203200"/>
              <a:gd name="connsiteX2" fmla="*/ 711200 w 711200"/>
              <a:gd name="connsiteY2" fmla="*/ 20320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1200" h="203200">
                <a:moveTo>
                  <a:pt x="0" y="0"/>
                </a:moveTo>
                <a:cubicBezTo>
                  <a:pt x="93133" y="46566"/>
                  <a:pt x="186267" y="93133"/>
                  <a:pt x="304800" y="127000"/>
                </a:cubicBezTo>
                <a:cubicBezTo>
                  <a:pt x="423333" y="160867"/>
                  <a:pt x="567266" y="182033"/>
                  <a:pt x="711200" y="2032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Forme libre 32"/>
          <p:cNvSpPr/>
          <p:nvPr/>
        </p:nvSpPr>
        <p:spPr>
          <a:xfrm>
            <a:off x="6375400" y="3809798"/>
            <a:ext cx="736600" cy="165100"/>
          </a:xfrm>
          <a:custGeom>
            <a:avLst/>
            <a:gdLst>
              <a:gd name="connsiteX0" fmla="*/ 736600 w 736600"/>
              <a:gd name="connsiteY0" fmla="*/ 0 h 165100"/>
              <a:gd name="connsiteX1" fmla="*/ 342900 w 736600"/>
              <a:gd name="connsiteY1" fmla="*/ 127000 h 165100"/>
              <a:gd name="connsiteX2" fmla="*/ 0 w 736600"/>
              <a:gd name="connsiteY2" fmla="*/ 165100 h 165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6600" h="165100">
                <a:moveTo>
                  <a:pt x="736600" y="0"/>
                </a:moveTo>
                <a:cubicBezTo>
                  <a:pt x="601133" y="49741"/>
                  <a:pt x="465667" y="99483"/>
                  <a:pt x="342900" y="127000"/>
                </a:cubicBezTo>
                <a:cubicBezTo>
                  <a:pt x="220133" y="154517"/>
                  <a:pt x="110066" y="159808"/>
                  <a:pt x="0" y="1651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47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</a:t>
            </a:r>
            <a:r>
              <a:rPr lang="fr-FR" sz="2400" dirty="0" err="1" smtClean="0"/>
              <a:t>peritectiques</a:t>
            </a:r>
            <a:r>
              <a:rPr lang="fr-FR" sz="2400" dirty="0" smtClean="0"/>
              <a:t> et 1 eutectique binaires</a:t>
            </a:r>
            <a:endParaRPr lang="fr-FR" sz="2400" dirty="0"/>
          </a:p>
        </p:txBody>
      </p:sp>
      <p:pic>
        <p:nvPicPr>
          <p:cNvPr id="4" name="Picture 4" descr="Class-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2" t="18051" r="19753" b="21094"/>
          <a:stretch>
            <a:fillRect/>
          </a:stretch>
        </p:blipFill>
        <p:spPr bwMode="auto">
          <a:xfrm>
            <a:off x="-36512" y="977698"/>
            <a:ext cx="55626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6"/>
          <p:cNvSpPr>
            <a:spLocks/>
          </p:cNvSpPr>
          <p:nvPr/>
        </p:nvSpPr>
        <p:spPr bwMode="auto">
          <a:xfrm>
            <a:off x="2249488" y="3982836"/>
            <a:ext cx="461963" cy="128587"/>
          </a:xfrm>
          <a:custGeom>
            <a:avLst/>
            <a:gdLst>
              <a:gd name="T0" fmla="*/ 0 w 291"/>
              <a:gd name="T1" fmla="*/ 0 h 81"/>
              <a:gd name="T2" fmla="*/ 180975 w 291"/>
              <a:gd name="T3" fmla="*/ 66675 h 81"/>
              <a:gd name="T4" fmla="*/ 461963 w 291"/>
              <a:gd name="T5" fmla="*/ 128587 h 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1" h="81">
                <a:moveTo>
                  <a:pt x="0" y="0"/>
                </a:moveTo>
                <a:cubicBezTo>
                  <a:pt x="19" y="7"/>
                  <a:pt x="66" y="29"/>
                  <a:pt x="114" y="42"/>
                </a:cubicBezTo>
                <a:cubicBezTo>
                  <a:pt x="162" y="55"/>
                  <a:pt x="254" y="73"/>
                  <a:pt x="291" y="81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3792538" y="2820786"/>
            <a:ext cx="481013" cy="33337"/>
          </a:xfrm>
          <a:custGeom>
            <a:avLst/>
            <a:gdLst>
              <a:gd name="T0" fmla="*/ 0 w 303"/>
              <a:gd name="T1" fmla="*/ 4762 h 21"/>
              <a:gd name="T2" fmla="*/ 204788 w 303"/>
              <a:gd name="T3" fmla="*/ 4762 h 21"/>
              <a:gd name="T4" fmla="*/ 481013 w 303"/>
              <a:gd name="T5" fmla="*/ 33337 h 2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3" h="21">
                <a:moveTo>
                  <a:pt x="0" y="3"/>
                </a:moveTo>
                <a:cubicBezTo>
                  <a:pt x="21" y="3"/>
                  <a:pt x="79" y="0"/>
                  <a:pt x="129" y="3"/>
                </a:cubicBezTo>
                <a:cubicBezTo>
                  <a:pt x="179" y="6"/>
                  <a:pt x="267" y="17"/>
                  <a:pt x="303" y="21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858838" y="2916036"/>
            <a:ext cx="242888" cy="152400"/>
          </a:xfrm>
          <a:custGeom>
            <a:avLst/>
            <a:gdLst>
              <a:gd name="T0" fmla="*/ 242888 w 153"/>
              <a:gd name="T1" fmla="*/ 0 h 96"/>
              <a:gd name="T2" fmla="*/ 119063 w 153"/>
              <a:gd name="T3" fmla="*/ 52388 h 96"/>
              <a:gd name="T4" fmla="*/ 0 w 153"/>
              <a:gd name="T5" fmla="*/ 15240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3" h="96">
                <a:moveTo>
                  <a:pt x="153" y="0"/>
                </a:moveTo>
                <a:cubicBezTo>
                  <a:pt x="140" y="5"/>
                  <a:pt x="100" y="17"/>
                  <a:pt x="75" y="33"/>
                </a:cubicBezTo>
                <a:cubicBezTo>
                  <a:pt x="50" y="49"/>
                  <a:pt x="16" y="83"/>
                  <a:pt x="0" y="96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9" name="Freeform 9"/>
          <p:cNvSpPr>
            <a:spLocks/>
          </p:cNvSpPr>
          <p:nvPr/>
        </p:nvSpPr>
        <p:spPr bwMode="auto">
          <a:xfrm>
            <a:off x="1673226" y="4044748"/>
            <a:ext cx="333375" cy="104775"/>
          </a:xfrm>
          <a:custGeom>
            <a:avLst/>
            <a:gdLst>
              <a:gd name="T0" fmla="*/ 333375 w 210"/>
              <a:gd name="T1" fmla="*/ 0 h 66"/>
              <a:gd name="T2" fmla="*/ 138113 w 210"/>
              <a:gd name="T3" fmla="*/ 80963 h 66"/>
              <a:gd name="T4" fmla="*/ 0 w 210"/>
              <a:gd name="T5" fmla="*/ 104775 h 6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0" h="66">
                <a:moveTo>
                  <a:pt x="210" y="0"/>
                </a:moveTo>
                <a:cubicBezTo>
                  <a:pt x="189" y="9"/>
                  <a:pt x="122" y="40"/>
                  <a:pt x="87" y="51"/>
                </a:cubicBezTo>
                <a:cubicBezTo>
                  <a:pt x="52" y="62"/>
                  <a:pt x="18" y="63"/>
                  <a:pt x="0" y="66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3592513" y="2554086"/>
            <a:ext cx="547688" cy="223837"/>
          </a:xfrm>
          <a:custGeom>
            <a:avLst/>
            <a:gdLst>
              <a:gd name="T0" fmla="*/ 0 w 345"/>
              <a:gd name="T1" fmla="*/ 223837 h 141"/>
              <a:gd name="T2" fmla="*/ 319088 w 345"/>
              <a:gd name="T3" fmla="*/ 114300 h 141"/>
              <a:gd name="T4" fmla="*/ 547688 w 345"/>
              <a:gd name="T5" fmla="*/ 0 h 14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45" h="141">
                <a:moveTo>
                  <a:pt x="0" y="141"/>
                </a:moveTo>
                <a:cubicBezTo>
                  <a:pt x="34" y="129"/>
                  <a:pt x="144" y="95"/>
                  <a:pt x="201" y="72"/>
                </a:cubicBezTo>
                <a:cubicBezTo>
                  <a:pt x="258" y="49"/>
                  <a:pt x="315" y="15"/>
                  <a:pt x="345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1001713" y="2611236"/>
            <a:ext cx="228600" cy="195262"/>
          </a:xfrm>
          <a:custGeom>
            <a:avLst/>
            <a:gdLst>
              <a:gd name="T0" fmla="*/ 228600 w 144"/>
              <a:gd name="T1" fmla="*/ 195262 h 123"/>
              <a:gd name="T2" fmla="*/ 109538 w 144"/>
              <a:gd name="T3" fmla="*/ 90487 h 123"/>
              <a:gd name="T4" fmla="*/ 0 w 144"/>
              <a:gd name="T5" fmla="*/ 0 h 12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123">
                <a:moveTo>
                  <a:pt x="144" y="123"/>
                </a:moveTo>
                <a:cubicBezTo>
                  <a:pt x="132" y="112"/>
                  <a:pt x="93" y="77"/>
                  <a:pt x="69" y="57"/>
                </a:cubicBezTo>
                <a:cubicBezTo>
                  <a:pt x="45" y="37"/>
                  <a:pt x="14" y="12"/>
                  <a:pt x="0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>
            <a:off x="1230313" y="2777923"/>
            <a:ext cx="2347913" cy="542925"/>
          </a:xfrm>
          <a:custGeom>
            <a:avLst/>
            <a:gdLst>
              <a:gd name="T0" fmla="*/ 0 w 1479"/>
              <a:gd name="T1" fmla="*/ 23813 h 342"/>
              <a:gd name="T2" fmla="*/ 2347913 w 1479"/>
              <a:gd name="T3" fmla="*/ 0 h 342"/>
              <a:gd name="T4" fmla="*/ 1042988 w 1479"/>
              <a:gd name="T5" fmla="*/ 542925 h 342"/>
              <a:gd name="T6" fmla="*/ 0 w 1479"/>
              <a:gd name="T7" fmla="*/ 23813 h 3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79" h="342">
                <a:moveTo>
                  <a:pt x="0" y="15"/>
                </a:moveTo>
                <a:lnTo>
                  <a:pt x="1479" y="0"/>
                </a:lnTo>
                <a:lnTo>
                  <a:pt x="657" y="342"/>
                </a:lnTo>
                <a:lnTo>
                  <a:pt x="0" y="15"/>
                </a:lnTo>
                <a:close/>
              </a:path>
            </a:pathLst>
          </a:custGeom>
          <a:solidFill>
            <a:srgbClr val="00CC00">
              <a:alpha val="41176"/>
            </a:srgbClr>
          </a:solidFill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1096963" y="2906511"/>
            <a:ext cx="966788" cy="1138237"/>
          </a:xfrm>
          <a:custGeom>
            <a:avLst/>
            <a:gdLst>
              <a:gd name="T0" fmla="*/ 0 w 609"/>
              <a:gd name="T1" fmla="*/ 0 h 717"/>
              <a:gd name="T2" fmla="*/ 919163 w 609"/>
              <a:gd name="T3" fmla="*/ 1138237 h 717"/>
              <a:gd name="T4" fmla="*/ 966788 w 609"/>
              <a:gd name="T5" fmla="*/ 514350 h 717"/>
              <a:gd name="T6" fmla="*/ 0 w 609"/>
              <a:gd name="T7" fmla="*/ 0 h 71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09" h="717">
                <a:moveTo>
                  <a:pt x="0" y="0"/>
                </a:moveTo>
                <a:lnTo>
                  <a:pt x="579" y="717"/>
                </a:lnTo>
                <a:lnTo>
                  <a:pt x="609" y="324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41176"/>
            </a:srgbClr>
          </a:solidFill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2249488" y="2830311"/>
            <a:ext cx="1543050" cy="1162050"/>
          </a:xfrm>
          <a:custGeom>
            <a:avLst/>
            <a:gdLst>
              <a:gd name="T0" fmla="*/ 1543050 w 972"/>
              <a:gd name="T1" fmla="*/ 0 h 732"/>
              <a:gd name="T2" fmla="*/ 0 w 972"/>
              <a:gd name="T3" fmla="*/ 1162050 h 732"/>
              <a:gd name="T4" fmla="*/ 157163 w 972"/>
              <a:gd name="T5" fmla="*/ 566738 h 732"/>
              <a:gd name="T6" fmla="*/ 1543050 w 972"/>
              <a:gd name="T7" fmla="*/ 0 h 73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72" h="732">
                <a:moveTo>
                  <a:pt x="972" y="0"/>
                </a:moveTo>
                <a:lnTo>
                  <a:pt x="0" y="732"/>
                </a:lnTo>
                <a:lnTo>
                  <a:pt x="99" y="357"/>
                </a:lnTo>
                <a:lnTo>
                  <a:pt x="972" y="0"/>
                </a:lnTo>
                <a:close/>
              </a:path>
            </a:pathLst>
          </a:custGeom>
          <a:solidFill>
            <a:srgbClr val="0066FF">
              <a:alpha val="41176"/>
            </a:srgbClr>
          </a:solidFill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2020888" y="3987598"/>
            <a:ext cx="223838" cy="57150"/>
          </a:xfrm>
          <a:custGeom>
            <a:avLst/>
            <a:gdLst>
              <a:gd name="T0" fmla="*/ 223838 w 141"/>
              <a:gd name="T1" fmla="*/ 0 h 36"/>
              <a:gd name="T2" fmla="*/ 119063 w 141"/>
              <a:gd name="T3" fmla="*/ 47625 h 36"/>
              <a:gd name="T4" fmla="*/ 0 w 141"/>
              <a:gd name="T5" fmla="*/ 57150 h 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1" h="36">
                <a:moveTo>
                  <a:pt x="141" y="0"/>
                </a:moveTo>
                <a:cubicBezTo>
                  <a:pt x="130" y="5"/>
                  <a:pt x="98" y="24"/>
                  <a:pt x="75" y="30"/>
                </a:cubicBezTo>
                <a:cubicBezTo>
                  <a:pt x="52" y="36"/>
                  <a:pt x="16" y="35"/>
                  <a:pt x="0" y="36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3597276" y="2768398"/>
            <a:ext cx="200025" cy="57150"/>
          </a:xfrm>
          <a:custGeom>
            <a:avLst/>
            <a:gdLst>
              <a:gd name="T0" fmla="*/ 0 w 126"/>
              <a:gd name="T1" fmla="*/ 0 h 36"/>
              <a:gd name="T2" fmla="*/ 114300 w 126"/>
              <a:gd name="T3" fmla="*/ 19050 h 36"/>
              <a:gd name="T4" fmla="*/ 200025 w 126"/>
              <a:gd name="T5" fmla="*/ 57150 h 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6" h="36">
                <a:moveTo>
                  <a:pt x="0" y="0"/>
                </a:moveTo>
                <a:cubicBezTo>
                  <a:pt x="12" y="2"/>
                  <a:pt x="51" y="6"/>
                  <a:pt x="72" y="12"/>
                </a:cubicBezTo>
                <a:cubicBezTo>
                  <a:pt x="93" y="18"/>
                  <a:pt x="115" y="31"/>
                  <a:pt x="126" y="36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1101726" y="2796973"/>
            <a:ext cx="119062" cy="119063"/>
          </a:xfrm>
          <a:custGeom>
            <a:avLst/>
            <a:gdLst>
              <a:gd name="T0" fmla="*/ 119062 w 75"/>
              <a:gd name="T1" fmla="*/ 0 h 75"/>
              <a:gd name="T2" fmla="*/ 0 w 75"/>
              <a:gd name="T3" fmla="*/ 119063 h 7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5" h="75">
                <a:moveTo>
                  <a:pt x="75" y="0"/>
                </a:moveTo>
                <a:cubicBezTo>
                  <a:pt x="63" y="12"/>
                  <a:pt x="16" y="60"/>
                  <a:pt x="0" y="75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2063751" y="3389111"/>
            <a:ext cx="347662" cy="26987"/>
          </a:xfrm>
          <a:custGeom>
            <a:avLst/>
            <a:gdLst>
              <a:gd name="T0" fmla="*/ 347662 w 219"/>
              <a:gd name="T1" fmla="*/ 7937 h 17"/>
              <a:gd name="T2" fmla="*/ 190500 w 219"/>
              <a:gd name="T3" fmla="*/ 3175 h 17"/>
              <a:gd name="T4" fmla="*/ 0 w 219"/>
              <a:gd name="T5" fmla="*/ 26987 h 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9" h="17">
                <a:moveTo>
                  <a:pt x="219" y="5"/>
                </a:moveTo>
                <a:cubicBezTo>
                  <a:pt x="203" y="5"/>
                  <a:pt x="156" y="0"/>
                  <a:pt x="120" y="2"/>
                </a:cubicBezTo>
                <a:cubicBezTo>
                  <a:pt x="84" y="4"/>
                  <a:pt x="25" y="14"/>
                  <a:pt x="0" y="17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2063751" y="3325611"/>
            <a:ext cx="204787" cy="85725"/>
          </a:xfrm>
          <a:custGeom>
            <a:avLst/>
            <a:gdLst>
              <a:gd name="T0" fmla="*/ 204787 w 129"/>
              <a:gd name="T1" fmla="*/ 0 h 54"/>
              <a:gd name="T2" fmla="*/ 0 w 129"/>
              <a:gd name="T3" fmla="*/ 85725 h 5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29" h="54">
                <a:moveTo>
                  <a:pt x="129" y="0"/>
                </a:moveTo>
                <a:cubicBezTo>
                  <a:pt x="107" y="9"/>
                  <a:pt x="27" y="43"/>
                  <a:pt x="0" y="54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2263776" y="3325611"/>
            <a:ext cx="142875" cy="66675"/>
          </a:xfrm>
          <a:custGeom>
            <a:avLst/>
            <a:gdLst>
              <a:gd name="T0" fmla="*/ 142875 w 90"/>
              <a:gd name="T1" fmla="*/ 66675 h 42"/>
              <a:gd name="T2" fmla="*/ 0 w 90"/>
              <a:gd name="T3" fmla="*/ 0 h 4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0" h="42">
                <a:moveTo>
                  <a:pt x="90" y="42"/>
                </a:moveTo>
                <a:cubicBezTo>
                  <a:pt x="75" y="35"/>
                  <a:pt x="19" y="9"/>
                  <a:pt x="0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auto">
          <a:xfrm flipV="1">
            <a:off x="5194300" y="1968298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5300663" y="1948296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24" name="ZoneTexte 23"/>
          <p:cNvSpPr txBox="1"/>
          <p:nvPr/>
        </p:nvSpPr>
        <p:spPr>
          <a:xfrm rot="2949544">
            <a:off x="5956720" y="3246791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+ </a:t>
            </a:r>
            <a:r>
              <a:rPr lang="fr-FR" dirty="0" smtClean="0">
                <a:sym typeface="Symbol"/>
              </a:rPr>
              <a:t></a:t>
            </a:r>
            <a:endParaRPr lang="fr-FR" dirty="0"/>
          </a:p>
        </p:txBody>
      </p:sp>
      <p:sp>
        <p:nvSpPr>
          <p:cNvPr id="25" name="Forme libre 24"/>
          <p:cNvSpPr/>
          <p:nvPr/>
        </p:nvSpPr>
        <p:spPr>
          <a:xfrm>
            <a:off x="6718300" y="1968298"/>
            <a:ext cx="406400" cy="1841500"/>
          </a:xfrm>
          <a:custGeom>
            <a:avLst/>
            <a:gdLst>
              <a:gd name="connsiteX0" fmla="*/ 0 w 406400"/>
              <a:gd name="connsiteY0" fmla="*/ 0 h 1841500"/>
              <a:gd name="connsiteX1" fmla="*/ 304800 w 406400"/>
              <a:gd name="connsiteY1" fmla="*/ 1168400 h 1841500"/>
              <a:gd name="connsiteX2" fmla="*/ 406400 w 406400"/>
              <a:gd name="connsiteY2" fmla="*/ 1841500 h 18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400" h="1841500">
                <a:moveTo>
                  <a:pt x="0" y="0"/>
                </a:moveTo>
                <a:cubicBezTo>
                  <a:pt x="118533" y="430741"/>
                  <a:pt x="237067" y="861483"/>
                  <a:pt x="304800" y="1168400"/>
                </a:cubicBezTo>
                <a:cubicBezTo>
                  <a:pt x="372533" y="1475317"/>
                  <a:pt x="389466" y="1658408"/>
                  <a:pt x="406400" y="18415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orme libre 25"/>
          <p:cNvSpPr/>
          <p:nvPr/>
        </p:nvSpPr>
        <p:spPr>
          <a:xfrm>
            <a:off x="7124700" y="3797098"/>
            <a:ext cx="469900" cy="546100"/>
          </a:xfrm>
          <a:custGeom>
            <a:avLst/>
            <a:gdLst>
              <a:gd name="connsiteX0" fmla="*/ 0 w 469900"/>
              <a:gd name="connsiteY0" fmla="*/ 0 h 546100"/>
              <a:gd name="connsiteX1" fmla="*/ 228600 w 469900"/>
              <a:gd name="connsiteY1" fmla="*/ 215900 h 546100"/>
              <a:gd name="connsiteX2" fmla="*/ 469900 w 469900"/>
              <a:gd name="connsiteY2" fmla="*/ 54610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46100">
                <a:moveTo>
                  <a:pt x="0" y="0"/>
                </a:moveTo>
                <a:cubicBezTo>
                  <a:pt x="75141" y="62441"/>
                  <a:pt x="150283" y="124883"/>
                  <a:pt x="228600" y="215900"/>
                </a:cubicBezTo>
                <a:cubicBezTo>
                  <a:pt x="306917" y="306917"/>
                  <a:pt x="388408" y="426508"/>
                  <a:pt x="469900" y="5461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orme libre 26"/>
          <p:cNvSpPr/>
          <p:nvPr/>
        </p:nvSpPr>
        <p:spPr>
          <a:xfrm>
            <a:off x="6588224" y="3809798"/>
            <a:ext cx="536476" cy="533400"/>
          </a:xfrm>
          <a:custGeom>
            <a:avLst/>
            <a:gdLst>
              <a:gd name="connsiteX0" fmla="*/ 469900 w 469900"/>
              <a:gd name="connsiteY0" fmla="*/ 0 h 508000"/>
              <a:gd name="connsiteX1" fmla="*/ 292100 w 469900"/>
              <a:gd name="connsiteY1" fmla="*/ 228600 h 508000"/>
              <a:gd name="connsiteX2" fmla="*/ 0 w 469900"/>
              <a:gd name="connsiteY2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08000">
                <a:moveTo>
                  <a:pt x="469900" y="0"/>
                </a:moveTo>
                <a:cubicBezTo>
                  <a:pt x="420158" y="71966"/>
                  <a:pt x="370417" y="143933"/>
                  <a:pt x="292100" y="228600"/>
                </a:cubicBezTo>
                <a:cubicBezTo>
                  <a:pt x="213783" y="313267"/>
                  <a:pt x="106891" y="410633"/>
                  <a:pt x="0" y="508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/>
          <p:cNvSpPr txBox="1"/>
          <p:nvPr/>
        </p:nvSpPr>
        <p:spPr>
          <a:xfrm rot="17948587">
            <a:off x="7697992" y="3068675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+ </a:t>
            </a:r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29" name="ZoneTexte 28"/>
          <p:cNvSpPr txBox="1"/>
          <p:nvPr/>
        </p:nvSpPr>
        <p:spPr>
          <a:xfrm>
            <a:off x="6740624" y="4025698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 </a:t>
            </a:r>
            <a:endParaRPr lang="fr-FR" dirty="0"/>
          </a:p>
        </p:txBody>
      </p:sp>
      <p:sp>
        <p:nvSpPr>
          <p:cNvPr id="30" name="ZoneTexte 29"/>
          <p:cNvSpPr txBox="1"/>
          <p:nvPr/>
        </p:nvSpPr>
        <p:spPr>
          <a:xfrm>
            <a:off x="8316416" y="1941866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6896100" y="1920450"/>
            <a:ext cx="7200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32" name="Forme libre 31"/>
          <p:cNvSpPr/>
          <p:nvPr/>
        </p:nvSpPr>
        <p:spPr>
          <a:xfrm>
            <a:off x="6477000" y="3962198"/>
            <a:ext cx="495300" cy="152400"/>
          </a:xfrm>
          <a:custGeom>
            <a:avLst/>
            <a:gdLst>
              <a:gd name="connsiteX0" fmla="*/ 495300 w 495300"/>
              <a:gd name="connsiteY0" fmla="*/ 0 h 152400"/>
              <a:gd name="connsiteX1" fmla="*/ 266700 w 495300"/>
              <a:gd name="connsiteY1" fmla="*/ 101600 h 152400"/>
              <a:gd name="connsiteX2" fmla="*/ 0 w 495300"/>
              <a:gd name="connsiteY2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5300" h="152400">
                <a:moveTo>
                  <a:pt x="495300" y="0"/>
                </a:moveTo>
                <a:cubicBezTo>
                  <a:pt x="422275" y="38100"/>
                  <a:pt x="349250" y="76200"/>
                  <a:pt x="266700" y="101600"/>
                </a:cubicBezTo>
                <a:cubicBezTo>
                  <a:pt x="184150" y="127000"/>
                  <a:pt x="92075" y="139700"/>
                  <a:pt x="0" y="1524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Forme libre 32"/>
          <p:cNvSpPr/>
          <p:nvPr/>
        </p:nvSpPr>
        <p:spPr>
          <a:xfrm>
            <a:off x="7289800" y="3936798"/>
            <a:ext cx="508000" cy="101600"/>
          </a:xfrm>
          <a:custGeom>
            <a:avLst/>
            <a:gdLst>
              <a:gd name="connsiteX0" fmla="*/ 0 w 508000"/>
              <a:gd name="connsiteY0" fmla="*/ 0 h 101600"/>
              <a:gd name="connsiteX1" fmla="*/ 241300 w 508000"/>
              <a:gd name="connsiteY1" fmla="*/ 76200 h 101600"/>
              <a:gd name="connsiteX2" fmla="*/ 508000 w 508000"/>
              <a:gd name="connsiteY2" fmla="*/ 101600 h 10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8000" h="101600">
                <a:moveTo>
                  <a:pt x="0" y="0"/>
                </a:moveTo>
                <a:cubicBezTo>
                  <a:pt x="78316" y="29633"/>
                  <a:pt x="156633" y="59267"/>
                  <a:pt x="241300" y="76200"/>
                </a:cubicBezTo>
                <a:cubicBezTo>
                  <a:pt x="325967" y="93133"/>
                  <a:pt x="416983" y="97366"/>
                  <a:pt x="508000" y="1016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Forme libre 33"/>
          <p:cNvSpPr/>
          <p:nvPr/>
        </p:nvSpPr>
        <p:spPr>
          <a:xfrm>
            <a:off x="6985000" y="3924098"/>
            <a:ext cx="292100" cy="39225"/>
          </a:xfrm>
          <a:custGeom>
            <a:avLst/>
            <a:gdLst>
              <a:gd name="connsiteX0" fmla="*/ 0 w 292100"/>
              <a:gd name="connsiteY0" fmla="*/ 25400 h 39225"/>
              <a:gd name="connsiteX1" fmla="*/ 152400 w 292100"/>
              <a:gd name="connsiteY1" fmla="*/ 38100 h 39225"/>
              <a:gd name="connsiteX2" fmla="*/ 292100 w 292100"/>
              <a:gd name="connsiteY2" fmla="*/ 0 h 3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100" h="39225">
                <a:moveTo>
                  <a:pt x="0" y="25400"/>
                </a:moveTo>
                <a:cubicBezTo>
                  <a:pt x="51858" y="33866"/>
                  <a:pt x="103717" y="42333"/>
                  <a:pt x="152400" y="38100"/>
                </a:cubicBezTo>
                <a:cubicBezTo>
                  <a:pt x="201083" y="33867"/>
                  <a:pt x="246591" y="16933"/>
                  <a:pt x="29210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Triangle isocèle 34"/>
          <p:cNvSpPr/>
          <p:nvPr/>
        </p:nvSpPr>
        <p:spPr>
          <a:xfrm rot="-60000" flipV="1">
            <a:off x="5753308" y="2230621"/>
            <a:ext cx="2556960" cy="604843"/>
          </a:xfrm>
          <a:prstGeom prst="triangle">
            <a:avLst>
              <a:gd name="adj" fmla="val 50793"/>
            </a:avLst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Forme libre 35"/>
          <p:cNvSpPr/>
          <p:nvPr/>
        </p:nvSpPr>
        <p:spPr>
          <a:xfrm>
            <a:off x="5499100" y="2361998"/>
            <a:ext cx="165100" cy="127000"/>
          </a:xfrm>
          <a:custGeom>
            <a:avLst/>
            <a:gdLst>
              <a:gd name="connsiteX0" fmla="*/ 0 w 165100"/>
              <a:gd name="connsiteY0" fmla="*/ 127000 h 127000"/>
              <a:gd name="connsiteX1" fmla="*/ 63500 w 165100"/>
              <a:gd name="connsiteY1" fmla="*/ 38100 h 127000"/>
              <a:gd name="connsiteX2" fmla="*/ 165100 w 165100"/>
              <a:gd name="connsiteY2" fmla="*/ 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00" h="127000">
                <a:moveTo>
                  <a:pt x="0" y="127000"/>
                </a:moveTo>
                <a:cubicBezTo>
                  <a:pt x="17991" y="93133"/>
                  <a:pt x="35983" y="59267"/>
                  <a:pt x="63500" y="38100"/>
                </a:cubicBezTo>
                <a:cubicBezTo>
                  <a:pt x="91017" y="16933"/>
                  <a:pt x="128058" y="8466"/>
                  <a:pt x="16510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Forme libre 36"/>
          <p:cNvSpPr/>
          <p:nvPr/>
        </p:nvSpPr>
        <p:spPr>
          <a:xfrm>
            <a:off x="5575300" y="1980998"/>
            <a:ext cx="177800" cy="279400"/>
          </a:xfrm>
          <a:custGeom>
            <a:avLst/>
            <a:gdLst>
              <a:gd name="connsiteX0" fmla="*/ 0 w 177800"/>
              <a:gd name="connsiteY0" fmla="*/ 0 h 279400"/>
              <a:gd name="connsiteX1" fmla="*/ 88900 w 177800"/>
              <a:gd name="connsiteY1" fmla="*/ 190500 h 279400"/>
              <a:gd name="connsiteX2" fmla="*/ 177800 w 177800"/>
              <a:gd name="connsiteY2" fmla="*/ 279400 h 27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800" h="279400">
                <a:moveTo>
                  <a:pt x="0" y="0"/>
                </a:moveTo>
                <a:cubicBezTo>
                  <a:pt x="29633" y="71966"/>
                  <a:pt x="59267" y="143933"/>
                  <a:pt x="88900" y="190500"/>
                </a:cubicBezTo>
                <a:cubicBezTo>
                  <a:pt x="118533" y="237067"/>
                  <a:pt x="148166" y="258233"/>
                  <a:pt x="177800" y="2794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Forme libre 37"/>
          <p:cNvSpPr/>
          <p:nvPr/>
        </p:nvSpPr>
        <p:spPr>
          <a:xfrm>
            <a:off x="5676900" y="2272552"/>
            <a:ext cx="76200" cy="89446"/>
          </a:xfrm>
          <a:custGeom>
            <a:avLst/>
            <a:gdLst>
              <a:gd name="connsiteX0" fmla="*/ 76200 w 76200"/>
              <a:gd name="connsiteY0" fmla="*/ 546 h 89446"/>
              <a:gd name="connsiteX1" fmla="*/ 12700 w 76200"/>
              <a:gd name="connsiteY1" fmla="*/ 13246 h 89446"/>
              <a:gd name="connsiteX2" fmla="*/ 0 w 76200"/>
              <a:gd name="connsiteY2" fmla="*/ 89446 h 89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" h="89446">
                <a:moveTo>
                  <a:pt x="76200" y="546"/>
                </a:moveTo>
                <a:cubicBezTo>
                  <a:pt x="50800" y="-513"/>
                  <a:pt x="25400" y="-1571"/>
                  <a:pt x="12700" y="13246"/>
                </a:cubicBezTo>
                <a:cubicBezTo>
                  <a:pt x="0" y="28063"/>
                  <a:pt x="0" y="58754"/>
                  <a:pt x="0" y="8944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Forme libre 38"/>
          <p:cNvSpPr/>
          <p:nvPr/>
        </p:nvSpPr>
        <p:spPr>
          <a:xfrm>
            <a:off x="8318500" y="1980998"/>
            <a:ext cx="228600" cy="228600"/>
          </a:xfrm>
          <a:custGeom>
            <a:avLst/>
            <a:gdLst>
              <a:gd name="connsiteX0" fmla="*/ 228600 w 228600"/>
              <a:gd name="connsiteY0" fmla="*/ 0 h 228600"/>
              <a:gd name="connsiteX1" fmla="*/ 165100 w 228600"/>
              <a:gd name="connsiteY1" fmla="*/ 139700 h 228600"/>
              <a:gd name="connsiteX2" fmla="*/ 0 w 228600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28600">
                <a:moveTo>
                  <a:pt x="228600" y="0"/>
                </a:moveTo>
                <a:cubicBezTo>
                  <a:pt x="215900" y="50800"/>
                  <a:pt x="203200" y="101600"/>
                  <a:pt x="165100" y="139700"/>
                </a:cubicBezTo>
                <a:cubicBezTo>
                  <a:pt x="127000" y="177800"/>
                  <a:pt x="63500" y="203200"/>
                  <a:pt x="0" y="2286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Forme libre 39"/>
          <p:cNvSpPr/>
          <p:nvPr/>
        </p:nvSpPr>
        <p:spPr>
          <a:xfrm>
            <a:off x="8318500" y="2184198"/>
            <a:ext cx="103010" cy="114300"/>
          </a:xfrm>
          <a:custGeom>
            <a:avLst/>
            <a:gdLst>
              <a:gd name="connsiteX0" fmla="*/ 0 w 103010"/>
              <a:gd name="connsiteY0" fmla="*/ 0 h 114300"/>
              <a:gd name="connsiteX1" fmla="*/ 88900 w 103010"/>
              <a:gd name="connsiteY1" fmla="*/ 63500 h 114300"/>
              <a:gd name="connsiteX2" fmla="*/ 101600 w 103010"/>
              <a:gd name="connsiteY2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010" h="114300">
                <a:moveTo>
                  <a:pt x="0" y="0"/>
                </a:moveTo>
                <a:cubicBezTo>
                  <a:pt x="35983" y="22225"/>
                  <a:pt x="71967" y="44450"/>
                  <a:pt x="88900" y="63500"/>
                </a:cubicBezTo>
                <a:cubicBezTo>
                  <a:pt x="105833" y="82550"/>
                  <a:pt x="103716" y="98425"/>
                  <a:pt x="101600" y="1143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8432800" y="2285798"/>
            <a:ext cx="330200" cy="63500"/>
          </a:xfrm>
          <a:custGeom>
            <a:avLst/>
            <a:gdLst>
              <a:gd name="connsiteX0" fmla="*/ 0 w 330200"/>
              <a:gd name="connsiteY0" fmla="*/ 0 h 63500"/>
              <a:gd name="connsiteX1" fmla="*/ 139700 w 330200"/>
              <a:gd name="connsiteY1" fmla="*/ 12700 h 63500"/>
              <a:gd name="connsiteX2" fmla="*/ 330200 w 330200"/>
              <a:gd name="connsiteY2" fmla="*/ 63500 h 6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0200" h="63500">
                <a:moveTo>
                  <a:pt x="0" y="0"/>
                </a:moveTo>
                <a:cubicBezTo>
                  <a:pt x="42333" y="1058"/>
                  <a:pt x="84667" y="2117"/>
                  <a:pt x="139700" y="12700"/>
                </a:cubicBezTo>
                <a:cubicBezTo>
                  <a:pt x="194733" y="23283"/>
                  <a:pt x="262466" y="43391"/>
                  <a:pt x="330200" y="635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/>
          <p:cNvSpPr>
            <a:spLocks/>
          </p:cNvSpPr>
          <p:nvPr/>
        </p:nvSpPr>
        <p:spPr>
          <a:xfrm>
            <a:off x="6896089" y="2831890"/>
            <a:ext cx="152476" cy="138096"/>
          </a:xfrm>
          <a:custGeom>
            <a:avLst/>
            <a:gdLst>
              <a:gd name="connsiteX0" fmla="*/ 114300 w 114300"/>
              <a:gd name="connsiteY0" fmla="*/ 0 h 114300"/>
              <a:gd name="connsiteX1" fmla="*/ 0 w 114300"/>
              <a:gd name="connsiteY1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300" h="114300">
                <a:moveTo>
                  <a:pt x="114300" y="0"/>
                </a:moveTo>
                <a:lnTo>
                  <a:pt x="0" y="11430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orme libre 42"/>
          <p:cNvSpPr/>
          <p:nvPr/>
        </p:nvSpPr>
        <p:spPr>
          <a:xfrm>
            <a:off x="7061200" y="2819198"/>
            <a:ext cx="152400" cy="139700"/>
          </a:xfrm>
          <a:custGeom>
            <a:avLst/>
            <a:gdLst>
              <a:gd name="connsiteX0" fmla="*/ 0 w 152400"/>
              <a:gd name="connsiteY0" fmla="*/ 0 h 139700"/>
              <a:gd name="connsiteX1" fmla="*/ 152400 w 152400"/>
              <a:gd name="connsiteY1" fmla="*/ 139700 h 13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2400" h="139700">
                <a:moveTo>
                  <a:pt x="0" y="0"/>
                </a:moveTo>
                <a:lnTo>
                  <a:pt x="152400" y="13970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>
            <a:off x="6896100" y="2941310"/>
            <a:ext cx="292100" cy="55688"/>
          </a:xfrm>
          <a:custGeom>
            <a:avLst/>
            <a:gdLst>
              <a:gd name="connsiteX0" fmla="*/ 292100 w 292100"/>
              <a:gd name="connsiteY0" fmla="*/ 4888 h 55688"/>
              <a:gd name="connsiteX1" fmla="*/ 190500 w 292100"/>
              <a:gd name="connsiteY1" fmla="*/ 4888 h 55688"/>
              <a:gd name="connsiteX2" fmla="*/ 0 w 292100"/>
              <a:gd name="connsiteY2" fmla="*/ 55688 h 5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100" h="55688">
                <a:moveTo>
                  <a:pt x="292100" y="4888"/>
                </a:moveTo>
                <a:cubicBezTo>
                  <a:pt x="265641" y="654"/>
                  <a:pt x="239183" y="-3579"/>
                  <a:pt x="190500" y="4888"/>
                </a:cubicBezTo>
                <a:cubicBezTo>
                  <a:pt x="141817" y="13355"/>
                  <a:pt x="70908" y="34521"/>
                  <a:pt x="0" y="55688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Triangle isocèle 44"/>
          <p:cNvSpPr/>
          <p:nvPr/>
        </p:nvSpPr>
        <p:spPr>
          <a:xfrm rot="2880000">
            <a:off x="5475678" y="2704978"/>
            <a:ext cx="2101453" cy="551675"/>
          </a:xfrm>
          <a:prstGeom prst="triangle">
            <a:avLst>
              <a:gd name="adj" fmla="val 60886"/>
            </a:avLst>
          </a:prstGeom>
          <a:solidFill>
            <a:srgbClr val="FF7C80"/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Triangle isocèle 45"/>
          <p:cNvSpPr>
            <a:spLocks noChangeAspect="1"/>
          </p:cNvSpPr>
          <p:nvPr/>
        </p:nvSpPr>
        <p:spPr>
          <a:xfrm rot="18180000" flipH="1">
            <a:off x="6573884" y="2585592"/>
            <a:ext cx="2017393" cy="641174"/>
          </a:xfrm>
          <a:prstGeom prst="triangle">
            <a:avLst>
              <a:gd name="adj" fmla="val 62470"/>
            </a:avLst>
          </a:prstGeom>
          <a:solidFill>
            <a:schemeClr val="tx2">
              <a:lumMod val="40000"/>
              <a:lumOff val="60000"/>
            </a:schemeClr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>
            <a:off x="6134100" y="1612698"/>
            <a:ext cx="927100" cy="1295400"/>
          </a:xfrm>
          <a:custGeom>
            <a:avLst/>
            <a:gdLst>
              <a:gd name="connsiteX0" fmla="*/ 0 w 927100"/>
              <a:gd name="connsiteY0" fmla="*/ 0 h 1295400"/>
              <a:gd name="connsiteX1" fmla="*/ 431800 w 927100"/>
              <a:gd name="connsiteY1" fmla="*/ 863600 h 1295400"/>
              <a:gd name="connsiteX2" fmla="*/ 927100 w 927100"/>
              <a:gd name="connsiteY2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7100" h="1295400">
                <a:moveTo>
                  <a:pt x="0" y="0"/>
                </a:moveTo>
                <a:cubicBezTo>
                  <a:pt x="138641" y="323850"/>
                  <a:pt x="277283" y="647700"/>
                  <a:pt x="431800" y="863600"/>
                </a:cubicBezTo>
                <a:cubicBezTo>
                  <a:pt x="586317" y="1079500"/>
                  <a:pt x="756708" y="1187450"/>
                  <a:pt x="927100" y="129540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Text Box 7"/>
          <p:cNvSpPr txBox="1">
            <a:spLocks noChangeArrowheads="1"/>
          </p:cNvSpPr>
          <p:nvPr/>
        </p:nvSpPr>
        <p:spPr bwMode="auto">
          <a:xfrm>
            <a:off x="5927452" y="1196426"/>
            <a:ext cx="336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49" name="Text Box 7"/>
          <p:cNvSpPr txBox="1">
            <a:spLocks noChangeArrowheads="1"/>
          </p:cNvSpPr>
          <p:nvPr/>
        </p:nvSpPr>
        <p:spPr bwMode="auto">
          <a:xfrm>
            <a:off x="6588235" y="2267254"/>
            <a:ext cx="10358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 + </a:t>
            </a:r>
            <a:r>
              <a:rPr lang="en-US" dirty="0">
                <a:latin typeface="Symbol" charset="0"/>
                <a:ea typeface="ＭＳ Ｐゴシック" charset="0"/>
                <a:sym typeface="Symbol"/>
              </a:rPr>
              <a:t>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50" name="Text Box 7"/>
          <p:cNvSpPr txBox="1">
            <a:spLocks noChangeArrowheads="1"/>
          </p:cNvSpPr>
          <p:nvPr/>
        </p:nvSpPr>
        <p:spPr bwMode="auto">
          <a:xfrm rot="2928730">
            <a:off x="6006938" y="2922046"/>
            <a:ext cx="10390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 + </a:t>
            </a:r>
            <a:r>
              <a:rPr lang="en-US" dirty="0" smtClean="0">
                <a:latin typeface="+mj-lt"/>
                <a:ea typeface="ＭＳ Ｐゴシック" charset="0"/>
                <a:sym typeface="Symbol"/>
              </a:rPr>
              <a:t>L</a:t>
            </a:r>
            <a:endParaRPr lang="en-US" sz="1800" b="0" dirty="0">
              <a:latin typeface="+mj-lt"/>
              <a:ea typeface="ＭＳ Ｐゴシック" charset="0"/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 rot="18307723">
            <a:off x="7105623" y="2890102"/>
            <a:ext cx="9877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 +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 + </a:t>
            </a:r>
            <a:r>
              <a:rPr lang="en-US" dirty="0" smtClean="0">
                <a:latin typeface="+mj-lt"/>
                <a:ea typeface="ＭＳ Ｐゴシック" charset="0"/>
                <a:sym typeface="Symbol"/>
              </a:rPr>
              <a:t>L</a:t>
            </a:r>
            <a:endParaRPr lang="en-US" sz="1800" b="0" dirty="0">
              <a:latin typeface="+mj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47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</a:t>
            </a:r>
            <a:r>
              <a:rPr lang="fr-FR" sz="2400" dirty="0" err="1" smtClean="0"/>
              <a:t>peritectiques</a:t>
            </a:r>
            <a:r>
              <a:rPr lang="fr-FR" sz="2400" dirty="0" smtClean="0"/>
              <a:t> et 1 eutectique binaires</a:t>
            </a:r>
            <a:endParaRPr lang="fr-FR" sz="2400" dirty="0"/>
          </a:p>
        </p:txBody>
      </p:sp>
      <p:pic>
        <p:nvPicPr>
          <p:cNvPr id="4" name="Picture 4" descr="Class-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2" t="18051" r="19753" b="21094"/>
          <a:stretch>
            <a:fillRect/>
          </a:stretch>
        </p:blipFill>
        <p:spPr bwMode="auto">
          <a:xfrm>
            <a:off x="-36512" y="980728"/>
            <a:ext cx="55626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5"/>
          <p:cNvSpPr>
            <a:spLocks/>
          </p:cNvSpPr>
          <p:nvPr/>
        </p:nvSpPr>
        <p:spPr bwMode="auto">
          <a:xfrm>
            <a:off x="534988" y="2695228"/>
            <a:ext cx="4114800" cy="2095500"/>
          </a:xfrm>
          <a:custGeom>
            <a:avLst/>
            <a:gdLst>
              <a:gd name="T0" fmla="*/ 0 w 2592"/>
              <a:gd name="T1" fmla="*/ 66675 h 1320"/>
              <a:gd name="T2" fmla="*/ 4114800 w 2592"/>
              <a:gd name="T3" fmla="*/ 0 h 1320"/>
              <a:gd name="T4" fmla="*/ 1514475 w 2592"/>
              <a:gd name="T5" fmla="*/ 2095500 h 1320"/>
              <a:gd name="T6" fmla="*/ 0 w 2592"/>
              <a:gd name="T7" fmla="*/ 66675 h 13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92" h="1320">
                <a:moveTo>
                  <a:pt x="0" y="42"/>
                </a:moveTo>
                <a:lnTo>
                  <a:pt x="2592" y="0"/>
                </a:lnTo>
                <a:lnTo>
                  <a:pt x="954" y="1320"/>
                </a:lnTo>
                <a:lnTo>
                  <a:pt x="0" y="42"/>
                </a:lnTo>
                <a:close/>
              </a:path>
            </a:pathLst>
          </a:custGeom>
          <a:solidFill>
            <a:srgbClr val="FFFF99">
              <a:alpha val="39999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2473326" y="4243041"/>
            <a:ext cx="161925" cy="80962"/>
          </a:xfrm>
          <a:custGeom>
            <a:avLst/>
            <a:gdLst>
              <a:gd name="T0" fmla="*/ 0 w 102"/>
              <a:gd name="T1" fmla="*/ 0 h 51"/>
              <a:gd name="T2" fmla="*/ 161925 w 102"/>
              <a:gd name="T3" fmla="*/ 80962 h 5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02" h="51">
                <a:moveTo>
                  <a:pt x="0" y="0"/>
                </a:moveTo>
                <a:cubicBezTo>
                  <a:pt x="16" y="8"/>
                  <a:pt x="81" y="41"/>
                  <a:pt x="102" y="51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111626" y="2976216"/>
            <a:ext cx="152400" cy="38100"/>
          </a:xfrm>
          <a:custGeom>
            <a:avLst/>
            <a:gdLst>
              <a:gd name="T0" fmla="*/ 0 w 96"/>
              <a:gd name="T1" fmla="*/ 0 h 24"/>
              <a:gd name="T2" fmla="*/ 85725 w 96"/>
              <a:gd name="T3" fmla="*/ 14288 h 24"/>
              <a:gd name="T4" fmla="*/ 152400 w 96"/>
              <a:gd name="T5" fmla="*/ 38100 h 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24">
                <a:moveTo>
                  <a:pt x="0" y="0"/>
                </a:moveTo>
                <a:cubicBezTo>
                  <a:pt x="9" y="1"/>
                  <a:pt x="38" y="5"/>
                  <a:pt x="54" y="9"/>
                </a:cubicBezTo>
                <a:cubicBezTo>
                  <a:pt x="70" y="13"/>
                  <a:pt x="87" y="21"/>
                  <a:pt x="96" y="24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873126" y="3014316"/>
            <a:ext cx="290512" cy="214312"/>
          </a:xfrm>
          <a:custGeom>
            <a:avLst/>
            <a:gdLst>
              <a:gd name="T0" fmla="*/ 290512 w 183"/>
              <a:gd name="T1" fmla="*/ 0 h 135"/>
              <a:gd name="T2" fmla="*/ 119062 w 183"/>
              <a:gd name="T3" fmla="*/ 80962 h 135"/>
              <a:gd name="T4" fmla="*/ 0 w 183"/>
              <a:gd name="T5" fmla="*/ 214312 h 1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3" h="135">
                <a:moveTo>
                  <a:pt x="183" y="0"/>
                </a:moveTo>
                <a:cubicBezTo>
                  <a:pt x="165" y="9"/>
                  <a:pt x="105" y="29"/>
                  <a:pt x="75" y="51"/>
                </a:cubicBezTo>
                <a:cubicBezTo>
                  <a:pt x="45" y="73"/>
                  <a:pt x="16" y="117"/>
                  <a:pt x="0" y="135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1" name="Freeform 9"/>
          <p:cNvSpPr>
            <a:spLocks/>
          </p:cNvSpPr>
          <p:nvPr/>
        </p:nvSpPr>
        <p:spPr bwMode="auto">
          <a:xfrm>
            <a:off x="3754438" y="2704753"/>
            <a:ext cx="419100" cy="290513"/>
          </a:xfrm>
          <a:custGeom>
            <a:avLst/>
            <a:gdLst>
              <a:gd name="T0" fmla="*/ 0 w 264"/>
              <a:gd name="T1" fmla="*/ 290513 h 183"/>
              <a:gd name="T2" fmla="*/ 266700 w 264"/>
              <a:gd name="T3" fmla="*/ 128588 h 183"/>
              <a:gd name="T4" fmla="*/ 419100 w 264"/>
              <a:gd name="T5" fmla="*/ 0 h 18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4" h="183">
                <a:moveTo>
                  <a:pt x="0" y="183"/>
                </a:moveTo>
                <a:cubicBezTo>
                  <a:pt x="28" y="166"/>
                  <a:pt x="124" y="111"/>
                  <a:pt x="168" y="81"/>
                </a:cubicBezTo>
                <a:cubicBezTo>
                  <a:pt x="212" y="51"/>
                  <a:pt x="244" y="17"/>
                  <a:pt x="264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2" name="Freeform 10"/>
          <p:cNvSpPr>
            <a:spLocks/>
          </p:cNvSpPr>
          <p:nvPr/>
        </p:nvSpPr>
        <p:spPr bwMode="auto">
          <a:xfrm>
            <a:off x="982663" y="2752378"/>
            <a:ext cx="176213" cy="257175"/>
          </a:xfrm>
          <a:custGeom>
            <a:avLst/>
            <a:gdLst>
              <a:gd name="T0" fmla="*/ 176213 w 111"/>
              <a:gd name="T1" fmla="*/ 257175 h 162"/>
              <a:gd name="T2" fmla="*/ 76200 w 111"/>
              <a:gd name="T3" fmla="*/ 166688 h 162"/>
              <a:gd name="T4" fmla="*/ 0 w 111"/>
              <a:gd name="T5" fmla="*/ 0 h 16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1" h="162">
                <a:moveTo>
                  <a:pt x="111" y="162"/>
                </a:moveTo>
                <a:cubicBezTo>
                  <a:pt x="101" y="153"/>
                  <a:pt x="66" y="132"/>
                  <a:pt x="48" y="105"/>
                </a:cubicBezTo>
                <a:cubicBezTo>
                  <a:pt x="30" y="78"/>
                  <a:pt x="10" y="22"/>
                  <a:pt x="0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3" name="Freeform 11"/>
          <p:cNvSpPr>
            <a:spLocks/>
          </p:cNvSpPr>
          <p:nvPr/>
        </p:nvSpPr>
        <p:spPr bwMode="auto">
          <a:xfrm>
            <a:off x="1158876" y="2995266"/>
            <a:ext cx="2595562" cy="681037"/>
          </a:xfrm>
          <a:custGeom>
            <a:avLst/>
            <a:gdLst>
              <a:gd name="T0" fmla="*/ 0 w 1635"/>
              <a:gd name="T1" fmla="*/ 14287 h 429"/>
              <a:gd name="T2" fmla="*/ 2595562 w 1635"/>
              <a:gd name="T3" fmla="*/ 0 h 429"/>
              <a:gd name="T4" fmla="*/ 1171575 w 1635"/>
              <a:gd name="T5" fmla="*/ 681037 h 429"/>
              <a:gd name="T6" fmla="*/ 0 w 1635"/>
              <a:gd name="T7" fmla="*/ 14287 h 42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35" h="429">
                <a:moveTo>
                  <a:pt x="0" y="9"/>
                </a:moveTo>
                <a:lnTo>
                  <a:pt x="1635" y="0"/>
                </a:lnTo>
                <a:lnTo>
                  <a:pt x="738" y="429"/>
                </a:lnTo>
                <a:lnTo>
                  <a:pt x="0" y="9"/>
                </a:lnTo>
                <a:close/>
              </a:path>
            </a:pathLst>
          </a:custGeom>
          <a:solidFill>
            <a:srgbClr val="00CC00">
              <a:alpha val="41176"/>
            </a:srgbClr>
          </a:solidFill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4" name="Freeform 12"/>
          <p:cNvSpPr>
            <a:spLocks/>
          </p:cNvSpPr>
          <p:nvPr/>
        </p:nvSpPr>
        <p:spPr bwMode="auto">
          <a:xfrm>
            <a:off x="882651" y="3223866"/>
            <a:ext cx="823912" cy="1104900"/>
          </a:xfrm>
          <a:custGeom>
            <a:avLst/>
            <a:gdLst>
              <a:gd name="T0" fmla="*/ 0 w 519"/>
              <a:gd name="T1" fmla="*/ 0 h 696"/>
              <a:gd name="T2" fmla="*/ 823912 w 519"/>
              <a:gd name="T3" fmla="*/ 1104900 h 696"/>
              <a:gd name="T4" fmla="*/ 533400 w 519"/>
              <a:gd name="T5" fmla="*/ 652463 h 696"/>
              <a:gd name="T6" fmla="*/ 0 w 519"/>
              <a:gd name="T7" fmla="*/ 0 h 69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19" h="696">
                <a:moveTo>
                  <a:pt x="0" y="0"/>
                </a:moveTo>
                <a:lnTo>
                  <a:pt x="519" y="696"/>
                </a:lnTo>
                <a:lnTo>
                  <a:pt x="336" y="411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41176"/>
            </a:srgbClr>
          </a:solidFill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5" name="Freeform 13"/>
          <p:cNvSpPr>
            <a:spLocks/>
          </p:cNvSpPr>
          <p:nvPr/>
        </p:nvSpPr>
        <p:spPr bwMode="auto">
          <a:xfrm>
            <a:off x="2478088" y="2980978"/>
            <a:ext cx="1628775" cy="1266825"/>
          </a:xfrm>
          <a:custGeom>
            <a:avLst/>
            <a:gdLst>
              <a:gd name="T0" fmla="*/ 1628775 w 1026"/>
              <a:gd name="T1" fmla="*/ 0 h 798"/>
              <a:gd name="T2" fmla="*/ 0 w 1026"/>
              <a:gd name="T3" fmla="*/ 1266825 h 798"/>
              <a:gd name="T4" fmla="*/ 328613 w 1026"/>
              <a:gd name="T5" fmla="*/ 738188 h 798"/>
              <a:gd name="T6" fmla="*/ 1628775 w 1026"/>
              <a:gd name="T7" fmla="*/ 0 h 79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26" h="798">
                <a:moveTo>
                  <a:pt x="1026" y="0"/>
                </a:moveTo>
                <a:lnTo>
                  <a:pt x="0" y="798"/>
                </a:lnTo>
                <a:lnTo>
                  <a:pt x="207" y="465"/>
                </a:lnTo>
                <a:lnTo>
                  <a:pt x="1026" y="0"/>
                </a:lnTo>
                <a:close/>
              </a:path>
            </a:pathLst>
          </a:custGeom>
          <a:solidFill>
            <a:srgbClr val="0066FF">
              <a:alpha val="41176"/>
            </a:srgbClr>
          </a:solidFill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6" name="Freeform 14"/>
          <p:cNvSpPr>
            <a:spLocks/>
          </p:cNvSpPr>
          <p:nvPr/>
        </p:nvSpPr>
        <p:spPr bwMode="auto">
          <a:xfrm>
            <a:off x="1711326" y="4247803"/>
            <a:ext cx="762000" cy="114300"/>
          </a:xfrm>
          <a:custGeom>
            <a:avLst/>
            <a:gdLst>
              <a:gd name="T0" fmla="*/ 762000 w 480"/>
              <a:gd name="T1" fmla="*/ 0 h 72"/>
              <a:gd name="T2" fmla="*/ 419100 w 480"/>
              <a:gd name="T3" fmla="*/ 100013 h 72"/>
              <a:gd name="T4" fmla="*/ 0 w 480"/>
              <a:gd name="T5" fmla="*/ 80963 h 7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80" h="72">
                <a:moveTo>
                  <a:pt x="480" y="0"/>
                </a:moveTo>
                <a:cubicBezTo>
                  <a:pt x="444" y="10"/>
                  <a:pt x="344" y="54"/>
                  <a:pt x="264" y="63"/>
                </a:cubicBezTo>
                <a:cubicBezTo>
                  <a:pt x="184" y="72"/>
                  <a:pt x="55" y="54"/>
                  <a:pt x="0" y="51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7" name="Freeform 15"/>
          <p:cNvSpPr>
            <a:spLocks/>
          </p:cNvSpPr>
          <p:nvPr/>
        </p:nvSpPr>
        <p:spPr bwMode="auto">
          <a:xfrm>
            <a:off x="3754438" y="2949228"/>
            <a:ext cx="361950" cy="46038"/>
          </a:xfrm>
          <a:custGeom>
            <a:avLst/>
            <a:gdLst>
              <a:gd name="T0" fmla="*/ 0 w 228"/>
              <a:gd name="T1" fmla="*/ 46038 h 29"/>
              <a:gd name="T2" fmla="*/ 214313 w 228"/>
              <a:gd name="T3" fmla="*/ 3175 h 29"/>
              <a:gd name="T4" fmla="*/ 361950 w 228"/>
              <a:gd name="T5" fmla="*/ 26988 h 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8" h="29">
                <a:moveTo>
                  <a:pt x="0" y="29"/>
                </a:moveTo>
                <a:cubicBezTo>
                  <a:pt x="22" y="25"/>
                  <a:pt x="97" y="4"/>
                  <a:pt x="135" y="2"/>
                </a:cubicBezTo>
                <a:cubicBezTo>
                  <a:pt x="173" y="0"/>
                  <a:pt x="209" y="14"/>
                  <a:pt x="228" y="17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8" name="Freeform 16"/>
          <p:cNvSpPr>
            <a:spLocks/>
          </p:cNvSpPr>
          <p:nvPr/>
        </p:nvSpPr>
        <p:spPr bwMode="auto">
          <a:xfrm>
            <a:off x="2335213" y="3676303"/>
            <a:ext cx="466725" cy="82550"/>
          </a:xfrm>
          <a:custGeom>
            <a:avLst/>
            <a:gdLst>
              <a:gd name="T0" fmla="*/ 466725 w 294"/>
              <a:gd name="T1" fmla="*/ 42863 h 52"/>
              <a:gd name="T2" fmla="*/ 247650 w 294"/>
              <a:gd name="T3" fmla="*/ 76200 h 52"/>
              <a:gd name="T4" fmla="*/ 0 w 294"/>
              <a:gd name="T5" fmla="*/ 0 h 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4" h="52">
                <a:moveTo>
                  <a:pt x="294" y="27"/>
                </a:moveTo>
                <a:cubicBezTo>
                  <a:pt x="271" y="30"/>
                  <a:pt x="205" y="52"/>
                  <a:pt x="156" y="48"/>
                </a:cubicBezTo>
                <a:cubicBezTo>
                  <a:pt x="107" y="44"/>
                  <a:pt x="32" y="10"/>
                  <a:pt x="0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9" name="Freeform 17"/>
          <p:cNvSpPr>
            <a:spLocks/>
          </p:cNvSpPr>
          <p:nvPr/>
        </p:nvSpPr>
        <p:spPr bwMode="auto">
          <a:xfrm>
            <a:off x="1425576" y="3671541"/>
            <a:ext cx="904875" cy="214312"/>
          </a:xfrm>
          <a:custGeom>
            <a:avLst/>
            <a:gdLst>
              <a:gd name="T0" fmla="*/ 0 w 570"/>
              <a:gd name="T1" fmla="*/ 204787 h 135"/>
              <a:gd name="T2" fmla="*/ 504825 w 570"/>
              <a:gd name="T3" fmla="*/ 180975 h 135"/>
              <a:gd name="T4" fmla="*/ 904875 w 570"/>
              <a:gd name="T5" fmla="*/ 0 h 1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0" h="135">
                <a:moveTo>
                  <a:pt x="0" y="129"/>
                </a:moveTo>
                <a:cubicBezTo>
                  <a:pt x="53" y="127"/>
                  <a:pt x="223" y="135"/>
                  <a:pt x="318" y="114"/>
                </a:cubicBezTo>
                <a:cubicBezTo>
                  <a:pt x="413" y="93"/>
                  <a:pt x="518" y="24"/>
                  <a:pt x="570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20" name="Freeform 18"/>
          <p:cNvSpPr>
            <a:spLocks/>
          </p:cNvSpPr>
          <p:nvPr/>
        </p:nvSpPr>
        <p:spPr bwMode="auto">
          <a:xfrm>
            <a:off x="1435101" y="3723928"/>
            <a:ext cx="1352550" cy="177800"/>
          </a:xfrm>
          <a:custGeom>
            <a:avLst/>
            <a:gdLst>
              <a:gd name="T0" fmla="*/ 0 w 852"/>
              <a:gd name="T1" fmla="*/ 152400 h 112"/>
              <a:gd name="T2" fmla="*/ 766763 w 852"/>
              <a:gd name="T3" fmla="*/ 152400 h 112"/>
              <a:gd name="T4" fmla="*/ 1352550 w 852"/>
              <a:gd name="T5" fmla="*/ 0 h 1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52" h="112">
                <a:moveTo>
                  <a:pt x="0" y="96"/>
                </a:moveTo>
                <a:cubicBezTo>
                  <a:pt x="80" y="96"/>
                  <a:pt x="341" y="112"/>
                  <a:pt x="483" y="96"/>
                </a:cubicBezTo>
                <a:cubicBezTo>
                  <a:pt x="625" y="80"/>
                  <a:pt x="775" y="20"/>
                  <a:pt x="852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auto">
          <a:xfrm flipV="1">
            <a:off x="5194300" y="1971328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5300663" y="1951326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23" name="Forme libre 22"/>
          <p:cNvSpPr/>
          <p:nvPr/>
        </p:nvSpPr>
        <p:spPr>
          <a:xfrm>
            <a:off x="6718300" y="1971328"/>
            <a:ext cx="406400" cy="1841500"/>
          </a:xfrm>
          <a:custGeom>
            <a:avLst/>
            <a:gdLst>
              <a:gd name="connsiteX0" fmla="*/ 0 w 406400"/>
              <a:gd name="connsiteY0" fmla="*/ 0 h 1841500"/>
              <a:gd name="connsiteX1" fmla="*/ 304800 w 406400"/>
              <a:gd name="connsiteY1" fmla="*/ 1168400 h 1841500"/>
              <a:gd name="connsiteX2" fmla="*/ 406400 w 406400"/>
              <a:gd name="connsiteY2" fmla="*/ 1841500 h 18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400" h="1841500">
                <a:moveTo>
                  <a:pt x="0" y="0"/>
                </a:moveTo>
                <a:cubicBezTo>
                  <a:pt x="118533" y="430741"/>
                  <a:pt x="237067" y="861483"/>
                  <a:pt x="304800" y="1168400"/>
                </a:cubicBezTo>
                <a:cubicBezTo>
                  <a:pt x="372533" y="1475317"/>
                  <a:pt x="389466" y="1658408"/>
                  <a:pt x="406400" y="18415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orme libre 23"/>
          <p:cNvSpPr/>
          <p:nvPr/>
        </p:nvSpPr>
        <p:spPr>
          <a:xfrm>
            <a:off x="7124700" y="3800128"/>
            <a:ext cx="469900" cy="546100"/>
          </a:xfrm>
          <a:custGeom>
            <a:avLst/>
            <a:gdLst>
              <a:gd name="connsiteX0" fmla="*/ 0 w 469900"/>
              <a:gd name="connsiteY0" fmla="*/ 0 h 546100"/>
              <a:gd name="connsiteX1" fmla="*/ 228600 w 469900"/>
              <a:gd name="connsiteY1" fmla="*/ 215900 h 546100"/>
              <a:gd name="connsiteX2" fmla="*/ 469900 w 469900"/>
              <a:gd name="connsiteY2" fmla="*/ 54610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46100">
                <a:moveTo>
                  <a:pt x="0" y="0"/>
                </a:moveTo>
                <a:cubicBezTo>
                  <a:pt x="75141" y="62441"/>
                  <a:pt x="150283" y="124883"/>
                  <a:pt x="228600" y="215900"/>
                </a:cubicBezTo>
                <a:cubicBezTo>
                  <a:pt x="306917" y="306917"/>
                  <a:pt x="388408" y="426508"/>
                  <a:pt x="469900" y="5461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orme libre 24"/>
          <p:cNvSpPr/>
          <p:nvPr/>
        </p:nvSpPr>
        <p:spPr>
          <a:xfrm>
            <a:off x="6588224" y="3812828"/>
            <a:ext cx="536476" cy="533400"/>
          </a:xfrm>
          <a:custGeom>
            <a:avLst/>
            <a:gdLst>
              <a:gd name="connsiteX0" fmla="*/ 469900 w 469900"/>
              <a:gd name="connsiteY0" fmla="*/ 0 h 508000"/>
              <a:gd name="connsiteX1" fmla="*/ 292100 w 469900"/>
              <a:gd name="connsiteY1" fmla="*/ 228600 h 508000"/>
              <a:gd name="connsiteX2" fmla="*/ 0 w 469900"/>
              <a:gd name="connsiteY2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08000">
                <a:moveTo>
                  <a:pt x="469900" y="0"/>
                </a:moveTo>
                <a:cubicBezTo>
                  <a:pt x="420158" y="71966"/>
                  <a:pt x="370417" y="143933"/>
                  <a:pt x="292100" y="228600"/>
                </a:cubicBezTo>
                <a:cubicBezTo>
                  <a:pt x="213783" y="313267"/>
                  <a:pt x="106891" y="410633"/>
                  <a:pt x="0" y="508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/>
          <p:cNvSpPr txBox="1"/>
          <p:nvPr/>
        </p:nvSpPr>
        <p:spPr>
          <a:xfrm rot="17948587">
            <a:off x="8297235" y="3343887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+ </a:t>
            </a:r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27" name="ZoneTexte 26"/>
          <p:cNvSpPr txBox="1"/>
          <p:nvPr/>
        </p:nvSpPr>
        <p:spPr>
          <a:xfrm>
            <a:off x="6730504" y="4523058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 </a:t>
            </a:r>
            <a:endParaRPr lang="fr-FR" dirty="0"/>
          </a:p>
        </p:txBody>
      </p:sp>
      <p:sp>
        <p:nvSpPr>
          <p:cNvPr id="28" name="ZoneTexte 27"/>
          <p:cNvSpPr txBox="1"/>
          <p:nvPr/>
        </p:nvSpPr>
        <p:spPr>
          <a:xfrm>
            <a:off x="8392616" y="1906796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6896100" y="1923480"/>
            <a:ext cx="7200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30" name="Triangle isocèle 29"/>
          <p:cNvSpPr/>
          <p:nvPr/>
        </p:nvSpPr>
        <p:spPr>
          <a:xfrm rot="-60000" flipV="1">
            <a:off x="5756394" y="2300577"/>
            <a:ext cx="2698805" cy="959747"/>
          </a:xfrm>
          <a:prstGeom prst="triangle">
            <a:avLst>
              <a:gd name="adj" fmla="val 54078"/>
            </a:avLst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Triangle isocèle 30"/>
          <p:cNvSpPr>
            <a:spLocks/>
          </p:cNvSpPr>
          <p:nvPr/>
        </p:nvSpPr>
        <p:spPr>
          <a:xfrm rot="3540000">
            <a:off x="5004820" y="3355038"/>
            <a:ext cx="2124000" cy="54000"/>
          </a:xfrm>
          <a:prstGeom prst="triangle">
            <a:avLst>
              <a:gd name="adj" fmla="val 81944"/>
            </a:avLst>
          </a:prstGeom>
          <a:solidFill>
            <a:srgbClr val="FF7C80"/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Triangle isocèle 31"/>
          <p:cNvSpPr>
            <a:spLocks noChangeAspect="1"/>
          </p:cNvSpPr>
          <p:nvPr/>
        </p:nvSpPr>
        <p:spPr>
          <a:xfrm rot="18000000" flipH="1">
            <a:off x="6884901" y="3065822"/>
            <a:ext cx="2232000" cy="238662"/>
          </a:xfrm>
          <a:prstGeom prst="triangle">
            <a:avLst>
              <a:gd name="adj" fmla="val 75279"/>
            </a:avLst>
          </a:prstGeom>
          <a:solidFill>
            <a:schemeClr val="tx2">
              <a:lumMod val="40000"/>
              <a:lumOff val="60000"/>
            </a:schemeClr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Forme libre 32"/>
          <p:cNvSpPr/>
          <p:nvPr/>
        </p:nvSpPr>
        <p:spPr>
          <a:xfrm>
            <a:off x="6134100" y="1568789"/>
            <a:ext cx="1092200" cy="1991854"/>
          </a:xfrm>
          <a:custGeom>
            <a:avLst/>
            <a:gdLst>
              <a:gd name="connsiteX0" fmla="*/ 0 w 927100"/>
              <a:gd name="connsiteY0" fmla="*/ 0 h 1295400"/>
              <a:gd name="connsiteX1" fmla="*/ 431800 w 927100"/>
              <a:gd name="connsiteY1" fmla="*/ 863600 h 1295400"/>
              <a:gd name="connsiteX2" fmla="*/ 927100 w 927100"/>
              <a:gd name="connsiteY2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7100" h="1295400">
                <a:moveTo>
                  <a:pt x="0" y="0"/>
                </a:moveTo>
                <a:cubicBezTo>
                  <a:pt x="138641" y="323850"/>
                  <a:pt x="277283" y="647700"/>
                  <a:pt x="431800" y="863600"/>
                </a:cubicBezTo>
                <a:cubicBezTo>
                  <a:pt x="586317" y="1079500"/>
                  <a:pt x="756708" y="1187450"/>
                  <a:pt x="927100" y="129540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5927452" y="1199456"/>
            <a:ext cx="336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auto">
          <a:xfrm>
            <a:off x="6588235" y="2338476"/>
            <a:ext cx="10358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 + </a:t>
            </a:r>
            <a:r>
              <a:rPr lang="en-US" dirty="0">
                <a:latin typeface="Symbol" charset="0"/>
                <a:ea typeface="ＭＳ Ｐゴシック" charset="0"/>
                <a:sym typeface="Symbol"/>
              </a:rPr>
              <a:t>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 rot="2928730">
            <a:off x="5262229" y="4195140"/>
            <a:ext cx="10390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 + </a:t>
            </a:r>
            <a:r>
              <a:rPr lang="en-US" dirty="0" smtClean="0">
                <a:latin typeface="+mj-lt"/>
                <a:ea typeface="ＭＳ Ｐゴシック" charset="0"/>
                <a:sym typeface="Symbol"/>
              </a:rPr>
              <a:t>L</a:t>
            </a:r>
            <a:endParaRPr lang="en-US" sz="1800" b="0" dirty="0">
              <a:latin typeface="+mj-lt"/>
              <a:ea typeface="ＭＳ Ｐゴシック" charset="0"/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 rot="18307723">
            <a:off x="7981280" y="4302482"/>
            <a:ext cx="9877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 +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 + </a:t>
            </a:r>
            <a:r>
              <a:rPr lang="en-US" dirty="0" smtClean="0">
                <a:latin typeface="+mj-lt"/>
                <a:ea typeface="ＭＳ Ｐゴシック" charset="0"/>
                <a:sym typeface="Symbol"/>
              </a:rPr>
              <a:t>L</a:t>
            </a:r>
            <a:endParaRPr lang="en-US" sz="1800" b="0" dirty="0">
              <a:latin typeface="+mj-lt"/>
              <a:ea typeface="ＭＳ Ｐゴシック" charset="0"/>
            </a:endParaRPr>
          </a:p>
        </p:txBody>
      </p:sp>
      <p:sp>
        <p:nvSpPr>
          <p:cNvPr id="38" name="Forme libre 37"/>
          <p:cNvSpPr/>
          <p:nvPr/>
        </p:nvSpPr>
        <p:spPr>
          <a:xfrm>
            <a:off x="5575300" y="1984028"/>
            <a:ext cx="165100" cy="330200"/>
          </a:xfrm>
          <a:custGeom>
            <a:avLst/>
            <a:gdLst>
              <a:gd name="connsiteX0" fmla="*/ 0 w 165100"/>
              <a:gd name="connsiteY0" fmla="*/ 0 h 330200"/>
              <a:gd name="connsiteX1" fmla="*/ 50800 w 165100"/>
              <a:gd name="connsiteY1" fmla="*/ 190500 h 330200"/>
              <a:gd name="connsiteX2" fmla="*/ 165100 w 165100"/>
              <a:gd name="connsiteY2" fmla="*/ 330200 h 33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00" h="330200">
                <a:moveTo>
                  <a:pt x="0" y="0"/>
                </a:moveTo>
                <a:cubicBezTo>
                  <a:pt x="11641" y="67733"/>
                  <a:pt x="23283" y="135467"/>
                  <a:pt x="50800" y="190500"/>
                </a:cubicBezTo>
                <a:cubicBezTo>
                  <a:pt x="78317" y="245533"/>
                  <a:pt x="121708" y="287866"/>
                  <a:pt x="165100" y="3302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Forme libre 38"/>
          <p:cNvSpPr/>
          <p:nvPr/>
        </p:nvSpPr>
        <p:spPr>
          <a:xfrm>
            <a:off x="5511800" y="2314228"/>
            <a:ext cx="241300" cy="152400"/>
          </a:xfrm>
          <a:custGeom>
            <a:avLst/>
            <a:gdLst>
              <a:gd name="connsiteX0" fmla="*/ 241300 w 241300"/>
              <a:gd name="connsiteY0" fmla="*/ 0 h 152400"/>
              <a:gd name="connsiteX1" fmla="*/ 76200 w 241300"/>
              <a:gd name="connsiteY1" fmla="*/ 25400 h 152400"/>
              <a:gd name="connsiteX2" fmla="*/ 0 w 241300"/>
              <a:gd name="connsiteY2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300" h="152400">
                <a:moveTo>
                  <a:pt x="241300" y="0"/>
                </a:moveTo>
                <a:cubicBezTo>
                  <a:pt x="178858" y="0"/>
                  <a:pt x="116417" y="0"/>
                  <a:pt x="76200" y="25400"/>
                </a:cubicBezTo>
                <a:cubicBezTo>
                  <a:pt x="35983" y="50800"/>
                  <a:pt x="17991" y="101600"/>
                  <a:pt x="0" y="1524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Forme libre 39"/>
          <p:cNvSpPr/>
          <p:nvPr/>
        </p:nvSpPr>
        <p:spPr>
          <a:xfrm>
            <a:off x="6438900" y="3254028"/>
            <a:ext cx="787400" cy="736600"/>
          </a:xfrm>
          <a:custGeom>
            <a:avLst/>
            <a:gdLst>
              <a:gd name="connsiteX0" fmla="*/ 787400 w 787400"/>
              <a:gd name="connsiteY0" fmla="*/ 0 h 736600"/>
              <a:gd name="connsiteX1" fmla="*/ 508000 w 787400"/>
              <a:gd name="connsiteY1" fmla="*/ 482600 h 736600"/>
              <a:gd name="connsiteX2" fmla="*/ 0 w 787400"/>
              <a:gd name="connsiteY2" fmla="*/ 736600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7400" h="736600">
                <a:moveTo>
                  <a:pt x="787400" y="0"/>
                </a:moveTo>
                <a:cubicBezTo>
                  <a:pt x="713316" y="179916"/>
                  <a:pt x="639233" y="359833"/>
                  <a:pt x="508000" y="482600"/>
                </a:cubicBezTo>
                <a:cubicBezTo>
                  <a:pt x="376767" y="605367"/>
                  <a:pt x="188383" y="670983"/>
                  <a:pt x="0" y="7366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7213600" y="3254028"/>
            <a:ext cx="381000" cy="368300"/>
          </a:xfrm>
          <a:custGeom>
            <a:avLst/>
            <a:gdLst>
              <a:gd name="connsiteX0" fmla="*/ 0 w 381000"/>
              <a:gd name="connsiteY0" fmla="*/ 0 h 368300"/>
              <a:gd name="connsiteX1" fmla="*/ 152400 w 381000"/>
              <a:gd name="connsiteY1" fmla="*/ 241300 h 368300"/>
              <a:gd name="connsiteX2" fmla="*/ 381000 w 381000"/>
              <a:gd name="connsiteY2" fmla="*/ 368300 h 36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000" h="368300">
                <a:moveTo>
                  <a:pt x="0" y="0"/>
                </a:moveTo>
                <a:cubicBezTo>
                  <a:pt x="44450" y="89958"/>
                  <a:pt x="88900" y="179917"/>
                  <a:pt x="152400" y="241300"/>
                </a:cubicBezTo>
                <a:cubicBezTo>
                  <a:pt x="215900" y="302683"/>
                  <a:pt x="298450" y="335491"/>
                  <a:pt x="381000" y="3683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/>
          <p:cNvSpPr/>
          <p:nvPr/>
        </p:nvSpPr>
        <p:spPr>
          <a:xfrm>
            <a:off x="6451600" y="3609628"/>
            <a:ext cx="1130300" cy="393700"/>
          </a:xfrm>
          <a:custGeom>
            <a:avLst/>
            <a:gdLst>
              <a:gd name="connsiteX0" fmla="*/ 1130300 w 1130300"/>
              <a:gd name="connsiteY0" fmla="*/ 0 h 393700"/>
              <a:gd name="connsiteX1" fmla="*/ 863600 w 1130300"/>
              <a:gd name="connsiteY1" fmla="*/ 114300 h 393700"/>
              <a:gd name="connsiteX2" fmla="*/ 0 w 1130300"/>
              <a:gd name="connsiteY2" fmla="*/ 39370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0300" h="393700">
                <a:moveTo>
                  <a:pt x="1130300" y="0"/>
                </a:moveTo>
                <a:cubicBezTo>
                  <a:pt x="1091141" y="24341"/>
                  <a:pt x="1051983" y="48683"/>
                  <a:pt x="863600" y="114300"/>
                </a:cubicBezTo>
                <a:cubicBezTo>
                  <a:pt x="675217" y="179917"/>
                  <a:pt x="337608" y="286808"/>
                  <a:pt x="0" y="3937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orme libre 42"/>
          <p:cNvSpPr/>
          <p:nvPr/>
        </p:nvSpPr>
        <p:spPr>
          <a:xfrm>
            <a:off x="6578600" y="4193828"/>
            <a:ext cx="914400" cy="152400"/>
          </a:xfrm>
          <a:custGeom>
            <a:avLst/>
            <a:gdLst>
              <a:gd name="connsiteX0" fmla="*/ 914400 w 914400"/>
              <a:gd name="connsiteY0" fmla="*/ 0 h 152400"/>
              <a:gd name="connsiteX1" fmla="*/ 558800 w 914400"/>
              <a:gd name="connsiteY1" fmla="*/ 127000 h 152400"/>
              <a:gd name="connsiteX2" fmla="*/ 0 w 914400"/>
              <a:gd name="connsiteY2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152400">
                <a:moveTo>
                  <a:pt x="914400" y="0"/>
                </a:moveTo>
                <a:cubicBezTo>
                  <a:pt x="812800" y="50800"/>
                  <a:pt x="711200" y="101600"/>
                  <a:pt x="558800" y="127000"/>
                </a:cubicBezTo>
                <a:cubicBezTo>
                  <a:pt x="406400" y="152400"/>
                  <a:pt x="203200" y="152400"/>
                  <a:pt x="0" y="1524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>
            <a:off x="7493000" y="4193828"/>
            <a:ext cx="177800" cy="83532"/>
          </a:xfrm>
          <a:custGeom>
            <a:avLst/>
            <a:gdLst>
              <a:gd name="connsiteX0" fmla="*/ 0 w 177800"/>
              <a:gd name="connsiteY0" fmla="*/ 0 h 83532"/>
              <a:gd name="connsiteX1" fmla="*/ 127000 w 177800"/>
              <a:gd name="connsiteY1" fmla="*/ 76200 h 83532"/>
              <a:gd name="connsiteX2" fmla="*/ 177800 w 177800"/>
              <a:gd name="connsiteY2" fmla="*/ 76200 h 83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800" h="83532">
                <a:moveTo>
                  <a:pt x="0" y="0"/>
                </a:moveTo>
                <a:cubicBezTo>
                  <a:pt x="48683" y="31750"/>
                  <a:pt x="97367" y="63500"/>
                  <a:pt x="127000" y="76200"/>
                </a:cubicBezTo>
                <a:cubicBezTo>
                  <a:pt x="156633" y="88900"/>
                  <a:pt x="167216" y="82550"/>
                  <a:pt x="177800" y="762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Forme libre 44"/>
          <p:cNvSpPr/>
          <p:nvPr/>
        </p:nvSpPr>
        <p:spPr>
          <a:xfrm>
            <a:off x="8458200" y="2276128"/>
            <a:ext cx="342900" cy="38100"/>
          </a:xfrm>
          <a:custGeom>
            <a:avLst/>
            <a:gdLst>
              <a:gd name="connsiteX0" fmla="*/ 342900 w 342900"/>
              <a:gd name="connsiteY0" fmla="*/ 38100 h 38100"/>
              <a:gd name="connsiteX1" fmla="*/ 165100 w 342900"/>
              <a:gd name="connsiteY1" fmla="*/ 12700 h 38100"/>
              <a:gd name="connsiteX2" fmla="*/ 0 w 342900"/>
              <a:gd name="connsiteY2" fmla="*/ 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" h="38100">
                <a:moveTo>
                  <a:pt x="342900" y="38100"/>
                </a:moveTo>
                <a:cubicBezTo>
                  <a:pt x="282575" y="28575"/>
                  <a:pt x="222250" y="19050"/>
                  <a:pt x="165100" y="12700"/>
                </a:cubicBezTo>
                <a:cubicBezTo>
                  <a:pt x="107950" y="6350"/>
                  <a:pt x="53975" y="3175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orme libre 45"/>
          <p:cNvSpPr/>
          <p:nvPr/>
        </p:nvSpPr>
        <p:spPr>
          <a:xfrm>
            <a:off x="8432800" y="2009428"/>
            <a:ext cx="101600" cy="266700"/>
          </a:xfrm>
          <a:custGeom>
            <a:avLst/>
            <a:gdLst>
              <a:gd name="connsiteX0" fmla="*/ 101600 w 101600"/>
              <a:gd name="connsiteY0" fmla="*/ 0 h 266700"/>
              <a:gd name="connsiteX1" fmla="*/ 50800 w 101600"/>
              <a:gd name="connsiteY1" fmla="*/ 152400 h 266700"/>
              <a:gd name="connsiteX2" fmla="*/ 0 w 101600"/>
              <a:gd name="connsiteY2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600" h="266700">
                <a:moveTo>
                  <a:pt x="101600" y="0"/>
                </a:moveTo>
                <a:cubicBezTo>
                  <a:pt x="84666" y="53975"/>
                  <a:pt x="67733" y="107950"/>
                  <a:pt x="50800" y="152400"/>
                </a:cubicBezTo>
                <a:cubicBezTo>
                  <a:pt x="33867" y="196850"/>
                  <a:pt x="16933" y="231775"/>
                  <a:pt x="0" y="2667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orme libre 46"/>
          <p:cNvSpPr/>
          <p:nvPr/>
        </p:nvSpPr>
        <p:spPr>
          <a:xfrm>
            <a:off x="5905500" y="3863628"/>
            <a:ext cx="381000" cy="266700"/>
          </a:xfrm>
          <a:custGeom>
            <a:avLst/>
            <a:gdLst>
              <a:gd name="connsiteX0" fmla="*/ 0 w 381000"/>
              <a:gd name="connsiteY0" fmla="*/ 266700 h 266700"/>
              <a:gd name="connsiteX1" fmla="*/ 165100 w 381000"/>
              <a:gd name="connsiteY1" fmla="*/ 114300 h 266700"/>
              <a:gd name="connsiteX2" fmla="*/ 381000 w 381000"/>
              <a:gd name="connsiteY2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000" h="266700">
                <a:moveTo>
                  <a:pt x="0" y="266700"/>
                </a:moveTo>
                <a:cubicBezTo>
                  <a:pt x="50800" y="212725"/>
                  <a:pt x="101600" y="158750"/>
                  <a:pt x="165100" y="114300"/>
                </a:cubicBezTo>
                <a:cubicBezTo>
                  <a:pt x="228600" y="69850"/>
                  <a:pt x="304800" y="34925"/>
                  <a:pt x="38100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Forme libre 47"/>
          <p:cNvSpPr/>
          <p:nvPr/>
        </p:nvSpPr>
        <p:spPr>
          <a:xfrm>
            <a:off x="8064500" y="3457228"/>
            <a:ext cx="431800" cy="111376"/>
          </a:xfrm>
          <a:custGeom>
            <a:avLst/>
            <a:gdLst>
              <a:gd name="connsiteX0" fmla="*/ 431800 w 431800"/>
              <a:gd name="connsiteY0" fmla="*/ 101600 h 111376"/>
              <a:gd name="connsiteX1" fmla="*/ 254000 w 431800"/>
              <a:gd name="connsiteY1" fmla="*/ 101600 h 111376"/>
              <a:gd name="connsiteX2" fmla="*/ 0 w 431800"/>
              <a:gd name="connsiteY2" fmla="*/ 0 h 111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1800" h="111376">
                <a:moveTo>
                  <a:pt x="431800" y="101600"/>
                </a:moveTo>
                <a:cubicBezTo>
                  <a:pt x="378883" y="110066"/>
                  <a:pt x="325967" y="118533"/>
                  <a:pt x="254000" y="101600"/>
                </a:cubicBezTo>
                <a:cubicBezTo>
                  <a:pt x="182033" y="84667"/>
                  <a:pt x="91016" y="42333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Forme libre 48"/>
          <p:cNvSpPr/>
          <p:nvPr/>
        </p:nvSpPr>
        <p:spPr>
          <a:xfrm>
            <a:off x="7759700" y="3609628"/>
            <a:ext cx="355600" cy="876300"/>
          </a:xfrm>
          <a:custGeom>
            <a:avLst/>
            <a:gdLst>
              <a:gd name="connsiteX0" fmla="*/ 355600 w 355600"/>
              <a:gd name="connsiteY0" fmla="*/ 876300 h 876300"/>
              <a:gd name="connsiteX1" fmla="*/ 254000 w 355600"/>
              <a:gd name="connsiteY1" fmla="*/ 469900 h 876300"/>
              <a:gd name="connsiteX2" fmla="*/ 0 w 355600"/>
              <a:gd name="connsiteY2" fmla="*/ 0 h 87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00" h="876300">
                <a:moveTo>
                  <a:pt x="355600" y="876300"/>
                </a:moveTo>
                <a:cubicBezTo>
                  <a:pt x="334433" y="746125"/>
                  <a:pt x="313267" y="615950"/>
                  <a:pt x="254000" y="469900"/>
                </a:cubicBezTo>
                <a:cubicBezTo>
                  <a:pt x="194733" y="323850"/>
                  <a:pt x="97366" y="161925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Text Box 7"/>
          <p:cNvSpPr txBox="1">
            <a:spLocks noChangeArrowheads="1"/>
          </p:cNvSpPr>
          <p:nvPr/>
        </p:nvSpPr>
        <p:spPr bwMode="auto">
          <a:xfrm rot="18307723">
            <a:off x="7431574" y="2877743"/>
            <a:ext cx="7056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 +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 </a:t>
            </a:r>
            <a:endParaRPr lang="en-US" sz="1800" b="0" dirty="0">
              <a:latin typeface="+mj-lt"/>
              <a:ea typeface="ＭＳ Ｐゴシック" charset="0"/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6012160" y="2990364"/>
            <a:ext cx="66717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52" name="Text Box 7"/>
          <p:cNvSpPr txBox="1">
            <a:spLocks noChangeArrowheads="1"/>
          </p:cNvSpPr>
          <p:nvPr/>
        </p:nvSpPr>
        <p:spPr bwMode="auto">
          <a:xfrm>
            <a:off x="6804248" y="3854460"/>
            <a:ext cx="6142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 smtClean="0">
                <a:ea typeface="ＭＳ Ｐゴシック" charset="0"/>
                <a:sym typeface="Symbol"/>
              </a:rPr>
              <a:t>L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+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 </a:t>
            </a:r>
            <a:r>
              <a:rPr lang="en-US" dirty="0">
                <a:latin typeface="Symbol" charset="0"/>
                <a:ea typeface="ＭＳ Ｐゴシック" charset="0"/>
                <a:sym typeface="Symbol"/>
              </a:rPr>
              <a:t>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47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</a:t>
            </a:r>
            <a:r>
              <a:rPr lang="fr-FR" sz="2400" dirty="0" err="1" smtClean="0"/>
              <a:t>peritectiques</a:t>
            </a:r>
            <a:r>
              <a:rPr lang="fr-FR" sz="2400" dirty="0" smtClean="0"/>
              <a:t> et 1 eutectique binaires</a:t>
            </a:r>
            <a:endParaRPr lang="fr-FR" sz="2400" dirty="0"/>
          </a:p>
        </p:txBody>
      </p:sp>
      <p:pic>
        <p:nvPicPr>
          <p:cNvPr id="4" name="Picture 4" descr="Class-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2" t="18051" r="19753" b="21094"/>
          <a:stretch>
            <a:fillRect/>
          </a:stretch>
        </p:blipFill>
        <p:spPr bwMode="auto">
          <a:xfrm>
            <a:off x="-36512" y="980728"/>
            <a:ext cx="55626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5"/>
          <p:cNvSpPr>
            <a:spLocks/>
          </p:cNvSpPr>
          <p:nvPr/>
        </p:nvSpPr>
        <p:spPr bwMode="auto">
          <a:xfrm>
            <a:off x="534988" y="2923828"/>
            <a:ext cx="4114800" cy="2095500"/>
          </a:xfrm>
          <a:custGeom>
            <a:avLst/>
            <a:gdLst>
              <a:gd name="T0" fmla="*/ 0 w 2592"/>
              <a:gd name="T1" fmla="*/ 66675 h 1320"/>
              <a:gd name="T2" fmla="*/ 4114800 w 2592"/>
              <a:gd name="T3" fmla="*/ 0 h 1320"/>
              <a:gd name="T4" fmla="*/ 1514475 w 2592"/>
              <a:gd name="T5" fmla="*/ 2095500 h 1320"/>
              <a:gd name="T6" fmla="*/ 0 w 2592"/>
              <a:gd name="T7" fmla="*/ 66675 h 13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92" h="1320">
                <a:moveTo>
                  <a:pt x="0" y="42"/>
                </a:moveTo>
                <a:lnTo>
                  <a:pt x="2592" y="0"/>
                </a:lnTo>
                <a:lnTo>
                  <a:pt x="954" y="1320"/>
                </a:lnTo>
                <a:lnTo>
                  <a:pt x="0" y="42"/>
                </a:lnTo>
                <a:close/>
              </a:path>
            </a:pathLst>
          </a:custGeom>
          <a:solidFill>
            <a:srgbClr val="FFFF99">
              <a:alpha val="39999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811213" y="3319116"/>
            <a:ext cx="276225" cy="42862"/>
          </a:xfrm>
          <a:custGeom>
            <a:avLst/>
            <a:gdLst>
              <a:gd name="T0" fmla="*/ 276225 w 174"/>
              <a:gd name="T1" fmla="*/ 14287 h 27"/>
              <a:gd name="T2" fmla="*/ 152400 w 174"/>
              <a:gd name="T3" fmla="*/ 4762 h 27"/>
              <a:gd name="T4" fmla="*/ 0 w 174"/>
              <a:gd name="T5" fmla="*/ 42862 h 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4" h="27">
                <a:moveTo>
                  <a:pt x="174" y="9"/>
                </a:moveTo>
                <a:cubicBezTo>
                  <a:pt x="161" y="8"/>
                  <a:pt x="125" y="0"/>
                  <a:pt x="96" y="3"/>
                </a:cubicBezTo>
                <a:cubicBezTo>
                  <a:pt x="67" y="6"/>
                  <a:pt x="20" y="22"/>
                  <a:pt x="0" y="27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3868738" y="2928591"/>
            <a:ext cx="342900" cy="276225"/>
          </a:xfrm>
          <a:custGeom>
            <a:avLst/>
            <a:gdLst>
              <a:gd name="T0" fmla="*/ 0 w 216"/>
              <a:gd name="T1" fmla="*/ 276225 h 174"/>
              <a:gd name="T2" fmla="*/ 185738 w 216"/>
              <a:gd name="T3" fmla="*/ 161925 h 174"/>
              <a:gd name="T4" fmla="*/ 342900 w 216"/>
              <a:gd name="T5" fmla="*/ 0 h 17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" h="174">
                <a:moveTo>
                  <a:pt x="0" y="174"/>
                </a:moveTo>
                <a:cubicBezTo>
                  <a:pt x="20" y="162"/>
                  <a:pt x="81" y="131"/>
                  <a:pt x="117" y="102"/>
                </a:cubicBezTo>
                <a:cubicBezTo>
                  <a:pt x="153" y="73"/>
                  <a:pt x="196" y="21"/>
                  <a:pt x="216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949326" y="2985741"/>
            <a:ext cx="138112" cy="342900"/>
          </a:xfrm>
          <a:custGeom>
            <a:avLst/>
            <a:gdLst>
              <a:gd name="T0" fmla="*/ 138112 w 87"/>
              <a:gd name="T1" fmla="*/ 342900 h 216"/>
              <a:gd name="T2" fmla="*/ 57150 w 87"/>
              <a:gd name="T3" fmla="*/ 200025 h 216"/>
              <a:gd name="T4" fmla="*/ 0 w 87"/>
              <a:gd name="T5" fmla="*/ 0 h 2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7" h="216">
                <a:moveTo>
                  <a:pt x="87" y="216"/>
                </a:moveTo>
                <a:cubicBezTo>
                  <a:pt x="79" y="201"/>
                  <a:pt x="50" y="162"/>
                  <a:pt x="36" y="126"/>
                </a:cubicBezTo>
                <a:cubicBezTo>
                  <a:pt x="22" y="90"/>
                  <a:pt x="7" y="26"/>
                  <a:pt x="0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1" name="Freeform 9"/>
          <p:cNvSpPr>
            <a:spLocks/>
          </p:cNvSpPr>
          <p:nvPr/>
        </p:nvSpPr>
        <p:spPr bwMode="auto">
          <a:xfrm>
            <a:off x="1092201" y="3209578"/>
            <a:ext cx="2762250" cy="790575"/>
          </a:xfrm>
          <a:custGeom>
            <a:avLst/>
            <a:gdLst>
              <a:gd name="T0" fmla="*/ 0 w 1740"/>
              <a:gd name="T1" fmla="*/ 123825 h 498"/>
              <a:gd name="T2" fmla="*/ 2762250 w 1740"/>
              <a:gd name="T3" fmla="*/ 0 h 498"/>
              <a:gd name="T4" fmla="*/ 1257300 w 1740"/>
              <a:gd name="T5" fmla="*/ 790575 h 498"/>
              <a:gd name="T6" fmla="*/ 0 w 1740"/>
              <a:gd name="T7" fmla="*/ 123825 h 49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40" h="498">
                <a:moveTo>
                  <a:pt x="0" y="78"/>
                </a:moveTo>
                <a:lnTo>
                  <a:pt x="1740" y="0"/>
                </a:lnTo>
                <a:lnTo>
                  <a:pt x="792" y="498"/>
                </a:lnTo>
                <a:lnTo>
                  <a:pt x="0" y="78"/>
                </a:lnTo>
                <a:close/>
              </a:path>
            </a:pathLst>
          </a:custGeom>
          <a:solidFill>
            <a:srgbClr val="00CC00">
              <a:alpha val="41176"/>
            </a:srgbClr>
          </a:solidFill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2" name="Freeform 10"/>
          <p:cNvSpPr>
            <a:spLocks/>
          </p:cNvSpPr>
          <p:nvPr/>
        </p:nvSpPr>
        <p:spPr bwMode="auto">
          <a:xfrm>
            <a:off x="2030413" y="4971703"/>
            <a:ext cx="71438" cy="9525"/>
          </a:xfrm>
          <a:custGeom>
            <a:avLst/>
            <a:gdLst>
              <a:gd name="T0" fmla="*/ 71438 w 45"/>
              <a:gd name="T1" fmla="*/ 0 h 6"/>
              <a:gd name="T2" fmla="*/ 0 w 45"/>
              <a:gd name="T3" fmla="*/ 9525 h 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45" h="6">
                <a:moveTo>
                  <a:pt x="45" y="0"/>
                </a:moveTo>
                <a:cubicBezTo>
                  <a:pt x="38" y="1"/>
                  <a:pt x="9" y="5"/>
                  <a:pt x="0" y="6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3" name="Freeform 11"/>
          <p:cNvSpPr>
            <a:spLocks/>
          </p:cNvSpPr>
          <p:nvPr/>
        </p:nvSpPr>
        <p:spPr bwMode="auto">
          <a:xfrm>
            <a:off x="3844926" y="3184178"/>
            <a:ext cx="471487" cy="25400"/>
          </a:xfrm>
          <a:custGeom>
            <a:avLst/>
            <a:gdLst>
              <a:gd name="T0" fmla="*/ 0 w 297"/>
              <a:gd name="T1" fmla="*/ 25400 h 16"/>
              <a:gd name="T2" fmla="*/ 233362 w 297"/>
              <a:gd name="T3" fmla="*/ 1588 h 16"/>
              <a:gd name="T4" fmla="*/ 471487 w 297"/>
              <a:gd name="T5" fmla="*/ 11113 h 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7" h="16">
                <a:moveTo>
                  <a:pt x="0" y="16"/>
                </a:moveTo>
                <a:cubicBezTo>
                  <a:pt x="25" y="14"/>
                  <a:pt x="98" y="2"/>
                  <a:pt x="147" y="1"/>
                </a:cubicBezTo>
                <a:cubicBezTo>
                  <a:pt x="196" y="0"/>
                  <a:pt x="266" y="6"/>
                  <a:pt x="297" y="7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4" name="Freeform 12"/>
          <p:cNvSpPr>
            <a:spLocks/>
          </p:cNvSpPr>
          <p:nvPr/>
        </p:nvSpPr>
        <p:spPr bwMode="auto">
          <a:xfrm>
            <a:off x="2344738" y="3995391"/>
            <a:ext cx="704850" cy="219075"/>
          </a:xfrm>
          <a:custGeom>
            <a:avLst/>
            <a:gdLst>
              <a:gd name="T0" fmla="*/ 704850 w 444"/>
              <a:gd name="T1" fmla="*/ 219075 h 138"/>
              <a:gd name="T2" fmla="*/ 257175 w 444"/>
              <a:gd name="T3" fmla="*/ 133350 h 138"/>
              <a:gd name="T4" fmla="*/ 0 w 444"/>
              <a:gd name="T5" fmla="*/ 0 h 13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44" h="138">
                <a:moveTo>
                  <a:pt x="444" y="138"/>
                </a:moveTo>
                <a:cubicBezTo>
                  <a:pt x="397" y="129"/>
                  <a:pt x="236" y="107"/>
                  <a:pt x="162" y="84"/>
                </a:cubicBezTo>
                <a:cubicBezTo>
                  <a:pt x="88" y="61"/>
                  <a:pt x="34" y="17"/>
                  <a:pt x="0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5" name="Freeform 13"/>
          <p:cNvSpPr>
            <a:spLocks/>
          </p:cNvSpPr>
          <p:nvPr/>
        </p:nvSpPr>
        <p:spPr bwMode="auto">
          <a:xfrm>
            <a:off x="1439863" y="3990628"/>
            <a:ext cx="904875" cy="228600"/>
          </a:xfrm>
          <a:custGeom>
            <a:avLst/>
            <a:gdLst>
              <a:gd name="T0" fmla="*/ 0 w 570"/>
              <a:gd name="T1" fmla="*/ 228600 h 144"/>
              <a:gd name="T2" fmla="*/ 457200 w 570"/>
              <a:gd name="T3" fmla="*/ 161925 h 144"/>
              <a:gd name="T4" fmla="*/ 904875 w 570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0" h="144">
                <a:moveTo>
                  <a:pt x="0" y="144"/>
                </a:moveTo>
                <a:cubicBezTo>
                  <a:pt x="48" y="137"/>
                  <a:pt x="193" y="126"/>
                  <a:pt x="288" y="102"/>
                </a:cubicBezTo>
                <a:cubicBezTo>
                  <a:pt x="383" y="78"/>
                  <a:pt x="511" y="21"/>
                  <a:pt x="570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6" name="Freeform 14"/>
          <p:cNvSpPr>
            <a:spLocks/>
          </p:cNvSpPr>
          <p:nvPr/>
        </p:nvSpPr>
        <p:spPr bwMode="auto">
          <a:xfrm>
            <a:off x="1830388" y="4652616"/>
            <a:ext cx="666750" cy="71437"/>
          </a:xfrm>
          <a:custGeom>
            <a:avLst/>
            <a:gdLst>
              <a:gd name="T0" fmla="*/ 0 w 420"/>
              <a:gd name="T1" fmla="*/ 71437 h 45"/>
              <a:gd name="T2" fmla="*/ 295275 w 420"/>
              <a:gd name="T3" fmla="*/ 9525 h 45"/>
              <a:gd name="T4" fmla="*/ 666750 w 420"/>
              <a:gd name="T5" fmla="*/ 14287 h 4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0" h="45">
                <a:moveTo>
                  <a:pt x="0" y="45"/>
                </a:moveTo>
                <a:cubicBezTo>
                  <a:pt x="31" y="39"/>
                  <a:pt x="116" y="12"/>
                  <a:pt x="186" y="6"/>
                </a:cubicBezTo>
                <a:cubicBezTo>
                  <a:pt x="256" y="0"/>
                  <a:pt x="371" y="9"/>
                  <a:pt x="420" y="9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auto">
          <a:xfrm flipV="1">
            <a:off x="5194300" y="1971328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5300663" y="1951326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19" name="Forme libre 18"/>
          <p:cNvSpPr/>
          <p:nvPr/>
        </p:nvSpPr>
        <p:spPr>
          <a:xfrm>
            <a:off x="6718300" y="1971328"/>
            <a:ext cx="406400" cy="1841500"/>
          </a:xfrm>
          <a:custGeom>
            <a:avLst/>
            <a:gdLst>
              <a:gd name="connsiteX0" fmla="*/ 0 w 406400"/>
              <a:gd name="connsiteY0" fmla="*/ 0 h 1841500"/>
              <a:gd name="connsiteX1" fmla="*/ 304800 w 406400"/>
              <a:gd name="connsiteY1" fmla="*/ 1168400 h 1841500"/>
              <a:gd name="connsiteX2" fmla="*/ 406400 w 406400"/>
              <a:gd name="connsiteY2" fmla="*/ 1841500 h 18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400" h="1841500">
                <a:moveTo>
                  <a:pt x="0" y="0"/>
                </a:moveTo>
                <a:cubicBezTo>
                  <a:pt x="118533" y="430741"/>
                  <a:pt x="237067" y="861483"/>
                  <a:pt x="304800" y="1168400"/>
                </a:cubicBezTo>
                <a:cubicBezTo>
                  <a:pt x="372533" y="1475317"/>
                  <a:pt x="389466" y="1658408"/>
                  <a:pt x="406400" y="18415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orme libre 19"/>
          <p:cNvSpPr/>
          <p:nvPr/>
        </p:nvSpPr>
        <p:spPr>
          <a:xfrm>
            <a:off x="7124700" y="3800128"/>
            <a:ext cx="469900" cy="546100"/>
          </a:xfrm>
          <a:custGeom>
            <a:avLst/>
            <a:gdLst>
              <a:gd name="connsiteX0" fmla="*/ 0 w 469900"/>
              <a:gd name="connsiteY0" fmla="*/ 0 h 546100"/>
              <a:gd name="connsiteX1" fmla="*/ 228600 w 469900"/>
              <a:gd name="connsiteY1" fmla="*/ 215900 h 546100"/>
              <a:gd name="connsiteX2" fmla="*/ 469900 w 469900"/>
              <a:gd name="connsiteY2" fmla="*/ 54610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46100">
                <a:moveTo>
                  <a:pt x="0" y="0"/>
                </a:moveTo>
                <a:cubicBezTo>
                  <a:pt x="75141" y="62441"/>
                  <a:pt x="150283" y="124883"/>
                  <a:pt x="228600" y="215900"/>
                </a:cubicBezTo>
                <a:cubicBezTo>
                  <a:pt x="306917" y="306917"/>
                  <a:pt x="388408" y="426508"/>
                  <a:pt x="469900" y="5461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orme libre 20"/>
          <p:cNvSpPr/>
          <p:nvPr/>
        </p:nvSpPr>
        <p:spPr>
          <a:xfrm>
            <a:off x="6588224" y="3812828"/>
            <a:ext cx="536476" cy="533400"/>
          </a:xfrm>
          <a:custGeom>
            <a:avLst/>
            <a:gdLst>
              <a:gd name="connsiteX0" fmla="*/ 469900 w 469900"/>
              <a:gd name="connsiteY0" fmla="*/ 0 h 508000"/>
              <a:gd name="connsiteX1" fmla="*/ 292100 w 469900"/>
              <a:gd name="connsiteY1" fmla="*/ 228600 h 508000"/>
              <a:gd name="connsiteX2" fmla="*/ 0 w 469900"/>
              <a:gd name="connsiteY2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08000">
                <a:moveTo>
                  <a:pt x="469900" y="0"/>
                </a:moveTo>
                <a:cubicBezTo>
                  <a:pt x="420158" y="71966"/>
                  <a:pt x="370417" y="143933"/>
                  <a:pt x="292100" y="228600"/>
                </a:cubicBezTo>
                <a:cubicBezTo>
                  <a:pt x="213783" y="313267"/>
                  <a:pt x="106891" y="410633"/>
                  <a:pt x="0" y="508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 rot="17948587">
            <a:off x="8297235" y="3343887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+ </a:t>
            </a:r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7466856" y="5451644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 </a:t>
            </a:r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>
            <a:off x="8392616" y="1906796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6896100" y="1923480"/>
            <a:ext cx="7200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26" name="Triangle isocèle 25"/>
          <p:cNvSpPr/>
          <p:nvPr/>
        </p:nvSpPr>
        <p:spPr>
          <a:xfrm rot="-60000" flipV="1">
            <a:off x="5761211" y="2300534"/>
            <a:ext cx="2698805" cy="1511754"/>
          </a:xfrm>
          <a:prstGeom prst="triangle">
            <a:avLst>
              <a:gd name="adj" fmla="val 54078"/>
            </a:avLst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6588235" y="2628989"/>
            <a:ext cx="10358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 + </a:t>
            </a:r>
            <a:r>
              <a:rPr lang="en-US" dirty="0">
                <a:latin typeface="Symbol" charset="0"/>
                <a:ea typeface="ＭＳ Ｐゴシック" charset="0"/>
                <a:sym typeface="Symbol"/>
              </a:rPr>
              <a:t>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28" name="Text Box 7"/>
          <p:cNvSpPr txBox="1">
            <a:spLocks noChangeArrowheads="1"/>
          </p:cNvSpPr>
          <p:nvPr/>
        </p:nvSpPr>
        <p:spPr bwMode="auto">
          <a:xfrm rot="18307723">
            <a:off x="7981280" y="4302482"/>
            <a:ext cx="9877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 +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 + </a:t>
            </a:r>
            <a:r>
              <a:rPr lang="en-US" dirty="0" smtClean="0">
                <a:latin typeface="+mj-lt"/>
                <a:ea typeface="ＭＳ Ｐゴシック" charset="0"/>
                <a:sym typeface="Symbol"/>
              </a:rPr>
              <a:t>L</a:t>
            </a:r>
            <a:endParaRPr lang="en-US" sz="1800" b="0" dirty="0">
              <a:latin typeface="+mj-lt"/>
              <a:ea typeface="ＭＳ Ｐゴシック" charset="0"/>
            </a:endParaRPr>
          </a:p>
        </p:txBody>
      </p:sp>
      <p:sp>
        <p:nvSpPr>
          <p:cNvPr id="29" name="Forme libre 28"/>
          <p:cNvSpPr/>
          <p:nvPr/>
        </p:nvSpPr>
        <p:spPr>
          <a:xfrm>
            <a:off x="5575300" y="1984028"/>
            <a:ext cx="165100" cy="330200"/>
          </a:xfrm>
          <a:custGeom>
            <a:avLst/>
            <a:gdLst>
              <a:gd name="connsiteX0" fmla="*/ 0 w 165100"/>
              <a:gd name="connsiteY0" fmla="*/ 0 h 330200"/>
              <a:gd name="connsiteX1" fmla="*/ 50800 w 165100"/>
              <a:gd name="connsiteY1" fmla="*/ 190500 h 330200"/>
              <a:gd name="connsiteX2" fmla="*/ 165100 w 165100"/>
              <a:gd name="connsiteY2" fmla="*/ 330200 h 33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00" h="330200">
                <a:moveTo>
                  <a:pt x="0" y="0"/>
                </a:moveTo>
                <a:cubicBezTo>
                  <a:pt x="11641" y="67733"/>
                  <a:pt x="23283" y="135467"/>
                  <a:pt x="50800" y="190500"/>
                </a:cubicBezTo>
                <a:cubicBezTo>
                  <a:pt x="78317" y="245533"/>
                  <a:pt x="121708" y="287866"/>
                  <a:pt x="165100" y="3302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Forme libre 29"/>
          <p:cNvSpPr/>
          <p:nvPr/>
        </p:nvSpPr>
        <p:spPr>
          <a:xfrm>
            <a:off x="5511800" y="2314228"/>
            <a:ext cx="241300" cy="152400"/>
          </a:xfrm>
          <a:custGeom>
            <a:avLst/>
            <a:gdLst>
              <a:gd name="connsiteX0" fmla="*/ 241300 w 241300"/>
              <a:gd name="connsiteY0" fmla="*/ 0 h 152400"/>
              <a:gd name="connsiteX1" fmla="*/ 76200 w 241300"/>
              <a:gd name="connsiteY1" fmla="*/ 25400 h 152400"/>
              <a:gd name="connsiteX2" fmla="*/ 0 w 241300"/>
              <a:gd name="connsiteY2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300" h="152400">
                <a:moveTo>
                  <a:pt x="241300" y="0"/>
                </a:moveTo>
                <a:cubicBezTo>
                  <a:pt x="178858" y="0"/>
                  <a:pt x="116417" y="0"/>
                  <a:pt x="76200" y="25400"/>
                </a:cubicBezTo>
                <a:cubicBezTo>
                  <a:pt x="35983" y="50800"/>
                  <a:pt x="17991" y="101600"/>
                  <a:pt x="0" y="1524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Forme libre 30"/>
          <p:cNvSpPr/>
          <p:nvPr/>
        </p:nvSpPr>
        <p:spPr>
          <a:xfrm>
            <a:off x="8458200" y="2276128"/>
            <a:ext cx="342900" cy="38100"/>
          </a:xfrm>
          <a:custGeom>
            <a:avLst/>
            <a:gdLst>
              <a:gd name="connsiteX0" fmla="*/ 342900 w 342900"/>
              <a:gd name="connsiteY0" fmla="*/ 38100 h 38100"/>
              <a:gd name="connsiteX1" fmla="*/ 165100 w 342900"/>
              <a:gd name="connsiteY1" fmla="*/ 12700 h 38100"/>
              <a:gd name="connsiteX2" fmla="*/ 0 w 342900"/>
              <a:gd name="connsiteY2" fmla="*/ 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" h="38100">
                <a:moveTo>
                  <a:pt x="342900" y="38100"/>
                </a:moveTo>
                <a:cubicBezTo>
                  <a:pt x="282575" y="28575"/>
                  <a:pt x="222250" y="19050"/>
                  <a:pt x="165100" y="12700"/>
                </a:cubicBezTo>
                <a:cubicBezTo>
                  <a:pt x="107950" y="6350"/>
                  <a:pt x="53975" y="3175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Forme libre 31"/>
          <p:cNvSpPr/>
          <p:nvPr/>
        </p:nvSpPr>
        <p:spPr>
          <a:xfrm>
            <a:off x="8432800" y="2009428"/>
            <a:ext cx="101600" cy="266700"/>
          </a:xfrm>
          <a:custGeom>
            <a:avLst/>
            <a:gdLst>
              <a:gd name="connsiteX0" fmla="*/ 101600 w 101600"/>
              <a:gd name="connsiteY0" fmla="*/ 0 h 266700"/>
              <a:gd name="connsiteX1" fmla="*/ 50800 w 101600"/>
              <a:gd name="connsiteY1" fmla="*/ 152400 h 266700"/>
              <a:gd name="connsiteX2" fmla="*/ 0 w 101600"/>
              <a:gd name="connsiteY2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600" h="266700">
                <a:moveTo>
                  <a:pt x="101600" y="0"/>
                </a:moveTo>
                <a:cubicBezTo>
                  <a:pt x="84666" y="53975"/>
                  <a:pt x="67733" y="107950"/>
                  <a:pt x="50800" y="152400"/>
                </a:cubicBezTo>
                <a:cubicBezTo>
                  <a:pt x="33867" y="196850"/>
                  <a:pt x="16933" y="231775"/>
                  <a:pt x="0" y="2667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Forme libre 32"/>
          <p:cNvSpPr/>
          <p:nvPr/>
        </p:nvSpPr>
        <p:spPr>
          <a:xfrm>
            <a:off x="8064500" y="3457228"/>
            <a:ext cx="431800" cy="111376"/>
          </a:xfrm>
          <a:custGeom>
            <a:avLst/>
            <a:gdLst>
              <a:gd name="connsiteX0" fmla="*/ 431800 w 431800"/>
              <a:gd name="connsiteY0" fmla="*/ 101600 h 111376"/>
              <a:gd name="connsiteX1" fmla="*/ 254000 w 431800"/>
              <a:gd name="connsiteY1" fmla="*/ 101600 h 111376"/>
              <a:gd name="connsiteX2" fmla="*/ 0 w 431800"/>
              <a:gd name="connsiteY2" fmla="*/ 0 h 111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1800" h="111376">
                <a:moveTo>
                  <a:pt x="431800" y="101600"/>
                </a:moveTo>
                <a:cubicBezTo>
                  <a:pt x="378883" y="110066"/>
                  <a:pt x="325967" y="118533"/>
                  <a:pt x="254000" y="101600"/>
                </a:cubicBezTo>
                <a:cubicBezTo>
                  <a:pt x="182033" y="84667"/>
                  <a:pt x="91016" y="42333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Forme libre 33"/>
          <p:cNvSpPr/>
          <p:nvPr/>
        </p:nvSpPr>
        <p:spPr>
          <a:xfrm>
            <a:off x="7759700" y="3609628"/>
            <a:ext cx="355600" cy="876300"/>
          </a:xfrm>
          <a:custGeom>
            <a:avLst/>
            <a:gdLst>
              <a:gd name="connsiteX0" fmla="*/ 355600 w 355600"/>
              <a:gd name="connsiteY0" fmla="*/ 876300 h 876300"/>
              <a:gd name="connsiteX1" fmla="*/ 254000 w 355600"/>
              <a:gd name="connsiteY1" fmla="*/ 469900 h 876300"/>
              <a:gd name="connsiteX2" fmla="*/ 0 w 355600"/>
              <a:gd name="connsiteY2" fmla="*/ 0 h 87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00" h="876300">
                <a:moveTo>
                  <a:pt x="355600" y="876300"/>
                </a:moveTo>
                <a:cubicBezTo>
                  <a:pt x="334433" y="746125"/>
                  <a:pt x="313267" y="615950"/>
                  <a:pt x="254000" y="469900"/>
                </a:cubicBezTo>
                <a:cubicBezTo>
                  <a:pt x="194733" y="323850"/>
                  <a:pt x="97366" y="161925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auto">
          <a:xfrm rot="18307723">
            <a:off x="7625325" y="3041508"/>
            <a:ext cx="7056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 +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 </a:t>
            </a:r>
            <a:endParaRPr lang="en-US" sz="1800" b="0" dirty="0">
              <a:latin typeface="+mj-lt"/>
              <a:ea typeface="ＭＳ Ｐゴシック" charset="0"/>
            </a:endParaRP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6012160" y="3134380"/>
            <a:ext cx="66717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6804864" y="4606578"/>
            <a:ext cx="6142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 smtClean="0">
                <a:ea typeface="ＭＳ Ｐゴシック" charset="0"/>
                <a:sym typeface="Symbol"/>
              </a:rPr>
              <a:t>L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+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 </a:t>
            </a:r>
            <a:r>
              <a:rPr lang="en-US" dirty="0">
                <a:latin typeface="Symbol" charset="0"/>
                <a:ea typeface="ＭＳ Ｐゴシック" charset="0"/>
                <a:sym typeface="Symbol"/>
              </a:rPr>
              <a:t>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38" name="Forme libre 37"/>
          <p:cNvSpPr/>
          <p:nvPr/>
        </p:nvSpPr>
        <p:spPr>
          <a:xfrm>
            <a:off x="7226300" y="3812828"/>
            <a:ext cx="533400" cy="304800"/>
          </a:xfrm>
          <a:custGeom>
            <a:avLst/>
            <a:gdLst>
              <a:gd name="connsiteX0" fmla="*/ 0 w 533400"/>
              <a:gd name="connsiteY0" fmla="*/ 0 h 304800"/>
              <a:gd name="connsiteX1" fmla="*/ 190500 w 533400"/>
              <a:gd name="connsiteY1" fmla="*/ 152400 h 304800"/>
              <a:gd name="connsiteX2" fmla="*/ 533400 w 533400"/>
              <a:gd name="connsiteY2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304800">
                <a:moveTo>
                  <a:pt x="0" y="0"/>
                </a:moveTo>
                <a:cubicBezTo>
                  <a:pt x="50800" y="50800"/>
                  <a:pt x="101600" y="101600"/>
                  <a:pt x="190500" y="152400"/>
                </a:cubicBezTo>
                <a:cubicBezTo>
                  <a:pt x="279400" y="203200"/>
                  <a:pt x="406400" y="254000"/>
                  <a:pt x="533400" y="3048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Forme libre 38"/>
          <p:cNvSpPr/>
          <p:nvPr/>
        </p:nvSpPr>
        <p:spPr>
          <a:xfrm>
            <a:off x="6464300" y="3812828"/>
            <a:ext cx="762000" cy="342900"/>
          </a:xfrm>
          <a:custGeom>
            <a:avLst/>
            <a:gdLst>
              <a:gd name="connsiteX0" fmla="*/ 762000 w 762000"/>
              <a:gd name="connsiteY0" fmla="*/ 0 h 342900"/>
              <a:gd name="connsiteX1" fmla="*/ 469900 w 762000"/>
              <a:gd name="connsiteY1" fmla="*/ 215900 h 342900"/>
              <a:gd name="connsiteX2" fmla="*/ 0 w 762000"/>
              <a:gd name="connsiteY2" fmla="*/ 3429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342900">
                <a:moveTo>
                  <a:pt x="762000" y="0"/>
                </a:moveTo>
                <a:cubicBezTo>
                  <a:pt x="679450" y="79375"/>
                  <a:pt x="596900" y="158750"/>
                  <a:pt x="469900" y="215900"/>
                </a:cubicBezTo>
                <a:cubicBezTo>
                  <a:pt x="342900" y="273050"/>
                  <a:pt x="171450" y="307975"/>
                  <a:pt x="0" y="3429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Forme libre 39"/>
          <p:cNvSpPr/>
          <p:nvPr/>
        </p:nvSpPr>
        <p:spPr>
          <a:xfrm>
            <a:off x="6794500" y="4587528"/>
            <a:ext cx="685800" cy="127000"/>
          </a:xfrm>
          <a:custGeom>
            <a:avLst/>
            <a:gdLst>
              <a:gd name="connsiteX0" fmla="*/ 0 w 685800"/>
              <a:gd name="connsiteY0" fmla="*/ 127000 h 127000"/>
              <a:gd name="connsiteX1" fmla="*/ 304800 w 685800"/>
              <a:gd name="connsiteY1" fmla="*/ 25400 h 127000"/>
              <a:gd name="connsiteX2" fmla="*/ 685800 w 685800"/>
              <a:gd name="connsiteY2" fmla="*/ 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5800" h="127000">
                <a:moveTo>
                  <a:pt x="0" y="127000"/>
                </a:moveTo>
                <a:cubicBezTo>
                  <a:pt x="95250" y="86783"/>
                  <a:pt x="190500" y="46567"/>
                  <a:pt x="304800" y="25400"/>
                </a:cubicBezTo>
                <a:cubicBezTo>
                  <a:pt x="419100" y="4233"/>
                  <a:pt x="552450" y="2116"/>
                  <a:pt x="68580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Forme libre 40"/>
          <p:cNvSpPr/>
          <p:nvPr/>
        </p:nvSpPr>
        <p:spPr>
          <a:xfrm>
            <a:off x="7048500" y="5082828"/>
            <a:ext cx="152400" cy="55688"/>
          </a:xfrm>
          <a:custGeom>
            <a:avLst/>
            <a:gdLst>
              <a:gd name="connsiteX0" fmla="*/ 152400 w 152400"/>
              <a:gd name="connsiteY0" fmla="*/ 0 h 55688"/>
              <a:gd name="connsiteX1" fmla="*/ 63500 w 152400"/>
              <a:gd name="connsiteY1" fmla="*/ 50800 h 55688"/>
              <a:gd name="connsiteX2" fmla="*/ 0 w 152400"/>
              <a:gd name="connsiteY2" fmla="*/ 50800 h 5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0" h="55688">
                <a:moveTo>
                  <a:pt x="152400" y="0"/>
                </a:moveTo>
                <a:cubicBezTo>
                  <a:pt x="120650" y="21166"/>
                  <a:pt x="88900" y="42333"/>
                  <a:pt x="63500" y="50800"/>
                </a:cubicBezTo>
                <a:cubicBezTo>
                  <a:pt x="38100" y="59267"/>
                  <a:pt x="19050" y="55033"/>
                  <a:pt x="0" y="508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6899344" y="3998476"/>
            <a:ext cx="336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43" name="Forme libre 42"/>
          <p:cNvSpPr/>
          <p:nvPr/>
        </p:nvSpPr>
        <p:spPr>
          <a:xfrm>
            <a:off x="7124700" y="5222528"/>
            <a:ext cx="584200" cy="368300"/>
          </a:xfrm>
          <a:custGeom>
            <a:avLst/>
            <a:gdLst>
              <a:gd name="connsiteX0" fmla="*/ 584200 w 584200"/>
              <a:gd name="connsiteY0" fmla="*/ 368300 h 368300"/>
              <a:gd name="connsiteX1" fmla="*/ 241300 w 584200"/>
              <a:gd name="connsiteY1" fmla="*/ 177800 h 368300"/>
              <a:gd name="connsiteX2" fmla="*/ 0 w 584200"/>
              <a:gd name="connsiteY2" fmla="*/ 0 h 36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4200" h="368300">
                <a:moveTo>
                  <a:pt x="584200" y="368300"/>
                </a:moveTo>
                <a:cubicBezTo>
                  <a:pt x="461433" y="303741"/>
                  <a:pt x="338667" y="239183"/>
                  <a:pt x="241300" y="177800"/>
                </a:cubicBezTo>
                <a:cubicBezTo>
                  <a:pt x="143933" y="116417"/>
                  <a:pt x="71966" y="58208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47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</a:t>
            </a:r>
            <a:r>
              <a:rPr lang="fr-FR" sz="2400" dirty="0" err="1" smtClean="0"/>
              <a:t>peritectiques</a:t>
            </a:r>
            <a:r>
              <a:rPr lang="fr-FR" sz="2400" dirty="0" smtClean="0"/>
              <a:t> et 1 eutectique binaires</a:t>
            </a:r>
            <a:endParaRPr lang="fr-FR" sz="2400" dirty="0"/>
          </a:p>
        </p:txBody>
      </p:sp>
      <p:pic>
        <p:nvPicPr>
          <p:cNvPr id="4" name="Picture 4" descr="Class-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2" t="18051" r="19753" b="21094"/>
          <a:stretch>
            <a:fillRect/>
          </a:stretch>
        </p:blipFill>
        <p:spPr bwMode="auto">
          <a:xfrm>
            <a:off x="-36512" y="980728"/>
            <a:ext cx="55626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5"/>
          <p:cNvSpPr>
            <a:spLocks/>
          </p:cNvSpPr>
          <p:nvPr/>
        </p:nvSpPr>
        <p:spPr bwMode="auto">
          <a:xfrm>
            <a:off x="534988" y="3533428"/>
            <a:ext cx="4114800" cy="2095500"/>
          </a:xfrm>
          <a:custGeom>
            <a:avLst/>
            <a:gdLst>
              <a:gd name="T0" fmla="*/ 0 w 2592"/>
              <a:gd name="T1" fmla="*/ 66675 h 1320"/>
              <a:gd name="T2" fmla="*/ 4114800 w 2592"/>
              <a:gd name="T3" fmla="*/ 0 h 1320"/>
              <a:gd name="T4" fmla="*/ 1514475 w 2592"/>
              <a:gd name="T5" fmla="*/ 2095500 h 1320"/>
              <a:gd name="T6" fmla="*/ 0 w 2592"/>
              <a:gd name="T7" fmla="*/ 66675 h 13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92" h="1320">
                <a:moveTo>
                  <a:pt x="0" y="42"/>
                </a:moveTo>
                <a:lnTo>
                  <a:pt x="2592" y="0"/>
                </a:lnTo>
                <a:lnTo>
                  <a:pt x="954" y="1320"/>
                </a:lnTo>
                <a:lnTo>
                  <a:pt x="0" y="42"/>
                </a:lnTo>
                <a:close/>
              </a:path>
            </a:pathLst>
          </a:custGeom>
          <a:solidFill>
            <a:srgbClr val="FFFF99">
              <a:alpha val="39999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711201" y="3776316"/>
            <a:ext cx="338137" cy="57150"/>
          </a:xfrm>
          <a:custGeom>
            <a:avLst/>
            <a:gdLst>
              <a:gd name="T0" fmla="*/ 338137 w 213"/>
              <a:gd name="T1" fmla="*/ 0 h 36"/>
              <a:gd name="T2" fmla="*/ 185737 w 213"/>
              <a:gd name="T3" fmla="*/ 9525 h 36"/>
              <a:gd name="T4" fmla="*/ 0 w 213"/>
              <a:gd name="T5" fmla="*/ 57150 h 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3" h="36">
                <a:moveTo>
                  <a:pt x="213" y="0"/>
                </a:moveTo>
                <a:cubicBezTo>
                  <a:pt x="197" y="1"/>
                  <a:pt x="152" y="0"/>
                  <a:pt x="117" y="6"/>
                </a:cubicBezTo>
                <a:cubicBezTo>
                  <a:pt x="82" y="12"/>
                  <a:pt x="24" y="30"/>
                  <a:pt x="0" y="36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3987801" y="3542953"/>
            <a:ext cx="242887" cy="185738"/>
          </a:xfrm>
          <a:custGeom>
            <a:avLst/>
            <a:gdLst>
              <a:gd name="T0" fmla="*/ 0 w 153"/>
              <a:gd name="T1" fmla="*/ 185738 h 117"/>
              <a:gd name="T2" fmla="*/ 147637 w 153"/>
              <a:gd name="T3" fmla="*/ 119063 h 117"/>
              <a:gd name="T4" fmla="*/ 242887 w 153"/>
              <a:gd name="T5" fmla="*/ 0 h 1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3" h="117">
                <a:moveTo>
                  <a:pt x="0" y="117"/>
                </a:moveTo>
                <a:cubicBezTo>
                  <a:pt x="15" y="110"/>
                  <a:pt x="67" y="94"/>
                  <a:pt x="93" y="75"/>
                </a:cubicBezTo>
                <a:cubicBezTo>
                  <a:pt x="119" y="56"/>
                  <a:pt x="141" y="16"/>
                  <a:pt x="153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920751" y="3595341"/>
            <a:ext cx="133350" cy="176212"/>
          </a:xfrm>
          <a:custGeom>
            <a:avLst/>
            <a:gdLst>
              <a:gd name="T0" fmla="*/ 133350 w 84"/>
              <a:gd name="T1" fmla="*/ 176212 h 111"/>
              <a:gd name="T2" fmla="*/ 42863 w 84"/>
              <a:gd name="T3" fmla="*/ 104775 h 111"/>
              <a:gd name="T4" fmla="*/ 0 w 84"/>
              <a:gd name="T5" fmla="*/ 0 h 1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4" h="111">
                <a:moveTo>
                  <a:pt x="84" y="111"/>
                </a:moveTo>
                <a:cubicBezTo>
                  <a:pt x="75" y="103"/>
                  <a:pt x="41" y="85"/>
                  <a:pt x="27" y="66"/>
                </a:cubicBezTo>
                <a:cubicBezTo>
                  <a:pt x="13" y="47"/>
                  <a:pt x="6" y="14"/>
                  <a:pt x="0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1" name="Freeform 9"/>
          <p:cNvSpPr>
            <a:spLocks/>
          </p:cNvSpPr>
          <p:nvPr/>
        </p:nvSpPr>
        <p:spPr bwMode="auto">
          <a:xfrm>
            <a:off x="1044576" y="3738216"/>
            <a:ext cx="2938462" cy="881062"/>
          </a:xfrm>
          <a:custGeom>
            <a:avLst/>
            <a:gdLst>
              <a:gd name="T0" fmla="*/ 0 w 1851"/>
              <a:gd name="T1" fmla="*/ 33337 h 555"/>
              <a:gd name="T2" fmla="*/ 2938462 w 1851"/>
              <a:gd name="T3" fmla="*/ 0 h 555"/>
              <a:gd name="T4" fmla="*/ 1309687 w 1851"/>
              <a:gd name="T5" fmla="*/ 881062 h 555"/>
              <a:gd name="T6" fmla="*/ 0 w 1851"/>
              <a:gd name="T7" fmla="*/ 33337 h 55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851" h="555">
                <a:moveTo>
                  <a:pt x="0" y="21"/>
                </a:moveTo>
                <a:lnTo>
                  <a:pt x="1851" y="0"/>
                </a:lnTo>
                <a:lnTo>
                  <a:pt x="825" y="555"/>
                </a:lnTo>
                <a:lnTo>
                  <a:pt x="0" y="21"/>
                </a:lnTo>
                <a:close/>
              </a:path>
            </a:pathLst>
          </a:custGeom>
          <a:solidFill>
            <a:srgbClr val="00CC00">
              <a:alpha val="41176"/>
            </a:srgbClr>
          </a:solidFill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2" name="Freeform 10"/>
          <p:cNvSpPr>
            <a:spLocks/>
          </p:cNvSpPr>
          <p:nvPr/>
        </p:nvSpPr>
        <p:spPr bwMode="auto">
          <a:xfrm>
            <a:off x="3978276" y="3704878"/>
            <a:ext cx="452437" cy="33338"/>
          </a:xfrm>
          <a:custGeom>
            <a:avLst/>
            <a:gdLst>
              <a:gd name="T0" fmla="*/ 0 w 285"/>
              <a:gd name="T1" fmla="*/ 33338 h 21"/>
              <a:gd name="T2" fmla="*/ 204787 w 285"/>
              <a:gd name="T3" fmla="*/ 4763 h 21"/>
              <a:gd name="T4" fmla="*/ 452437 w 285"/>
              <a:gd name="T5" fmla="*/ 4763 h 2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5" h="21">
                <a:moveTo>
                  <a:pt x="0" y="21"/>
                </a:moveTo>
                <a:cubicBezTo>
                  <a:pt x="21" y="18"/>
                  <a:pt x="82" y="6"/>
                  <a:pt x="129" y="3"/>
                </a:cubicBezTo>
                <a:cubicBezTo>
                  <a:pt x="176" y="0"/>
                  <a:pt x="253" y="3"/>
                  <a:pt x="285" y="3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3" name="Freeform 11"/>
          <p:cNvSpPr>
            <a:spLocks/>
          </p:cNvSpPr>
          <p:nvPr/>
        </p:nvSpPr>
        <p:spPr bwMode="auto">
          <a:xfrm>
            <a:off x="2349501" y="4619278"/>
            <a:ext cx="528637" cy="338138"/>
          </a:xfrm>
          <a:custGeom>
            <a:avLst/>
            <a:gdLst>
              <a:gd name="T0" fmla="*/ 528637 w 333"/>
              <a:gd name="T1" fmla="*/ 338138 h 213"/>
              <a:gd name="T2" fmla="*/ 223837 w 333"/>
              <a:gd name="T3" fmla="*/ 180975 h 213"/>
              <a:gd name="T4" fmla="*/ 0 w 333"/>
              <a:gd name="T5" fmla="*/ 0 h 21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3" h="213">
                <a:moveTo>
                  <a:pt x="333" y="213"/>
                </a:moveTo>
                <a:cubicBezTo>
                  <a:pt x="301" y="197"/>
                  <a:pt x="196" y="149"/>
                  <a:pt x="141" y="114"/>
                </a:cubicBezTo>
                <a:cubicBezTo>
                  <a:pt x="86" y="79"/>
                  <a:pt x="29" y="24"/>
                  <a:pt x="0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4" name="Freeform 12"/>
          <p:cNvSpPr>
            <a:spLocks/>
          </p:cNvSpPr>
          <p:nvPr/>
        </p:nvSpPr>
        <p:spPr bwMode="auto">
          <a:xfrm>
            <a:off x="1501776" y="4619278"/>
            <a:ext cx="852487" cy="276225"/>
          </a:xfrm>
          <a:custGeom>
            <a:avLst/>
            <a:gdLst>
              <a:gd name="T0" fmla="*/ 0 w 537"/>
              <a:gd name="T1" fmla="*/ 276225 h 174"/>
              <a:gd name="T2" fmla="*/ 485775 w 537"/>
              <a:gd name="T3" fmla="*/ 176213 h 174"/>
              <a:gd name="T4" fmla="*/ 852487 w 537"/>
              <a:gd name="T5" fmla="*/ 0 h 17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37" h="174">
                <a:moveTo>
                  <a:pt x="0" y="174"/>
                </a:moveTo>
                <a:cubicBezTo>
                  <a:pt x="51" y="163"/>
                  <a:pt x="217" y="140"/>
                  <a:pt x="306" y="111"/>
                </a:cubicBezTo>
                <a:cubicBezTo>
                  <a:pt x="395" y="82"/>
                  <a:pt x="489" y="23"/>
                  <a:pt x="537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5" name="Freeform 16"/>
          <p:cNvSpPr>
            <a:spLocks/>
          </p:cNvSpPr>
          <p:nvPr/>
        </p:nvSpPr>
        <p:spPr bwMode="auto">
          <a:xfrm>
            <a:off x="3849688" y="1209328"/>
            <a:ext cx="723900" cy="1588"/>
          </a:xfrm>
          <a:custGeom>
            <a:avLst/>
            <a:gdLst>
              <a:gd name="T0" fmla="*/ 0 w 456"/>
              <a:gd name="T1" fmla="*/ 0 h 1"/>
              <a:gd name="T2" fmla="*/ 723900 w 456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456" h="1">
                <a:moveTo>
                  <a:pt x="0" y="0"/>
                </a:moveTo>
                <a:lnTo>
                  <a:pt x="456" y="0"/>
                </a:lnTo>
              </a:path>
            </a:pathLst>
          </a:custGeom>
          <a:solidFill>
            <a:srgbClr val="FF8989"/>
          </a:solidFill>
          <a:ln w="9525">
            <a:solidFill>
              <a:srgbClr val="0000FF"/>
            </a:solidFill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pitchFamily="34" charset="0"/>
            </a:endParaRPr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auto">
          <a:xfrm flipV="1">
            <a:off x="5194300" y="1971328"/>
            <a:ext cx="3810000" cy="32956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5300663" y="1951326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18" name="Forme libre 17"/>
          <p:cNvSpPr/>
          <p:nvPr/>
        </p:nvSpPr>
        <p:spPr>
          <a:xfrm>
            <a:off x="6718300" y="1971328"/>
            <a:ext cx="406400" cy="1841500"/>
          </a:xfrm>
          <a:custGeom>
            <a:avLst/>
            <a:gdLst>
              <a:gd name="connsiteX0" fmla="*/ 0 w 406400"/>
              <a:gd name="connsiteY0" fmla="*/ 0 h 1841500"/>
              <a:gd name="connsiteX1" fmla="*/ 304800 w 406400"/>
              <a:gd name="connsiteY1" fmla="*/ 1168400 h 1841500"/>
              <a:gd name="connsiteX2" fmla="*/ 406400 w 406400"/>
              <a:gd name="connsiteY2" fmla="*/ 1841500 h 18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400" h="1841500">
                <a:moveTo>
                  <a:pt x="0" y="0"/>
                </a:moveTo>
                <a:cubicBezTo>
                  <a:pt x="118533" y="430741"/>
                  <a:pt x="237067" y="861483"/>
                  <a:pt x="304800" y="1168400"/>
                </a:cubicBezTo>
                <a:cubicBezTo>
                  <a:pt x="372533" y="1475317"/>
                  <a:pt x="389466" y="1658408"/>
                  <a:pt x="406400" y="18415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orme libre 18"/>
          <p:cNvSpPr/>
          <p:nvPr/>
        </p:nvSpPr>
        <p:spPr>
          <a:xfrm>
            <a:off x="7124700" y="3800128"/>
            <a:ext cx="469900" cy="546100"/>
          </a:xfrm>
          <a:custGeom>
            <a:avLst/>
            <a:gdLst>
              <a:gd name="connsiteX0" fmla="*/ 0 w 469900"/>
              <a:gd name="connsiteY0" fmla="*/ 0 h 546100"/>
              <a:gd name="connsiteX1" fmla="*/ 228600 w 469900"/>
              <a:gd name="connsiteY1" fmla="*/ 215900 h 546100"/>
              <a:gd name="connsiteX2" fmla="*/ 469900 w 469900"/>
              <a:gd name="connsiteY2" fmla="*/ 54610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46100">
                <a:moveTo>
                  <a:pt x="0" y="0"/>
                </a:moveTo>
                <a:cubicBezTo>
                  <a:pt x="75141" y="62441"/>
                  <a:pt x="150283" y="124883"/>
                  <a:pt x="228600" y="215900"/>
                </a:cubicBezTo>
                <a:cubicBezTo>
                  <a:pt x="306917" y="306917"/>
                  <a:pt x="388408" y="426508"/>
                  <a:pt x="469900" y="5461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orme libre 19"/>
          <p:cNvSpPr/>
          <p:nvPr/>
        </p:nvSpPr>
        <p:spPr>
          <a:xfrm>
            <a:off x="6588224" y="3812828"/>
            <a:ext cx="536476" cy="533400"/>
          </a:xfrm>
          <a:custGeom>
            <a:avLst/>
            <a:gdLst>
              <a:gd name="connsiteX0" fmla="*/ 469900 w 469900"/>
              <a:gd name="connsiteY0" fmla="*/ 0 h 508000"/>
              <a:gd name="connsiteX1" fmla="*/ 292100 w 469900"/>
              <a:gd name="connsiteY1" fmla="*/ 228600 h 508000"/>
              <a:gd name="connsiteX2" fmla="*/ 0 w 469900"/>
              <a:gd name="connsiteY2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08000">
                <a:moveTo>
                  <a:pt x="469900" y="0"/>
                </a:moveTo>
                <a:cubicBezTo>
                  <a:pt x="420158" y="71966"/>
                  <a:pt x="370417" y="143933"/>
                  <a:pt x="292100" y="228600"/>
                </a:cubicBezTo>
                <a:cubicBezTo>
                  <a:pt x="213783" y="313267"/>
                  <a:pt x="106891" y="410633"/>
                  <a:pt x="0" y="508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/>
          <p:cNvSpPr txBox="1"/>
          <p:nvPr/>
        </p:nvSpPr>
        <p:spPr>
          <a:xfrm>
            <a:off x="8392616" y="1906796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6896100" y="1923480"/>
            <a:ext cx="7200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23" name="Triangle isocèle 22"/>
          <p:cNvSpPr/>
          <p:nvPr/>
        </p:nvSpPr>
        <p:spPr>
          <a:xfrm rot="-60000" flipV="1">
            <a:off x="5764406" y="2300506"/>
            <a:ext cx="2698805" cy="1877844"/>
          </a:xfrm>
          <a:prstGeom prst="triangle">
            <a:avLst>
              <a:gd name="adj" fmla="val 54078"/>
            </a:avLst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6588235" y="2628989"/>
            <a:ext cx="10358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 + </a:t>
            </a:r>
            <a:r>
              <a:rPr lang="en-US" dirty="0">
                <a:latin typeface="Symbol" charset="0"/>
                <a:ea typeface="ＭＳ Ｐゴシック" charset="0"/>
                <a:sym typeface="Symbol"/>
              </a:rPr>
              <a:t>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25" name="Forme libre 24"/>
          <p:cNvSpPr/>
          <p:nvPr/>
        </p:nvSpPr>
        <p:spPr>
          <a:xfrm>
            <a:off x="5575300" y="1984028"/>
            <a:ext cx="165100" cy="330200"/>
          </a:xfrm>
          <a:custGeom>
            <a:avLst/>
            <a:gdLst>
              <a:gd name="connsiteX0" fmla="*/ 0 w 165100"/>
              <a:gd name="connsiteY0" fmla="*/ 0 h 330200"/>
              <a:gd name="connsiteX1" fmla="*/ 50800 w 165100"/>
              <a:gd name="connsiteY1" fmla="*/ 190500 h 330200"/>
              <a:gd name="connsiteX2" fmla="*/ 165100 w 165100"/>
              <a:gd name="connsiteY2" fmla="*/ 330200 h 33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00" h="330200">
                <a:moveTo>
                  <a:pt x="0" y="0"/>
                </a:moveTo>
                <a:cubicBezTo>
                  <a:pt x="11641" y="67733"/>
                  <a:pt x="23283" y="135467"/>
                  <a:pt x="50800" y="190500"/>
                </a:cubicBezTo>
                <a:cubicBezTo>
                  <a:pt x="78317" y="245533"/>
                  <a:pt x="121708" y="287866"/>
                  <a:pt x="165100" y="3302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orme libre 25"/>
          <p:cNvSpPr/>
          <p:nvPr/>
        </p:nvSpPr>
        <p:spPr>
          <a:xfrm>
            <a:off x="5511800" y="2314228"/>
            <a:ext cx="241300" cy="152400"/>
          </a:xfrm>
          <a:custGeom>
            <a:avLst/>
            <a:gdLst>
              <a:gd name="connsiteX0" fmla="*/ 241300 w 241300"/>
              <a:gd name="connsiteY0" fmla="*/ 0 h 152400"/>
              <a:gd name="connsiteX1" fmla="*/ 76200 w 241300"/>
              <a:gd name="connsiteY1" fmla="*/ 25400 h 152400"/>
              <a:gd name="connsiteX2" fmla="*/ 0 w 241300"/>
              <a:gd name="connsiteY2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300" h="152400">
                <a:moveTo>
                  <a:pt x="241300" y="0"/>
                </a:moveTo>
                <a:cubicBezTo>
                  <a:pt x="178858" y="0"/>
                  <a:pt x="116417" y="0"/>
                  <a:pt x="76200" y="25400"/>
                </a:cubicBezTo>
                <a:cubicBezTo>
                  <a:pt x="35983" y="50800"/>
                  <a:pt x="17991" y="101600"/>
                  <a:pt x="0" y="1524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orme libre 26"/>
          <p:cNvSpPr/>
          <p:nvPr/>
        </p:nvSpPr>
        <p:spPr>
          <a:xfrm>
            <a:off x="8458200" y="2276128"/>
            <a:ext cx="342900" cy="38100"/>
          </a:xfrm>
          <a:custGeom>
            <a:avLst/>
            <a:gdLst>
              <a:gd name="connsiteX0" fmla="*/ 342900 w 342900"/>
              <a:gd name="connsiteY0" fmla="*/ 38100 h 38100"/>
              <a:gd name="connsiteX1" fmla="*/ 165100 w 342900"/>
              <a:gd name="connsiteY1" fmla="*/ 12700 h 38100"/>
              <a:gd name="connsiteX2" fmla="*/ 0 w 342900"/>
              <a:gd name="connsiteY2" fmla="*/ 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" h="38100">
                <a:moveTo>
                  <a:pt x="342900" y="38100"/>
                </a:moveTo>
                <a:cubicBezTo>
                  <a:pt x="282575" y="28575"/>
                  <a:pt x="222250" y="19050"/>
                  <a:pt x="165100" y="12700"/>
                </a:cubicBezTo>
                <a:cubicBezTo>
                  <a:pt x="107950" y="6350"/>
                  <a:pt x="53975" y="3175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orme libre 27"/>
          <p:cNvSpPr/>
          <p:nvPr/>
        </p:nvSpPr>
        <p:spPr>
          <a:xfrm>
            <a:off x="8432800" y="2009428"/>
            <a:ext cx="101600" cy="266700"/>
          </a:xfrm>
          <a:custGeom>
            <a:avLst/>
            <a:gdLst>
              <a:gd name="connsiteX0" fmla="*/ 101600 w 101600"/>
              <a:gd name="connsiteY0" fmla="*/ 0 h 266700"/>
              <a:gd name="connsiteX1" fmla="*/ 50800 w 101600"/>
              <a:gd name="connsiteY1" fmla="*/ 152400 h 266700"/>
              <a:gd name="connsiteX2" fmla="*/ 0 w 101600"/>
              <a:gd name="connsiteY2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600" h="266700">
                <a:moveTo>
                  <a:pt x="101600" y="0"/>
                </a:moveTo>
                <a:cubicBezTo>
                  <a:pt x="84666" y="53975"/>
                  <a:pt x="67733" y="107950"/>
                  <a:pt x="50800" y="152400"/>
                </a:cubicBezTo>
                <a:cubicBezTo>
                  <a:pt x="33867" y="196850"/>
                  <a:pt x="16933" y="231775"/>
                  <a:pt x="0" y="2667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 rot="18307723">
            <a:off x="7625325" y="3117708"/>
            <a:ext cx="7056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 +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 </a:t>
            </a:r>
            <a:endParaRPr lang="en-US" sz="1800" b="0" dirty="0">
              <a:latin typeface="+mj-lt"/>
              <a:ea typeface="ＭＳ Ｐゴシック" charset="0"/>
            </a:endParaRP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 rot="3489622">
            <a:off x="6012160" y="3272876"/>
            <a:ext cx="66717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31" name="Forme libre 30"/>
          <p:cNvSpPr/>
          <p:nvPr/>
        </p:nvSpPr>
        <p:spPr>
          <a:xfrm>
            <a:off x="7256134" y="4178746"/>
            <a:ext cx="367962" cy="273769"/>
          </a:xfrm>
          <a:custGeom>
            <a:avLst/>
            <a:gdLst>
              <a:gd name="connsiteX0" fmla="*/ 0 w 533400"/>
              <a:gd name="connsiteY0" fmla="*/ 0 h 304800"/>
              <a:gd name="connsiteX1" fmla="*/ 190500 w 533400"/>
              <a:gd name="connsiteY1" fmla="*/ 152400 h 304800"/>
              <a:gd name="connsiteX2" fmla="*/ 533400 w 533400"/>
              <a:gd name="connsiteY2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304800">
                <a:moveTo>
                  <a:pt x="0" y="0"/>
                </a:moveTo>
                <a:cubicBezTo>
                  <a:pt x="50800" y="50800"/>
                  <a:pt x="101600" y="101600"/>
                  <a:pt x="190500" y="152400"/>
                </a:cubicBezTo>
                <a:cubicBezTo>
                  <a:pt x="279400" y="203200"/>
                  <a:pt x="406400" y="254000"/>
                  <a:pt x="533400" y="3048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Forme libre 31"/>
          <p:cNvSpPr/>
          <p:nvPr/>
        </p:nvSpPr>
        <p:spPr>
          <a:xfrm>
            <a:off x="6613624" y="4178746"/>
            <a:ext cx="642510" cy="333077"/>
          </a:xfrm>
          <a:custGeom>
            <a:avLst/>
            <a:gdLst>
              <a:gd name="connsiteX0" fmla="*/ 762000 w 762000"/>
              <a:gd name="connsiteY0" fmla="*/ 0 h 342900"/>
              <a:gd name="connsiteX1" fmla="*/ 469900 w 762000"/>
              <a:gd name="connsiteY1" fmla="*/ 215900 h 342900"/>
              <a:gd name="connsiteX2" fmla="*/ 0 w 762000"/>
              <a:gd name="connsiteY2" fmla="*/ 3429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342900">
                <a:moveTo>
                  <a:pt x="762000" y="0"/>
                </a:moveTo>
                <a:cubicBezTo>
                  <a:pt x="679450" y="79375"/>
                  <a:pt x="596900" y="158750"/>
                  <a:pt x="469900" y="215900"/>
                </a:cubicBezTo>
                <a:cubicBezTo>
                  <a:pt x="342900" y="273050"/>
                  <a:pt x="171450" y="307975"/>
                  <a:pt x="0" y="3429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 Box 7"/>
          <p:cNvSpPr txBox="1">
            <a:spLocks noChangeArrowheads="1"/>
          </p:cNvSpPr>
          <p:nvPr/>
        </p:nvSpPr>
        <p:spPr bwMode="auto">
          <a:xfrm>
            <a:off x="6971352" y="4358516"/>
            <a:ext cx="336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 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47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Ternaire dérivant </a:t>
            </a:r>
            <a:r>
              <a:rPr lang="fr-FR" sz="2400" dirty="0" smtClean="0"/>
              <a:t>de 2 </a:t>
            </a:r>
            <a:r>
              <a:rPr lang="fr-FR" sz="2400" dirty="0" err="1" smtClean="0"/>
              <a:t>peritectiques</a:t>
            </a:r>
            <a:r>
              <a:rPr lang="fr-FR" sz="2400" dirty="0" smtClean="0"/>
              <a:t> et 1 eutectique binaires</a:t>
            </a:r>
            <a:endParaRPr lang="fr-FR" sz="2400" dirty="0"/>
          </a:p>
        </p:txBody>
      </p:sp>
      <p:sp>
        <p:nvSpPr>
          <p:cNvPr id="4" name="Triangle isocèle 3"/>
          <p:cNvSpPr/>
          <p:nvPr/>
        </p:nvSpPr>
        <p:spPr>
          <a:xfrm flipV="1">
            <a:off x="984251" y="2054383"/>
            <a:ext cx="2490688" cy="1485904"/>
          </a:xfrm>
          <a:prstGeom prst="triangle">
            <a:avLst>
              <a:gd name="adj" fmla="val 50793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orme libre 5"/>
          <p:cNvSpPr/>
          <p:nvPr/>
        </p:nvSpPr>
        <p:spPr>
          <a:xfrm>
            <a:off x="1834407" y="1724188"/>
            <a:ext cx="406400" cy="1841500"/>
          </a:xfrm>
          <a:custGeom>
            <a:avLst/>
            <a:gdLst>
              <a:gd name="connsiteX0" fmla="*/ 0 w 406400"/>
              <a:gd name="connsiteY0" fmla="*/ 0 h 1841500"/>
              <a:gd name="connsiteX1" fmla="*/ 304800 w 406400"/>
              <a:gd name="connsiteY1" fmla="*/ 1168400 h 1841500"/>
              <a:gd name="connsiteX2" fmla="*/ 406400 w 406400"/>
              <a:gd name="connsiteY2" fmla="*/ 1841500 h 18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400" h="1841500">
                <a:moveTo>
                  <a:pt x="0" y="0"/>
                </a:moveTo>
                <a:cubicBezTo>
                  <a:pt x="118533" y="430741"/>
                  <a:pt x="237067" y="861483"/>
                  <a:pt x="304800" y="1168400"/>
                </a:cubicBezTo>
                <a:cubicBezTo>
                  <a:pt x="372533" y="1475317"/>
                  <a:pt x="389466" y="1658408"/>
                  <a:pt x="406400" y="18415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orme libre 6"/>
          <p:cNvSpPr/>
          <p:nvPr/>
        </p:nvSpPr>
        <p:spPr>
          <a:xfrm>
            <a:off x="2240807" y="3552988"/>
            <a:ext cx="469900" cy="546100"/>
          </a:xfrm>
          <a:custGeom>
            <a:avLst/>
            <a:gdLst>
              <a:gd name="connsiteX0" fmla="*/ 0 w 469900"/>
              <a:gd name="connsiteY0" fmla="*/ 0 h 546100"/>
              <a:gd name="connsiteX1" fmla="*/ 228600 w 469900"/>
              <a:gd name="connsiteY1" fmla="*/ 215900 h 546100"/>
              <a:gd name="connsiteX2" fmla="*/ 469900 w 469900"/>
              <a:gd name="connsiteY2" fmla="*/ 54610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46100">
                <a:moveTo>
                  <a:pt x="0" y="0"/>
                </a:moveTo>
                <a:cubicBezTo>
                  <a:pt x="75141" y="62441"/>
                  <a:pt x="150283" y="124883"/>
                  <a:pt x="228600" y="215900"/>
                </a:cubicBezTo>
                <a:cubicBezTo>
                  <a:pt x="306917" y="306917"/>
                  <a:pt x="388408" y="426508"/>
                  <a:pt x="469900" y="5461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rme libre 7"/>
          <p:cNvSpPr/>
          <p:nvPr/>
        </p:nvSpPr>
        <p:spPr>
          <a:xfrm>
            <a:off x="1704331" y="3565688"/>
            <a:ext cx="536476" cy="533400"/>
          </a:xfrm>
          <a:custGeom>
            <a:avLst/>
            <a:gdLst>
              <a:gd name="connsiteX0" fmla="*/ 469900 w 469900"/>
              <a:gd name="connsiteY0" fmla="*/ 0 h 508000"/>
              <a:gd name="connsiteX1" fmla="*/ 292100 w 469900"/>
              <a:gd name="connsiteY1" fmla="*/ 228600 h 508000"/>
              <a:gd name="connsiteX2" fmla="*/ 0 w 469900"/>
              <a:gd name="connsiteY2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08000">
                <a:moveTo>
                  <a:pt x="469900" y="0"/>
                </a:moveTo>
                <a:cubicBezTo>
                  <a:pt x="420158" y="71966"/>
                  <a:pt x="370417" y="143933"/>
                  <a:pt x="292100" y="228600"/>
                </a:cubicBezTo>
                <a:cubicBezTo>
                  <a:pt x="213783" y="313267"/>
                  <a:pt x="106891" y="410633"/>
                  <a:pt x="0" y="508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8"/>
          <p:cNvCxnSpPr/>
          <p:nvPr/>
        </p:nvCxnSpPr>
        <p:spPr>
          <a:xfrm>
            <a:off x="1921769" y="2550482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 rot="-1860000" flipH="1">
            <a:off x="2036069" y="2511092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 rot="-780000">
            <a:off x="2353817" y="3750880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 rot="-3960000" flipH="1">
            <a:off x="2430514" y="3680453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rot="-2820000" flipH="1">
            <a:off x="1860642" y="3758549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 rot="360000" flipH="1">
            <a:off x="1945382" y="3837169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927675" y="1767686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17" name="ZoneTexte 16"/>
          <p:cNvSpPr txBox="1"/>
          <p:nvPr/>
        </p:nvSpPr>
        <p:spPr>
          <a:xfrm rot="17948587">
            <a:off x="7210704" y="2849965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 + </a:t>
            </a:r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6278736" y="3756188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 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7676728" y="1723156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20" name="Forme libre 19"/>
          <p:cNvSpPr/>
          <p:nvPr/>
        </p:nvSpPr>
        <p:spPr>
          <a:xfrm>
            <a:off x="6497712" y="3705388"/>
            <a:ext cx="292100" cy="39225"/>
          </a:xfrm>
          <a:custGeom>
            <a:avLst/>
            <a:gdLst>
              <a:gd name="connsiteX0" fmla="*/ 0 w 292100"/>
              <a:gd name="connsiteY0" fmla="*/ 25400 h 39225"/>
              <a:gd name="connsiteX1" fmla="*/ 152400 w 292100"/>
              <a:gd name="connsiteY1" fmla="*/ 38100 h 39225"/>
              <a:gd name="connsiteX2" fmla="*/ 292100 w 292100"/>
              <a:gd name="connsiteY2" fmla="*/ 0 h 3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100" h="39225">
                <a:moveTo>
                  <a:pt x="0" y="25400"/>
                </a:moveTo>
                <a:cubicBezTo>
                  <a:pt x="51858" y="33866"/>
                  <a:pt x="103717" y="42333"/>
                  <a:pt x="152400" y="38100"/>
                </a:cubicBezTo>
                <a:cubicBezTo>
                  <a:pt x="201083" y="33867"/>
                  <a:pt x="246591" y="16933"/>
                  <a:pt x="29210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riangle isocèle 20"/>
          <p:cNvSpPr/>
          <p:nvPr/>
        </p:nvSpPr>
        <p:spPr>
          <a:xfrm rot="-60000" flipV="1">
            <a:off x="5266020" y="2011911"/>
            <a:ext cx="2556960" cy="604843"/>
          </a:xfrm>
          <a:prstGeom prst="triangle">
            <a:avLst>
              <a:gd name="adj" fmla="val 50793"/>
            </a:avLst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 21"/>
          <p:cNvSpPr>
            <a:spLocks/>
          </p:cNvSpPr>
          <p:nvPr/>
        </p:nvSpPr>
        <p:spPr>
          <a:xfrm>
            <a:off x="6408801" y="2613180"/>
            <a:ext cx="152476" cy="138096"/>
          </a:xfrm>
          <a:custGeom>
            <a:avLst/>
            <a:gdLst>
              <a:gd name="connsiteX0" fmla="*/ 114300 w 114300"/>
              <a:gd name="connsiteY0" fmla="*/ 0 h 114300"/>
              <a:gd name="connsiteX1" fmla="*/ 0 w 114300"/>
              <a:gd name="connsiteY1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300" h="114300">
                <a:moveTo>
                  <a:pt x="114300" y="0"/>
                </a:moveTo>
                <a:lnTo>
                  <a:pt x="0" y="11430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orme libre 22"/>
          <p:cNvSpPr/>
          <p:nvPr/>
        </p:nvSpPr>
        <p:spPr>
          <a:xfrm>
            <a:off x="6573912" y="2600488"/>
            <a:ext cx="152400" cy="139700"/>
          </a:xfrm>
          <a:custGeom>
            <a:avLst/>
            <a:gdLst>
              <a:gd name="connsiteX0" fmla="*/ 0 w 152400"/>
              <a:gd name="connsiteY0" fmla="*/ 0 h 139700"/>
              <a:gd name="connsiteX1" fmla="*/ 152400 w 152400"/>
              <a:gd name="connsiteY1" fmla="*/ 139700 h 13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2400" h="139700">
                <a:moveTo>
                  <a:pt x="0" y="0"/>
                </a:moveTo>
                <a:lnTo>
                  <a:pt x="152400" y="13970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orme libre 23"/>
          <p:cNvSpPr/>
          <p:nvPr/>
        </p:nvSpPr>
        <p:spPr>
          <a:xfrm>
            <a:off x="6408812" y="2722600"/>
            <a:ext cx="292100" cy="55688"/>
          </a:xfrm>
          <a:custGeom>
            <a:avLst/>
            <a:gdLst>
              <a:gd name="connsiteX0" fmla="*/ 292100 w 292100"/>
              <a:gd name="connsiteY0" fmla="*/ 4888 h 55688"/>
              <a:gd name="connsiteX1" fmla="*/ 190500 w 292100"/>
              <a:gd name="connsiteY1" fmla="*/ 4888 h 55688"/>
              <a:gd name="connsiteX2" fmla="*/ 0 w 292100"/>
              <a:gd name="connsiteY2" fmla="*/ 55688 h 5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100" h="55688">
                <a:moveTo>
                  <a:pt x="292100" y="4888"/>
                </a:moveTo>
                <a:cubicBezTo>
                  <a:pt x="265641" y="654"/>
                  <a:pt x="239183" y="-3579"/>
                  <a:pt x="190500" y="4888"/>
                </a:cubicBezTo>
                <a:cubicBezTo>
                  <a:pt x="141817" y="13355"/>
                  <a:pt x="70908" y="34521"/>
                  <a:pt x="0" y="55688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riangle isocèle 24"/>
          <p:cNvSpPr/>
          <p:nvPr/>
        </p:nvSpPr>
        <p:spPr>
          <a:xfrm rot="2880000">
            <a:off x="4988390" y="2486268"/>
            <a:ext cx="2101453" cy="551675"/>
          </a:xfrm>
          <a:prstGeom prst="triangle">
            <a:avLst>
              <a:gd name="adj" fmla="val 60886"/>
            </a:avLst>
          </a:prstGeom>
          <a:solidFill>
            <a:srgbClr val="FF7C80"/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riangle isocèle 25"/>
          <p:cNvSpPr>
            <a:spLocks noChangeAspect="1"/>
          </p:cNvSpPr>
          <p:nvPr/>
        </p:nvSpPr>
        <p:spPr>
          <a:xfrm rot="18180000" flipH="1">
            <a:off x="6086596" y="2366882"/>
            <a:ext cx="2017393" cy="641174"/>
          </a:xfrm>
          <a:prstGeom prst="triangle">
            <a:avLst>
              <a:gd name="adj" fmla="val 62470"/>
            </a:avLst>
          </a:prstGeom>
          <a:solidFill>
            <a:schemeClr val="tx2">
              <a:lumMod val="40000"/>
              <a:lumOff val="60000"/>
            </a:schemeClr>
          </a:solidFill>
          <a:ln w="9525"/>
          <a:scene3d>
            <a:camera prst="orthographicFront">
              <a:rot lat="0" lon="0" rev="2148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6100947" y="2048544"/>
            <a:ext cx="10358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 + </a:t>
            </a:r>
            <a:r>
              <a:rPr lang="en-US" dirty="0">
                <a:latin typeface="Symbol" charset="0"/>
                <a:ea typeface="ＭＳ Ｐゴシック" charset="0"/>
                <a:sym typeface="Symbol"/>
              </a:rPr>
              <a:t></a:t>
            </a:r>
            <a:endParaRPr lang="en-US" sz="1800" b="0" dirty="0">
              <a:latin typeface="Symbol" charset="0"/>
              <a:ea typeface="ＭＳ Ｐゴシック" charset="0"/>
            </a:endParaRPr>
          </a:p>
        </p:txBody>
      </p:sp>
      <p:sp>
        <p:nvSpPr>
          <p:cNvPr id="28" name="Text Box 7"/>
          <p:cNvSpPr txBox="1">
            <a:spLocks noChangeArrowheads="1"/>
          </p:cNvSpPr>
          <p:nvPr/>
        </p:nvSpPr>
        <p:spPr bwMode="auto">
          <a:xfrm rot="2928730">
            <a:off x="5519650" y="2703336"/>
            <a:ext cx="10390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</a:t>
            </a:r>
            <a:r>
              <a:rPr lang="en-US" sz="1800" b="0" dirty="0" smtClean="0">
                <a:latin typeface="Symbol" charset="0"/>
                <a:ea typeface="ＭＳ Ｐゴシック" charset="0"/>
              </a:rPr>
              <a:t> + </a:t>
            </a:r>
            <a:r>
              <a:rPr lang="en-US" dirty="0">
                <a:latin typeface="Symbol" charset="0"/>
                <a:ea typeface="ＭＳ Ｐゴシック" charset="0"/>
                <a:sym typeface="Symbol"/>
              </a:rPr>
              <a:t></a:t>
            </a: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 + </a:t>
            </a:r>
            <a:r>
              <a:rPr lang="en-US" dirty="0" smtClean="0">
                <a:latin typeface="+mj-lt"/>
                <a:ea typeface="ＭＳ Ｐゴシック" charset="0"/>
                <a:sym typeface="Symbol"/>
              </a:rPr>
              <a:t>L</a:t>
            </a:r>
            <a:endParaRPr lang="en-US" sz="1800" b="0" dirty="0">
              <a:latin typeface="+mj-lt"/>
              <a:ea typeface="ＭＳ Ｐゴシック" charset="0"/>
            </a:endParaRPr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 rot="18307723">
            <a:off x="6618335" y="2671392"/>
            <a:ext cx="9877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0" dirty="0" smtClean="0">
                <a:latin typeface="Symbol" charset="0"/>
                <a:ea typeface="ＭＳ Ｐゴシック" charset="0"/>
                <a:sym typeface="Symbol"/>
              </a:rPr>
              <a:t> + </a:t>
            </a:r>
            <a:r>
              <a:rPr lang="en-US" dirty="0" smtClean="0">
                <a:latin typeface="Symbol" charset="0"/>
                <a:ea typeface="ＭＳ Ｐゴシック" charset="0"/>
                <a:sym typeface="Symbol"/>
              </a:rPr>
              <a:t> + </a:t>
            </a:r>
            <a:r>
              <a:rPr lang="en-US" dirty="0" smtClean="0">
                <a:latin typeface="+mj-lt"/>
                <a:ea typeface="ＭＳ Ｐゴシック" charset="0"/>
                <a:sym typeface="Symbol"/>
              </a:rPr>
              <a:t>L</a:t>
            </a:r>
            <a:endParaRPr lang="en-US" sz="1800" b="0" dirty="0">
              <a:latin typeface="+mj-lt"/>
              <a:ea typeface="ＭＳ Ｐゴシック" charset="0"/>
            </a:endParaRP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768227" y="1745338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0" dirty="0">
                <a:latin typeface="Symbol" charset="0"/>
                <a:ea typeface="ＭＳ Ｐゴシック" charset="0"/>
              </a:rPr>
              <a:t>a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1940905" y="3620104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 </a:t>
            </a:r>
            <a:endParaRPr lang="fr-FR" dirty="0"/>
          </a:p>
        </p:txBody>
      </p:sp>
      <p:sp>
        <p:nvSpPr>
          <p:cNvPr id="32" name="ZoneTexte 31"/>
          <p:cNvSpPr txBox="1"/>
          <p:nvPr/>
        </p:nvSpPr>
        <p:spPr>
          <a:xfrm>
            <a:off x="3212232" y="1703194"/>
            <a:ext cx="71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</a:t>
            </a:r>
            <a:endParaRPr lang="fr-FR" dirty="0"/>
          </a:p>
        </p:txBody>
      </p:sp>
      <p:sp>
        <p:nvSpPr>
          <p:cNvPr id="33" name="Forme libre 32"/>
          <p:cNvSpPr/>
          <p:nvPr/>
        </p:nvSpPr>
        <p:spPr>
          <a:xfrm>
            <a:off x="5169148" y="2030586"/>
            <a:ext cx="76200" cy="89446"/>
          </a:xfrm>
          <a:custGeom>
            <a:avLst/>
            <a:gdLst>
              <a:gd name="connsiteX0" fmla="*/ 76200 w 76200"/>
              <a:gd name="connsiteY0" fmla="*/ 546 h 89446"/>
              <a:gd name="connsiteX1" fmla="*/ 12700 w 76200"/>
              <a:gd name="connsiteY1" fmla="*/ 13246 h 89446"/>
              <a:gd name="connsiteX2" fmla="*/ 0 w 76200"/>
              <a:gd name="connsiteY2" fmla="*/ 89446 h 89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" h="89446">
                <a:moveTo>
                  <a:pt x="76200" y="546"/>
                </a:moveTo>
                <a:cubicBezTo>
                  <a:pt x="50800" y="-513"/>
                  <a:pt x="25400" y="-1571"/>
                  <a:pt x="12700" y="13246"/>
                </a:cubicBezTo>
                <a:cubicBezTo>
                  <a:pt x="0" y="28063"/>
                  <a:pt x="0" y="58754"/>
                  <a:pt x="0" y="8944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Forme libre 33"/>
          <p:cNvSpPr/>
          <p:nvPr/>
        </p:nvSpPr>
        <p:spPr>
          <a:xfrm>
            <a:off x="7810748" y="1954932"/>
            <a:ext cx="103010" cy="114300"/>
          </a:xfrm>
          <a:custGeom>
            <a:avLst/>
            <a:gdLst>
              <a:gd name="connsiteX0" fmla="*/ 0 w 103010"/>
              <a:gd name="connsiteY0" fmla="*/ 0 h 114300"/>
              <a:gd name="connsiteX1" fmla="*/ 88900 w 103010"/>
              <a:gd name="connsiteY1" fmla="*/ 63500 h 114300"/>
              <a:gd name="connsiteX2" fmla="*/ 101600 w 103010"/>
              <a:gd name="connsiteY2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010" h="114300">
                <a:moveTo>
                  <a:pt x="0" y="0"/>
                </a:moveTo>
                <a:cubicBezTo>
                  <a:pt x="35983" y="22225"/>
                  <a:pt x="71967" y="44450"/>
                  <a:pt x="88900" y="63500"/>
                </a:cubicBezTo>
                <a:cubicBezTo>
                  <a:pt x="105833" y="82550"/>
                  <a:pt x="103716" y="98425"/>
                  <a:pt x="101600" y="1143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Forme libre 34"/>
          <p:cNvSpPr/>
          <p:nvPr/>
        </p:nvSpPr>
        <p:spPr>
          <a:xfrm>
            <a:off x="6224364" y="1749588"/>
            <a:ext cx="406400" cy="1841500"/>
          </a:xfrm>
          <a:custGeom>
            <a:avLst/>
            <a:gdLst>
              <a:gd name="connsiteX0" fmla="*/ 0 w 406400"/>
              <a:gd name="connsiteY0" fmla="*/ 0 h 1841500"/>
              <a:gd name="connsiteX1" fmla="*/ 304800 w 406400"/>
              <a:gd name="connsiteY1" fmla="*/ 1168400 h 1841500"/>
              <a:gd name="connsiteX2" fmla="*/ 406400 w 406400"/>
              <a:gd name="connsiteY2" fmla="*/ 1841500 h 18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400" h="1841500">
                <a:moveTo>
                  <a:pt x="0" y="0"/>
                </a:moveTo>
                <a:cubicBezTo>
                  <a:pt x="118533" y="430741"/>
                  <a:pt x="237067" y="861483"/>
                  <a:pt x="304800" y="1168400"/>
                </a:cubicBezTo>
                <a:cubicBezTo>
                  <a:pt x="372533" y="1475317"/>
                  <a:pt x="389466" y="1658408"/>
                  <a:pt x="406400" y="18415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Forme libre 35"/>
          <p:cNvSpPr/>
          <p:nvPr/>
        </p:nvSpPr>
        <p:spPr>
          <a:xfrm>
            <a:off x="6630764" y="3578388"/>
            <a:ext cx="469900" cy="546100"/>
          </a:xfrm>
          <a:custGeom>
            <a:avLst/>
            <a:gdLst>
              <a:gd name="connsiteX0" fmla="*/ 0 w 469900"/>
              <a:gd name="connsiteY0" fmla="*/ 0 h 546100"/>
              <a:gd name="connsiteX1" fmla="*/ 228600 w 469900"/>
              <a:gd name="connsiteY1" fmla="*/ 215900 h 546100"/>
              <a:gd name="connsiteX2" fmla="*/ 469900 w 469900"/>
              <a:gd name="connsiteY2" fmla="*/ 54610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46100">
                <a:moveTo>
                  <a:pt x="0" y="0"/>
                </a:moveTo>
                <a:cubicBezTo>
                  <a:pt x="75141" y="62441"/>
                  <a:pt x="150283" y="124883"/>
                  <a:pt x="228600" y="215900"/>
                </a:cubicBezTo>
                <a:cubicBezTo>
                  <a:pt x="306917" y="306917"/>
                  <a:pt x="388408" y="426508"/>
                  <a:pt x="469900" y="5461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Forme libre 36"/>
          <p:cNvSpPr/>
          <p:nvPr/>
        </p:nvSpPr>
        <p:spPr>
          <a:xfrm>
            <a:off x="6094288" y="3591088"/>
            <a:ext cx="536476" cy="533400"/>
          </a:xfrm>
          <a:custGeom>
            <a:avLst/>
            <a:gdLst>
              <a:gd name="connsiteX0" fmla="*/ 469900 w 469900"/>
              <a:gd name="connsiteY0" fmla="*/ 0 h 508000"/>
              <a:gd name="connsiteX1" fmla="*/ 292100 w 469900"/>
              <a:gd name="connsiteY1" fmla="*/ 228600 h 508000"/>
              <a:gd name="connsiteX2" fmla="*/ 0 w 469900"/>
              <a:gd name="connsiteY2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508000">
                <a:moveTo>
                  <a:pt x="469900" y="0"/>
                </a:moveTo>
                <a:cubicBezTo>
                  <a:pt x="420158" y="71966"/>
                  <a:pt x="370417" y="143933"/>
                  <a:pt x="292100" y="228600"/>
                </a:cubicBezTo>
                <a:cubicBezTo>
                  <a:pt x="213783" y="313267"/>
                  <a:pt x="106891" y="410633"/>
                  <a:pt x="0" y="50800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8" name="Connecteur droit 37"/>
          <p:cNvCxnSpPr/>
          <p:nvPr/>
        </p:nvCxnSpPr>
        <p:spPr>
          <a:xfrm>
            <a:off x="6431384" y="3071912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 rot="-1860000" flipH="1">
            <a:off x="6545684" y="3032522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 rot="-780000">
            <a:off x="6743774" y="3776280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 rot="-3960000" flipH="1">
            <a:off x="6820471" y="3705853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 rot="-2820000" flipH="1">
            <a:off x="6250599" y="3783949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/>
        </p:nvCxnSpPr>
        <p:spPr>
          <a:xfrm rot="360000" flipH="1">
            <a:off x="6335339" y="3862569"/>
            <a:ext cx="168002" cy="944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orme libre 43"/>
          <p:cNvSpPr/>
          <p:nvPr/>
        </p:nvSpPr>
        <p:spPr>
          <a:xfrm>
            <a:off x="5559400" y="1689100"/>
            <a:ext cx="977900" cy="990600"/>
          </a:xfrm>
          <a:custGeom>
            <a:avLst/>
            <a:gdLst>
              <a:gd name="connsiteX0" fmla="*/ 0 w 977900"/>
              <a:gd name="connsiteY0" fmla="*/ 0 h 990600"/>
              <a:gd name="connsiteX1" fmla="*/ 596900 w 977900"/>
              <a:gd name="connsiteY1" fmla="*/ 673100 h 990600"/>
              <a:gd name="connsiteX2" fmla="*/ 977900 w 977900"/>
              <a:gd name="connsiteY2" fmla="*/ 9906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7900" h="990600">
                <a:moveTo>
                  <a:pt x="0" y="0"/>
                </a:moveTo>
                <a:cubicBezTo>
                  <a:pt x="216958" y="254000"/>
                  <a:pt x="433917" y="508000"/>
                  <a:pt x="596900" y="673100"/>
                </a:cubicBezTo>
                <a:cubicBezTo>
                  <a:pt x="759883" y="838200"/>
                  <a:pt x="868891" y="914400"/>
                  <a:pt x="977900" y="99060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ZoneTexte 44"/>
          <p:cNvSpPr txBox="1"/>
          <p:nvPr/>
        </p:nvSpPr>
        <p:spPr>
          <a:xfrm>
            <a:off x="5245348" y="1268760"/>
            <a:ext cx="42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ym typeface="Symbol"/>
              </a:rPr>
              <a:t></a:t>
            </a:r>
            <a:endParaRPr lang="fr-FR" dirty="0"/>
          </a:p>
        </p:txBody>
      </p:sp>
      <p:sp>
        <p:nvSpPr>
          <p:cNvPr id="46" name="Text Box 7"/>
          <p:cNvSpPr txBox="1">
            <a:spLocks noChangeArrowheads="1"/>
          </p:cNvSpPr>
          <p:nvPr/>
        </p:nvSpPr>
        <p:spPr bwMode="auto">
          <a:xfrm>
            <a:off x="1979712" y="2123564"/>
            <a:ext cx="10390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800" b="1" dirty="0" smtClean="0">
                <a:solidFill>
                  <a:schemeClr val="bg1"/>
                </a:solidFill>
                <a:ea typeface="ＭＳ Ｐゴシック" charset="0"/>
                <a:sym typeface="Symbol"/>
              </a:rPr>
              <a:t>L</a:t>
            </a:r>
            <a:r>
              <a:rPr lang="en-US" sz="1800" b="1" dirty="0" smtClean="0">
                <a:solidFill>
                  <a:schemeClr val="bg1"/>
                </a:solidFill>
                <a:latin typeface="Symbol" charset="0"/>
                <a:ea typeface="ＭＳ Ｐゴシック" charset="0"/>
                <a:sym typeface="Symbol"/>
              </a:rPr>
              <a:t> + </a:t>
            </a:r>
            <a:r>
              <a:rPr lang="en-US" sz="1800" b="1" dirty="0" smtClean="0">
                <a:solidFill>
                  <a:schemeClr val="bg1"/>
                </a:solidFill>
                <a:latin typeface="Symbol" charset="0"/>
                <a:ea typeface="ＭＳ Ｐゴシック" charset="0"/>
              </a:rPr>
              <a:t> + </a:t>
            </a:r>
            <a:r>
              <a:rPr lang="en-US" sz="1800" b="1" dirty="0" smtClean="0">
                <a:solidFill>
                  <a:schemeClr val="bg1"/>
                </a:solidFill>
                <a:latin typeface="Symbol" charset="0"/>
                <a:ea typeface="ＭＳ Ｐゴシック" charset="0"/>
                <a:sym typeface="Symbol"/>
              </a:rPr>
              <a:t></a:t>
            </a:r>
            <a:endParaRPr lang="en-US" sz="1800" b="1" dirty="0">
              <a:solidFill>
                <a:schemeClr val="bg1"/>
              </a:solidFill>
              <a:latin typeface="Symbol" charset="0"/>
              <a:ea typeface="ＭＳ Ｐゴシック" charset="0"/>
            </a:endParaRPr>
          </a:p>
        </p:txBody>
      </p:sp>
      <p:sp>
        <p:nvSpPr>
          <p:cNvPr id="47" name="ZoneTexte 46"/>
          <p:cNvSpPr txBox="1"/>
          <p:nvPr/>
        </p:nvSpPr>
        <p:spPr>
          <a:xfrm>
            <a:off x="-36512" y="5229200"/>
            <a:ext cx="75234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La réaction </a:t>
            </a:r>
            <a:r>
              <a:rPr lang="fr-FR" sz="2400" u="sng" dirty="0" err="1" smtClean="0"/>
              <a:t>peritectique</a:t>
            </a:r>
            <a:r>
              <a:rPr lang="fr-FR" sz="2400" u="sng" dirty="0" smtClean="0"/>
              <a:t> ternaire  forte </a:t>
            </a:r>
          </a:p>
          <a:p>
            <a:r>
              <a:rPr lang="fr-FR" sz="2400" dirty="0" smtClean="0"/>
              <a:t>L + 2 phases solides </a:t>
            </a:r>
            <a:r>
              <a:rPr lang="fr-FR" sz="2400" dirty="0" smtClean="0">
                <a:sym typeface="Wingdings" pitchFamily="2" charset="2"/>
              </a:rPr>
              <a:t> 1 phases solide</a:t>
            </a:r>
          </a:p>
          <a:p>
            <a:endParaRPr lang="fr-FR" dirty="0">
              <a:sym typeface="Wingdings" pitchFamily="2" charset="2"/>
            </a:endParaRPr>
          </a:p>
          <a:p>
            <a:r>
              <a:rPr lang="fr-FR" dirty="0" smtClean="0">
                <a:sym typeface="Wingdings" pitchFamily="2" charset="2"/>
              </a:rPr>
              <a:t>			</a:t>
            </a:r>
            <a:r>
              <a:rPr lang="fr-FR" sz="2400" dirty="0" smtClean="0">
                <a:sym typeface="Wingdings" pitchFamily="2" charset="2"/>
              </a:rPr>
              <a:t>ici </a:t>
            </a:r>
            <a:r>
              <a:rPr lang="fr-FR" sz="2400" dirty="0" smtClean="0"/>
              <a:t>L + </a:t>
            </a:r>
            <a:r>
              <a:rPr lang="fr-FR" sz="2400" dirty="0">
                <a:sym typeface="Symbol"/>
              </a:rPr>
              <a:t></a:t>
            </a:r>
            <a:r>
              <a:rPr lang="fr-FR" sz="2400" dirty="0" smtClean="0"/>
              <a:t> + </a:t>
            </a:r>
            <a:r>
              <a:rPr lang="fr-FR" sz="2400" dirty="0">
                <a:sym typeface="Symbol"/>
              </a:rPr>
              <a:t> </a:t>
            </a:r>
            <a:r>
              <a:rPr lang="fr-FR" sz="2400" dirty="0" smtClean="0">
                <a:sym typeface="Wingdings" pitchFamily="2" charset="2"/>
              </a:rPr>
              <a:t> </a:t>
            </a:r>
            <a:r>
              <a:rPr lang="fr-FR" sz="2400" dirty="0" smtClean="0">
                <a:sym typeface="Symbol"/>
              </a:rPr>
              <a:t> </a:t>
            </a:r>
            <a:endParaRPr lang="fr-FR" sz="2400" dirty="0"/>
          </a:p>
        </p:txBody>
      </p:sp>
      <p:sp>
        <p:nvSpPr>
          <p:cNvPr id="51" name="ZoneTexte 50"/>
          <p:cNvSpPr txBox="1"/>
          <p:nvPr/>
        </p:nvSpPr>
        <p:spPr>
          <a:xfrm>
            <a:off x="5990519" y="5241394"/>
            <a:ext cx="2370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tx2"/>
                </a:solidFill>
              </a:rPr>
              <a:t>1</a:t>
            </a:r>
            <a:r>
              <a:rPr lang="fr-FR" sz="2400" b="1" dirty="0" smtClean="0">
                <a:solidFill>
                  <a:schemeClr val="tx2"/>
                </a:solidFill>
              </a:rPr>
              <a:t> vallée entre</a:t>
            </a:r>
            <a:endParaRPr lang="fr-FR" sz="2400" b="1" dirty="0">
              <a:solidFill>
                <a:schemeClr val="tx2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990518" y="5227539"/>
            <a:ext cx="3136893" cy="16166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3" name="Connecteur droit avec flèche 52"/>
          <p:cNvCxnSpPr/>
          <p:nvPr/>
        </p:nvCxnSpPr>
        <p:spPr>
          <a:xfrm>
            <a:off x="6804248" y="6237312"/>
            <a:ext cx="638838" cy="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/>
          <p:cNvCxnSpPr/>
          <p:nvPr/>
        </p:nvCxnSpPr>
        <p:spPr>
          <a:xfrm flipV="1">
            <a:off x="7510555" y="5846274"/>
            <a:ext cx="427831" cy="35644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/>
          <p:cNvCxnSpPr/>
          <p:nvPr/>
        </p:nvCxnSpPr>
        <p:spPr>
          <a:xfrm>
            <a:off x="7522461" y="6250012"/>
            <a:ext cx="384175" cy="34734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ZoneTexte 55"/>
          <p:cNvSpPr txBox="1"/>
          <p:nvPr/>
        </p:nvSpPr>
        <p:spPr>
          <a:xfrm>
            <a:off x="5945852" y="5487615"/>
            <a:ext cx="2370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tx2"/>
                </a:solidFill>
              </a:rPr>
              <a:t>2</a:t>
            </a:r>
            <a:r>
              <a:rPr lang="fr-FR" sz="2400" b="1" dirty="0" smtClean="0">
                <a:solidFill>
                  <a:schemeClr val="tx2"/>
                </a:solidFill>
              </a:rPr>
              <a:t> vallées sortent</a:t>
            </a:r>
            <a:endParaRPr lang="fr-FR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47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-36512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Composés chimiquement définis</a:t>
            </a:r>
            <a:endParaRPr lang="fr-FR" sz="2400" dirty="0"/>
          </a:p>
        </p:txBody>
      </p:sp>
      <p:sp>
        <p:nvSpPr>
          <p:cNvPr id="4" name="Rectangle 26"/>
          <p:cNvSpPr>
            <a:spLocks noChangeArrowheads="1"/>
          </p:cNvSpPr>
          <p:nvPr/>
        </p:nvSpPr>
        <p:spPr bwMode="auto">
          <a:xfrm>
            <a:off x="1584325" y="5695950"/>
            <a:ext cx="51133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fr-FR" sz="2000" b="0" dirty="0">
                <a:solidFill>
                  <a:schemeClr val="accent6">
                    <a:lumMod val="75000"/>
                  </a:schemeClr>
                </a:solidFill>
                <a:latin typeface="Tahoma" charset="0"/>
              </a:rPr>
              <a:t>A : Composé défini à fusion congruente</a:t>
            </a:r>
          </a:p>
          <a:p>
            <a:r>
              <a:rPr lang="fr-FR" sz="2000" b="0" dirty="0">
                <a:solidFill>
                  <a:srgbClr val="00B050"/>
                </a:solidFill>
                <a:latin typeface="Tahoma" charset="0"/>
              </a:rPr>
              <a:t>B : Composé défini à fusion non congruente</a:t>
            </a:r>
          </a:p>
        </p:txBody>
      </p:sp>
      <p:grpSp>
        <p:nvGrpSpPr>
          <p:cNvPr id="6" name="Group 27"/>
          <p:cNvGrpSpPr>
            <a:grpSpLocks noChangeAspect="1"/>
          </p:cNvGrpSpPr>
          <p:nvPr/>
        </p:nvGrpSpPr>
        <p:grpSpPr bwMode="auto">
          <a:xfrm>
            <a:off x="899592" y="1027113"/>
            <a:ext cx="5586413" cy="4078287"/>
            <a:chOff x="1488" y="688"/>
            <a:chExt cx="3984" cy="2909"/>
          </a:xfrm>
        </p:grpSpPr>
        <p:pic>
          <p:nvPicPr>
            <p:cNvPr id="7" name="Picture 2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688"/>
              <a:ext cx="3984" cy="2909"/>
            </a:xfrm>
            <a:prstGeom prst="rect">
              <a:avLst/>
            </a:prstGeom>
            <a:solidFill>
              <a:srgbClr val="FFAD00"/>
            </a:solidFill>
            <a:ln w="44450" cmpd="thickThin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8" name="Line 29"/>
            <p:cNvSpPr>
              <a:spLocks noChangeShapeType="1"/>
            </p:cNvSpPr>
            <p:nvPr/>
          </p:nvSpPr>
          <p:spPr bwMode="auto">
            <a:xfrm>
              <a:off x="4044" y="1872"/>
              <a:ext cx="0" cy="1296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" name="Line 30"/>
            <p:cNvSpPr>
              <a:spLocks noChangeShapeType="1"/>
            </p:cNvSpPr>
            <p:nvPr/>
          </p:nvSpPr>
          <p:spPr bwMode="auto">
            <a:xfrm>
              <a:off x="3534" y="1248"/>
              <a:ext cx="0" cy="1931"/>
            </a:xfrm>
            <a:prstGeom prst="line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" name="Rectangle 31"/>
            <p:cNvSpPr>
              <a:spLocks noChangeArrowheads="1"/>
            </p:cNvSpPr>
            <p:nvPr/>
          </p:nvSpPr>
          <p:spPr bwMode="auto">
            <a:xfrm>
              <a:off x="3421" y="2591"/>
              <a:ext cx="240" cy="284"/>
            </a:xfrm>
            <a:prstGeom prst="rect">
              <a:avLst/>
            </a:prstGeom>
            <a:solidFill>
              <a:srgbClr val="FFE678"/>
            </a:solidFill>
            <a:ln>
              <a:noFill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fr-FR" sz="2000" b="0">
                  <a:latin typeface="Tahoma" charset="0"/>
                </a:rPr>
                <a:t>A</a:t>
              </a:r>
            </a:p>
          </p:txBody>
        </p:sp>
        <p:sp>
          <p:nvSpPr>
            <p:cNvPr id="12" name="Rectangle 32"/>
            <p:cNvSpPr>
              <a:spLocks noChangeArrowheads="1"/>
            </p:cNvSpPr>
            <p:nvPr/>
          </p:nvSpPr>
          <p:spPr bwMode="auto">
            <a:xfrm>
              <a:off x="3925" y="2448"/>
              <a:ext cx="238" cy="283"/>
            </a:xfrm>
            <a:prstGeom prst="rect">
              <a:avLst/>
            </a:prstGeom>
            <a:solidFill>
              <a:srgbClr val="FFE678"/>
            </a:solidFill>
            <a:ln>
              <a:noFill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fr-FR" sz="2000" b="0">
                  <a:latin typeface="Tahoma" charset="0"/>
                </a:rPr>
                <a:t>B</a:t>
              </a:r>
            </a:p>
          </p:txBody>
        </p:sp>
      </p:grpSp>
      <p:sp>
        <p:nvSpPr>
          <p:cNvPr id="13" name="Rectangle 34"/>
          <p:cNvSpPr>
            <a:spLocks noChangeArrowheads="1"/>
          </p:cNvSpPr>
          <p:nvPr/>
        </p:nvSpPr>
        <p:spPr bwMode="auto">
          <a:xfrm>
            <a:off x="731838" y="5272088"/>
            <a:ext cx="76787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fr-FR" sz="1800" b="0">
                <a:latin typeface="Symbol" charset="0"/>
                <a:sym typeface="Symbol" charset="0"/>
              </a:rPr>
              <a:t></a:t>
            </a:r>
            <a:r>
              <a:rPr lang="fr-FR" sz="1800" b="0">
                <a:latin typeface="Tahoma" charset="0"/>
              </a:rPr>
              <a:t> : Solution solide primaire ou terminale ; </a:t>
            </a:r>
            <a:r>
              <a:rPr lang="fr-FR" sz="1800" b="0">
                <a:latin typeface="Symbol" charset="0"/>
                <a:sym typeface="Symbol" charset="0"/>
              </a:rPr>
              <a:t></a:t>
            </a:r>
            <a:r>
              <a:rPr lang="fr-FR" sz="1800" b="0">
                <a:latin typeface="Tahoma" charset="0"/>
              </a:rPr>
              <a:t> : Solution solide intermédiaire</a:t>
            </a:r>
          </a:p>
        </p:txBody>
      </p:sp>
      <p:sp>
        <p:nvSpPr>
          <p:cNvPr id="14" name="Rectangle 35"/>
          <p:cNvSpPr>
            <a:spLocks noChangeArrowheads="1"/>
          </p:cNvSpPr>
          <p:nvPr/>
        </p:nvSpPr>
        <p:spPr bwMode="auto">
          <a:xfrm>
            <a:off x="3833292" y="2105025"/>
            <a:ext cx="5826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fr-FR" sz="1400" b="0" i="1">
                <a:latin typeface="Symbol" charset="0"/>
                <a:sym typeface="Symbol" charset="0"/>
              </a:rPr>
              <a:t></a:t>
            </a:r>
            <a:r>
              <a:rPr lang="fr-FR" sz="1400" b="0" i="1"/>
              <a:t> + L</a:t>
            </a:r>
            <a:endParaRPr lang="fr-FR" sz="1400"/>
          </a:p>
        </p:txBody>
      </p:sp>
      <p:sp>
        <p:nvSpPr>
          <p:cNvPr id="15" name="Oval 36"/>
          <p:cNvSpPr>
            <a:spLocks noChangeArrowheads="1"/>
          </p:cNvSpPr>
          <p:nvPr/>
        </p:nvSpPr>
        <p:spPr bwMode="auto">
          <a:xfrm>
            <a:off x="3668192" y="1712913"/>
            <a:ext cx="228600" cy="228600"/>
          </a:xfrm>
          <a:prstGeom prst="ellipse">
            <a:avLst/>
          </a:prstGeom>
          <a:noFill/>
          <a:ln w="19050">
            <a:solidFill>
              <a:srgbClr val="12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6" name="Oval 37"/>
          <p:cNvSpPr>
            <a:spLocks noChangeAspect="1" noChangeArrowheads="1"/>
          </p:cNvSpPr>
          <p:nvPr/>
        </p:nvSpPr>
        <p:spPr bwMode="auto">
          <a:xfrm>
            <a:off x="4392092" y="2576513"/>
            <a:ext cx="193675" cy="193675"/>
          </a:xfrm>
          <a:prstGeom prst="ellipse">
            <a:avLst/>
          </a:prstGeom>
          <a:noFill/>
          <a:ln w="19050">
            <a:solidFill>
              <a:srgbClr val="12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7" name="Forme libre 16"/>
          <p:cNvSpPr/>
          <p:nvPr/>
        </p:nvSpPr>
        <p:spPr>
          <a:xfrm>
            <a:off x="2817292" y="1807460"/>
            <a:ext cx="1765300" cy="872240"/>
          </a:xfrm>
          <a:custGeom>
            <a:avLst/>
            <a:gdLst>
              <a:gd name="connsiteX0" fmla="*/ 0 w 1765300"/>
              <a:gd name="connsiteY0" fmla="*/ 491240 h 872240"/>
              <a:gd name="connsiteX1" fmla="*/ 469900 w 1765300"/>
              <a:gd name="connsiteY1" fmla="*/ 186440 h 872240"/>
              <a:gd name="connsiteX2" fmla="*/ 901700 w 1765300"/>
              <a:gd name="connsiteY2" fmla="*/ 8640 h 872240"/>
              <a:gd name="connsiteX3" fmla="*/ 1117600 w 1765300"/>
              <a:gd name="connsiteY3" fmla="*/ 46740 h 872240"/>
              <a:gd name="connsiteX4" fmla="*/ 1397000 w 1765300"/>
              <a:gd name="connsiteY4" fmla="*/ 211840 h 872240"/>
              <a:gd name="connsiteX5" fmla="*/ 1663700 w 1765300"/>
              <a:gd name="connsiteY5" fmla="*/ 580140 h 872240"/>
              <a:gd name="connsiteX6" fmla="*/ 1765300 w 1765300"/>
              <a:gd name="connsiteY6" fmla="*/ 872240 h 87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5300" h="872240">
                <a:moveTo>
                  <a:pt x="0" y="491240"/>
                </a:moveTo>
                <a:cubicBezTo>
                  <a:pt x="159808" y="379056"/>
                  <a:pt x="319617" y="266873"/>
                  <a:pt x="469900" y="186440"/>
                </a:cubicBezTo>
                <a:cubicBezTo>
                  <a:pt x="620183" y="106007"/>
                  <a:pt x="793750" y="31923"/>
                  <a:pt x="901700" y="8640"/>
                </a:cubicBezTo>
                <a:cubicBezTo>
                  <a:pt x="1009650" y="-14643"/>
                  <a:pt x="1035050" y="12873"/>
                  <a:pt x="1117600" y="46740"/>
                </a:cubicBezTo>
                <a:cubicBezTo>
                  <a:pt x="1200150" y="80607"/>
                  <a:pt x="1305983" y="122940"/>
                  <a:pt x="1397000" y="211840"/>
                </a:cubicBezTo>
                <a:cubicBezTo>
                  <a:pt x="1488017" y="300740"/>
                  <a:pt x="1602317" y="470073"/>
                  <a:pt x="1663700" y="580140"/>
                </a:cubicBezTo>
                <a:cubicBezTo>
                  <a:pt x="1725083" y="690207"/>
                  <a:pt x="1745191" y="781223"/>
                  <a:pt x="1765300" y="872240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orme libre 17"/>
          <p:cNvSpPr/>
          <p:nvPr/>
        </p:nvSpPr>
        <p:spPr>
          <a:xfrm>
            <a:off x="4569892" y="2667000"/>
            <a:ext cx="1244600" cy="1511300"/>
          </a:xfrm>
          <a:custGeom>
            <a:avLst/>
            <a:gdLst>
              <a:gd name="connsiteX0" fmla="*/ 0 w 1244600"/>
              <a:gd name="connsiteY0" fmla="*/ 0 h 1511300"/>
              <a:gd name="connsiteX1" fmla="*/ 304800 w 1244600"/>
              <a:gd name="connsiteY1" fmla="*/ 76200 h 1511300"/>
              <a:gd name="connsiteX2" fmla="*/ 558800 w 1244600"/>
              <a:gd name="connsiteY2" fmla="*/ 279400 h 1511300"/>
              <a:gd name="connsiteX3" fmla="*/ 927100 w 1244600"/>
              <a:gd name="connsiteY3" fmla="*/ 787400 h 1511300"/>
              <a:gd name="connsiteX4" fmla="*/ 1244600 w 1244600"/>
              <a:gd name="connsiteY4" fmla="*/ 1511300 h 151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4600" h="1511300">
                <a:moveTo>
                  <a:pt x="0" y="0"/>
                </a:moveTo>
                <a:cubicBezTo>
                  <a:pt x="105833" y="14816"/>
                  <a:pt x="211667" y="29633"/>
                  <a:pt x="304800" y="76200"/>
                </a:cubicBezTo>
                <a:cubicBezTo>
                  <a:pt x="397933" y="122767"/>
                  <a:pt x="455083" y="160867"/>
                  <a:pt x="558800" y="279400"/>
                </a:cubicBezTo>
                <a:cubicBezTo>
                  <a:pt x="662517" y="397933"/>
                  <a:pt x="812800" y="582083"/>
                  <a:pt x="927100" y="787400"/>
                </a:cubicBezTo>
                <a:cubicBezTo>
                  <a:pt x="1041400" y="992717"/>
                  <a:pt x="1143000" y="1252008"/>
                  <a:pt x="1244600" y="1511300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Connecteur droit avec flèche 18"/>
          <p:cNvCxnSpPr/>
          <p:nvPr/>
        </p:nvCxnSpPr>
        <p:spPr>
          <a:xfrm flipH="1">
            <a:off x="4124598" y="836712"/>
            <a:ext cx="364331" cy="110480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4283968" y="561709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 smtClean="0">
                <a:solidFill>
                  <a:schemeClr val="accent6">
                    <a:lumMod val="75000"/>
                  </a:schemeClr>
                </a:solidFill>
              </a:rPr>
              <a:t>Liquidus</a:t>
            </a:r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</a:rPr>
              <a:t> du composé A</a:t>
            </a: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1" name="Connecteur droit avec flèche 20"/>
          <p:cNvCxnSpPr/>
          <p:nvPr/>
        </p:nvCxnSpPr>
        <p:spPr>
          <a:xfrm flipH="1">
            <a:off x="5294784" y="2257425"/>
            <a:ext cx="1368152" cy="80883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6444208" y="2040493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 smtClean="0">
                <a:solidFill>
                  <a:srgbClr val="00B050"/>
                </a:solidFill>
              </a:rPr>
              <a:t>Liquidus</a:t>
            </a:r>
            <a:r>
              <a:rPr lang="fr-FR" b="1" dirty="0" smtClean="0">
                <a:solidFill>
                  <a:srgbClr val="00B050"/>
                </a:solidFill>
              </a:rPr>
              <a:t> du composé B</a:t>
            </a:r>
            <a:endParaRPr lang="fr-FR" b="1" dirty="0">
              <a:solidFill>
                <a:srgbClr val="00B050"/>
              </a:solidFill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72008" y="6397625"/>
            <a:ext cx="896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/>
              <a:t>Un composé chimiquement défini se comporte comme un corps pur.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44547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148558" y="905434"/>
            <a:ext cx="1143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190628" y="5805264"/>
            <a:ext cx="7727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latin typeface="Monotype Corsiva" pitchFamily="66" charset="0"/>
              </a:rPr>
              <a:t>X, Y, Z </a:t>
            </a:r>
            <a:r>
              <a:rPr lang="fr-FR" sz="2400" dirty="0" smtClean="0"/>
              <a:t>et </a:t>
            </a:r>
            <a:r>
              <a:rPr lang="fr-FR" sz="2400" dirty="0" smtClean="0">
                <a:latin typeface="Monotype Corsiva" pitchFamily="66" charset="0"/>
              </a:rPr>
              <a:t>W</a:t>
            </a:r>
            <a:r>
              <a:rPr lang="fr-FR" sz="2400" dirty="0" smtClean="0"/>
              <a:t> :  nappes de solidification de X, Y, Z et W</a:t>
            </a:r>
            <a:endParaRPr lang="fr-FR" sz="2400" dirty="0"/>
          </a:p>
        </p:txBody>
      </p:sp>
      <p:cxnSp>
        <p:nvCxnSpPr>
          <p:cNvPr id="8" name="Connecteur droit 7"/>
          <p:cNvCxnSpPr/>
          <p:nvPr/>
        </p:nvCxnSpPr>
        <p:spPr>
          <a:xfrm>
            <a:off x="323528" y="6462628"/>
            <a:ext cx="4320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971600" y="6235769"/>
            <a:ext cx="81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Droites d’</a:t>
            </a:r>
            <a:r>
              <a:rPr lang="fr-FR" sz="2400" dirty="0" err="1" smtClean="0"/>
              <a:t>Alkemade</a:t>
            </a:r>
            <a:r>
              <a:rPr lang="fr-FR" sz="2400" dirty="0" smtClean="0"/>
              <a:t> : relient des corps purs ou équivalents (CCD)</a:t>
            </a:r>
            <a:endParaRPr lang="fr-FR" sz="2400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558" y="1031194"/>
            <a:ext cx="5815930" cy="470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Forme libre 11"/>
          <p:cNvSpPr/>
          <p:nvPr/>
        </p:nvSpPr>
        <p:spPr>
          <a:xfrm>
            <a:off x="5423036" y="2640688"/>
            <a:ext cx="1811896" cy="2074756"/>
          </a:xfrm>
          <a:custGeom>
            <a:avLst/>
            <a:gdLst>
              <a:gd name="connsiteX0" fmla="*/ 1214996 w 1811896"/>
              <a:gd name="connsiteY0" fmla="*/ 912 h 2074756"/>
              <a:gd name="connsiteX1" fmla="*/ 1240396 w 1811896"/>
              <a:gd name="connsiteY1" fmla="*/ 64412 h 2074756"/>
              <a:gd name="connsiteX2" fmla="*/ 1253096 w 1811896"/>
              <a:gd name="connsiteY2" fmla="*/ 102512 h 2074756"/>
              <a:gd name="connsiteX3" fmla="*/ 1278496 w 1811896"/>
              <a:gd name="connsiteY3" fmla="*/ 140612 h 2074756"/>
              <a:gd name="connsiteX4" fmla="*/ 1316596 w 1811896"/>
              <a:gd name="connsiteY4" fmla="*/ 216812 h 2074756"/>
              <a:gd name="connsiteX5" fmla="*/ 1341996 w 1811896"/>
              <a:gd name="connsiteY5" fmla="*/ 305712 h 2074756"/>
              <a:gd name="connsiteX6" fmla="*/ 1367396 w 1811896"/>
              <a:gd name="connsiteY6" fmla="*/ 343812 h 2074756"/>
              <a:gd name="connsiteX7" fmla="*/ 1405496 w 1811896"/>
              <a:gd name="connsiteY7" fmla="*/ 420012 h 2074756"/>
              <a:gd name="connsiteX8" fmla="*/ 1443596 w 1811896"/>
              <a:gd name="connsiteY8" fmla="*/ 445412 h 2074756"/>
              <a:gd name="connsiteX9" fmla="*/ 1468996 w 1811896"/>
              <a:gd name="connsiteY9" fmla="*/ 521612 h 2074756"/>
              <a:gd name="connsiteX10" fmla="*/ 1481696 w 1811896"/>
              <a:gd name="connsiteY10" fmla="*/ 572412 h 2074756"/>
              <a:gd name="connsiteX11" fmla="*/ 1532496 w 1811896"/>
              <a:gd name="connsiteY11" fmla="*/ 648612 h 2074756"/>
              <a:gd name="connsiteX12" fmla="*/ 1570596 w 1811896"/>
              <a:gd name="connsiteY12" fmla="*/ 674012 h 2074756"/>
              <a:gd name="connsiteX13" fmla="*/ 1583296 w 1811896"/>
              <a:gd name="connsiteY13" fmla="*/ 712112 h 2074756"/>
              <a:gd name="connsiteX14" fmla="*/ 1608696 w 1811896"/>
              <a:gd name="connsiteY14" fmla="*/ 750212 h 2074756"/>
              <a:gd name="connsiteX15" fmla="*/ 1634096 w 1811896"/>
              <a:gd name="connsiteY15" fmla="*/ 826412 h 2074756"/>
              <a:gd name="connsiteX16" fmla="*/ 1646796 w 1811896"/>
              <a:gd name="connsiteY16" fmla="*/ 864512 h 2074756"/>
              <a:gd name="connsiteX17" fmla="*/ 1659496 w 1811896"/>
              <a:gd name="connsiteY17" fmla="*/ 902612 h 2074756"/>
              <a:gd name="connsiteX18" fmla="*/ 1672196 w 1811896"/>
              <a:gd name="connsiteY18" fmla="*/ 1055012 h 2074756"/>
              <a:gd name="connsiteX19" fmla="*/ 1697596 w 1811896"/>
              <a:gd name="connsiteY19" fmla="*/ 1093112 h 2074756"/>
              <a:gd name="connsiteX20" fmla="*/ 1722996 w 1811896"/>
              <a:gd name="connsiteY20" fmla="*/ 1169312 h 2074756"/>
              <a:gd name="connsiteX21" fmla="*/ 1735696 w 1811896"/>
              <a:gd name="connsiteY21" fmla="*/ 1207412 h 2074756"/>
              <a:gd name="connsiteX22" fmla="*/ 1761096 w 1811896"/>
              <a:gd name="connsiteY22" fmla="*/ 1245512 h 2074756"/>
              <a:gd name="connsiteX23" fmla="*/ 1799196 w 1811896"/>
              <a:gd name="connsiteY23" fmla="*/ 1385212 h 2074756"/>
              <a:gd name="connsiteX24" fmla="*/ 1811896 w 1811896"/>
              <a:gd name="connsiteY24" fmla="*/ 1436012 h 2074756"/>
              <a:gd name="connsiteX25" fmla="*/ 1799196 w 1811896"/>
              <a:gd name="connsiteY25" fmla="*/ 1512212 h 2074756"/>
              <a:gd name="connsiteX26" fmla="*/ 1773796 w 1811896"/>
              <a:gd name="connsiteY26" fmla="*/ 1588412 h 2074756"/>
              <a:gd name="connsiteX27" fmla="*/ 1761096 w 1811896"/>
              <a:gd name="connsiteY27" fmla="*/ 1626512 h 2074756"/>
              <a:gd name="connsiteX28" fmla="*/ 1748396 w 1811896"/>
              <a:gd name="connsiteY28" fmla="*/ 1664612 h 2074756"/>
              <a:gd name="connsiteX29" fmla="*/ 1735696 w 1811896"/>
              <a:gd name="connsiteY29" fmla="*/ 1702712 h 2074756"/>
              <a:gd name="connsiteX30" fmla="*/ 1684896 w 1811896"/>
              <a:gd name="connsiteY30" fmla="*/ 1778912 h 2074756"/>
              <a:gd name="connsiteX31" fmla="*/ 1672196 w 1811896"/>
              <a:gd name="connsiteY31" fmla="*/ 1817012 h 2074756"/>
              <a:gd name="connsiteX32" fmla="*/ 1646796 w 1811896"/>
              <a:gd name="connsiteY32" fmla="*/ 1855112 h 2074756"/>
              <a:gd name="connsiteX33" fmla="*/ 1634096 w 1811896"/>
              <a:gd name="connsiteY33" fmla="*/ 1893212 h 2074756"/>
              <a:gd name="connsiteX34" fmla="*/ 1583296 w 1811896"/>
              <a:gd name="connsiteY34" fmla="*/ 1969412 h 2074756"/>
              <a:gd name="connsiteX35" fmla="*/ 1557896 w 1811896"/>
              <a:gd name="connsiteY35" fmla="*/ 2007512 h 2074756"/>
              <a:gd name="connsiteX36" fmla="*/ 1418196 w 1811896"/>
              <a:gd name="connsiteY36" fmla="*/ 2032912 h 2074756"/>
              <a:gd name="connsiteX37" fmla="*/ 1037196 w 1811896"/>
              <a:gd name="connsiteY37" fmla="*/ 2058312 h 2074756"/>
              <a:gd name="connsiteX38" fmla="*/ 770496 w 1811896"/>
              <a:gd name="connsiteY38" fmla="*/ 2071012 h 2074756"/>
              <a:gd name="connsiteX39" fmla="*/ 8496 w 1811896"/>
              <a:gd name="connsiteY39" fmla="*/ 2058312 h 2074756"/>
              <a:gd name="connsiteX40" fmla="*/ 33896 w 1811896"/>
              <a:gd name="connsiteY40" fmla="*/ 1982112 h 2074756"/>
              <a:gd name="connsiteX41" fmla="*/ 84696 w 1811896"/>
              <a:gd name="connsiteY41" fmla="*/ 1918612 h 2074756"/>
              <a:gd name="connsiteX42" fmla="*/ 135496 w 1811896"/>
              <a:gd name="connsiteY42" fmla="*/ 1842412 h 2074756"/>
              <a:gd name="connsiteX43" fmla="*/ 148196 w 1811896"/>
              <a:gd name="connsiteY43" fmla="*/ 1804312 h 2074756"/>
              <a:gd name="connsiteX44" fmla="*/ 198996 w 1811896"/>
              <a:gd name="connsiteY44" fmla="*/ 1728112 h 2074756"/>
              <a:gd name="connsiteX45" fmla="*/ 224396 w 1811896"/>
              <a:gd name="connsiteY45" fmla="*/ 1690012 h 2074756"/>
              <a:gd name="connsiteX46" fmla="*/ 249796 w 1811896"/>
              <a:gd name="connsiteY46" fmla="*/ 1651912 h 2074756"/>
              <a:gd name="connsiteX47" fmla="*/ 287896 w 1811896"/>
              <a:gd name="connsiteY47" fmla="*/ 1575712 h 2074756"/>
              <a:gd name="connsiteX48" fmla="*/ 300596 w 1811896"/>
              <a:gd name="connsiteY48" fmla="*/ 1537612 h 2074756"/>
              <a:gd name="connsiteX49" fmla="*/ 325996 w 1811896"/>
              <a:gd name="connsiteY49" fmla="*/ 1499512 h 2074756"/>
              <a:gd name="connsiteX50" fmla="*/ 351396 w 1811896"/>
              <a:gd name="connsiteY50" fmla="*/ 1423312 h 2074756"/>
              <a:gd name="connsiteX51" fmla="*/ 389496 w 1811896"/>
              <a:gd name="connsiteY51" fmla="*/ 1397912 h 2074756"/>
              <a:gd name="connsiteX52" fmla="*/ 427596 w 1811896"/>
              <a:gd name="connsiteY52" fmla="*/ 1321712 h 2074756"/>
              <a:gd name="connsiteX53" fmla="*/ 465696 w 1811896"/>
              <a:gd name="connsiteY53" fmla="*/ 1296312 h 2074756"/>
              <a:gd name="connsiteX54" fmla="*/ 503796 w 1811896"/>
              <a:gd name="connsiteY54" fmla="*/ 1220112 h 2074756"/>
              <a:gd name="connsiteX55" fmla="*/ 516496 w 1811896"/>
              <a:gd name="connsiteY55" fmla="*/ 1182012 h 2074756"/>
              <a:gd name="connsiteX56" fmla="*/ 554596 w 1811896"/>
              <a:gd name="connsiteY56" fmla="*/ 1156612 h 2074756"/>
              <a:gd name="connsiteX57" fmla="*/ 605396 w 1811896"/>
              <a:gd name="connsiteY57" fmla="*/ 1093112 h 2074756"/>
              <a:gd name="connsiteX58" fmla="*/ 618096 w 1811896"/>
              <a:gd name="connsiteY58" fmla="*/ 1055012 h 2074756"/>
              <a:gd name="connsiteX59" fmla="*/ 643496 w 1811896"/>
              <a:gd name="connsiteY59" fmla="*/ 1016912 h 2074756"/>
              <a:gd name="connsiteX60" fmla="*/ 656196 w 1811896"/>
              <a:gd name="connsiteY60" fmla="*/ 978812 h 2074756"/>
              <a:gd name="connsiteX61" fmla="*/ 706996 w 1811896"/>
              <a:gd name="connsiteY61" fmla="*/ 902612 h 2074756"/>
              <a:gd name="connsiteX62" fmla="*/ 745096 w 1811896"/>
              <a:gd name="connsiteY62" fmla="*/ 750212 h 2074756"/>
              <a:gd name="connsiteX63" fmla="*/ 783196 w 1811896"/>
              <a:gd name="connsiteY63" fmla="*/ 724812 h 2074756"/>
              <a:gd name="connsiteX64" fmla="*/ 846696 w 1811896"/>
              <a:gd name="connsiteY64" fmla="*/ 610512 h 2074756"/>
              <a:gd name="connsiteX65" fmla="*/ 884796 w 1811896"/>
              <a:gd name="connsiteY65" fmla="*/ 585112 h 2074756"/>
              <a:gd name="connsiteX66" fmla="*/ 922896 w 1811896"/>
              <a:gd name="connsiteY66" fmla="*/ 508912 h 2074756"/>
              <a:gd name="connsiteX67" fmla="*/ 935596 w 1811896"/>
              <a:gd name="connsiteY67" fmla="*/ 470812 h 2074756"/>
              <a:gd name="connsiteX68" fmla="*/ 960996 w 1811896"/>
              <a:gd name="connsiteY68" fmla="*/ 432712 h 2074756"/>
              <a:gd name="connsiteX69" fmla="*/ 973696 w 1811896"/>
              <a:gd name="connsiteY69" fmla="*/ 394612 h 2074756"/>
              <a:gd name="connsiteX70" fmla="*/ 1011796 w 1811896"/>
              <a:gd name="connsiteY70" fmla="*/ 369212 h 2074756"/>
              <a:gd name="connsiteX71" fmla="*/ 1049896 w 1811896"/>
              <a:gd name="connsiteY71" fmla="*/ 293012 h 2074756"/>
              <a:gd name="connsiteX72" fmla="*/ 1075296 w 1811896"/>
              <a:gd name="connsiteY72" fmla="*/ 216812 h 2074756"/>
              <a:gd name="connsiteX73" fmla="*/ 1126096 w 1811896"/>
              <a:gd name="connsiteY73" fmla="*/ 140612 h 2074756"/>
              <a:gd name="connsiteX74" fmla="*/ 1151496 w 1811896"/>
              <a:gd name="connsiteY74" fmla="*/ 102512 h 2074756"/>
              <a:gd name="connsiteX75" fmla="*/ 1189596 w 1811896"/>
              <a:gd name="connsiteY75" fmla="*/ 26312 h 2074756"/>
              <a:gd name="connsiteX76" fmla="*/ 1214996 w 1811896"/>
              <a:gd name="connsiteY76" fmla="*/ 912 h 2074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1811896" h="2074756">
                <a:moveTo>
                  <a:pt x="1214996" y="912"/>
                </a:moveTo>
                <a:cubicBezTo>
                  <a:pt x="1223463" y="7262"/>
                  <a:pt x="1232391" y="43066"/>
                  <a:pt x="1240396" y="64412"/>
                </a:cubicBezTo>
                <a:cubicBezTo>
                  <a:pt x="1245096" y="76947"/>
                  <a:pt x="1247109" y="90538"/>
                  <a:pt x="1253096" y="102512"/>
                </a:cubicBezTo>
                <a:cubicBezTo>
                  <a:pt x="1259922" y="116164"/>
                  <a:pt x="1271670" y="126960"/>
                  <a:pt x="1278496" y="140612"/>
                </a:cubicBezTo>
                <a:cubicBezTo>
                  <a:pt x="1331076" y="245772"/>
                  <a:pt x="1243803" y="107623"/>
                  <a:pt x="1316596" y="216812"/>
                </a:cubicBezTo>
                <a:cubicBezTo>
                  <a:pt x="1320665" y="233088"/>
                  <a:pt x="1332886" y="287492"/>
                  <a:pt x="1341996" y="305712"/>
                </a:cubicBezTo>
                <a:cubicBezTo>
                  <a:pt x="1348822" y="319364"/>
                  <a:pt x="1360570" y="330160"/>
                  <a:pt x="1367396" y="343812"/>
                </a:cubicBezTo>
                <a:cubicBezTo>
                  <a:pt x="1388054" y="385129"/>
                  <a:pt x="1369100" y="383616"/>
                  <a:pt x="1405496" y="420012"/>
                </a:cubicBezTo>
                <a:cubicBezTo>
                  <a:pt x="1416289" y="430805"/>
                  <a:pt x="1430896" y="436945"/>
                  <a:pt x="1443596" y="445412"/>
                </a:cubicBezTo>
                <a:cubicBezTo>
                  <a:pt x="1452063" y="470812"/>
                  <a:pt x="1462502" y="495637"/>
                  <a:pt x="1468996" y="521612"/>
                </a:cubicBezTo>
                <a:cubicBezTo>
                  <a:pt x="1473229" y="538545"/>
                  <a:pt x="1473890" y="556800"/>
                  <a:pt x="1481696" y="572412"/>
                </a:cubicBezTo>
                <a:cubicBezTo>
                  <a:pt x="1495348" y="599716"/>
                  <a:pt x="1507096" y="631679"/>
                  <a:pt x="1532496" y="648612"/>
                </a:cubicBezTo>
                <a:lnTo>
                  <a:pt x="1570596" y="674012"/>
                </a:lnTo>
                <a:cubicBezTo>
                  <a:pt x="1574829" y="686712"/>
                  <a:pt x="1577309" y="700138"/>
                  <a:pt x="1583296" y="712112"/>
                </a:cubicBezTo>
                <a:cubicBezTo>
                  <a:pt x="1590122" y="725764"/>
                  <a:pt x="1602497" y="736264"/>
                  <a:pt x="1608696" y="750212"/>
                </a:cubicBezTo>
                <a:cubicBezTo>
                  <a:pt x="1619570" y="774678"/>
                  <a:pt x="1625629" y="801012"/>
                  <a:pt x="1634096" y="826412"/>
                </a:cubicBezTo>
                <a:lnTo>
                  <a:pt x="1646796" y="864512"/>
                </a:lnTo>
                <a:lnTo>
                  <a:pt x="1659496" y="902612"/>
                </a:lnTo>
                <a:cubicBezTo>
                  <a:pt x="1663729" y="953412"/>
                  <a:pt x="1662199" y="1005026"/>
                  <a:pt x="1672196" y="1055012"/>
                </a:cubicBezTo>
                <a:cubicBezTo>
                  <a:pt x="1675189" y="1069979"/>
                  <a:pt x="1691397" y="1079164"/>
                  <a:pt x="1697596" y="1093112"/>
                </a:cubicBezTo>
                <a:cubicBezTo>
                  <a:pt x="1708470" y="1117578"/>
                  <a:pt x="1714529" y="1143912"/>
                  <a:pt x="1722996" y="1169312"/>
                </a:cubicBezTo>
                <a:cubicBezTo>
                  <a:pt x="1727229" y="1182012"/>
                  <a:pt x="1728270" y="1196273"/>
                  <a:pt x="1735696" y="1207412"/>
                </a:cubicBezTo>
                <a:cubicBezTo>
                  <a:pt x="1744163" y="1220112"/>
                  <a:pt x="1754897" y="1231564"/>
                  <a:pt x="1761096" y="1245512"/>
                </a:cubicBezTo>
                <a:cubicBezTo>
                  <a:pt x="1787528" y="1304984"/>
                  <a:pt x="1785917" y="1325455"/>
                  <a:pt x="1799196" y="1385212"/>
                </a:cubicBezTo>
                <a:cubicBezTo>
                  <a:pt x="1802982" y="1402251"/>
                  <a:pt x="1807663" y="1419079"/>
                  <a:pt x="1811896" y="1436012"/>
                </a:cubicBezTo>
                <a:cubicBezTo>
                  <a:pt x="1807663" y="1461412"/>
                  <a:pt x="1805441" y="1487230"/>
                  <a:pt x="1799196" y="1512212"/>
                </a:cubicBezTo>
                <a:cubicBezTo>
                  <a:pt x="1792702" y="1538187"/>
                  <a:pt x="1782263" y="1563012"/>
                  <a:pt x="1773796" y="1588412"/>
                </a:cubicBezTo>
                <a:lnTo>
                  <a:pt x="1761096" y="1626512"/>
                </a:lnTo>
                <a:lnTo>
                  <a:pt x="1748396" y="1664612"/>
                </a:lnTo>
                <a:cubicBezTo>
                  <a:pt x="1744163" y="1677312"/>
                  <a:pt x="1743122" y="1691573"/>
                  <a:pt x="1735696" y="1702712"/>
                </a:cubicBezTo>
                <a:cubicBezTo>
                  <a:pt x="1718763" y="1728112"/>
                  <a:pt x="1694549" y="1749952"/>
                  <a:pt x="1684896" y="1778912"/>
                </a:cubicBezTo>
                <a:cubicBezTo>
                  <a:pt x="1680663" y="1791612"/>
                  <a:pt x="1678183" y="1805038"/>
                  <a:pt x="1672196" y="1817012"/>
                </a:cubicBezTo>
                <a:cubicBezTo>
                  <a:pt x="1665370" y="1830664"/>
                  <a:pt x="1653622" y="1841460"/>
                  <a:pt x="1646796" y="1855112"/>
                </a:cubicBezTo>
                <a:cubicBezTo>
                  <a:pt x="1640809" y="1867086"/>
                  <a:pt x="1640597" y="1881510"/>
                  <a:pt x="1634096" y="1893212"/>
                </a:cubicBezTo>
                <a:cubicBezTo>
                  <a:pt x="1619271" y="1919897"/>
                  <a:pt x="1600229" y="1944012"/>
                  <a:pt x="1583296" y="1969412"/>
                </a:cubicBezTo>
                <a:cubicBezTo>
                  <a:pt x="1574829" y="1982112"/>
                  <a:pt x="1572376" y="2002685"/>
                  <a:pt x="1557896" y="2007512"/>
                </a:cubicBezTo>
                <a:cubicBezTo>
                  <a:pt x="1487417" y="2031005"/>
                  <a:pt x="1533080" y="2018552"/>
                  <a:pt x="1418196" y="2032912"/>
                </a:cubicBezTo>
                <a:cubicBezTo>
                  <a:pt x="1270925" y="2082002"/>
                  <a:pt x="1399129" y="2043231"/>
                  <a:pt x="1037196" y="2058312"/>
                </a:cubicBezTo>
                <a:lnTo>
                  <a:pt x="770496" y="2071012"/>
                </a:lnTo>
                <a:cubicBezTo>
                  <a:pt x="516496" y="2066779"/>
                  <a:pt x="260701" y="2088751"/>
                  <a:pt x="8496" y="2058312"/>
                </a:cubicBezTo>
                <a:cubicBezTo>
                  <a:pt x="-18085" y="2055104"/>
                  <a:pt x="25429" y="2007512"/>
                  <a:pt x="33896" y="1982112"/>
                </a:cubicBezTo>
                <a:cubicBezTo>
                  <a:pt x="51423" y="1929532"/>
                  <a:pt x="35457" y="1951438"/>
                  <a:pt x="84696" y="1918612"/>
                </a:cubicBezTo>
                <a:cubicBezTo>
                  <a:pt x="101629" y="1893212"/>
                  <a:pt x="125843" y="1871372"/>
                  <a:pt x="135496" y="1842412"/>
                </a:cubicBezTo>
                <a:cubicBezTo>
                  <a:pt x="139729" y="1829712"/>
                  <a:pt x="141695" y="1816014"/>
                  <a:pt x="148196" y="1804312"/>
                </a:cubicBezTo>
                <a:cubicBezTo>
                  <a:pt x="163021" y="1777627"/>
                  <a:pt x="182063" y="1753512"/>
                  <a:pt x="198996" y="1728112"/>
                </a:cubicBezTo>
                <a:lnTo>
                  <a:pt x="224396" y="1690012"/>
                </a:lnTo>
                <a:cubicBezTo>
                  <a:pt x="232863" y="1677312"/>
                  <a:pt x="244969" y="1666392"/>
                  <a:pt x="249796" y="1651912"/>
                </a:cubicBezTo>
                <a:cubicBezTo>
                  <a:pt x="281718" y="1556147"/>
                  <a:pt x="238657" y="1674189"/>
                  <a:pt x="287896" y="1575712"/>
                </a:cubicBezTo>
                <a:cubicBezTo>
                  <a:pt x="293883" y="1563738"/>
                  <a:pt x="294609" y="1549586"/>
                  <a:pt x="300596" y="1537612"/>
                </a:cubicBezTo>
                <a:cubicBezTo>
                  <a:pt x="307422" y="1523960"/>
                  <a:pt x="319797" y="1513460"/>
                  <a:pt x="325996" y="1499512"/>
                </a:cubicBezTo>
                <a:cubicBezTo>
                  <a:pt x="336870" y="1475046"/>
                  <a:pt x="329119" y="1438164"/>
                  <a:pt x="351396" y="1423312"/>
                </a:cubicBezTo>
                <a:lnTo>
                  <a:pt x="389496" y="1397912"/>
                </a:lnTo>
                <a:cubicBezTo>
                  <a:pt x="399825" y="1366924"/>
                  <a:pt x="402977" y="1346331"/>
                  <a:pt x="427596" y="1321712"/>
                </a:cubicBezTo>
                <a:cubicBezTo>
                  <a:pt x="438389" y="1310919"/>
                  <a:pt x="452996" y="1304779"/>
                  <a:pt x="465696" y="1296312"/>
                </a:cubicBezTo>
                <a:cubicBezTo>
                  <a:pt x="497618" y="1200547"/>
                  <a:pt x="454557" y="1318589"/>
                  <a:pt x="503796" y="1220112"/>
                </a:cubicBezTo>
                <a:cubicBezTo>
                  <a:pt x="509783" y="1208138"/>
                  <a:pt x="508133" y="1192465"/>
                  <a:pt x="516496" y="1182012"/>
                </a:cubicBezTo>
                <a:cubicBezTo>
                  <a:pt x="526031" y="1170093"/>
                  <a:pt x="541896" y="1165079"/>
                  <a:pt x="554596" y="1156612"/>
                </a:cubicBezTo>
                <a:cubicBezTo>
                  <a:pt x="586518" y="1060847"/>
                  <a:pt x="539744" y="1175176"/>
                  <a:pt x="605396" y="1093112"/>
                </a:cubicBezTo>
                <a:cubicBezTo>
                  <a:pt x="613759" y="1082659"/>
                  <a:pt x="612109" y="1066986"/>
                  <a:pt x="618096" y="1055012"/>
                </a:cubicBezTo>
                <a:cubicBezTo>
                  <a:pt x="624922" y="1041360"/>
                  <a:pt x="636670" y="1030564"/>
                  <a:pt x="643496" y="1016912"/>
                </a:cubicBezTo>
                <a:cubicBezTo>
                  <a:pt x="649483" y="1004938"/>
                  <a:pt x="649695" y="990514"/>
                  <a:pt x="656196" y="978812"/>
                </a:cubicBezTo>
                <a:cubicBezTo>
                  <a:pt x="671021" y="952127"/>
                  <a:pt x="706996" y="902612"/>
                  <a:pt x="706996" y="902612"/>
                </a:cubicBezTo>
                <a:cubicBezTo>
                  <a:pt x="709984" y="884686"/>
                  <a:pt x="726228" y="762791"/>
                  <a:pt x="745096" y="750212"/>
                </a:cubicBezTo>
                <a:lnTo>
                  <a:pt x="783196" y="724812"/>
                </a:lnTo>
                <a:cubicBezTo>
                  <a:pt x="796430" y="685109"/>
                  <a:pt x="809265" y="635466"/>
                  <a:pt x="846696" y="610512"/>
                </a:cubicBezTo>
                <a:lnTo>
                  <a:pt x="884796" y="585112"/>
                </a:lnTo>
                <a:cubicBezTo>
                  <a:pt x="916718" y="489347"/>
                  <a:pt x="873657" y="607389"/>
                  <a:pt x="922896" y="508912"/>
                </a:cubicBezTo>
                <a:cubicBezTo>
                  <a:pt x="928883" y="496938"/>
                  <a:pt x="929609" y="482786"/>
                  <a:pt x="935596" y="470812"/>
                </a:cubicBezTo>
                <a:cubicBezTo>
                  <a:pt x="942422" y="457160"/>
                  <a:pt x="954170" y="446364"/>
                  <a:pt x="960996" y="432712"/>
                </a:cubicBezTo>
                <a:cubicBezTo>
                  <a:pt x="966983" y="420738"/>
                  <a:pt x="965333" y="405065"/>
                  <a:pt x="973696" y="394612"/>
                </a:cubicBezTo>
                <a:cubicBezTo>
                  <a:pt x="983231" y="382693"/>
                  <a:pt x="999096" y="377679"/>
                  <a:pt x="1011796" y="369212"/>
                </a:cubicBezTo>
                <a:cubicBezTo>
                  <a:pt x="1058113" y="230261"/>
                  <a:pt x="984244" y="440728"/>
                  <a:pt x="1049896" y="293012"/>
                </a:cubicBezTo>
                <a:cubicBezTo>
                  <a:pt x="1060770" y="268546"/>
                  <a:pt x="1060444" y="239089"/>
                  <a:pt x="1075296" y="216812"/>
                </a:cubicBezTo>
                <a:lnTo>
                  <a:pt x="1126096" y="140612"/>
                </a:lnTo>
                <a:cubicBezTo>
                  <a:pt x="1134563" y="127912"/>
                  <a:pt x="1146669" y="116992"/>
                  <a:pt x="1151496" y="102512"/>
                </a:cubicBezTo>
                <a:cubicBezTo>
                  <a:pt x="1161825" y="71524"/>
                  <a:pt x="1164977" y="50931"/>
                  <a:pt x="1189596" y="26312"/>
                </a:cubicBezTo>
                <a:cubicBezTo>
                  <a:pt x="1192589" y="23319"/>
                  <a:pt x="1206529" y="-5438"/>
                  <a:pt x="1214996" y="912"/>
                </a:cubicBezTo>
                <a:close/>
              </a:path>
            </a:pathLst>
          </a:custGeom>
          <a:solidFill>
            <a:schemeClr val="accent6">
              <a:lumMod val="7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orme libre 12"/>
          <p:cNvSpPr/>
          <p:nvPr/>
        </p:nvSpPr>
        <p:spPr>
          <a:xfrm>
            <a:off x="4615580" y="2273300"/>
            <a:ext cx="257152" cy="2019300"/>
          </a:xfrm>
          <a:custGeom>
            <a:avLst/>
            <a:gdLst>
              <a:gd name="connsiteX0" fmla="*/ 28552 w 257152"/>
              <a:gd name="connsiteY0" fmla="*/ 0 h 2019300"/>
              <a:gd name="connsiteX1" fmla="*/ 3152 w 257152"/>
              <a:gd name="connsiteY1" fmla="*/ 698500 h 2019300"/>
              <a:gd name="connsiteX2" fmla="*/ 92052 w 257152"/>
              <a:gd name="connsiteY2" fmla="*/ 1498600 h 2019300"/>
              <a:gd name="connsiteX3" fmla="*/ 257152 w 257152"/>
              <a:gd name="connsiteY3" fmla="*/ 2019300 h 201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52" h="2019300">
                <a:moveTo>
                  <a:pt x="28552" y="0"/>
                </a:moveTo>
                <a:cubicBezTo>
                  <a:pt x="10560" y="224366"/>
                  <a:pt x="-7431" y="448733"/>
                  <a:pt x="3152" y="698500"/>
                </a:cubicBezTo>
                <a:cubicBezTo>
                  <a:pt x="13735" y="948267"/>
                  <a:pt x="49719" y="1278467"/>
                  <a:pt x="92052" y="1498600"/>
                </a:cubicBezTo>
                <a:cubicBezTo>
                  <a:pt x="134385" y="1718733"/>
                  <a:pt x="195768" y="1869016"/>
                  <a:pt x="257152" y="2019300"/>
                </a:cubicBezTo>
              </a:path>
            </a:pathLst>
          </a:cu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orme libre 13"/>
          <p:cNvSpPr/>
          <p:nvPr/>
        </p:nvSpPr>
        <p:spPr>
          <a:xfrm>
            <a:off x="4644132" y="2114790"/>
            <a:ext cx="1219200" cy="145810"/>
          </a:xfrm>
          <a:custGeom>
            <a:avLst/>
            <a:gdLst>
              <a:gd name="connsiteX0" fmla="*/ 0 w 1219200"/>
              <a:gd name="connsiteY0" fmla="*/ 145810 h 145810"/>
              <a:gd name="connsiteX1" fmla="*/ 342900 w 1219200"/>
              <a:gd name="connsiteY1" fmla="*/ 69610 h 145810"/>
              <a:gd name="connsiteX2" fmla="*/ 762000 w 1219200"/>
              <a:gd name="connsiteY2" fmla="*/ 6110 h 145810"/>
              <a:gd name="connsiteX3" fmla="*/ 1219200 w 1219200"/>
              <a:gd name="connsiteY3" fmla="*/ 6110 h 14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" h="145810">
                <a:moveTo>
                  <a:pt x="0" y="145810"/>
                </a:moveTo>
                <a:cubicBezTo>
                  <a:pt x="107950" y="119351"/>
                  <a:pt x="215900" y="92893"/>
                  <a:pt x="342900" y="69610"/>
                </a:cubicBezTo>
                <a:cubicBezTo>
                  <a:pt x="469900" y="46327"/>
                  <a:pt x="615950" y="16693"/>
                  <a:pt x="762000" y="6110"/>
                </a:cubicBezTo>
                <a:cubicBezTo>
                  <a:pt x="908050" y="-4473"/>
                  <a:pt x="1063625" y="818"/>
                  <a:pt x="1219200" y="6110"/>
                </a:cubicBezTo>
              </a:path>
            </a:pathLst>
          </a:cu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92348" y="2959784"/>
            <a:ext cx="30562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(Le CCD W est à l’intérieur de sa nappe de solidification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latin typeface="Monotype Corsiva" pitchFamily="66" charset="0"/>
              </a:rPr>
              <a:t>W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CCD binaires à fusion congruente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44547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089" y="1196753"/>
            <a:ext cx="6014407" cy="4680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Connecteur droit 5"/>
          <p:cNvCxnSpPr/>
          <p:nvPr/>
        </p:nvCxnSpPr>
        <p:spPr>
          <a:xfrm flipH="1">
            <a:off x="5198864" y="2408188"/>
            <a:ext cx="1800200" cy="309634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>
            <a:off x="5211564" y="5517232"/>
            <a:ext cx="36385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6999064" y="2408188"/>
            <a:ext cx="1851000" cy="309634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5669012" y="4653136"/>
            <a:ext cx="3181052" cy="85139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6029052" y="491155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latin typeface="Monotype Corsiva" pitchFamily="66" charset="0"/>
              </a:rPr>
              <a:t>A</a:t>
            </a:r>
            <a:endParaRPr lang="fr-FR" sz="2400" dirty="0">
              <a:latin typeface="Monotype Corsiva" pitchFamily="66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6747036" y="3327375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latin typeface="Monotype Corsiva" pitchFamily="66" charset="0"/>
              </a:rPr>
              <a:t>B</a:t>
            </a:r>
            <a:endParaRPr lang="fr-FR" sz="2400" dirty="0">
              <a:latin typeface="Monotype Corsiva" pitchFamily="66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8045276" y="484800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latin typeface="Monotype Corsiva" pitchFamily="66" charset="0"/>
              </a:rPr>
              <a:t>C</a:t>
            </a:r>
            <a:endParaRPr lang="fr-FR" sz="2400" dirty="0">
              <a:latin typeface="Monotype Corsiva" pitchFamily="66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626324" y="420838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latin typeface="Monotype Corsiva" pitchFamily="66" charset="0"/>
              </a:rPr>
              <a:t>D</a:t>
            </a:r>
            <a:endParaRPr lang="fr-FR" sz="2400" dirty="0">
              <a:latin typeface="Monotype Corsiva" pitchFamily="66" charset="0"/>
            </a:endParaRPr>
          </a:p>
        </p:txBody>
      </p:sp>
      <p:sp>
        <p:nvSpPr>
          <p:cNvPr id="15" name="Freeform 30"/>
          <p:cNvSpPr>
            <a:spLocks/>
          </p:cNvSpPr>
          <p:nvPr/>
        </p:nvSpPr>
        <p:spPr bwMode="auto">
          <a:xfrm rot="60000">
            <a:off x="5806331" y="4030464"/>
            <a:ext cx="1950913" cy="906487"/>
          </a:xfrm>
          <a:custGeom>
            <a:avLst/>
            <a:gdLst>
              <a:gd name="T0" fmla="*/ 2147483647 w 1365"/>
              <a:gd name="T1" fmla="*/ 2147483647 h 698"/>
              <a:gd name="T2" fmla="*/ 2147483647 w 1365"/>
              <a:gd name="T3" fmla="*/ 0 h 698"/>
              <a:gd name="T4" fmla="*/ 2147483647 w 1365"/>
              <a:gd name="T5" fmla="*/ 2147483647 h 698"/>
              <a:gd name="T6" fmla="*/ 2147483647 w 1365"/>
              <a:gd name="T7" fmla="*/ 2147483647 h 698"/>
              <a:gd name="T8" fmla="*/ 2147483647 w 1365"/>
              <a:gd name="T9" fmla="*/ 2147483647 h 698"/>
              <a:gd name="T10" fmla="*/ 2147483647 w 1365"/>
              <a:gd name="T11" fmla="*/ 2147483647 h 698"/>
              <a:gd name="T12" fmla="*/ 2147483647 w 1365"/>
              <a:gd name="T13" fmla="*/ 2147483647 h 698"/>
              <a:gd name="T14" fmla="*/ 2147483647 w 1365"/>
              <a:gd name="T15" fmla="*/ 2147483647 h 698"/>
              <a:gd name="T16" fmla="*/ 2147483647 w 1365"/>
              <a:gd name="T17" fmla="*/ 2147483647 h 698"/>
              <a:gd name="T18" fmla="*/ 2147483647 w 1365"/>
              <a:gd name="T19" fmla="*/ 2147483647 h 698"/>
              <a:gd name="T20" fmla="*/ 0 w 1365"/>
              <a:gd name="T21" fmla="*/ 2147483647 h 69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365" h="698">
                <a:moveTo>
                  <a:pt x="10" y="299"/>
                </a:moveTo>
                <a:lnTo>
                  <a:pt x="176" y="0"/>
                </a:lnTo>
                <a:lnTo>
                  <a:pt x="336" y="43"/>
                </a:lnTo>
                <a:lnTo>
                  <a:pt x="613" y="117"/>
                </a:lnTo>
                <a:lnTo>
                  <a:pt x="922" y="219"/>
                </a:lnTo>
                <a:lnTo>
                  <a:pt x="1152" y="320"/>
                </a:lnTo>
                <a:lnTo>
                  <a:pt x="1365" y="427"/>
                </a:lnTo>
                <a:lnTo>
                  <a:pt x="1290" y="528"/>
                </a:lnTo>
                <a:lnTo>
                  <a:pt x="1210" y="698"/>
                </a:lnTo>
                <a:lnTo>
                  <a:pt x="746" y="512"/>
                </a:lnTo>
                <a:lnTo>
                  <a:pt x="0" y="299"/>
                </a:lnTo>
              </a:path>
            </a:pathLst>
          </a:custGeom>
          <a:solidFill>
            <a:srgbClr val="8422BB">
              <a:alpha val="43921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6" name="Forme libre 15"/>
          <p:cNvSpPr/>
          <p:nvPr/>
        </p:nvSpPr>
        <p:spPr>
          <a:xfrm>
            <a:off x="4978524" y="3788916"/>
            <a:ext cx="495300" cy="127000"/>
          </a:xfrm>
          <a:custGeom>
            <a:avLst/>
            <a:gdLst>
              <a:gd name="connsiteX0" fmla="*/ 0 w 495300"/>
              <a:gd name="connsiteY0" fmla="*/ 127000 h 127000"/>
              <a:gd name="connsiteX1" fmla="*/ 266700 w 495300"/>
              <a:gd name="connsiteY1" fmla="*/ 38100 h 127000"/>
              <a:gd name="connsiteX2" fmla="*/ 495300 w 495300"/>
              <a:gd name="connsiteY2" fmla="*/ 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5300" h="127000">
                <a:moveTo>
                  <a:pt x="0" y="127000"/>
                </a:moveTo>
                <a:cubicBezTo>
                  <a:pt x="92075" y="93133"/>
                  <a:pt x="184150" y="59267"/>
                  <a:pt x="266700" y="38100"/>
                </a:cubicBezTo>
                <a:cubicBezTo>
                  <a:pt x="349250" y="16933"/>
                  <a:pt x="422275" y="8466"/>
                  <a:pt x="495300" y="0"/>
                </a:cubicBezTo>
              </a:path>
            </a:pathLst>
          </a:custGeom>
          <a:noFill/>
          <a:ln w="571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/>
          <p:cNvSpPr txBox="1"/>
          <p:nvPr/>
        </p:nvSpPr>
        <p:spPr>
          <a:xfrm>
            <a:off x="190628" y="5805264"/>
            <a:ext cx="7727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Monotype Corsiva" pitchFamily="66" charset="0"/>
              </a:rPr>
              <a:t>A</a:t>
            </a:r>
            <a:r>
              <a:rPr lang="fr-FR" sz="2400" dirty="0" smtClean="0">
                <a:latin typeface="Monotype Corsiva" pitchFamily="66" charset="0"/>
              </a:rPr>
              <a:t>, B, C </a:t>
            </a:r>
            <a:r>
              <a:rPr lang="fr-FR" sz="2400" dirty="0" smtClean="0"/>
              <a:t>et </a:t>
            </a:r>
            <a:r>
              <a:rPr lang="fr-FR" sz="2400" dirty="0" smtClean="0">
                <a:latin typeface="Monotype Corsiva" pitchFamily="66" charset="0"/>
              </a:rPr>
              <a:t>D</a:t>
            </a:r>
            <a:r>
              <a:rPr lang="fr-FR" sz="2400" dirty="0" smtClean="0"/>
              <a:t> :  nappes de solidification de A, B, C et D</a:t>
            </a:r>
            <a:endParaRPr lang="fr-FR" sz="2400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323528" y="6462628"/>
            <a:ext cx="4320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971600" y="6235769"/>
            <a:ext cx="81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Droites d’</a:t>
            </a:r>
            <a:r>
              <a:rPr lang="fr-FR" sz="2400" dirty="0" err="1" smtClean="0"/>
              <a:t>Alkemade</a:t>
            </a:r>
            <a:r>
              <a:rPr lang="fr-FR" sz="2400" dirty="0" smtClean="0"/>
              <a:t> : relient des corps purs ou équivalents (CCD)</a:t>
            </a:r>
            <a:endParaRPr lang="fr-FR" sz="2400" dirty="0"/>
          </a:p>
        </p:txBody>
      </p:sp>
      <p:sp>
        <p:nvSpPr>
          <p:cNvPr id="20" name="Rectangle 19"/>
          <p:cNvSpPr/>
          <p:nvPr/>
        </p:nvSpPr>
        <p:spPr>
          <a:xfrm>
            <a:off x="-36512" y="2959784"/>
            <a:ext cx="30562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7030A0"/>
                </a:solidFill>
              </a:rPr>
              <a:t>(Le CCD </a:t>
            </a:r>
            <a:r>
              <a:rPr lang="fr-FR" b="1" dirty="0" smtClean="0">
                <a:solidFill>
                  <a:srgbClr val="7030A0"/>
                </a:solidFill>
              </a:rPr>
              <a:t>D </a:t>
            </a:r>
            <a:r>
              <a:rPr lang="fr-FR" b="1" dirty="0">
                <a:solidFill>
                  <a:srgbClr val="7030A0"/>
                </a:solidFill>
              </a:rPr>
              <a:t>est </a:t>
            </a:r>
            <a:r>
              <a:rPr lang="fr-FR" b="1" dirty="0" smtClean="0">
                <a:solidFill>
                  <a:srgbClr val="7030A0"/>
                </a:solidFill>
              </a:rPr>
              <a:t>en dehors de </a:t>
            </a:r>
            <a:r>
              <a:rPr lang="fr-FR" b="1" dirty="0">
                <a:solidFill>
                  <a:srgbClr val="7030A0"/>
                </a:solidFill>
              </a:rPr>
              <a:t>sa nappe de solidification </a:t>
            </a:r>
            <a:r>
              <a:rPr lang="fr-FR" b="1" dirty="0" smtClean="0">
                <a:solidFill>
                  <a:srgbClr val="7030A0"/>
                </a:solidFill>
                <a:latin typeface="Monotype Corsiva" pitchFamily="66" charset="0"/>
              </a:rPr>
              <a:t>D</a:t>
            </a:r>
            <a:r>
              <a:rPr lang="fr-FR" b="1" dirty="0" smtClean="0">
                <a:solidFill>
                  <a:srgbClr val="7030A0"/>
                </a:solidFill>
              </a:rPr>
              <a:t>)</a:t>
            </a:r>
            <a:endParaRPr lang="fr-FR" b="1" dirty="0">
              <a:solidFill>
                <a:srgbClr val="7030A0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CCD binaires à fusion non congruente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44547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144016" y="620688"/>
            <a:ext cx="899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CCD ternaires</a:t>
            </a:r>
            <a:endParaRPr lang="fr-FR" sz="2400" dirty="0"/>
          </a:p>
        </p:txBody>
      </p:sp>
      <p:sp>
        <p:nvSpPr>
          <p:cNvPr id="4" name="AutoShape 10"/>
          <p:cNvSpPr>
            <a:spLocks noChangeArrowheads="1"/>
          </p:cNvSpPr>
          <p:nvPr/>
        </p:nvSpPr>
        <p:spPr bwMode="auto">
          <a:xfrm>
            <a:off x="727075" y="2690515"/>
            <a:ext cx="3352800" cy="28987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" name="Oval 14"/>
          <p:cNvSpPr>
            <a:spLocks noChangeAspect="1" noChangeArrowheads="1"/>
          </p:cNvSpPr>
          <p:nvPr/>
        </p:nvSpPr>
        <p:spPr bwMode="auto">
          <a:xfrm>
            <a:off x="3003550" y="3743027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7" name="Oval 16"/>
          <p:cNvSpPr>
            <a:spLocks noChangeAspect="1" noChangeArrowheads="1"/>
          </p:cNvSpPr>
          <p:nvPr/>
        </p:nvSpPr>
        <p:spPr bwMode="auto">
          <a:xfrm>
            <a:off x="2590800" y="5541665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8" name="Rectangle 23"/>
          <p:cNvSpPr>
            <a:spLocks noChangeArrowheads="1"/>
          </p:cNvSpPr>
          <p:nvPr/>
        </p:nvSpPr>
        <p:spPr bwMode="auto">
          <a:xfrm>
            <a:off x="2235200" y="2409527"/>
            <a:ext cx="336550" cy="366713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A</a:t>
            </a: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574675" y="5541665"/>
            <a:ext cx="336550" cy="36671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B</a:t>
            </a:r>
          </a:p>
        </p:txBody>
      </p:sp>
      <p:sp>
        <p:nvSpPr>
          <p:cNvPr id="11" name="Rectangle 26"/>
          <p:cNvSpPr>
            <a:spLocks noChangeArrowheads="1"/>
          </p:cNvSpPr>
          <p:nvPr/>
        </p:nvSpPr>
        <p:spPr bwMode="auto">
          <a:xfrm>
            <a:off x="3883025" y="5541665"/>
            <a:ext cx="349250" cy="36671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C</a:t>
            </a:r>
          </a:p>
        </p:txBody>
      </p:sp>
      <p:sp>
        <p:nvSpPr>
          <p:cNvPr id="12" name="Rectangle 27"/>
          <p:cNvSpPr>
            <a:spLocks noChangeArrowheads="1"/>
          </p:cNvSpPr>
          <p:nvPr/>
        </p:nvSpPr>
        <p:spPr bwMode="auto">
          <a:xfrm>
            <a:off x="3036888" y="3616027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1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13" name="Rectangle 28"/>
          <p:cNvSpPr>
            <a:spLocks noChangeArrowheads="1"/>
          </p:cNvSpPr>
          <p:nvPr/>
        </p:nvSpPr>
        <p:spPr bwMode="auto">
          <a:xfrm>
            <a:off x="863600" y="4512965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2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14" name="Rectangle 29"/>
          <p:cNvSpPr>
            <a:spLocks noChangeArrowheads="1"/>
          </p:cNvSpPr>
          <p:nvPr/>
        </p:nvSpPr>
        <p:spPr bwMode="auto">
          <a:xfrm>
            <a:off x="2470150" y="5555952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3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15" name="Rectangle 31"/>
          <p:cNvSpPr>
            <a:spLocks noChangeArrowheads="1"/>
          </p:cNvSpPr>
          <p:nvPr/>
        </p:nvSpPr>
        <p:spPr bwMode="auto">
          <a:xfrm>
            <a:off x="2286000" y="3476327"/>
            <a:ext cx="327334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 dirty="0">
                <a:latin typeface="Monotype Corsiva" pitchFamily="66" charset="0"/>
                <a:ea typeface="ＭＳ Ｐゴシック" charset="0"/>
              </a:rPr>
              <a:t>A</a:t>
            </a:r>
          </a:p>
        </p:txBody>
      </p:sp>
      <p:sp>
        <p:nvSpPr>
          <p:cNvPr id="16" name="Rectangle 32"/>
          <p:cNvSpPr>
            <a:spLocks noChangeArrowheads="1"/>
          </p:cNvSpPr>
          <p:nvPr/>
        </p:nvSpPr>
        <p:spPr bwMode="auto">
          <a:xfrm>
            <a:off x="1447800" y="5076527"/>
            <a:ext cx="322524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 dirty="0">
                <a:latin typeface="Monotype Corsiva" pitchFamily="66" charset="0"/>
                <a:ea typeface="ＭＳ Ｐゴシック" charset="0"/>
              </a:rPr>
              <a:t>B</a:t>
            </a:r>
          </a:p>
        </p:txBody>
      </p:sp>
      <p:sp>
        <p:nvSpPr>
          <p:cNvPr id="17" name="Rectangle 34"/>
          <p:cNvSpPr>
            <a:spLocks noChangeArrowheads="1"/>
          </p:cNvSpPr>
          <p:nvPr/>
        </p:nvSpPr>
        <p:spPr bwMode="auto">
          <a:xfrm>
            <a:off x="2438400" y="4924127"/>
            <a:ext cx="304892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 dirty="0">
                <a:latin typeface="Monotype Corsiva" pitchFamily="66" charset="0"/>
                <a:ea typeface="ＭＳ Ｐゴシック" charset="0"/>
              </a:rPr>
              <a:t>C</a:t>
            </a:r>
          </a:p>
        </p:txBody>
      </p:sp>
      <p:sp>
        <p:nvSpPr>
          <p:cNvPr id="18" name="Rectangle 52"/>
          <p:cNvSpPr>
            <a:spLocks noChangeArrowheads="1"/>
          </p:cNvSpPr>
          <p:nvPr/>
        </p:nvSpPr>
        <p:spPr bwMode="auto">
          <a:xfrm>
            <a:off x="1479550" y="4106565"/>
            <a:ext cx="342900" cy="274637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E</a:t>
            </a:r>
            <a:r>
              <a:rPr lang="fr-FR" sz="1200" b="0" baseline="-25000">
                <a:latin typeface="Arial" charset="0"/>
                <a:ea typeface="ＭＳ Ｐゴシック" charset="0"/>
              </a:rPr>
              <a:t>2</a:t>
            </a:r>
            <a:endParaRPr lang="fr-FR" sz="1200" b="0">
              <a:latin typeface="Arial" charset="0"/>
              <a:ea typeface="ＭＳ Ｐゴシック" charset="0"/>
            </a:endParaRPr>
          </a:p>
        </p:txBody>
      </p:sp>
      <p:sp>
        <p:nvSpPr>
          <p:cNvPr id="19" name="Rectangle 53"/>
          <p:cNvSpPr>
            <a:spLocks noChangeArrowheads="1"/>
          </p:cNvSpPr>
          <p:nvPr/>
        </p:nvSpPr>
        <p:spPr bwMode="auto">
          <a:xfrm>
            <a:off x="2679700" y="4146252"/>
            <a:ext cx="342900" cy="274638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E</a:t>
            </a:r>
            <a:r>
              <a:rPr lang="fr-FR" sz="1200" b="0" baseline="-25000">
                <a:latin typeface="Arial" charset="0"/>
                <a:ea typeface="ＭＳ Ｐゴシック" charset="0"/>
              </a:rPr>
              <a:t>1</a:t>
            </a:r>
            <a:endParaRPr lang="fr-FR" sz="1200" b="0">
              <a:latin typeface="Arial" charset="0"/>
              <a:ea typeface="ＭＳ Ｐゴシック" charset="0"/>
            </a:endParaRPr>
          </a:p>
        </p:txBody>
      </p:sp>
      <p:sp>
        <p:nvSpPr>
          <p:cNvPr id="20" name="Freeform 61"/>
          <p:cNvSpPr>
            <a:spLocks/>
          </p:cNvSpPr>
          <p:nvPr/>
        </p:nvSpPr>
        <p:spPr bwMode="auto">
          <a:xfrm>
            <a:off x="2184400" y="5076527"/>
            <a:ext cx="406400" cy="457200"/>
          </a:xfrm>
          <a:custGeom>
            <a:avLst/>
            <a:gdLst>
              <a:gd name="T0" fmla="*/ 406400 w 256"/>
              <a:gd name="T1" fmla="*/ 457200 h 288"/>
              <a:gd name="T2" fmla="*/ 101600 w 256"/>
              <a:gd name="T3" fmla="*/ 292100 h 288"/>
              <a:gd name="T4" fmla="*/ 0 w 256"/>
              <a:gd name="T5" fmla="*/ 0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6" h="288">
                <a:moveTo>
                  <a:pt x="256" y="288"/>
                </a:moveTo>
                <a:cubicBezTo>
                  <a:pt x="181" y="260"/>
                  <a:pt x="107" y="232"/>
                  <a:pt x="64" y="184"/>
                </a:cubicBezTo>
                <a:cubicBezTo>
                  <a:pt x="21" y="136"/>
                  <a:pt x="10" y="68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" name="Freeform 62"/>
          <p:cNvSpPr>
            <a:spLocks/>
          </p:cNvSpPr>
          <p:nvPr/>
        </p:nvSpPr>
        <p:spPr bwMode="auto">
          <a:xfrm>
            <a:off x="2654300" y="3779540"/>
            <a:ext cx="393700" cy="471487"/>
          </a:xfrm>
          <a:custGeom>
            <a:avLst/>
            <a:gdLst>
              <a:gd name="T0" fmla="*/ 393700 w 248"/>
              <a:gd name="T1" fmla="*/ 1587 h 297"/>
              <a:gd name="T2" fmla="*/ 101600 w 248"/>
              <a:gd name="T3" fmla="*/ 77787 h 297"/>
              <a:gd name="T4" fmla="*/ 0 w 248"/>
              <a:gd name="T5" fmla="*/ 471487 h 29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8" h="297">
                <a:moveTo>
                  <a:pt x="248" y="1"/>
                </a:moveTo>
                <a:cubicBezTo>
                  <a:pt x="176" y="0"/>
                  <a:pt x="105" y="0"/>
                  <a:pt x="64" y="49"/>
                </a:cubicBezTo>
                <a:cubicBezTo>
                  <a:pt x="23" y="98"/>
                  <a:pt x="11" y="257"/>
                  <a:pt x="0" y="29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2" name="Freeform 60"/>
          <p:cNvSpPr>
            <a:spLocks/>
          </p:cNvSpPr>
          <p:nvPr/>
        </p:nvSpPr>
        <p:spPr bwMode="auto">
          <a:xfrm>
            <a:off x="1262087" y="4135140"/>
            <a:ext cx="1509713" cy="979487"/>
          </a:xfrm>
          <a:custGeom>
            <a:avLst/>
            <a:gdLst>
              <a:gd name="T0" fmla="*/ 0 w 951"/>
              <a:gd name="T1" fmla="*/ 560387 h 617"/>
              <a:gd name="T2" fmla="*/ 444500 w 951"/>
              <a:gd name="T3" fmla="*/ 255587 h 617"/>
              <a:gd name="T4" fmla="*/ 1422400 w 951"/>
              <a:gd name="T5" fmla="*/ 115887 h 617"/>
              <a:gd name="T6" fmla="*/ 965200 w 951"/>
              <a:gd name="T7" fmla="*/ 954087 h 617"/>
              <a:gd name="T8" fmla="*/ 431800 w 951"/>
              <a:gd name="T9" fmla="*/ 268287 h 61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51" h="617">
                <a:moveTo>
                  <a:pt x="0" y="353"/>
                </a:moveTo>
                <a:cubicBezTo>
                  <a:pt x="65" y="280"/>
                  <a:pt x="131" y="208"/>
                  <a:pt x="280" y="161"/>
                </a:cubicBezTo>
                <a:cubicBezTo>
                  <a:pt x="429" y="114"/>
                  <a:pt x="841" y="0"/>
                  <a:pt x="896" y="73"/>
                </a:cubicBezTo>
                <a:cubicBezTo>
                  <a:pt x="951" y="146"/>
                  <a:pt x="712" y="585"/>
                  <a:pt x="608" y="601"/>
                </a:cubicBezTo>
                <a:cubicBezTo>
                  <a:pt x="504" y="617"/>
                  <a:pt x="388" y="393"/>
                  <a:pt x="272" y="169"/>
                </a:cubicBezTo>
              </a:path>
            </a:pathLst>
          </a:custGeom>
          <a:solidFill>
            <a:srgbClr val="A9A9A9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23" name="Oval 13"/>
          <p:cNvSpPr>
            <a:spLocks noChangeAspect="1" noChangeArrowheads="1"/>
          </p:cNvSpPr>
          <p:nvPr/>
        </p:nvSpPr>
        <p:spPr bwMode="auto">
          <a:xfrm>
            <a:off x="1192213" y="467965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4" name="Rectangle 33"/>
          <p:cNvSpPr>
            <a:spLocks noChangeArrowheads="1"/>
          </p:cNvSpPr>
          <p:nvPr/>
        </p:nvSpPr>
        <p:spPr bwMode="auto">
          <a:xfrm>
            <a:off x="2151063" y="4289127"/>
            <a:ext cx="346570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 dirty="0">
                <a:latin typeface="Monotype Corsiva" pitchFamily="66" charset="0"/>
                <a:ea typeface="ＭＳ Ｐゴシック" charset="0"/>
              </a:rPr>
              <a:t>D</a:t>
            </a:r>
          </a:p>
        </p:txBody>
      </p:sp>
      <p:sp>
        <p:nvSpPr>
          <p:cNvPr id="25" name="Oval 42"/>
          <p:cNvSpPr>
            <a:spLocks noChangeAspect="1" noChangeArrowheads="1"/>
          </p:cNvSpPr>
          <p:nvPr/>
        </p:nvSpPr>
        <p:spPr bwMode="auto">
          <a:xfrm>
            <a:off x="2590800" y="4203402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6" name="Oval 59"/>
          <p:cNvSpPr>
            <a:spLocks noChangeAspect="1" noChangeArrowheads="1"/>
          </p:cNvSpPr>
          <p:nvPr/>
        </p:nvSpPr>
        <p:spPr bwMode="auto">
          <a:xfrm>
            <a:off x="2133600" y="5041602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7" name="Line 57"/>
          <p:cNvSpPr>
            <a:spLocks noChangeShapeType="1"/>
          </p:cNvSpPr>
          <p:nvPr/>
        </p:nvSpPr>
        <p:spPr bwMode="auto">
          <a:xfrm>
            <a:off x="2032000" y="4568527"/>
            <a:ext cx="2057400" cy="1028700"/>
          </a:xfrm>
          <a:prstGeom prst="line">
            <a:avLst/>
          </a:prstGeom>
          <a:noFill/>
          <a:ln w="28575">
            <a:solidFill>
              <a:srgbClr val="0C00FF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8" name="Freeform 56"/>
          <p:cNvSpPr>
            <a:spLocks/>
          </p:cNvSpPr>
          <p:nvPr/>
        </p:nvSpPr>
        <p:spPr bwMode="auto">
          <a:xfrm>
            <a:off x="719138" y="2688927"/>
            <a:ext cx="1681162" cy="2903538"/>
          </a:xfrm>
          <a:custGeom>
            <a:avLst/>
            <a:gdLst>
              <a:gd name="T0" fmla="*/ 1681162 w 1059"/>
              <a:gd name="T1" fmla="*/ 0 h 1835"/>
              <a:gd name="T2" fmla="*/ 1312862 w 1059"/>
              <a:gd name="T3" fmla="*/ 1873454 h 1835"/>
              <a:gd name="T4" fmla="*/ 0 w 1059"/>
              <a:gd name="T5" fmla="*/ 2903538 h 18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59" h="1835">
                <a:moveTo>
                  <a:pt x="1059" y="0"/>
                </a:moveTo>
                <a:lnTo>
                  <a:pt x="827" y="1184"/>
                </a:lnTo>
                <a:lnTo>
                  <a:pt x="0" y="1835"/>
                </a:lnTo>
              </a:path>
            </a:pathLst>
          </a:custGeom>
          <a:noFill/>
          <a:ln w="28575" cmpd="sng">
            <a:solidFill>
              <a:srgbClr val="0C00FF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9" name="Oval 58"/>
          <p:cNvSpPr>
            <a:spLocks noChangeAspect="1" noChangeArrowheads="1"/>
          </p:cNvSpPr>
          <p:nvPr/>
        </p:nvSpPr>
        <p:spPr bwMode="auto">
          <a:xfrm>
            <a:off x="1600200" y="4355802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1728788" y="4336752"/>
            <a:ext cx="312737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 dirty="0">
                <a:latin typeface="Arial" charset="0"/>
                <a:ea typeface="ＭＳ Ｐゴシック" charset="0"/>
              </a:rPr>
              <a:t>D</a:t>
            </a:r>
          </a:p>
        </p:txBody>
      </p:sp>
      <p:sp>
        <p:nvSpPr>
          <p:cNvPr id="31" name="Rectangle 75"/>
          <p:cNvSpPr>
            <a:spLocks noChangeArrowheads="1"/>
          </p:cNvSpPr>
          <p:nvPr/>
        </p:nvSpPr>
        <p:spPr bwMode="auto">
          <a:xfrm>
            <a:off x="1905000" y="5100340"/>
            <a:ext cx="342900" cy="274637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E</a:t>
            </a:r>
            <a:r>
              <a:rPr lang="fr-FR" sz="1200" b="0" baseline="-25000">
                <a:latin typeface="Arial" charset="0"/>
                <a:ea typeface="ＭＳ Ｐゴシック" charset="0"/>
              </a:rPr>
              <a:t>3</a:t>
            </a:r>
            <a:endParaRPr lang="fr-FR" sz="1200" b="0">
              <a:latin typeface="Arial" charset="0"/>
              <a:ea typeface="ＭＳ Ｐゴシック" charset="0"/>
            </a:endParaRPr>
          </a:p>
        </p:txBody>
      </p:sp>
      <p:sp>
        <p:nvSpPr>
          <p:cNvPr id="32" name="AutoShape 78"/>
          <p:cNvSpPr>
            <a:spLocks noChangeArrowheads="1"/>
          </p:cNvSpPr>
          <p:nvPr/>
        </p:nvSpPr>
        <p:spPr bwMode="auto">
          <a:xfrm>
            <a:off x="4953000" y="2696865"/>
            <a:ext cx="3352800" cy="28987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3" name="Oval 79"/>
          <p:cNvSpPr>
            <a:spLocks noChangeAspect="1" noChangeArrowheads="1"/>
          </p:cNvSpPr>
          <p:nvPr/>
        </p:nvSpPr>
        <p:spPr bwMode="auto">
          <a:xfrm>
            <a:off x="7204075" y="3723977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4" name="Oval 80"/>
          <p:cNvSpPr>
            <a:spLocks noChangeAspect="1" noChangeArrowheads="1"/>
          </p:cNvSpPr>
          <p:nvPr/>
        </p:nvSpPr>
        <p:spPr bwMode="auto">
          <a:xfrm>
            <a:off x="6816725" y="5548015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5" name="Rectangle 84"/>
          <p:cNvSpPr>
            <a:spLocks noChangeArrowheads="1"/>
          </p:cNvSpPr>
          <p:nvPr/>
        </p:nvSpPr>
        <p:spPr bwMode="auto">
          <a:xfrm>
            <a:off x="6461125" y="2415877"/>
            <a:ext cx="336550" cy="366713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A</a:t>
            </a:r>
          </a:p>
        </p:txBody>
      </p:sp>
      <p:sp>
        <p:nvSpPr>
          <p:cNvPr id="36" name="Rectangle 85"/>
          <p:cNvSpPr>
            <a:spLocks noChangeArrowheads="1"/>
          </p:cNvSpPr>
          <p:nvPr/>
        </p:nvSpPr>
        <p:spPr bwMode="auto">
          <a:xfrm>
            <a:off x="4800600" y="5548015"/>
            <a:ext cx="336550" cy="36671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B</a:t>
            </a:r>
          </a:p>
        </p:txBody>
      </p:sp>
      <p:sp>
        <p:nvSpPr>
          <p:cNvPr id="37" name="Rectangle 87"/>
          <p:cNvSpPr>
            <a:spLocks noChangeArrowheads="1"/>
          </p:cNvSpPr>
          <p:nvPr/>
        </p:nvSpPr>
        <p:spPr bwMode="auto">
          <a:xfrm>
            <a:off x="7262813" y="3622377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1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38" name="Rectangle 88"/>
          <p:cNvSpPr>
            <a:spLocks noChangeArrowheads="1"/>
          </p:cNvSpPr>
          <p:nvPr/>
        </p:nvSpPr>
        <p:spPr bwMode="auto">
          <a:xfrm>
            <a:off x="5111750" y="4530427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2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39" name="Rectangle 89"/>
          <p:cNvSpPr>
            <a:spLocks noChangeArrowheads="1"/>
          </p:cNvSpPr>
          <p:nvPr/>
        </p:nvSpPr>
        <p:spPr bwMode="auto">
          <a:xfrm>
            <a:off x="6696075" y="5562302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3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40" name="Rectangle 90"/>
          <p:cNvSpPr>
            <a:spLocks noChangeArrowheads="1"/>
          </p:cNvSpPr>
          <p:nvPr/>
        </p:nvSpPr>
        <p:spPr bwMode="auto">
          <a:xfrm>
            <a:off x="6664325" y="3482677"/>
            <a:ext cx="327334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 dirty="0">
                <a:latin typeface="Monotype Corsiva" pitchFamily="66" charset="0"/>
                <a:ea typeface="ＭＳ Ｐゴシック" charset="0"/>
              </a:rPr>
              <a:t>A</a:t>
            </a:r>
          </a:p>
        </p:txBody>
      </p:sp>
      <p:sp>
        <p:nvSpPr>
          <p:cNvPr id="41" name="Rectangle 91"/>
          <p:cNvSpPr>
            <a:spLocks noChangeArrowheads="1"/>
          </p:cNvSpPr>
          <p:nvPr/>
        </p:nvSpPr>
        <p:spPr bwMode="auto">
          <a:xfrm>
            <a:off x="5905500" y="5082877"/>
            <a:ext cx="322524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 dirty="0">
                <a:latin typeface="Monotype Corsiva" pitchFamily="66" charset="0"/>
                <a:ea typeface="ＭＳ Ｐゴシック" charset="0"/>
              </a:rPr>
              <a:t>B</a:t>
            </a:r>
          </a:p>
        </p:txBody>
      </p:sp>
      <p:sp>
        <p:nvSpPr>
          <p:cNvPr id="42" name="Rectangle 92"/>
          <p:cNvSpPr>
            <a:spLocks noChangeArrowheads="1"/>
          </p:cNvSpPr>
          <p:nvPr/>
        </p:nvSpPr>
        <p:spPr bwMode="auto">
          <a:xfrm>
            <a:off x="7391400" y="4695527"/>
            <a:ext cx="304892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Monotype Corsiva" pitchFamily="66" charset="0"/>
                <a:ea typeface="ＭＳ Ｐゴシック" charset="0"/>
              </a:rPr>
              <a:t>C</a:t>
            </a:r>
          </a:p>
        </p:txBody>
      </p:sp>
      <p:sp>
        <p:nvSpPr>
          <p:cNvPr id="43" name="Rectangle 98"/>
          <p:cNvSpPr>
            <a:spLocks noChangeArrowheads="1"/>
          </p:cNvSpPr>
          <p:nvPr/>
        </p:nvSpPr>
        <p:spPr bwMode="auto">
          <a:xfrm>
            <a:off x="6477000" y="3933527"/>
            <a:ext cx="342900" cy="274638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P</a:t>
            </a:r>
            <a:r>
              <a:rPr lang="fr-FR" sz="1200" b="0" baseline="-25000">
                <a:latin typeface="Arial" charset="0"/>
                <a:ea typeface="ＭＳ Ｐゴシック" charset="0"/>
              </a:rPr>
              <a:t>1</a:t>
            </a:r>
            <a:endParaRPr lang="fr-FR" sz="1200" b="0">
              <a:latin typeface="Arial" charset="0"/>
              <a:ea typeface="ＭＳ Ｐゴシック" charset="0"/>
            </a:endParaRPr>
          </a:p>
        </p:txBody>
      </p:sp>
      <p:sp>
        <p:nvSpPr>
          <p:cNvPr id="44" name="Rectangle 99"/>
          <p:cNvSpPr>
            <a:spLocks noChangeArrowheads="1"/>
          </p:cNvSpPr>
          <p:nvPr/>
        </p:nvSpPr>
        <p:spPr bwMode="auto">
          <a:xfrm>
            <a:off x="7207250" y="4085927"/>
            <a:ext cx="285750" cy="274638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E</a:t>
            </a:r>
          </a:p>
        </p:txBody>
      </p:sp>
      <p:sp>
        <p:nvSpPr>
          <p:cNvPr id="45" name="Oval 103"/>
          <p:cNvSpPr>
            <a:spLocks noChangeAspect="1" noChangeArrowheads="1"/>
          </p:cNvSpPr>
          <p:nvPr/>
        </p:nvSpPr>
        <p:spPr bwMode="auto">
          <a:xfrm>
            <a:off x="5411788" y="467965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6" name="Rectangle 122"/>
          <p:cNvSpPr>
            <a:spLocks noChangeArrowheads="1"/>
          </p:cNvSpPr>
          <p:nvPr/>
        </p:nvSpPr>
        <p:spPr bwMode="auto">
          <a:xfrm>
            <a:off x="6019800" y="4543127"/>
            <a:ext cx="312738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D</a:t>
            </a:r>
          </a:p>
        </p:txBody>
      </p:sp>
      <p:sp>
        <p:nvSpPr>
          <p:cNvPr id="47" name="Rectangle 123"/>
          <p:cNvSpPr>
            <a:spLocks noChangeArrowheads="1"/>
          </p:cNvSpPr>
          <p:nvPr/>
        </p:nvSpPr>
        <p:spPr bwMode="auto">
          <a:xfrm>
            <a:off x="6858000" y="4644727"/>
            <a:ext cx="342900" cy="274638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P</a:t>
            </a:r>
            <a:r>
              <a:rPr lang="fr-FR" sz="1200" b="0" baseline="-25000">
                <a:latin typeface="Arial" charset="0"/>
                <a:ea typeface="ＭＳ Ｐゴシック" charset="0"/>
              </a:rPr>
              <a:t>2</a:t>
            </a:r>
            <a:endParaRPr lang="fr-FR" sz="1200" b="0">
              <a:latin typeface="Arial" charset="0"/>
              <a:ea typeface="ＭＳ Ｐゴシック" charset="0"/>
            </a:endParaRPr>
          </a:p>
        </p:txBody>
      </p:sp>
      <p:sp>
        <p:nvSpPr>
          <p:cNvPr id="48" name="Freeform 124"/>
          <p:cNvSpPr>
            <a:spLocks/>
          </p:cNvSpPr>
          <p:nvPr/>
        </p:nvSpPr>
        <p:spPr bwMode="auto">
          <a:xfrm>
            <a:off x="6521450" y="3781127"/>
            <a:ext cx="755650" cy="915988"/>
          </a:xfrm>
          <a:custGeom>
            <a:avLst/>
            <a:gdLst>
              <a:gd name="T0" fmla="*/ 717550 w 476"/>
              <a:gd name="T1" fmla="*/ 0 h 577"/>
              <a:gd name="T2" fmla="*/ 698500 w 476"/>
              <a:gd name="T3" fmla="*/ 279400 h 577"/>
              <a:gd name="T4" fmla="*/ 742950 w 476"/>
              <a:gd name="T5" fmla="*/ 673100 h 577"/>
              <a:gd name="T6" fmla="*/ 622300 w 476"/>
              <a:gd name="T7" fmla="*/ 895350 h 577"/>
              <a:gd name="T8" fmla="*/ 209550 w 476"/>
              <a:gd name="T9" fmla="*/ 800100 h 577"/>
              <a:gd name="T10" fmla="*/ 82550 w 476"/>
              <a:gd name="T11" fmla="*/ 469900 h 577"/>
              <a:gd name="T12" fmla="*/ 704850 w 476"/>
              <a:gd name="T13" fmla="*/ 279400 h 57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6" h="577">
                <a:moveTo>
                  <a:pt x="452" y="0"/>
                </a:moveTo>
                <a:cubicBezTo>
                  <a:pt x="444" y="52"/>
                  <a:pt x="437" y="105"/>
                  <a:pt x="440" y="176"/>
                </a:cubicBezTo>
                <a:cubicBezTo>
                  <a:pt x="443" y="247"/>
                  <a:pt x="476" y="359"/>
                  <a:pt x="468" y="424"/>
                </a:cubicBezTo>
                <a:cubicBezTo>
                  <a:pt x="460" y="489"/>
                  <a:pt x="448" y="551"/>
                  <a:pt x="392" y="564"/>
                </a:cubicBezTo>
                <a:cubicBezTo>
                  <a:pt x="336" y="577"/>
                  <a:pt x="189" y="549"/>
                  <a:pt x="132" y="504"/>
                </a:cubicBezTo>
                <a:cubicBezTo>
                  <a:pt x="75" y="459"/>
                  <a:pt x="0" y="351"/>
                  <a:pt x="52" y="296"/>
                </a:cubicBezTo>
                <a:cubicBezTo>
                  <a:pt x="104" y="241"/>
                  <a:pt x="274" y="208"/>
                  <a:pt x="444" y="176"/>
                </a:cubicBezTo>
              </a:path>
            </a:pathLst>
          </a:custGeom>
          <a:solidFill>
            <a:srgbClr val="A9A9A9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49" name="Oval 110"/>
          <p:cNvSpPr>
            <a:spLocks noChangeAspect="1" noChangeArrowheads="1"/>
          </p:cNvSpPr>
          <p:nvPr/>
        </p:nvSpPr>
        <p:spPr bwMode="auto">
          <a:xfrm>
            <a:off x="7162800" y="4009727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0" name="Line 126"/>
          <p:cNvSpPr>
            <a:spLocks noChangeShapeType="1"/>
          </p:cNvSpPr>
          <p:nvPr/>
        </p:nvSpPr>
        <p:spPr bwMode="auto">
          <a:xfrm flipV="1">
            <a:off x="5486400" y="4397077"/>
            <a:ext cx="1371600" cy="8572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1" name="Line 125"/>
          <p:cNvSpPr>
            <a:spLocks noChangeShapeType="1"/>
          </p:cNvSpPr>
          <p:nvPr/>
        </p:nvSpPr>
        <p:spPr bwMode="auto">
          <a:xfrm flipV="1">
            <a:off x="4959350" y="4727277"/>
            <a:ext cx="1371600" cy="857250"/>
          </a:xfrm>
          <a:prstGeom prst="line">
            <a:avLst/>
          </a:prstGeom>
          <a:noFill/>
          <a:ln w="28575">
            <a:solidFill>
              <a:srgbClr val="0C00FF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2" name="Oval 109"/>
          <p:cNvSpPr>
            <a:spLocks noChangeAspect="1" noChangeArrowheads="1"/>
          </p:cNvSpPr>
          <p:nvPr/>
        </p:nvSpPr>
        <p:spPr bwMode="auto">
          <a:xfrm>
            <a:off x="6280150" y="4682827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3" name="Rectangle 104"/>
          <p:cNvSpPr>
            <a:spLocks noChangeArrowheads="1"/>
          </p:cNvSpPr>
          <p:nvPr/>
        </p:nvSpPr>
        <p:spPr bwMode="auto">
          <a:xfrm>
            <a:off x="6838950" y="4085927"/>
            <a:ext cx="346570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 dirty="0">
                <a:latin typeface="Monotype Corsiva" pitchFamily="66" charset="0"/>
                <a:ea typeface="ＭＳ Ｐゴシック" charset="0"/>
              </a:rPr>
              <a:t>D</a:t>
            </a:r>
          </a:p>
        </p:txBody>
      </p:sp>
      <p:sp>
        <p:nvSpPr>
          <p:cNvPr id="54" name="Freeform 127"/>
          <p:cNvSpPr>
            <a:spLocks/>
          </p:cNvSpPr>
          <p:nvPr/>
        </p:nvSpPr>
        <p:spPr bwMode="auto">
          <a:xfrm>
            <a:off x="5410200" y="4122440"/>
            <a:ext cx="1200150" cy="598487"/>
          </a:xfrm>
          <a:custGeom>
            <a:avLst/>
            <a:gdLst>
              <a:gd name="T0" fmla="*/ 0 w 756"/>
              <a:gd name="T1" fmla="*/ 573087 h 377"/>
              <a:gd name="T2" fmla="*/ 38100 w 756"/>
              <a:gd name="T3" fmla="*/ 598487 h 377"/>
              <a:gd name="T4" fmla="*/ 704850 w 756"/>
              <a:gd name="T5" fmla="*/ 77787 h 377"/>
              <a:gd name="T6" fmla="*/ 1200150 w 756"/>
              <a:gd name="T7" fmla="*/ 134937 h 37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56" h="377">
                <a:moveTo>
                  <a:pt x="0" y="361"/>
                </a:moveTo>
                <a:lnTo>
                  <a:pt x="24" y="377"/>
                </a:lnTo>
                <a:cubicBezTo>
                  <a:pt x="98" y="325"/>
                  <a:pt x="322" y="98"/>
                  <a:pt x="444" y="49"/>
                </a:cubicBezTo>
                <a:cubicBezTo>
                  <a:pt x="566" y="0"/>
                  <a:pt x="661" y="42"/>
                  <a:pt x="756" y="8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5" name="Oval 105"/>
          <p:cNvSpPr>
            <a:spLocks noChangeAspect="1" noChangeArrowheads="1"/>
          </p:cNvSpPr>
          <p:nvPr/>
        </p:nvSpPr>
        <p:spPr bwMode="auto">
          <a:xfrm>
            <a:off x="6553200" y="4203402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6" name="Freeform 128"/>
          <p:cNvSpPr>
            <a:spLocks/>
          </p:cNvSpPr>
          <p:nvPr/>
        </p:nvSpPr>
        <p:spPr bwMode="auto">
          <a:xfrm>
            <a:off x="6851650" y="4663777"/>
            <a:ext cx="422275" cy="920750"/>
          </a:xfrm>
          <a:custGeom>
            <a:avLst/>
            <a:gdLst>
              <a:gd name="T0" fmla="*/ 311150 w 266"/>
              <a:gd name="T1" fmla="*/ 31750 h 580"/>
              <a:gd name="T2" fmla="*/ 285750 w 266"/>
              <a:gd name="T3" fmla="*/ 0 h 580"/>
              <a:gd name="T4" fmla="*/ 374650 w 266"/>
              <a:gd name="T5" fmla="*/ 596900 h 580"/>
              <a:gd name="T6" fmla="*/ 0 w 266"/>
              <a:gd name="T7" fmla="*/ 920750 h 5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66" h="580">
                <a:moveTo>
                  <a:pt x="196" y="20"/>
                </a:moveTo>
                <a:lnTo>
                  <a:pt x="180" y="0"/>
                </a:lnTo>
                <a:cubicBezTo>
                  <a:pt x="187" y="59"/>
                  <a:pt x="266" y="279"/>
                  <a:pt x="236" y="376"/>
                </a:cubicBezTo>
                <a:cubicBezTo>
                  <a:pt x="206" y="473"/>
                  <a:pt x="103" y="526"/>
                  <a:pt x="0" y="5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7" name="Oval 106"/>
          <p:cNvSpPr>
            <a:spLocks noChangeAspect="1" noChangeArrowheads="1"/>
          </p:cNvSpPr>
          <p:nvPr/>
        </p:nvSpPr>
        <p:spPr bwMode="auto">
          <a:xfrm>
            <a:off x="7086600" y="4619327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8" name="Oval 41"/>
          <p:cNvSpPr>
            <a:spLocks noChangeAspect="1" noChangeArrowheads="1"/>
          </p:cNvSpPr>
          <p:nvPr/>
        </p:nvSpPr>
        <p:spPr bwMode="auto">
          <a:xfrm>
            <a:off x="1981200" y="4508202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9" name="Oval 148"/>
          <p:cNvSpPr>
            <a:spLocks noChangeArrowheads="1"/>
          </p:cNvSpPr>
          <p:nvPr/>
        </p:nvSpPr>
        <p:spPr bwMode="auto">
          <a:xfrm>
            <a:off x="6621463" y="447486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60" name="ZoneTexte 59"/>
          <p:cNvSpPr txBox="1"/>
          <p:nvPr/>
        </p:nvSpPr>
        <p:spPr>
          <a:xfrm>
            <a:off x="179512" y="1340768"/>
            <a:ext cx="8964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accent6">
                    <a:lumMod val="75000"/>
                  </a:schemeClr>
                </a:solidFill>
              </a:rPr>
              <a:t>CCD ternaire à fusion congruente		à fusion non congruente</a:t>
            </a:r>
          </a:p>
        </p:txBody>
      </p:sp>
      <p:sp>
        <p:nvSpPr>
          <p:cNvPr id="61" name="ZoneTexte 60"/>
          <p:cNvSpPr txBox="1"/>
          <p:nvPr/>
        </p:nvSpPr>
        <p:spPr>
          <a:xfrm>
            <a:off x="395536" y="5914727"/>
            <a:ext cx="3836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/>
              <a:t>D à l’intérieur de la nappe </a:t>
            </a:r>
            <a:r>
              <a:rPr lang="fr-FR" sz="2400" dirty="0" smtClean="0">
                <a:latin typeface="Monotype Corsiva" pitchFamily="66" charset="0"/>
              </a:rPr>
              <a:t>D</a:t>
            </a:r>
            <a:endParaRPr lang="fr-FR" sz="2400" dirty="0">
              <a:latin typeface="Monotype Corsiva" pitchFamily="66" charset="0"/>
            </a:endParaRPr>
          </a:p>
        </p:txBody>
      </p:sp>
      <p:sp>
        <p:nvSpPr>
          <p:cNvPr id="62" name="ZoneTexte 61"/>
          <p:cNvSpPr txBox="1"/>
          <p:nvPr/>
        </p:nvSpPr>
        <p:spPr>
          <a:xfrm>
            <a:off x="4896917" y="5919663"/>
            <a:ext cx="3836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/>
              <a:t>D hors de la nappe </a:t>
            </a:r>
            <a:r>
              <a:rPr lang="fr-FR" sz="2400" dirty="0" smtClean="0">
                <a:latin typeface="Monotype Corsiva" pitchFamily="66" charset="0"/>
              </a:rPr>
              <a:t>D</a:t>
            </a:r>
            <a:endParaRPr lang="fr-FR" sz="2400" dirty="0">
              <a:latin typeface="Monotype Corsiva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47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3" name="ZoneTexte 2"/>
          <p:cNvSpPr txBox="1"/>
          <p:nvPr/>
        </p:nvSpPr>
        <p:spPr>
          <a:xfrm>
            <a:off x="107504" y="822857"/>
            <a:ext cx="903649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1 – théorème d’</a:t>
            </a:r>
            <a:r>
              <a:rPr lang="fr-FR" sz="2400" dirty="0" err="1" smtClean="0"/>
              <a:t>Alkemade</a:t>
            </a:r>
            <a:r>
              <a:rPr lang="fr-FR" dirty="0" smtClean="0"/>
              <a:t>: le point de croisement entre 1 droite d’</a:t>
            </a:r>
            <a:r>
              <a:rPr lang="fr-FR" dirty="0" err="1" smtClean="0"/>
              <a:t>Alkemade</a:t>
            </a:r>
            <a:r>
              <a:rPr lang="fr-FR" dirty="0" smtClean="0"/>
              <a:t> (ou son prolongement) avec la frontière entre 2 nappes est un col. La température décroit vers le col lorsque l’on se place sur la droite d’</a:t>
            </a:r>
            <a:r>
              <a:rPr lang="fr-FR" dirty="0" err="1" smtClean="0"/>
              <a:t>Alkemade</a:t>
            </a:r>
            <a:r>
              <a:rPr lang="fr-FR" dirty="0" smtClean="0"/>
              <a:t> (ou son prolongement). La température décroit le long de la frontière de part et d’autre du point d’intersection.</a:t>
            </a:r>
            <a:endParaRPr lang="fr-FR" dirty="0"/>
          </a:p>
        </p:txBody>
      </p:sp>
      <p:pic>
        <p:nvPicPr>
          <p:cNvPr id="4" name="Picture 2" descr="http://epiphys.emn.fr/IMG/cache-520x310/point_selle-520x3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428577"/>
            <a:ext cx="4953000" cy="295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rme libre 4"/>
          <p:cNvSpPr/>
          <p:nvPr/>
        </p:nvSpPr>
        <p:spPr>
          <a:xfrm>
            <a:off x="4013200" y="4866034"/>
            <a:ext cx="469900" cy="1242492"/>
          </a:xfrm>
          <a:custGeom>
            <a:avLst/>
            <a:gdLst>
              <a:gd name="connsiteX0" fmla="*/ 469900 w 469900"/>
              <a:gd name="connsiteY0" fmla="*/ 0 h 1181100"/>
              <a:gd name="connsiteX1" fmla="*/ 139700 w 469900"/>
              <a:gd name="connsiteY1" fmla="*/ 393700 h 1181100"/>
              <a:gd name="connsiteX2" fmla="*/ 0 w 469900"/>
              <a:gd name="connsiteY2" fmla="*/ 118110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9900" h="1181100">
                <a:moveTo>
                  <a:pt x="469900" y="0"/>
                </a:moveTo>
                <a:cubicBezTo>
                  <a:pt x="343958" y="98425"/>
                  <a:pt x="218017" y="196850"/>
                  <a:pt x="139700" y="393700"/>
                </a:cubicBezTo>
                <a:cubicBezTo>
                  <a:pt x="61383" y="590550"/>
                  <a:pt x="30691" y="885825"/>
                  <a:pt x="0" y="1181100"/>
                </a:cubicBezTo>
              </a:path>
            </a:pathLst>
          </a:custGeom>
          <a:noFill/>
          <a:ln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orme libre 5"/>
          <p:cNvSpPr/>
          <p:nvPr/>
        </p:nvSpPr>
        <p:spPr>
          <a:xfrm>
            <a:off x="3086100" y="4267025"/>
            <a:ext cx="2476500" cy="599008"/>
          </a:xfrm>
          <a:custGeom>
            <a:avLst/>
            <a:gdLst>
              <a:gd name="connsiteX0" fmla="*/ 0 w 2476500"/>
              <a:gd name="connsiteY0" fmla="*/ 0 h 599008"/>
              <a:gd name="connsiteX1" fmla="*/ 787400 w 2476500"/>
              <a:gd name="connsiteY1" fmla="*/ 431800 h 599008"/>
              <a:gd name="connsiteX2" fmla="*/ 1384300 w 2476500"/>
              <a:gd name="connsiteY2" fmla="*/ 596900 h 599008"/>
              <a:gd name="connsiteX3" fmla="*/ 1905000 w 2476500"/>
              <a:gd name="connsiteY3" fmla="*/ 508000 h 599008"/>
              <a:gd name="connsiteX4" fmla="*/ 2476500 w 2476500"/>
              <a:gd name="connsiteY4" fmla="*/ 266700 h 599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0" h="599008">
                <a:moveTo>
                  <a:pt x="0" y="0"/>
                </a:moveTo>
                <a:cubicBezTo>
                  <a:pt x="278341" y="166158"/>
                  <a:pt x="556683" y="332317"/>
                  <a:pt x="787400" y="431800"/>
                </a:cubicBezTo>
                <a:cubicBezTo>
                  <a:pt x="1018117" y="531283"/>
                  <a:pt x="1198033" y="584200"/>
                  <a:pt x="1384300" y="596900"/>
                </a:cubicBezTo>
                <a:cubicBezTo>
                  <a:pt x="1570567" y="609600"/>
                  <a:pt x="1722967" y="563033"/>
                  <a:pt x="1905000" y="508000"/>
                </a:cubicBezTo>
                <a:cubicBezTo>
                  <a:pt x="2087033" y="452967"/>
                  <a:pt x="2281766" y="359833"/>
                  <a:pt x="2476500" y="2667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/>
          <p:cNvCxnSpPr/>
          <p:nvPr/>
        </p:nvCxnSpPr>
        <p:spPr>
          <a:xfrm>
            <a:off x="3635896" y="4474789"/>
            <a:ext cx="72008" cy="12984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 flipH="1">
            <a:off x="3563888" y="4604629"/>
            <a:ext cx="14401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>
            <a:stCxn id="6" idx="3"/>
          </p:cNvCxnSpPr>
          <p:nvPr/>
        </p:nvCxnSpPr>
        <p:spPr>
          <a:xfrm flipV="1">
            <a:off x="4991100" y="4604629"/>
            <a:ext cx="84956" cy="17039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>
            <a:stCxn id="6" idx="3"/>
          </p:cNvCxnSpPr>
          <p:nvPr/>
        </p:nvCxnSpPr>
        <p:spPr>
          <a:xfrm>
            <a:off x="4991100" y="4775025"/>
            <a:ext cx="114486" cy="9100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5220072" y="4148657"/>
            <a:ext cx="1280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solidFill>
                  <a:srgbClr val="FF0000"/>
                </a:solidFill>
              </a:rPr>
              <a:t>Alkemade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 rot="17034815">
            <a:off x="3939009" y="5413210"/>
            <a:ext cx="1008112" cy="369332"/>
          </a:xfrm>
          <a:prstGeom prst="rect">
            <a:avLst/>
          </a:prstGeom>
          <a:solidFill>
            <a:schemeClr val="bg1">
              <a:alpha val="77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tx2"/>
                </a:solidFill>
              </a:rPr>
              <a:t>frontière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4991100" y="2956882"/>
            <a:ext cx="3992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rgbClr val="FF0000"/>
                </a:solidFill>
              </a:rPr>
              <a:t>Sommets = corps purs ou CCD</a:t>
            </a:r>
            <a:endParaRPr lang="fr-FR" sz="2000" dirty="0">
              <a:solidFill>
                <a:srgbClr val="FF00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149069" y="537558"/>
            <a:ext cx="5236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accent6">
                    <a:lumMod val="75000"/>
                  </a:schemeClr>
                </a:solidFill>
              </a:rPr>
              <a:t>Nature des points de transformation</a:t>
            </a:r>
            <a:endParaRPr lang="fr-FR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01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3" name="ZoneTexte 2"/>
          <p:cNvSpPr txBox="1"/>
          <p:nvPr/>
        </p:nvSpPr>
        <p:spPr>
          <a:xfrm>
            <a:off x="107504" y="912202"/>
            <a:ext cx="903649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1 – théorème d’</a:t>
            </a:r>
            <a:r>
              <a:rPr lang="fr-FR" sz="2400" dirty="0" err="1" smtClean="0"/>
              <a:t>Alkemade</a:t>
            </a:r>
            <a:r>
              <a:rPr lang="fr-FR" dirty="0" smtClean="0"/>
              <a:t>: le point de croisement entre 1 droite d’</a:t>
            </a:r>
            <a:r>
              <a:rPr lang="fr-FR" dirty="0" err="1" smtClean="0"/>
              <a:t>Alkemade</a:t>
            </a:r>
            <a:r>
              <a:rPr lang="fr-FR" dirty="0" smtClean="0"/>
              <a:t> (ou son prolongement) avec la frontière entre 2 nappes est un col. La température décroit vers le col lorsque l’on se place sur la droite d’</a:t>
            </a:r>
            <a:r>
              <a:rPr lang="fr-FR" dirty="0" err="1" smtClean="0"/>
              <a:t>Alkemade</a:t>
            </a:r>
            <a:r>
              <a:rPr lang="fr-FR" dirty="0" smtClean="0"/>
              <a:t> (ou son prolongement). La température décroit le long de la frontière de part et d’autre du point d’intersection.</a:t>
            </a:r>
            <a:endParaRPr lang="fr-FR" dirty="0"/>
          </a:p>
        </p:txBody>
      </p:sp>
      <p:sp>
        <p:nvSpPr>
          <p:cNvPr id="15" name="AutoShape 10"/>
          <p:cNvSpPr>
            <a:spLocks noChangeArrowheads="1"/>
          </p:cNvSpPr>
          <p:nvPr/>
        </p:nvSpPr>
        <p:spPr bwMode="auto">
          <a:xfrm>
            <a:off x="727075" y="2568352"/>
            <a:ext cx="3352800" cy="28987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6" name="Oval 14"/>
          <p:cNvSpPr>
            <a:spLocks noChangeAspect="1" noChangeArrowheads="1"/>
          </p:cNvSpPr>
          <p:nvPr/>
        </p:nvSpPr>
        <p:spPr bwMode="auto">
          <a:xfrm>
            <a:off x="3003550" y="3620864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7" name="Oval 16"/>
          <p:cNvSpPr>
            <a:spLocks noChangeAspect="1" noChangeArrowheads="1"/>
          </p:cNvSpPr>
          <p:nvPr/>
        </p:nvSpPr>
        <p:spPr bwMode="auto">
          <a:xfrm>
            <a:off x="2590800" y="541950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2235200" y="2287364"/>
            <a:ext cx="336550" cy="366713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A</a:t>
            </a:r>
          </a:p>
        </p:txBody>
      </p:sp>
      <p:sp>
        <p:nvSpPr>
          <p:cNvPr id="19" name="Rectangle 24"/>
          <p:cNvSpPr>
            <a:spLocks noChangeArrowheads="1"/>
          </p:cNvSpPr>
          <p:nvPr/>
        </p:nvSpPr>
        <p:spPr bwMode="auto">
          <a:xfrm>
            <a:off x="574675" y="5419502"/>
            <a:ext cx="336550" cy="36671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B</a:t>
            </a:r>
          </a:p>
        </p:txBody>
      </p:sp>
      <p:sp>
        <p:nvSpPr>
          <p:cNvPr id="20" name="Rectangle 26"/>
          <p:cNvSpPr>
            <a:spLocks noChangeArrowheads="1"/>
          </p:cNvSpPr>
          <p:nvPr/>
        </p:nvSpPr>
        <p:spPr bwMode="auto">
          <a:xfrm>
            <a:off x="3883025" y="5419502"/>
            <a:ext cx="349250" cy="36671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C</a:t>
            </a:r>
          </a:p>
        </p:txBody>
      </p:sp>
      <p:sp>
        <p:nvSpPr>
          <p:cNvPr id="21" name="Rectangle 27"/>
          <p:cNvSpPr>
            <a:spLocks noChangeArrowheads="1"/>
          </p:cNvSpPr>
          <p:nvPr/>
        </p:nvSpPr>
        <p:spPr bwMode="auto">
          <a:xfrm>
            <a:off x="3036888" y="3493864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1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22" name="Rectangle 28"/>
          <p:cNvSpPr>
            <a:spLocks noChangeArrowheads="1"/>
          </p:cNvSpPr>
          <p:nvPr/>
        </p:nvSpPr>
        <p:spPr bwMode="auto">
          <a:xfrm>
            <a:off x="863600" y="4390802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2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23" name="Rectangle 29"/>
          <p:cNvSpPr>
            <a:spLocks noChangeArrowheads="1"/>
          </p:cNvSpPr>
          <p:nvPr/>
        </p:nvSpPr>
        <p:spPr bwMode="auto">
          <a:xfrm>
            <a:off x="2470150" y="5433789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3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24" name="Rectangle 31"/>
          <p:cNvSpPr>
            <a:spLocks noChangeArrowheads="1"/>
          </p:cNvSpPr>
          <p:nvPr/>
        </p:nvSpPr>
        <p:spPr bwMode="auto">
          <a:xfrm>
            <a:off x="2286000" y="3354164"/>
            <a:ext cx="327334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Monotype Corsiva" pitchFamily="66" charset="0"/>
                <a:ea typeface="ＭＳ Ｐゴシック" charset="0"/>
              </a:rPr>
              <a:t>A</a:t>
            </a:r>
          </a:p>
        </p:txBody>
      </p:sp>
      <p:sp>
        <p:nvSpPr>
          <p:cNvPr id="25" name="Rectangle 32"/>
          <p:cNvSpPr>
            <a:spLocks noChangeArrowheads="1"/>
          </p:cNvSpPr>
          <p:nvPr/>
        </p:nvSpPr>
        <p:spPr bwMode="auto">
          <a:xfrm>
            <a:off x="1447800" y="4954364"/>
            <a:ext cx="322524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 dirty="0">
                <a:latin typeface="Monotype Corsiva" pitchFamily="66" charset="0"/>
                <a:ea typeface="ＭＳ Ｐゴシック" charset="0"/>
              </a:rPr>
              <a:t>B</a:t>
            </a:r>
          </a:p>
        </p:txBody>
      </p:sp>
      <p:sp>
        <p:nvSpPr>
          <p:cNvPr id="26" name="Rectangle 34"/>
          <p:cNvSpPr>
            <a:spLocks noChangeArrowheads="1"/>
          </p:cNvSpPr>
          <p:nvPr/>
        </p:nvSpPr>
        <p:spPr bwMode="auto">
          <a:xfrm>
            <a:off x="2438400" y="4801964"/>
            <a:ext cx="304892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Monotype Corsiva" pitchFamily="66" charset="0"/>
                <a:ea typeface="ＭＳ Ｐゴシック" charset="0"/>
              </a:rPr>
              <a:t>C</a:t>
            </a:r>
          </a:p>
        </p:txBody>
      </p:sp>
      <p:sp>
        <p:nvSpPr>
          <p:cNvPr id="27" name="Line 35"/>
          <p:cNvSpPr>
            <a:spLocks noChangeShapeType="1"/>
          </p:cNvSpPr>
          <p:nvPr/>
        </p:nvSpPr>
        <p:spPr bwMode="auto">
          <a:xfrm flipV="1">
            <a:off x="727075" y="4973414"/>
            <a:ext cx="287338" cy="490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8" name="Line 36"/>
          <p:cNvSpPr>
            <a:spLocks noChangeShapeType="1"/>
          </p:cNvSpPr>
          <p:nvPr/>
        </p:nvSpPr>
        <p:spPr bwMode="auto">
          <a:xfrm flipV="1">
            <a:off x="2114550" y="2568352"/>
            <a:ext cx="287338" cy="4905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sm" len="lg"/>
            <a:tailEnd type="non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9" name="Line 37"/>
          <p:cNvSpPr>
            <a:spLocks noChangeShapeType="1"/>
          </p:cNvSpPr>
          <p:nvPr/>
        </p:nvSpPr>
        <p:spPr bwMode="auto">
          <a:xfrm flipH="1" flipV="1">
            <a:off x="2403475" y="2568352"/>
            <a:ext cx="287338" cy="4905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sm" len="lg"/>
            <a:tailEnd type="non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0" name="Line 38"/>
          <p:cNvSpPr>
            <a:spLocks noChangeShapeType="1"/>
          </p:cNvSpPr>
          <p:nvPr/>
        </p:nvSpPr>
        <p:spPr bwMode="auto">
          <a:xfrm flipH="1" flipV="1">
            <a:off x="3783013" y="4962302"/>
            <a:ext cx="287337" cy="4905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lg"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1" name="Line 50"/>
          <p:cNvSpPr>
            <a:spLocks noChangeShapeType="1"/>
          </p:cNvSpPr>
          <p:nvPr/>
        </p:nvSpPr>
        <p:spPr bwMode="auto">
          <a:xfrm rot="3600000" flipV="1">
            <a:off x="3619500" y="5216302"/>
            <a:ext cx="287337" cy="490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sm" len="lg"/>
            <a:tailEnd type="non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2" name="Rectangle 52"/>
          <p:cNvSpPr>
            <a:spLocks noChangeArrowheads="1"/>
          </p:cNvSpPr>
          <p:nvPr/>
        </p:nvSpPr>
        <p:spPr bwMode="auto">
          <a:xfrm>
            <a:off x="1479550" y="3984402"/>
            <a:ext cx="342900" cy="274637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E</a:t>
            </a:r>
            <a:r>
              <a:rPr lang="fr-FR" sz="1200" b="0" baseline="-25000">
                <a:latin typeface="Arial" charset="0"/>
                <a:ea typeface="ＭＳ Ｐゴシック" charset="0"/>
              </a:rPr>
              <a:t>2</a:t>
            </a:r>
            <a:endParaRPr lang="fr-FR" sz="1200" b="0">
              <a:latin typeface="Arial" charset="0"/>
              <a:ea typeface="ＭＳ Ｐゴシック" charset="0"/>
            </a:endParaRPr>
          </a:p>
        </p:txBody>
      </p:sp>
      <p:sp>
        <p:nvSpPr>
          <p:cNvPr id="33" name="Rectangle 53"/>
          <p:cNvSpPr>
            <a:spLocks noChangeArrowheads="1"/>
          </p:cNvSpPr>
          <p:nvPr/>
        </p:nvSpPr>
        <p:spPr bwMode="auto">
          <a:xfrm>
            <a:off x="2679700" y="4024089"/>
            <a:ext cx="342900" cy="274638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E</a:t>
            </a:r>
            <a:r>
              <a:rPr lang="fr-FR" sz="1200" b="0" baseline="-25000">
                <a:latin typeface="Arial" charset="0"/>
                <a:ea typeface="ＭＳ Ｐゴシック" charset="0"/>
              </a:rPr>
              <a:t>1</a:t>
            </a:r>
            <a:endParaRPr lang="fr-FR" sz="1200" b="0">
              <a:latin typeface="Arial" charset="0"/>
              <a:ea typeface="ＭＳ Ｐゴシック" charset="0"/>
            </a:endParaRPr>
          </a:p>
        </p:txBody>
      </p:sp>
      <p:sp>
        <p:nvSpPr>
          <p:cNvPr id="34" name="Freeform 61"/>
          <p:cNvSpPr>
            <a:spLocks/>
          </p:cNvSpPr>
          <p:nvPr/>
        </p:nvSpPr>
        <p:spPr bwMode="auto">
          <a:xfrm>
            <a:off x="2184400" y="4954364"/>
            <a:ext cx="406400" cy="457200"/>
          </a:xfrm>
          <a:custGeom>
            <a:avLst/>
            <a:gdLst>
              <a:gd name="T0" fmla="*/ 406400 w 256"/>
              <a:gd name="T1" fmla="*/ 457200 h 288"/>
              <a:gd name="T2" fmla="*/ 101600 w 256"/>
              <a:gd name="T3" fmla="*/ 292100 h 288"/>
              <a:gd name="T4" fmla="*/ 0 w 256"/>
              <a:gd name="T5" fmla="*/ 0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6" h="288">
                <a:moveTo>
                  <a:pt x="256" y="288"/>
                </a:moveTo>
                <a:cubicBezTo>
                  <a:pt x="181" y="260"/>
                  <a:pt x="107" y="232"/>
                  <a:pt x="64" y="184"/>
                </a:cubicBezTo>
                <a:cubicBezTo>
                  <a:pt x="21" y="136"/>
                  <a:pt x="10" y="68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5" name="Freeform 62"/>
          <p:cNvSpPr>
            <a:spLocks/>
          </p:cNvSpPr>
          <p:nvPr/>
        </p:nvSpPr>
        <p:spPr bwMode="auto">
          <a:xfrm>
            <a:off x="2654300" y="3657377"/>
            <a:ext cx="393700" cy="471487"/>
          </a:xfrm>
          <a:custGeom>
            <a:avLst/>
            <a:gdLst>
              <a:gd name="T0" fmla="*/ 393700 w 248"/>
              <a:gd name="T1" fmla="*/ 1587 h 297"/>
              <a:gd name="T2" fmla="*/ 101600 w 248"/>
              <a:gd name="T3" fmla="*/ 77787 h 297"/>
              <a:gd name="T4" fmla="*/ 0 w 248"/>
              <a:gd name="T5" fmla="*/ 471487 h 29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8" h="297">
                <a:moveTo>
                  <a:pt x="248" y="1"/>
                </a:moveTo>
                <a:cubicBezTo>
                  <a:pt x="176" y="0"/>
                  <a:pt x="105" y="0"/>
                  <a:pt x="64" y="49"/>
                </a:cubicBezTo>
                <a:cubicBezTo>
                  <a:pt x="23" y="98"/>
                  <a:pt x="11" y="257"/>
                  <a:pt x="0" y="29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6" name="Freeform 60"/>
          <p:cNvSpPr>
            <a:spLocks/>
          </p:cNvSpPr>
          <p:nvPr/>
        </p:nvSpPr>
        <p:spPr bwMode="auto">
          <a:xfrm>
            <a:off x="1219200" y="4012977"/>
            <a:ext cx="1509713" cy="979487"/>
          </a:xfrm>
          <a:custGeom>
            <a:avLst/>
            <a:gdLst>
              <a:gd name="T0" fmla="*/ 0 w 951"/>
              <a:gd name="T1" fmla="*/ 560387 h 617"/>
              <a:gd name="T2" fmla="*/ 444500 w 951"/>
              <a:gd name="T3" fmla="*/ 255587 h 617"/>
              <a:gd name="T4" fmla="*/ 1422400 w 951"/>
              <a:gd name="T5" fmla="*/ 115887 h 617"/>
              <a:gd name="T6" fmla="*/ 965200 w 951"/>
              <a:gd name="T7" fmla="*/ 954087 h 617"/>
              <a:gd name="T8" fmla="*/ 431800 w 951"/>
              <a:gd name="T9" fmla="*/ 268287 h 61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51" h="617">
                <a:moveTo>
                  <a:pt x="0" y="353"/>
                </a:moveTo>
                <a:cubicBezTo>
                  <a:pt x="65" y="280"/>
                  <a:pt x="131" y="208"/>
                  <a:pt x="280" y="161"/>
                </a:cubicBezTo>
                <a:cubicBezTo>
                  <a:pt x="429" y="114"/>
                  <a:pt x="841" y="0"/>
                  <a:pt x="896" y="73"/>
                </a:cubicBezTo>
                <a:cubicBezTo>
                  <a:pt x="951" y="146"/>
                  <a:pt x="712" y="585"/>
                  <a:pt x="608" y="601"/>
                </a:cubicBezTo>
                <a:cubicBezTo>
                  <a:pt x="504" y="617"/>
                  <a:pt x="388" y="393"/>
                  <a:pt x="272" y="169"/>
                </a:cubicBezTo>
              </a:path>
            </a:pathLst>
          </a:custGeom>
          <a:solidFill>
            <a:srgbClr val="A9A9A9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37" name="Oval 13"/>
          <p:cNvSpPr>
            <a:spLocks noChangeAspect="1" noChangeArrowheads="1"/>
          </p:cNvSpPr>
          <p:nvPr/>
        </p:nvSpPr>
        <p:spPr bwMode="auto">
          <a:xfrm>
            <a:off x="1192213" y="4557489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8" name="Rectangle 33"/>
          <p:cNvSpPr>
            <a:spLocks noChangeArrowheads="1"/>
          </p:cNvSpPr>
          <p:nvPr/>
        </p:nvSpPr>
        <p:spPr bwMode="auto">
          <a:xfrm>
            <a:off x="2151063" y="4166964"/>
            <a:ext cx="346570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Monotype Corsiva" pitchFamily="66" charset="0"/>
                <a:ea typeface="ＭＳ Ｐゴシック" charset="0"/>
              </a:rPr>
              <a:t>D</a:t>
            </a:r>
          </a:p>
        </p:txBody>
      </p:sp>
      <p:sp>
        <p:nvSpPr>
          <p:cNvPr id="39" name="Oval 42"/>
          <p:cNvSpPr>
            <a:spLocks noChangeAspect="1" noChangeArrowheads="1"/>
          </p:cNvSpPr>
          <p:nvPr/>
        </p:nvSpPr>
        <p:spPr bwMode="auto">
          <a:xfrm>
            <a:off x="2590800" y="4081239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0" name="Oval 59"/>
          <p:cNvSpPr>
            <a:spLocks noChangeAspect="1" noChangeArrowheads="1"/>
          </p:cNvSpPr>
          <p:nvPr/>
        </p:nvSpPr>
        <p:spPr bwMode="auto">
          <a:xfrm>
            <a:off x="2133600" y="4919439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1" name="Line 57"/>
          <p:cNvSpPr>
            <a:spLocks noChangeShapeType="1"/>
          </p:cNvSpPr>
          <p:nvPr/>
        </p:nvSpPr>
        <p:spPr bwMode="auto">
          <a:xfrm>
            <a:off x="2032000" y="4446364"/>
            <a:ext cx="2057400" cy="1028700"/>
          </a:xfrm>
          <a:prstGeom prst="line">
            <a:avLst/>
          </a:prstGeom>
          <a:noFill/>
          <a:ln w="28575">
            <a:solidFill>
              <a:srgbClr val="0C00FF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2" name="Freeform 56"/>
          <p:cNvSpPr>
            <a:spLocks/>
          </p:cNvSpPr>
          <p:nvPr/>
        </p:nvSpPr>
        <p:spPr bwMode="auto">
          <a:xfrm>
            <a:off x="719138" y="2566764"/>
            <a:ext cx="1681162" cy="2903538"/>
          </a:xfrm>
          <a:custGeom>
            <a:avLst/>
            <a:gdLst>
              <a:gd name="T0" fmla="*/ 1681162 w 1059"/>
              <a:gd name="T1" fmla="*/ 0 h 1835"/>
              <a:gd name="T2" fmla="*/ 1312862 w 1059"/>
              <a:gd name="T3" fmla="*/ 1873454 h 1835"/>
              <a:gd name="T4" fmla="*/ 0 w 1059"/>
              <a:gd name="T5" fmla="*/ 2903538 h 18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59" h="1835">
                <a:moveTo>
                  <a:pt x="1059" y="0"/>
                </a:moveTo>
                <a:lnTo>
                  <a:pt x="827" y="1184"/>
                </a:lnTo>
                <a:lnTo>
                  <a:pt x="0" y="1835"/>
                </a:lnTo>
              </a:path>
            </a:pathLst>
          </a:custGeom>
          <a:noFill/>
          <a:ln w="28575" cmpd="sng">
            <a:solidFill>
              <a:srgbClr val="0C00FF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3" name="Oval 58"/>
          <p:cNvSpPr>
            <a:spLocks noChangeAspect="1" noChangeArrowheads="1"/>
          </p:cNvSpPr>
          <p:nvPr/>
        </p:nvSpPr>
        <p:spPr bwMode="auto">
          <a:xfrm>
            <a:off x="1600200" y="4233639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4" name="Freeform 63"/>
          <p:cNvSpPr>
            <a:spLocks/>
          </p:cNvSpPr>
          <p:nvPr/>
        </p:nvSpPr>
        <p:spPr bwMode="auto">
          <a:xfrm>
            <a:off x="2667000" y="3785964"/>
            <a:ext cx="50800" cy="241300"/>
          </a:xfrm>
          <a:custGeom>
            <a:avLst/>
            <a:gdLst>
              <a:gd name="T0" fmla="*/ 50800 w 32"/>
              <a:gd name="T1" fmla="*/ 0 h 152"/>
              <a:gd name="T2" fmla="*/ 0 w 32"/>
              <a:gd name="T3" fmla="*/ 241300 h 15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2" h="152">
                <a:moveTo>
                  <a:pt x="32" y="0"/>
                </a:moveTo>
                <a:lnTo>
                  <a:pt x="0" y="152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5" name="Line 64"/>
          <p:cNvSpPr>
            <a:spLocks noChangeShapeType="1"/>
          </p:cNvSpPr>
          <p:nvPr/>
        </p:nvSpPr>
        <p:spPr bwMode="auto">
          <a:xfrm flipV="1">
            <a:off x="2463800" y="4433664"/>
            <a:ext cx="114300" cy="2159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6" name="Line 66"/>
          <p:cNvSpPr>
            <a:spLocks noChangeShapeType="1"/>
          </p:cNvSpPr>
          <p:nvPr/>
        </p:nvSpPr>
        <p:spPr bwMode="auto">
          <a:xfrm flipH="1">
            <a:off x="2336800" y="4649564"/>
            <a:ext cx="127000" cy="1905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7" name="Line 67"/>
          <p:cNvSpPr>
            <a:spLocks noChangeShapeType="1"/>
          </p:cNvSpPr>
          <p:nvPr/>
        </p:nvSpPr>
        <p:spPr bwMode="auto">
          <a:xfrm flipV="1">
            <a:off x="2082800" y="4090764"/>
            <a:ext cx="279400" cy="635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8" name="Line 68"/>
          <p:cNvSpPr>
            <a:spLocks noChangeShapeType="1"/>
          </p:cNvSpPr>
          <p:nvPr/>
        </p:nvSpPr>
        <p:spPr bwMode="auto">
          <a:xfrm flipH="1">
            <a:off x="1803400" y="4166964"/>
            <a:ext cx="215900" cy="50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49" name="Line 69"/>
          <p:cNvSpPr>
            <a:spLocks noChangeShapeType="1"/>
          </p:cNvSpPr>
          <p:nvPr/>
        </p:nvSpPr>
        <p:spPr bwMode="auto">
          <a:xfrm flipH="1" flipV="1">
            <a:off x="1727200" y="4395564"/>
            <a:ext cx="88900" cy="203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0" name="Line 70"/>
          <p:cNvSpPr>
            <a:spLocks noChangeShapeType="1"/>
          </p:cNvSpPr>
          <p:nvPr/>
        </p:nvSpPr>
        <p:spPr bwMode="auto">
          <a:xfrm>
            <a:off x="1816100" y="4586064"/>
            <a:ext cx="114300" cy="203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1" name="Line 71"/>
          <p:cNvSpPr>
            <a:spLocks noChangeAspect="1" noChangeShapeType="1"/>
          </p:cNvSpPr>
          <p:nvPr/>
        </p:nvSpPr>
        <p:spPr bwMode="auto">
          <a:xfrm flipV="1">
            <a:off x="1371600" y="4306664"/>
            <a:ext cx="147638" cy="1111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2" name="Line 72"/>
          <p:cNvSpPr>
            <a:spLocks noChangeShapeType="1"/>
          </p:cNvSpPr>
          <p:nvPr/>
        </p:nvSpPr>
        <p:spPr bwMode="auto">
          <a:xfrm flipH="1" flipV="1">
            <a:off x="2336800" y="5297264"/>
            <a:ext cx="215900" cy="101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3" name="Line 73"/>
          <p:cNvSpPr>
            <a:spLocks noChangeShapeType="1"/>
          </p:cNvSpPr>
          <p:nvPr/>
        </p:nvSpPr>
        <p:spPr bwMode="auto">
          <a:xfrm>
            <a:off x="762000" y="5467127"/>
            <a:ext cx="406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4" name="Rectangle 25"/>
          <p:cNvSpPr>
            <a:spLocks noChangeArrowheads="1"/>
          </p:cNvSpPr>
          <p:nvPr/>
        </p:nvSpPr>
        <p:spPr bwMode="auto">
          <a:xfrm>
            <a:off x="1728788" y="4239989"/>
            <a:ext cx="312737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D</a:t>
            </a:r>
          </a:p>
        </p:txBody>
      </p:sp>
      <p:sp>
        <p:nvSpPr>
          <p:cNvPr id="55" name="Rectangle 75"/>
          <p:cNvSpPr>
            <a:spLocks noChangeArrowheads="1"/>
          </p:cNvSpPr>
          <p:nvPr/>
        </p:nvSpPr>
        <p:spPr bwMode="auto">
          <a:xfrm>
            <a:off x="1905000" y="4978177"/>
            <a:ext cx="342900" cy="274637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E</a:t>
            </a:r>
            <a:r>
              <a:rPr lang="fr-FR" sz="1200" b="0" baseline="-25000">
                <a:latin typeface="Arial" charset="0"/>
                <a:ea typeface="ＭＳ Ｐゴシック" charset="0"/>
              </a:rPr>
              <a:t>3</a:t>
            </a:r>
            <a:endParaRPr lang="fr-FR" sz="1200" b="0">
              <a:latin typeface="Arial" charset="0"/>
              <a:ea typeface="ＭＳ Ｐゴシック" charset="0"/>
            </a:endParaRPr>
          </a:p>
        </p:txBody>
      </p:sp>
      <p:sp>
        <p:nvSpPr>
          <p:cNvPr id="56" name="AutoShape 78"/>
          <p:cNvSpPr>
            <a:spLocks noChangeArrowheads="1"/>
          </p:cNvSpPr>
          <p:nvPr/>
        </p:nvSpPr>
        <p:spPr bwMode="auto">
          <a:xfrm>
            <a:off x="4953000" y="2574702"/>
            <a:ext cx="3352800" cy="28987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7" name="Oval 79"/>
          <p:cNvSpPr>
            <a:spLocks noChangeAspect="1" noChangeArrowheads="1"/>
          </p:cNvSpPr>
          <p:nvPr/>
        </p:nvSpPr>
        <p:spPr bwMode="auto">
          <a:xfrm>
            <a:off x="7204075" y="3601814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8" name="Oval 80"/>
          <p:cNvSpPr>
            <a:spLocks noChangeAspect="1" noChangeArrowheads="1"/>
          </p:cNvSpPr>
          <p:nvPr/>
        </p:nvSpPr>
        <p:spPr bwMode="auto">
          <a:xfrm>
            <a:off x="6816725" y="542585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9" name="Rectangle 84"/>
          <p:cNvSpPr>
            <a:spLocks noChangeArrowheads="1"/>
          </p:cNvSpPr>
          <p:nvPr/>
        </p:nvSpPr>
        <p:spPr bwMode="auto">
          <a:xfrm>
            <a:off x="6461125" y="2293714"/>
            <a:ext cx="336550" cy="366713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A</a:t>
            </a:r>
          </a:p>
        </p:txBody>
      </p:sp>
      <p:sp>
        <p:nvSpPr>
          <p:cNvPr id="60" name="Rectangle 85"/>
          <p:cNvSpPr>
            <a:spLocks noChangeArrowheads="1"/>
          </p:cNvSpPr>
          <p:nvPr/>
        </p:nvSpPr>
        <p:spPr bwMode="auto">
          <a:xfrm>
            <a:off x="4800600" y="5425852"/>
            <a:ext cx="336550" cy="36671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B</a:t>
            </a:r>
          </a:p>
        </p:txBody>
      </p:sp>
      <p:sp>
        <p:nvSpPr>
          <p:cNvPr id="61" name="Rectangle 86"/>
          <p:cNvSpPr>
            <a:spLocks noChangeArrowheads="1"/>
          </p:cNvSpPr>
          <p:nvPr/>
        </p:nvSpPr>
        <p:spPr bwMode="auto">
          <a:xfrm>
            <a:off x="8108950" y="5425852"/>
            <a:ext cx="349250" cy="36671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C</a:t>
            </a:r>
          </a:p>
        </p:txBody>
      </p:sp>
      <p:sp>
        <p:nvSpPr>
          <p:cNvPr id="62" name="Rectangle 87"/>
          <p:cNvSpPr>
            <a:spLocks noChangeArrowheads="1"/>
          </p:cNvSpPr>
          <p:nvPr/>
        </p:nvSpPr>
        <p:spPr bwMode="auto">
          <a:xfrm>
            <a:off x="7262813" y="3500214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1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63" name="Rectangle 88"/>
          <p:cNvSpPr>
            <a:spLocks noChangeArrowheads="1"/>
          </p:cNvSpPr>
          <p:nvPr/>
        </p:nvSpPr>
        <p:spPr bwMode="auto">
          <a:xfrm>
            <a:off x="5111750" y="4408264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2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64" name="Rectangle 89"/>
          <p:cNvSpPr>
            <a:spLocks noChangeArrowheads="1"/>
          </p:cNvSpPr>
          <p:nvPr/>
        </p:nvSpPr>
        <p:spPr bwMode="auto">
          <a:xfrm>
            <a:off x="6696075" y="5440139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3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65" name="Rectangle 90"/>
          <p:cNvSpPr>
            <a:spLocks noChangeArrowheads="1"/>
          </p:cNvSpPr>
          <p:nvPr/>
        </p:nvSpPr>
        <p:spPr bwMode="auto">
          <a:xfrm>
            <a:off x="6664325" y="3360514"/>
            <a:ext cx="327334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Monotype Corsiva" pitchFamily="66" charset="0"/>
                <a:ea typeface="ＭＳ Ｐゴシック" charset="0"/>
              </a:rPr>
              <a:t>A</a:t>
            </a:r>
          </a:p>
        </p:txBody>
      </p:sp>
      <p:sp>
        <p:nvSpPr>
          <p:cNvPr id="66" name="Rectangle 91"/>
          <p:cNvSpPr>
            <a:spLocks noChangeArrowheads="1"/>
          </p:cNvSpPr>
          <p:nvPr/>
        </p:nvSpPr>
        <p:spPr bwMode="auto">
          <a:xfrm>
            <a:off x="5905500" y="4960714"/>
            <a:ext cx="322524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Monotype Corsiva" pitchFamily="66" charset="0"/>
                <a:ea typeface="ＭＳ Ｐゴシック" charset="0"/>
              </a:rPr>
              <a:t>B</a:t>
            </a:r>
          </a:p>
        </p:txBody>
      </p:sp>
      <p:sp>
        <p:nvSpPr>
          <p:cNvPr id="67" name="Rectangle 92"/>
          <p:cNvSpPr>
            <a:spLocks noChangeArrowheads="1"/>
          </p:cNvSpPr>
          <p:nvPr/>
        </p:nvSpPr>
        <p:spPr bwMode="auto">
          <a:xfrm>
            <a:off x="7391400" y="4573364"/>
            <a:ext cx="304892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Monotype Corsiva" pitchFamily="66" charset="0"/>
                <a:ea typeface="ＭＳ Ｐゴシック" charset="0"/>
              </a:rPr>
              <a:t>C</a:t>
            </a:r>
          </a:p>
        </p:txBody>
      </p:sp>
      <p:sp>
        <p:nvSpPr>
          <p:cNvPr id="68" name="Line 93"/>
          <p:cNvSpPr>
            <a:spLocks noChangeShapeType="1"/>
          </p:cNvSpPr>
          <p:nvPr/>
        </p:nvSpPr>
        <p:spPr bwMode="auto">
          <a:xfrm flipV="1">
            <a:off x="4953000" y="4979764"/>
            <a:ext cx="287338" cy="490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9" name="Line 94"/>
          <p:cNvSpPr>
            <a:spLocks noChangeShapeType="1"/>
          </p:cNvSpPr>
          <p:nvPr/>
        </p:nvSpPr>
        <p:spPr bwMode="auto">
          <a:xfrm flipV="1">
            <a:off x="6340475" y="2574702"/>
            <a:ext cx="287338" cy="4905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sm" len="lg"/>
            <a:tailEnd type="non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70" name="Line 95"/>
          <p:cNvSpPr>
            <a:spLocks noChangeShapeType="1"/>
          </p:cNvSpPr>
          <p:nvPr/>
        </p:nvSpPr>
        <p:spPr bwMode="auto">
          <a:xfrm flipH="1" flipV="1">
            <a:off x="6629400" y="2574702"/>
            <a:ext cx="287338" cy="4905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sm" len="lg"/>
            <a:tailEnd type="non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71" name="Line 96"/>
          <p:cNvSpPr>
            <a:spLocks noChangeShapeType="1"/>
          </p:cNvSpPr>
          <p:nvPr/>
        </p:nvSpPr>
        <p:spPr bwMode="auto">
          <a:xfrm flipH="1" flipV="1">
            <a:off x="8008938" y="4968652"/>
            <a:ext cx="287337" cy="4905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lg"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72" name="Line 97"/>
          <p:cNvSpPr>
            <a:spLocks noChangeShapeType="1"/>
          </p:cNvSpPr>
          <p:nvPr/>
        </p:nvSpPr>
        <p:spPr bwMode="auto">
          <a:xfrm rot="3600000" flipV="1">
            <a:off x="7845425" y="5222652"/>
            <a:ext cx="287337" cy="490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sm" len="lg"/>
            <a:tailEnd type="non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73" name="Rectangle 98"/>
          <p:cNvSpPr>
            <a:spLocks noChangeArrowheads="1"/>
          </p:cNvSpPr>
          <p:nvPr/>
        </p:nvSpPr>
        <p:spPr bwMode="auto">
          <a:xfrm>
            <a:off x="6477000" y="3811364"/>
            <a:ext cx="342900" cy="274638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P</a:t>
            </a:r>
            <a:r>
              <a:rPr lang="fr-FR" sz="1200" b="0" baseline="-25000">
                <a:latin typeface="Arial" charset="0"/>
                <a:ea typeface="ＭＳ Ｐゴシック" charset="0"/>
              </a:rPr>
              <a:t>1</a:t>
            </a:r>
            <a:endParaRPr lang="fr-FR" sz="1200" b="0">
              <a:latin typeface="Arial" charset="0"/>
              <a:ea typeface="ＭＳ Ｐゴシック" charset="0"/>
            </a:endParaRPr>
          </a:p>
        </p:txBody>
      </p:sp>
      <p:sp>
        <p:nvSpPr>
          <p:cNvPr id="74" name="Rectangle 99"/>
          <p:cNvSpPr>
            <a:spLocks noChangeArrowheads="1"/>
          </p:cNvSpPr>
          <p:nvPr/>
        </p:nvSpPr>
        <p:spPr bwMode="auto">
          <a:xfrm>
            <a:off x="7207250" y="3963764"/>
            <a:ext cx="285750" cy="274638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E</a:t>
            </a:r>
          </a:p>
        </p:txBody>
      </p:sp>
      <p:sp>
        <p:nvSpPr>
          <p:cNvPr id="75" name="Oval 103"/>
          <p:cNvSpPr>
            <a:spLocks noChangeAspect="1" noChangeArrowheads="1"/>
          </p:cNvSpPr>
          <p:nvPr/>
        </p:nvSpPr>
        <p:spPr bwMode="auto">
          <a:xfrm>
            <a:off x="5411788" y="4557489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76" name="Freeform 107"/>
          <p:cNvSpPr>
            <a:spLocks/>
          </p:cNvSpPr>
          <p:nvPr/>
        </p:nvSpPr>
        <p:spPr bwMode="auto">
          <a:xfrm>
            <a:off x="6337300" y="2579464"/>
            <a:ext cx="1978025" cy="2901950"/>
          </a:xfrm>
          <a:custGeom>
            <a:avLst/>
            <a:gdLst>
              <a:gd name="T0" fmla="*/ 285750 w 1246"/>
              <a:gd name="T1" fmla="*/ 0 h 1828"/>
              <a:gd name="T2" fmla="*/ 0 w 1246"/>
              <a:gd name="T3" fmla="*/ 2044700 h 1828"/>
              <a:gd name="T4" fmla="*/ 1978025 w 1246"/>
              <a:gd name="T5" fmla="*/ 2901950 h 18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46" h="1828">
                <a:moveTo>
                  <a:pt x="180" y="0"/>
                </a:moveTo>
                <a:lnTo>
                  <a:pt x="0" y="1288"/>
                </a:lnTo>
                <a:lnTo>
                  <a:pt x="1246" y="1828"/>
                </a:lnTo>
              </a:path>
            </a:pathLst>
          </a:custGeom>
          <a:noFill/>
          <a:ln w="28575" cmpd="sng">
            <a:solidFill>
              <a:srgbClr val="0C00FF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7" name="Line 120"/>
          <p:cNvSpPr>
            <a:spLocks noChangeShapeType="1"/>
          </p:cNvSpPr>
          <p:nvPr/>
        </p:nvSpPr>
        <p:spPr bwMode="auto">
          <a:xfrm>
            <a:off x="4987925" y="5473477"/>
            <a:ext cx="406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78" name="Rectangle 122"/>
          <p:cNvSpPr>
            <a:spLocks noChangeArrowheads="1"/>
          </p:cNvSpPr>
          <p:nvPr/>
        </p:nvSpPr>
        <p:spPr bwMode="auto">
          <a:xfrm>
            <a:off x="6019800" y="4420964"/>
            <a:ext cx="312738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D</a:t>
            </a:r>
          </a:p>
        </p:txBody>
      </p:sp>
      <p:sp>
        <p:nvSpPr>
          <p:cNvPr id="79" name="Rectangle 123"/>
          <p:cNvSpPr>
            <a:spLocks noChangeArrowheads="1"/>
          </p:cNvSpPr>
          <p:nvPr/>
        </p:nvSpPr>
        <p:spPr bwMode="auto">
          <a:xfrm>
            <a:off x="6858000" y="4522564"/>
            <a:ext cx="342900" cy="274638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P</a:t>
            </a:r>
            <a:r>
              <a:rPr lang="fr-FR" sz="1200" b="0" baseline="-25000">
                <a:latin typeface="Arial" charset="0"/>
                <a:ea typeface="ＭＳ Ｐゴシック" charset="0"/>
              </a:rPr>
              <a:t>2</a:t>
            </a:r>
            <a:endParaRPr lang="fr-FR" sz="1200" b="0">
              <a:latin typeface="Arial" charset="0"/>
              <a:ea typeface="ＭＳ Ｐゴシック" charset="0"/>
            </a:endParaRPr>
          </a:p>
        </p:txBody>
      </p:sp>
      <p:sp>
        <p:nvSpPr>
          <p:cNvPr id="80" name="Freeform 124"/>
          <p:cNvSpPr>
            <a:spLocks/>
          </p:cNvSpPr>
          <p:nvPr/>
        </p:nvSpPr>
        <p:spPr bwMode="auto">
          <a:xfrm>
            <a:off x="6521450" y="3658964"/>
            <a:ext cx="755650" cy="915988"/>
          </a:xfrm>
          <a:custGeom>
            <a:avLst/>
            <a:gdLst>
              <a:gd name="T0" fmla="*/ 717550 w 476"/>
              <a:gd name="T1" fmla="*/ 0 h 577"/>
              <a:gd name="T2" fmla="*/ 698500 w 476"/>
              <a:gd name="T3" fmla="*/ 279400 h 577"/>
              <a:gd name="T4" fmla="*/ 742950 w 476"/>
              <a:gd name="T5" fmla="*/ 673100 h 577"/>
              <a:gd name="T6" fmla="*/ 622300 w 476"/>
              <a:gd name="T7" fmla="*/ 895350 h 577"/>
              <a:gd name="T8" fmla="*/ 209550 w 476"/>
              <a:gd name="T9" fmla="*/ 800100 h 577"/>
              <a:gd name="T10" fmla="*/ 82550 w 476"/>
              <a:gd name="T11" fmla="*/ 469900 h 577"/>
              <a:gd name="T12" fmla="*/ 704850 w 476"/>
              <a:gd name="T13" fmla="*/ 279400 h 57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6" h="577">
                <a:moveTo>
                  <a:pt x="452" y="0"/>
                </a:moveTo>
                <a:cubicBezTo>
                  <a:pt x="444" y="52"/>
                  <a:pt x="437" y="105"/>
                  <a:pt x="440" y="176"/>
                </a:cubicBezTo>
                <a:cubicBezTo>
                  <a:pt x="443" y="247"/>
                  <a:pt x="476" y="359"/>
                  <a:pt x="468" y="424"/>
                </a:cubicBezTo>
                <a:cubicBezTo>
                  <a:pt x="460" y="489"/>
                  <a:pt x="448" y="551"/>
                  <a:pt x="392" y="564"/>
                </a:cubicBezTo>
                <a:cubicBezTo>
                  <a:pt x="336" y="577"/>
                  <a:pt x="189" y="549"/>
                  <a:pt x="132" y="504"/>
                </a:cubicBezTo>
                <a:cubicBezTo>
                  <a:pt x="75" y="459"/>
                  <a:pt x="0" y="351"/>
                  <a:pt x="52" y="296"/>
                </a:cubicBezTo>
                <a:cubicBezTo>
                  <a:pt x="104" y="241"/>
                  <a:pt x="274" y="208"/>
                  <a:pt x="444" y="176"/>
                </a:cubicBezTo>
              </a:path>
            </a:pathLst>
          </a:custGeom>
          <a:solidFill>
            <a:srgbClr val="A9A9A9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81" name="Oval 110"/>
          <p:cNvSpPr>
            <a:spLocks noChangeAspect="1" noChangeArrowheads="1"/>
          </p:cNvSpPr>
          <p:nvPr/>
        </p:nvSpPr>
        <p:spPr bwMode="auto">
          <a:xfrm>
            <a:off x="7162800" y="3887564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82" name="Line 126"/>
          <p:cNvSpPr>
            <a:spLocks noChangeShapeType="1"/>
          </p:cNvSpPr>
          <p:nvPr/>
        </p:nvSpPr>
        <p:spPr bwMode="auto">
          <a:xfrm flipV="1">
            <a:off x="5486400" y="4274914"/>
            <a:ext cx="1371600" cy="8572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83" name="Line 125"/>
          <p:cNvSpPr>
            <a:spLocks noChangeShapeType="1"/>
          </p:cNvSpPr>
          <p:nvPr/>
        </p:nvSpPr>
        <p:spPr bwMode="auto">
          <a:xfrm flipV="1">
            <a:off x="4959350" y="4605114"/>
            <a:ext cx="1371600" cy="857250"/>
          </a:xfrm>
          <a:prstGeom prst="line">
            <a:avLst/>
          </a:prstGeom>
          <a:noFill/>
          <a:ln w="28575">
            <a:solidFill>
              <a:srgbClr val="0C00FF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84" name="Oval 109"/>
          <p:cNvSpPr>
            <a:spLocks noChangeAspect="1" noChangeArrowheads="1"/>
          </p:cNvSpPr>
          <p:nvPr/>
        </p:nvSpPr>
        <p:spPr bwMode="auto">
          <a:xfrm>
            <a:off x="6280150" y="4560664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85" name="Rectangle 104"/>
          <p:cNvSpPr>
            <a:spLocks noChangeArrowheads="1"/>
          </p:cNvSpPr>
          <p:nvPr/>
        </p:nvSpPr>
        <p:spPr bwMode="auto">
          <a:xfrm>
            <a:off x="6838950" y="3963764"/>
            <a:ext cx="363538" cy="366713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Lucida Blackletter" charset="0"/>
                <a:ea typeface="ＭＳ Ｐゴシック" charset="0"/>
              </a:rPr>
              <a:t>D</a:t>
            </a:r>
          </a:p>
        </p:txBody>
      </p:sp>
      <p:sp>
        <p:nvSpPr>
          <p:cNvPr id="86" name="Freeform 127"/>
          <p:cNvSpPr>
            <a:spLocks/>
          </p:cNvSpPr>
          <p:nvPr/>
        </p:nvSpPr>
        <p:spPr bwMode="auto">
          <a:xfrm>
            <a:off x="5410200" y="4000277"/>
            <a:ext cx="1200150" cy="598487"/>
          </a:xfrm>
          <a:custGeom>
            <a:avLst/>
            <a:gdLst>
              <a:gd name="T0" fmla="*/ 0 w 756"/>
              <a:gd name="T1" fmla="*/ 573087 h 377"/>
              <a:gd name="T2" fmla="*/ 38100 w 756"/>
              <a:gd name="T3" fmla="*/ 598487 h 377"/>
              <a:gd name="T4" fmla="*/ 704850 w 756"/>
              <a:gd name="T5" fmla="*/ 77787 h 377"/>
              <a:gd name="T6" fmla="*/ 1200150 w 756"/>
              <a:gd name="T7" fmla="*/ 134937 h 37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56" h="377">
                <a:moveTo>
                  <a:pt x="0" y="361"/>
                </a:moveTo>
                <a:lnTo>
                  <a:pt x="24" y="377"/>
                </a:lnTo>
                <a:cubicBezTo>
                  <a:pt x="98" y="325"/>
                  <a:pt x="322" y="98"/>
                  <a:pt x="444" y="49"/>
                </a:cubicBezTo>
                <a:cubicBezTo>
                  <a:pt x="566" y="0"/>
                  <a:pt x="661" y="42"/>
                  <a:pt x="756" y="8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87" name="Oval 105"/>
          <p:cNvSpPr>
            <a:spLocks noChangeAspect="1" noChangeArrowheads="1"/>
          </p:cNvSpPr>
          <p:nvPr/>
        </p:nvSpPr>
        <p:spPr bwMode="auto">
          <a:xfrm>
            <a:off x="6553200" y="4081239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88" name="Freeform 128"/>
          <p:cNvSpPr>
            <a:spLocks/>
          </p:cNvSpPr>
          <p:nvPr/>
        </p:nvSpPr>
        <p:spPr bwMode="auto">
          <a:xfrm>
            <a:off x="6851650" y="4541614"/>
            <a:ext cx="422275" cy="920750"/>
          </a:xfrm>
          <a:custGeom>
            <a:avLst/>
            <a:gdLst>
              <a:gd name="T0" fmla="*/ 311150 w 266"/>
              <a:gd name="T1" fmla="*/ 31750 h 580"/>
              <a:gd name="T2" fmla="*/ 285750 w 266"/>
              <a:gd name="T3" fmla="*/ 0 h 580"/>
              <a:gd name="T4" fmla="*/ 374650 w 266"/>
              <a:gd name="T5" fmla="*/ 596900 h 580"/>
              <a:gd name="T6" fmla="*/ 0 w 266"/>
              <a:gd name="T7" fmla="*/ 920750 h 5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66" h="580">
                <a:moveTo>
                  <a:pt x="196" y="20"/>
                </a:moveTo>
                <a:lnTo>
                  <a:pt x="180" y="0"/>
                </a:lnTo>
                <a:cubicBezTo>
                  <a:pt x="187" y="59"/>
                  <a:pt x="266" y="279"/>
                  <a:pt x="236" y="376"/>
                </a:cubicBezTo>
                <a:cubicBezTo>
                  <a:pt x="206" y="473"/>
                  <a:pt x="103" y="526"/>
                  <a:pt x="0" y="5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89" name="Oval 106"/>
          <p:cNvSpPr>
            <a:spLocks noChangeAspect="1" noChangeArrowheads="1"/>
          </p:cNvSpPr>
          <p:nvPr/>
        </p:nvSpPr>
        <p:spPr bwMode="auto">
          <a:xfrm>
            <a:off x="7086600" y="4497164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90" name="Line 130"/>
          <p:cNvSpPr>
            <a:spLocks noChangeShapeType="1"/>
          </p:cNvSpPr>
          <p:nvPr/>
        </p:nvSpPr>
        <p:spPr bwMode="auto">
          <a:xfrm flipV="1">
            <a:off x="5657850" y="4281264"/>
            <a:ext cx="152400" cy="1333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91" name="Line 132"/>
          <p:cNvSpPr>
            <a:spLocks noChangeShapeType="1"/>
          </p:cNvSpPr>
          <p:nvPr/>
        </p:nvSpPr>
        <p:spPr bwMode="auto">
          <a:xfrm flipH="1" flipV="1">
            <a:off x="7181850" y="4738464"/>
            <a:ext cx="38100" cy="177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92" name="Line 133"/>
          <p:cNvSpPr>
            <a:spLocks noChangeShapeType="1"/>
          </p:cNvSpPr>
          <p:nvPr/>
        </p:nvSpPr>
        <p:spPr bwMode="auto">
          <a:xfrm flipH="1">
            <a:off x="7213600" y="3709764"/>
            <a:ext cx="19050" cy="1587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93" name="Line 134"/>
          <p:cNvSpPr>
            <a:spLocks noChangeShapeType="1"/>
          </p:cNvSpPr>
          <p:nvPr/>
        </p:nvSpPr>
        <p:spPr bwMode="auto">
          <a:xfrm>
            <a:off x="6705600" y="4433664"/>
            <a:ext cx="95250" cy="698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94" name="Freeform 137"/>
          <p:cNvSpPr>
            <a:spLocks/>
          </p:cNvSpPr>
          <p:nvPr/>
        </p:nvSpPr>
        <p:spPr bwMode="auto">
          <a:xfrm rot="1194921">
            <a:off x="6540500" y="4230464"/>
            <a:ext cx="107950" cy="120650"/>
          </a:xfrm>
          <a:custGeom>
            <a:avLst/>
            <a:gdLst>
              <a:gd name="T0" fmla="*/ 107950 w 68"/>
              <a:gd name="T1" fmla="*/ 120650 h 76"/>
              <a:gd name="T2" fmla="*/ 0 w 68"/>
              <a:gd name="T3" fmla="*/ 0 h 7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8" h="76">
                <a:moveTo>
                  <a:pt x="68" y="7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95" name="Line 138"/>
          <p:cNvSpPr>
            <a:spLocks noChangeShapeType="1"/>
          </p:cNvSpPr>
          <p:nvPr/>
        </p:nvSpPr>
        <p:spPr bwMode="auto">
          <a:xfrm flipV="1">
            <a:off x="6889750" y="3970114"/>
            <a:ext cx="139700" cy="317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96" name="Line 139"/>
          <p:cNvSpPr>
            <a:spLocks noChangeShapeType="1"/>
          </p:cNvSpPr>
          <p:nvPr/>
        </p:nvSpPr>
        <p:spPr bwMode="auto">
          <a:xfrm flipH="1" flipV="1">
            <a:off x="7232650" y="4065364"/>
            <a:ext cx="31750" cy="184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97" name="Line 145"/>
          <p:cNvSpPr>
            <a:spLocks noChangeShapeType="1"/>
          </p:cNvSpPr>
          <p:nvPr/>
        </p:nvSpPr>
        <p:spPr bwMode="auto">
          <a:xfrm>
            <a:off x="2063750" y="4462239"/>
            <a:ext cx="236538" cy="109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98" name="Line 146"/>
          <p:cNvSpPr>
            <a:spLocks noChangeShapeType="1"/>
          </p:cNvSpPr>
          <p:nvPr/>
        </p:nvSpPr>
        <p:spPr bwMode="auto">
          <a:xfrm flipV="1">
            <a:off x="2032000" y="4184427"/>
            <a:ext cx="41275" cy="254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99" name="Line 147"/>
          <p:cNvSpPr>
            <a:spLocks noChangeShapeType="1"/>
          </p:cNvSpPr>
          <p:nvPr/>
        </p:nvSpPr>
        <p:spPr bwMode="auto">
          <a:xfrm flipH="1">
            <a:off x="1846263" y="4446364"/>
            <a:ext cx="185737" cy="1190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0" name="Oval 41"/>
          <p:cNvSpPr>
            <a:spLocks noChangeAspect="1" noChangeArrowheads="1"/>
          </p:cNvSpPr>
          <p:nvPr/>
        </p:nvSpPr>
        <p:spPr bwMode="auto">
          <a:xfrm>
            <a:off x="1981200" y="4386039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01" name="Oval 148"/>
          <p:cNvSpPr>
            <a:spLocks noChangeArrowheads="1"/>
          </p:cNvSpPr>
          <p:nvPr/>
        </p:nvSpPr>
        <p:spPr bwMode="auto">
          <a:xfrm>
            <a:off x="6621463" y="4352702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02" name="Line 71"/>
          <p:cNvSpPr>
            <a:spLocks noChangeAspect="1" noChangeShapeType="1"/>
          </p:cNvSpPr>
          <p:nvPr/>
        </p:nvSpPr>
        <p:spPr bwMode="auto">
          <a:xfrm flipV="1">
            <a:off x="1666850" y="4601319"/>
            <a:ext cx="147638" cy="1111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03" name="Line 147"/>
          <p:cNvSpPr>
            <a:spLocks noChangeShapeType="1"/>
          </p:cNvSpPr>
          <p:nvPr/>
        </p:nvSpPr>
        <p:spPr bwMode="auto">
          <a:xfrm flipH="1">
            <a:off x="2089275" y="3932312"/>
            <a:ext cx="51593" cy="2175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4" name="Line 145"/>
          <p:cNvSpPr>
            <a:spLocks noChangeShapeType="1"/>
          </p:cNvSpPr>
          <p:nvPr/>
        </p:nvSpPr>
        <p:spPr bwMode="auto">
          <a:xfrm>
            <a:off x="2475954" y="4674914"/>
            <a:ext cx="236538" cy="109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cxnSp>
        <p:nvCxnSpPr>
          <p:cNvPr id="105" name="Connecteur droit avec flèche 104"/>
          <p:cNvCxnSpPr/>
          <p:nvPr/>
        </p:nvCxnSpPr>
        <p:spPr>
          <a:xfrm>
            <a:off x="1600200" y="5720556"/>
            <a:ext cx="492125" cy="36004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avec flèche 105"/>
          <p:cNvCxnSpPr/>
          <p:nvPr/>
        </p:nvCxnSpPr>
        <p:spPr>
          <a:xfrm flipH="1">
            <a:off x="2133600" y="5720556"/>
            <a:ext cx="438150" cy="36004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avec flèche 106"/>
          <p:cNvCxnSpPr/>
          <p:nvPr/>
        </p:nvCxnSpPr>
        <p:spPr>
          <a:xfrm flipH="1" flipV="1">
            <a:off x="2114550" y="6080596"/>
            <a:ext cx="521" cy="50405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avec flèche 107"/>
          <p:cNvCxnSpPr/>
          <p:nvPr/>
        </p:nvCxnSpPr>
        <p:spPr>
          <a:xfrm>
            <a:off x="4047846" y="5846274"/>
            <a:ext cx="568487" cy="35644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avec flèche 108"/>
          <p:cNvCxnSpPr/>
          <p:nvPr/>
        </p:nvCxnSpPr>
        <p:spPr>
          <a:xfrm flipV="1">
            <a:off x="4132809" y="6237312"/>
            <a:ext cx="483524" cy="50405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avec flèche 109"/>
          <p:cNvCxnSpPr/>
          <p:nvPr/>
        </p:nvCxnSpPr>
        <p:spPr>
          <a:xfrm>
            <a:off x="4683721" y="6224612"/>
            <a:ext cx="536351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avec flèche 110"/>
          <p:cNvCxnSpPr/>
          <p:nvPr/>
        </p:nvCxnSpPr>
        <p:spPr>
          <a:xfrm>
            <a:off x="7182278" y="6237312"/>
            <a:ext cx="63883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avec flèche 111"/>
          <p:cNvCxnSpPr/>
          <p:nvPr/>
        </p:nvCxnSpPr>
        <p:spPr>
          <a:xfrm flipV="1">
            <a:off x="7888585" y="5846274"/>
            <a:ext cx="427831" cy="35644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avec flèche 112"/>
          <p:cNvCxnSpPr/>
          <p:nvPr/>
        </p:nvCxnSpPr>
        <p:spPr>
          <a:xfrm>
            <a:off x="7900491" y="6250012"/>
            <a:ext cx="384175" cy="34734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ZoneTexte 113"/>
          <p:cNvSpPr txBox="1"/>
          <p:nvPr/>
        </p:nvSpPr>
        <p:spPr>
          <a:xfrm>
            <a:off x="251520" y="5936580"/>
            <a:ext cx="1598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Eutectique ternaire</a:t>
            </a:r>
            <a:endParaRPr lang="fr-FR" dirty="0"/>
          </a:p>
        </p:txBody>
      </p:sp>
      <p:sp>
        <p:nvSpPr>
          <p:cNvPr id="115" name="ZoneTexte 114"/>
          <p:cNvSpPr txBox="1"/>
          <p:nvPr/>
        </p:nvSpPr>
        <p:spPr>
          <a:xfrm>
            <a:off x="2915816" y="5936580"/>
            <a:ext cx="1598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 smtClean="0"/>
              <a:t>Peritectique</a:t>
            </a:r>
            <a:r>
              <a:rPr lang="fr-FR" dirty="0" smtClean="0"/>
              <a:t> ternaire faible</a:t>
            </a:r>
            <a:endParaRPr lang="fr-FR" dirty="0"/>
          </a:p>
        </p:txBody>
      </p:sp>
      <p:sp>
        <p:nvSpPr>
          <p:cNvPr id="116" name="ZoneTexte 115"/>
          <p:cNvSpPr txBox="1"/>
          <p:nvPr/>
        </p:nvSpPr>
        <p:spPr>
          <a:xfrm>
            <a:off x="5724128" y="5908870"/>
            <a:ext cx="1598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 smtClean="0"/>
              <a:t>Peritectique</a:t>
            </a:r>
            <a:r>
              <a:rPr lang="fr-FR" dirty="0" smtClean="0"/>
              <a:t> ternaire fort</a:t>
            </a:r>
            <a:endParaRPr lang="fr-FR" dirty="0"/>
          </a:p>
        </p:txBody>
      </p:sp>
      <p:sp>
        <p:nvSpPr>
          <p:cNvPr id="2" name="ZoneTexte 1"/>
          <p:cNvSpPr txBox="1"/>
          <p:nvPr/>
        </p:nvSpPr>
        <p:spPr>
          <a:xfrm>
            <a:off x="149069" y="537558"/>
            <a:ext cx="5236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accent6">
                    <a:lumMod val="75000"/>
                  </a:schemeClr>
                </a:solidFill>
              </a:rPr>
              <a:t>Nature des points de transformation</a:t>
            </a:r>
            <a:endParaRPr lang="fr-FR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75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3" name="ZoneTexte 2"/>
          <p:cNvSpPr txBox="1"/>
          <p:nvPr/>
        </p:nvSpPr>
        <p:spPr>
          <a:xfrm>
            <a:off x="107504" y="836712"/>
            <a:ext cx="903649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2 – Triangles de compatibilité </a:t>
            </a:r>
            <a:r>
              <a:rPr lang="fr-FR" dirty="0"/>
              <a:t>: </a:t>
            </a:r>
            <a:endParaRPr lang="fr-FR" dirty="0" smtClean="0"/>
          </a:p>
          <a:p>
            <a:pPr marL="285750" indent="-285750">
              <a:buFont typeface="Arial" charset="0"/>
              <a:buChar char="•"/>
            </a:pPr>
            <a:r>
              <a:rPr lang="fr-FR" dirty="0" smtClean="0"/>
              <a:t>Découpage du diagramme en </a:t>
            </a:r>
            <a:r>
              <a:rPr lang="fr-FR" dirty="0"/>
              <a:t>triangles de </a:t>
            </a:r>
            <a:r>
              <a:rPr lang="fr-FR" dirty="0" smtClean="0"/>
              <a:t>compatibilité grâce aux </a:t>
            </a:r>
            <a:r>
              <a:rPr lang="fr-FR" u="sng" dirty="0" smtClean="0"/>
              <a:t>droites d’</a:t>
            </a:r>
            <a:r>
              <a:rPr lang="fr-FR" u="sng" dirty="0" err="1" smtClean="0"/>
              <a:t>Alkemade</a:t>
            </a:r>
            <a:r>
              <a:rPr lang="fr-FR" dirty="0" smtClean="0"/>
              <a:t>. </a:t>
            </a:r>
          </a:p>
          <a:p>
            <a:pPr marL="285750" indent="-285750">
              <a:buFont typeface="Arial" charset="0"/>
              <a:buChar char="•"/>
            </a:pPr>
            <a:r>
              <a:rPr lang="fr-FR" dirty="0" smtClean="0"/>
              <a:t>Tout point ternaire est </a:t>
            </a:r>
            <a:r>
              <a:rPr lang="fr-FR" dirty="0"/>
              <a:t>à l’intérieur du triangle </a:t>
            </a:r>
            <a:r>
              <a:rPr lang="fr-FR" dirty="0" smtClean="0"/>
              <a:t>qui a pour </a:t>
            </a:r>
            <a:r>
              <a:rPr lang="fr-FR" u="sng" dirty="0" smtClean="0"/>
              <a:t>sommets</a:t>
            </a:r>
            <a:r>
              <a:rPr lang="fr-FR" dirty="0" smtClean="0"/>
              <a:t> les phases du même</a:t>
            </a:r>
            <a:r>
              <a:rPr lang="fr-FR" u="sng" dirty="0" smtClean="0"/>
              <a:t> </a:t>
            </a:r>
            <a:r>
              <a:rPr lang="fr-FR" u="sng" dirty="0"/>
              <a:t>nom que les </a:t>
            </a:r>
            <a:r>
              <a:rPr lang="fr-FR" u="sng" dirty="0" smtClean="0"/>
              <a:t>nappes</a:t>
            </a:r>
            <a:r>
              <a:rPr lang="fr-FR" dirty="0"/>
              <a:t> </a:t>
            </a:r>
            <a:r>
              <a:rPr lang="fr-FR" dirty="0" smtClean="0"/>
              <a:t>est </a:t>
            </a:r>
            <a:r>
              <a:rPr lang="fr-FR" dirty="0"/>
              <a:t>un </a:t>
            </a:r>
            <a:r>
              <a:rPr lang="fr-FR" u="sng" dirty="0"/>
              <a:t>eutectique ternaire</a:t>
            </a:r>
            <a:r>
              <a:rPr lang="fr-FR" dirty="0"/>
              <a:t>. </a:t>
            </a:r>
            <a:r>
              <a:rPr lang="fr-FR" u="sng" dirty="0"/>
              <a:t>Sinon</a:t>
            </a:r>
            <a:r>
              <a:rPr lang="fr-FR" dirty="0"/>
              <a:t>, il s’agit d’un </a:t>
            </a:r>
            <a:r>
              <a:rPr lang="fr-FR" u="sng" dirty="0" err="1"/>
              <a:t>peritectique</a:t>
            </a:r>
            <a:r>
              <a:rPr lang="fr-FR" u="sng" dirty="0"/>
              <a:t> ternaire</a:t>
            </a:r>
            <a:r>
              <a:rPr lang="fr-FR" dirty="0"/>
              <a:t>.  </a:t>
            </a:r>
          </a:p>
        </p:txBody>
      </p:sp>
      <p:sp>
        <p:nvSpPr>
          <p:cNvPr id="117" name="ZoneTexte 116"/>
          <p:cNvSpPr txBox="1"/>
          <p:nvPr/>
        </p:nvSpPr>
        <p:spPr>
          <a:xfrm>
            <a:off x="149069" y="537558"/>
            <a:ext cx="5236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accent6">
                    <a:lumMod val="75000"/>
                  </a:schemeClr>
                </a:solidFill>
              </a:rPr>
              <a:t>Nature des points de transformation</a:t>
            </a:r>
            <a:endParaRPr lang="fr-FR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8" name="AutoShape 10"/>
          <p:cNvSpPr>
            <a:spLocks noChangeArrowheads="1"/>
          </p:cNvSpPr>
          <p:nvPr/>
        </p:nvSpPr>
        <p:spPr bwMode="auto">
          <a:xfrm>
            <a:off x="727075" y="2293020"/>
            <a:ext cx="3352800" cy="28987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19" name="Oval 14"/>
          <p:cNvSpPr>
            <a:spLocks noChangeAspect="1" noChangeArrowheads="1"/>
          </p:cNvSpPr>
          <p:nvPr/>
        </p:nvSpPr>
        <p:spPr bwMode="auto">
          <a:xfrm>
            <a:off x="3003550" y="334553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20" name="Oval 16"/>
          <p:cNvSpPr>
            <a:spLocks noChangeAspect="1" noChangeArrowheads="1"/>
          </p:cNvSpPr>
          <p:nvPr/>
        </p:nvSpPr>
        <p:spPr bwMode="auto">
          <a:xfrm>
            <a:off x="2590800" y="514417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21" name="Rectangle 23"/>
          <p:cNvSpPr>
            <a:spLocks noChangeArrowheads="1"/>
          </p:cNvSpPr>
          <p:nvPr/>
        </p:nvSpPr>
        <p:spPr bwMode="auto">
          <a:xfrm>
            <a:off x="2235200" y="2012032"/>
            <a:ext cx="336550" cy="366713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A</a:t>
            </a:r>
          </a:p>
        </p:txBody>
      </p:sp>
      <p:sp>
        <p:nvSpPr>
          <p:cNvPr id="122" name="Rectangle 24"/>
          <p:cNvSpPr>
            <a:spLocks noChangeArrowheads="1"/>
          </p:cNvSpPr>
          <p:nvPr/>
        </p:nvSpPr>
        <p:spPr bwMode="auto">
          <a:xfrm>
            <a:off x="574675" y="5144170"/>
            <a:ext cx="336550" cy="36671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B</a:t>
            </a:r>
          </a:p>
        </p:txBody>
      </p:sp>
      <p:sp>
        <p:nvSpPr>
          <p:cNvPr id="123" name="Rectangle 26"/>
          <p:cNvSpPr>
            <a:spLocks noChangeArrowheads="1"/>
          </p:cNvSpPr>
          <p:nvPr/>
        </p:nvSpPr>
        <p:spPr bwMode="auto">
          <a:xfrm>
            <a:off x="3883025" y="5144170"/>
            <a:ext cx="349250" cy="36671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C</a:t>
            </a:r>
          </a:p>
        </p:txBody>
      </p:sp>
      <p:sp>
        <p:nvSpPr>
          <p:cNvPr id="124" name="Rectangle 27"/>
          <p:cNvSpPr>
            <a:spLocks noChangeArrowheads="1"/>
          </p:cNvSpPr>
          <p:nvPr/>
        </p:nvSpPr>
        <p:spPr bwMode="auto">
          <a:xfrm>
            <a:off x="3036888" y="3218532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1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125" name="Rectangle 28"/>
          <p:cNvSpPr>
            <a:spLocks noChangeArrowheads="1"/>
          </p:cNvSpPr>
          <p:nvPr/>
        </p:nvSpPr>
        <p:spPr bwMode="auto">
          <a:xfrm>
            <a:off x="863600" y="4115470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2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126" name="Rectangle 29"/>
          <p:cNvSpPr>
            <a:spLocks noChangeArrowheads="1"/>
          </p:cNvSpPr>
          <p:nvPr/>
        </p:nvSpPr>
        <p:spPr bwMode="auto">
          <a:xfrm>
            <a:off x="2470150" y="5158457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3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127" name="Rectangle 31"/>
          <p:cNvSpPr>
            <a:spLocks noChangeArrowheads="1"/>
          </p:cNvSpPr>
          <p:nvPr/>
        </p:nvSpPr>
        <p:spPr bwMode="auto">
          <a:xfrm>
            <a:off x="2286000" y="3078832"/>
            <a:ext cx="327334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Monotype Corsiva" pitchFamily="66" charset="0"/>
                <a:ea typeface="ＭＳ Ｐゴシック" charset="0"/>
              </a:rPr>
              <a:t>A</a:t>
            </a:r>
          </a:p>
        </p:txBody>
      </p:sp>
      <p:sp>
        <p:nvSpPr>
          <p:cNvPr id="128" name="Rectangle 32"/>
          <p:cNvSpPr>
            <a:spLocks noChangeArrowheads="1"/>
          </p:cNvSpPr>
          <p:nvPr/>
        </p:nvSpPr>
        <p:spPr bwMode="auto">
          <a:xfrm>
            <a:off x="1447800" y="4679032"/>
            <a:ext cx="322524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 dirty="0">
                <a:latin typeface="Monotype Corsiva" pitchFamily="66" charset="0"/>
                <a:ea typeface="ＭＳ Ｐゴシック" charset="0"/>
              </a:rPr>
              <a:t>B</a:t>
            </a:r>
          </a:p>
        </p:txBody>
      </p:sp>
      <p:sp>
        <p:nvSpPr>
          <p:cNvPr id="129" name="Rectangle 34"/>
          <p:cNvSpPr>
            <a:spLocks noChangeArrowheads="1"/>
          </p:cNvSpPr>
          <p:nvPr/>
        </p:nvSpPr>
        <p:spPr bwMode="auto">
          <a:xfrm>
            <a:off x="2438400" y="4526632"/>
            <a:ext cx="304892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Monotype Corsiva" pitchFamily="66" charset="0"/>
                <a:ea typeface="ＭＳ Ｐゴシック" charset="0"/>
              </a:rPr>
              <a:t>C</a:t>
            </a:r>
          </a:p>
        </p:txBody>
      </p:sp>
      <p:sp>
        <p:nvSpPr>
          <p:cNvPr id="130" name="Line 35"/>
          <p:cNvSpPr>
            <a:spLocks noChangeShapeType="1"/>
          </p:cNvSpPr>
          <p:nvPr/>
        </p:nvSpPr>
        <p:spPr bwMode="auto">
          <a:xfrm flipV="1">
            <a:off x="727075" y="4698082"/>
            <a:ext cx="287338" cy="490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31" name="Line 36"/>
          <p:cNvSpPr>
            <a:spLocks noChangeShapeType="1"/>
          </p:cNvSpPr>
          <p:nvPr/>
        </p:nvSpPr>
        <p:spPr bwMode="auto">
          <a:xfrm flipV="1">
            <a:off x="2114550" y="2293020"/>
            <a:ext cx="287338" cy="4905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sm" len="lg"/>
            <a:tailEnd type="non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32" name="Line 37"/>
          <p:cNvSpPr>
            <a:spLocks noChangeShapeType="1"/>
          </p:cNvSpPr>
          <p:nvPr/>
        </p:nvSpPr>
        <p:spPr bwMode="auto">
          <a:xfrm flipH="1" flipV="1">
            <a:off x="2403475" y="2293020"/>
            <a:ext cx="287338" cy="4905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sm" len="lg"/>
            <a:tailEnd type="non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33" name="Line 38"/>
          <p:cNvSpPr>
            <a:spLocks noChangeShapeType="1"/>
          </p:cNvSpPr>
          <p:nvPr/>
        </p:nvSpPr>
        <p:spPr bwMode="auto">
          <a:xfrm flipH="1" flipV="1">
            <a:off x="3783013" y="4686970"/>
            <a:ext cx="287337" cy="4905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lg"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34" name="Line 50"/>
          <p:cNvSpPr>
            <a:spLocks noChangeShapeType="1"/>
          </p:cNvSpPr>
          <p:nvPr/>
        </p:nvSpPr>
        <p:spPr bwMode="auto">
          <a:xfrm rot="3600000" flipV="1">
            <a:off x="3619500" y="4940970"/>
            <a:ext cx="287337" cy="490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sm" len="lg"/>
            <a:tailEnd type="non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35" name="Rectangle 52"/>
          <p:cNvSpPr>
            <a:spLocks noChangeArrowheads="1"/>
          </p:cNvSpPr>
          <p:nvPr/>
        </p:nvSpPr>
        <p:spPr bwMode="auto">
          <a:xfrm>
            <a:off x="1479550" y="3709070"/>
            <a:ext cx="342900" cy="274637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E</a:t>
            </a:r>
            <a:r>
              <a:rPr lang="fr-FR" sz="1200" b="0" baseline="-25000">
                <a:latin typeface="Arial" charset="0"/>
                <a:ea typeface="ＭＳ Ｐゴシック" charset="0"/>
              </a:rPr>
              <a:t>2</a:t>
            </a:r>
            <a:endParaRPr lang="fr-FR" sz="1200" b="0">
              <a:latin typeface="Arial" charset="0"/>
              <a:ea typeface="ＭＳ Ｐゴシック" charset="0"/>
            </a:endParaRPr>
          </a:p>
        </p:txBody>
      </p:sp>
      <p:sp>
        <p:nvSpPr>
          <p:cNvPr id="136" name="Rectangle 53"/>
          <p:cNvSpPr>
            <a:spLocks noChangeArrowheads="1"/>
          </p:cNvSpPr>
          <p:nvPr/>
        </p:nvSpPr>
        <p:spPr bwMode="auto">
          <a:xfrm>
            <a:off x="2679700" y="3748757"/>
            <a:ext cx="342900" cy="274638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E</a:t>
            </a:r>
            <a:r>
              <a:rPr lang="fr-FR" sz="1200" b="0" baseline="-25000">
                <a:latin typeface="Arial" charset="0"/>
                <a:ea typeface="ＭＳ Ｐゴシック" charset="0"/>
              </a:rPr>
              <a:t>1</a:t>
            </a:r>
            <a:endParaRPr lang="fr-FR" sz="1200" b="0">
              <a:latin typeface="Arial" charset="0"/>
              <a:ea typeface="ＭＳ Ｐゴシック" charset="0"/>
            </a:endParaRPr>
          </a:p>
        </p:txBody>
      </p:sp>
      <p:sp>
        <p:nvSpPr>
          <p:cNvPr id="137" name="Freeform 61"/>
          <p:cNvSpPr>
            <a:spLocks/>
          </p:cNvSpPr>
          <p:nvPr/>
        </p:nvSpPr>
        <p:spPr bwMode="auto">
          <a:xfrm>
            <a:off x="2184400" y="4679032"/>
            <a:ext cx="406400" cy="457200"/>
          </a:xfrm>
          <a:custGeom>
            <a:avLst/>
            <a:gdLst>
              <a:gd name="T0" fmla="*/ 406400 w 256"/>
              <a:gd name="T1" fmla="*/ 457200 h 288"/>
              <a:gd name="T2" fmla="*/ 101600 w 256"/>
              <a:gd name="T3" fmla="*/ 292100 h 288"/>
              <a:gd name="T4" fmla="*/ 0 w 256"/>
              <a:gd name="T5" fmla="*/ 0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6" h="288">
                <a:moveTo>
                  <a:pt x="256" y="288"/>
                </a:moveTo>
                <a:cubicBezTo>
                  <a:pt x="181" y="260"/>
                  <a:pt x="107" y="232"/>
                  <a:pt x="64" y="184"/>
                </a:cubicBezTo>
                <a:cubicBezTo>
                  <a:pt x="21" y="136"/>
                  <a:pt x="10" y="68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38" name="Freeform 62"/>
          <p:cNvSpPr>
            <a:spLocks/>
          </p:cNvSpPr>
          <p:nvPr/>
        </p:nvSpPr>
        <p:spPr bwMode="auto">
          <a:xfrm>
            <a:off x="2654300" y="3382045"/>
            <a:ext cx="393700" cy="471487"/>
          </a:xfrm>
          <a:custGeom>
            <a:avLst/>
            <a:gdLst>
              <a:gd name="T0" fmla="*/ 393700 w 248"/>
              <a:gd name="T1" fmla="*/ 1587 h 297"/>
              <a:gd name="T2" fmla="*/ 101600 w 248"/>
              <a:gd name="T3" fmla="*/ 77787 h 297"/>
              <a:gd name="T4" fmla="*/ 0 w 248"/>
              <a:gd name="T5" fmla="*/ 471487 h 29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8" h="297">
                <a:moveTo>
                  <a:pt x="248" y="1"/>
                </a:moveTo>
                <a:cubicBezTo>
                  <a:pt x="176" y="0"/>
                  <a:pt x="105" y="0"/>
                  <a:pt x="64" y="49"/>
                </a:cubicBezTo>
                <a:cubicBezTo>
                  <a:pt x="23" y="98"/>
                  <a:pt x="11" y="257"/>
                  <a:pt x="0" y="29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39" name="Freeform 60"/>
          <p:cNvSpPr>
            <a:spLocks/>
          </p:cNvSpPr>
          <p:nvPr/>
        </p:nvSpPr>
        <p:spPr bwMode="auto">
          <a:xfrm>
            <a:off x="1219200" y="3737645"/>
            <a:ext cx="1509713" cy="979487"/>
          </a:xfrm>
          <a:custGeom>
            <a:avLst/>
            <a:gdLst>
              <a:gd name="T0" fmla="*/ 0 w 951"/>
              <a:gd name="T1" fmla="*/ 560387 h 617"/>
              <a:gd name="T2" fmla="*/ 444500 w 951"/>
              <a:gd name="T3" fmla="*/ 255587 h 617"/>
              <a:gd name="T4" fmla="*/ 1422400 w 951"/>
              <a:gd name="T5" fmla="*/ 115887 h 617"/>
              <a:gd name="T6" fmla="*/ 965200 w 951"/>
              <a:gd name="T7" fmla="*/ 954087 h 617"/>
              <a:gd name="T8" fmla="*/ 431800 w 951"/>
              <a:gd name="T9" fmla="*/ 268287 h 61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51" h="617">
                <a:moveTo>
                  <a:pt x="0" y="353"/>
                </a:moveTo>
                <a:cubicBezTo>
                  <a:pt x="65" y="280"/>
                  <a:pt x="131" y="208"/>
                  <a:pt x="280" y="161"/>
                </a:cubicBezTo>
                <a:cubicBezTo>
                  <a:pt x="429" y="114"/>
                  <a:pt x="841" y="0"/>
                  <a:pt x="896" y="73"/>
                </a:cubicBezTo>
                <a:cubicBezTo>
                  <a:pt x="951" y="146"/>
                  <a:pt x="712" y="585"/>
                  <a:pt x="608" y="601"/>
                </a:cubicBezTo>
                <a:cubicBezTo>
                  <a:pt x="504" y="617"/>
                  <a:pt x="388" y="393"/>
                  <a:pt x="272" y="169"/>
                </a:cubicBezTo>
              </a:path>
            </a:pathLst>
          </a:custGeom>
          <a:solidFill>
            <a:srgbClr val="A9A9A9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140" name="Oval 13"/>
          <p:cNvSpPr>
            <a:spLocks noChangeAspect="1" noChangeArrowheads="1"/>
          </p:cNvSpPr>
          <p:nvPr/>
        </p:nvSpPr>
        <p:spPr bwMode="auto">
          <a:xfrm>
            <a:off x="1192213" y="4282157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41" name="Rectangle 33"/>
          <p:cNvSpPr>
            <a:spLocks noChangeArrowheads="1"/>
          </p:cNvSpPr>
          <p:nvPr/>
        </p:nvSpPr>
        <p:spPr bwMode="auto">
          <a:xfrm>
            <a:off x="2151063" y="3891632"/>
            <a:ext cx="346570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Monotype Corsiva" pitchFamily="66" charset="0"/>
                <a:ea typeface="ＭＳ Ｐゴシック" charset="0"/>
              </a:rPr>
              <a:t>D</a:t>
            </a:r>
          </a:p>
        </p:txBody>
      </p:sp>
      <p:sp>
        <p:nvSpPr>
          <p:cNvPr id="142" name="Oval 42"/>
          <p:cNvSpPr>
            <a:spLocks noChangeAspect="1" noChangeArrowheads="1"/>
          </p:cNvSpPr>
          <p:nvPr/>
        </p:nvSpPr>
        <p:spPr bwMode="auto">
          <a:xfrm>
            <a:off x="2590800" y="3805907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43" name="Oval 59"/>
          <p:cNvSpPr>
            <a:spLocks noChangeAspect="1" noChangeArrowheads="1"/>
          </p:cNvSpPr>
          <p:nvPr/>
        </p:nvSpPr>
        <p:spPr bwMode="auto">
          <a:xfrm>
            <a:off x="2133600" y="4644107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44" name="Line 57"/>
          <p:cNvSpPr>
            <a:spLocks noChangeShapeType="1"/>
          </p:cNvSpPr>
          <p:nvPr/>
        </p:nvSpPr>
        <p:spPr bwMode="auto">
          <a:xfrm>
            <a:off x="2032000" y="4171032"/>
            <a:ext cx="2057400" cy="1028700"/>
          </a:xfrm>
          <a:prstGeom prst="line">
            <a:avLst/>
          </a:prstGeom>
          <a:noFill/>
          <a:ln w="28575">
            <a:solidFill>
              <a:srgbClr val="0C00FF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45" name="Freeform 56"/>
          <p:cNvSpPr>
            <a:spLocks/>
          </p:cNvSpPr>
          <p:nvPr/>
        </p:nvSpPr>
        <p:spPr bwMode="auto">
          <a:xfrm>
            <a:off x="719138" y="2291432"/>
            <a:ext cx="1681162" cy="2903538"/>
          </a:xfrm>
          <a:custGeom>
            <a:avLst/>
            <a:gdLst>
              <a:gd name="T0" fmla="*/ 1681162 w 1059"/>
              <a:gd name="T1" fmla="*/ 0 h 1835"/>
              <a:gd name="T2" fmla="*/ 1312862 w 1059"/>
              <a:gd name="T3" fmla="*/ 1873454 h 1835"/>
              <a:gd name="T4" fmla="*/ 0 w 1059"/>
              <a:gd name="T5" fmla="*/ 2903538 h 18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59" h="1835">
                <a:moveTo>
                  <a:pt x="1059" y="0"/>
                </a:moveTo>
                <a:lnTo>
                  <a:pt x="827" y="1184"/>
                </a:lnTo>
                <a:lnTo>
                  <a:pt x="0" y="1835"/>
                </a:lnTo>
              </a:path>
            </a:pathLst>
          </a:custGeom>
          <a:noFill/>
          <a:ln w="28575" cmpd="sng">
            <a:solidFill>
              <a:srgbClr val="0C00FF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6" name="Oval 58"/>
          <p:cNvSpPr>
            <a:spLocks noChangeAspect="1" noChangeArrowheads="1"/>
          </p:cNvSpPr>
          <p:nvPr/>
        </p:nvSpPr>
        <p:spPr bwMode="auto">
          <a:xfrm>
            <a:off x="1600200" y="3958307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47" name="Freeform 63"/>
          <p:cNvSpPr>
            <a:spLocks/>
          </p:cNvSpPr>
          <p:nvPr/>
        </p:nvSpPr>
        <p:spPr bwMode="auto">
          <a:xfrm>
            <a:off x="2667000" y="3510632"/>
            <a:ext cx="50800" cy="241300"/>
          </a:xfrm>
          <a:custGeom>
            <a:avLst/>
            <a:gdLst>
              <a:gd name="T0" fmla="*/ 50800 w 32"/>
              <a:gd name="T1" fmla="*/ 0 h 152"/>
              <a:gd name="T2" fmla="*/ 0 w 32"/>
              <a:gd name="T3" fmla="*/ 241300 h 15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2" h="152">
                <a:moveTo>
                  <a:pt x="32" y="0"/>
                </a:moveTo>
                <a:lnTo>
                  <a:pt x="0" y="152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8" name="Line 64"/>
          <p:cNvSpPr>
            <a:spLocks noChangeShapeType="1"/>
          </p:cNvSpPr>
          <p:nvPr/>
        </p:nvSpPr>
        <p:spPr bwMode="auto">
          <a:xfrm flipV="1">
            <a:off x="2463800" y="4158332"/>
            <a:ext cx="114300" cy="2159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49" name="Line 66"/>
          <p:cNvSpPr>
            <a:spLocks noChangeShapeType="1"/>
          </p:cNvSpPr>
          <p:nvPr/>
        </p:nvSpPr>
        <p:spPr bwMode="auto">
          <a:xfrm flipH="1">
            <a:off x="2336800" y="4374232"/>
            <a:ext cx="127000" cy="1905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50" name="Line 67"/>
          <p:cNvSpPr>
            <a:spLocks noChangeShapeType="1"/>
          </p:cNvSpPr>
          <p:nvPr/>
        </p:nvSpPr>
        <p:spPr bwMode="auto">
          <a:xfrm flipV="1">
            <a:off x="2082800" y="3815432"/>
            <a:ext cx="279400" cy="635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51" name="Line 68"/>
          <p:cNvSpPr>
            <a:spLocks noChangeShapeType="1"/>
          </p:cNvSpPr>
          <p:nvPr/>
        </p:nvSpPr>
        <p:spPr bwMode="auto">
          <a:xfrm flipH="1">
            <a:off x="1803400" y="3891632"/>
            <a:ext cx="215900" cy="50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52" name="Line 69"/>
          <p:cNvSpPr>
            <a:spLocks noChangeShapeType="1"/>
          </p:cNvSpPr>
          <p:nvPr/>
        </p:nvSpPr>
        <p:spPr bwMode="auto">
          <a:xfrm flipH="1" flipV="1">
            <a:off x="1727200" y="4120232"/>
            <a:ext cx="88900" cy="203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53" name="Line 70"/>
          <p:cNvSpPr>
            <a:spLocks noChangeShapeType="1"/>
          </p:cNvSpPr>
          <p:nvPr/>
        </p:nvSpPr>
        <p:spPr bwMode="auto">
          <a:xfrm>
            <a:off x="1816100" y="4310732"/>
            <a:ext cx="114300" cy="203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54" name="Line 71"/>
          <p:cNvSpPr>
            <a:spLocks noChangeAspect="1" noChangeShapeType="1"/>
          </p:cNvSpPr>
          <p:nvPr/>
        </p:nvSpPr>
        <p:spPr bwMode="auto">
          <a:xfrm flipV="1">
            <a:off x="1371600" y="4031332"/>
            <a:ext cx="147638" cy="1111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55" name="Line 72"/>
          <p:cNvSpPr>
            <a:spLocks noChangeShapeType="1"/>
          </p:cNvSpPr>
          <p:nvPr/>
        </p:nvSpPr>
        <p:spPr bwMode="auto">
          <a:xfrm flipH="1" flipV="1">
            <a:off x="2336800" y="5021932"/>
            <a:ext cx="215900" cy="101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56" name="Line 73"/>
          <p:cNvSpPr>
            <a:spLocks noChangeShapeType="1"/>
          </p:cNvSpPr>
          <p:nvPr/>
        </p:nvSpPr>
        <p:spPr bwMode="auto">
          <a:xfrm>
            <a:off x="762000" y="5191795"/>
            <a:ext cx="406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57" name="Rectangle 25"/>
          <p:cNvSpPr>
            <a:spLocks noChangeArrowheads="1"/>
          </p:cNvSpPr>
          <p:nvPr/>
        </p:nvSpPr>
        <p:spPr bwMode="auto">
          <a:xfrm>
            <a:off x="1728788" y="3964657"/>
            <a:ext cx="312737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D</a:t>
            </a:r>
          </a:p>
        </p:txBody>
      </p:sp>
      <p:sp>
        <p:nvSpPr>
          <p:cNvPr id="158" name="Rectangle 75"/>
          <p:cNvSpPr>
            <a:spLocks noChangeArrowheads="1"/>
          </p:cNvSpPr>
          <p:nvPr/>
        </p:nvSpPr>
        <p:spPr bwMode="auto">
          <a:xfrm>
            <a:off x="1905000" y="4702845"/>
            <a:ext cx="342900" cy="274637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E</a:t>
            </a:r>
            <a:r>
              <a:rPr lang="fr-FR" sz="1200" b="0" baseline="-25000">
                <a:latin typeface="Arial" charset="0"/>
                <a:ea typeface="ＭＳ Ｐゴシック" charset="0"/>
              </a:rPr>
              <a:t>3</a:t>
            </a:r>
            <a:endParaRPr lang="fr-FR" sz="1200" b="0">
              <a:latin typeface="Arial" charset="0"/>
              <a:ea typeface="ＭＳ Ｐゴシック" charset="0"/>
            </a:endParaRPr>
          </a:p>
        </p:txBody>
      </p:sp>
      <p:sp>
        <p:nvSpPr>
          <p:cNvPr id="159" name="AutoShape 78"/>
          <p:cNvSpPr>
            <a:spLocks noChangeArrowheads="1"/>
          </p:cNvSpPr>
          <p:nvPr/>
        </p:nvSpPr>
        <p:spPr bwMode="auto">
          <a:xfrm>
            <a:off x="4953000" y="2299370"/>
            <a:ext cx="3352800" cy="28987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60" name="Oval 79"/>
          <p:cNvSpPr>
            <a:spLocks noChangeAspect="1" noChangeArrowheads="1"/>
          </p:cNvSpPr>
          <p:nvPr/>
        </p:nvSpPr>
        <p:spPr bwMode="auto">
          <a:xfrm>
            <a:off x="7204075" y="332648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61" name="Oval 80"/>
          <p:cNvSpPr>
            <a:spLocks noChangeAspect="1" noChangeArrowheads="1"/>
          </p:cNvSpPr>
          <p:nvPr/>
        </p:nvSpPr>
        <p:spPr bwMode="auto">
          <a:xfrm>
            <a:off x="6816725" y="515052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62" name="Rectangle 84"/>
          <p:cNvSpPr>
            <a:spLocks noChangeArrowheads="1"/>
          </p:cNvSpPr>
          <p:nvPr/>
        </p:nvSpPr>
        <p:spPr bwMode="auto">
          <a:xfrm>
            <a:off x="6461125" y="2018382"/>
            <a:ext cx="336550" cy="366713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A</a:t>
            </a:r>
          </a:p>
        </p:txBody>
      </p:sp>
      <p:sp>
        <p:nvSpPr>
          <p:cNvPr id="163" name="Rectangle 85"/>
          <p:cNvSpPr>
            <a:spLocks noChangeArrowheads="1"/>
          </p:cNvSpPr>
          <p:nvPr/>
        </p:nvSpPr>
        <p:spPr bwMode="auto">
          <a:xfrm>
            <a:off x="4800600" y="5150520"/>
            <a:ext cx="336550" cy="36671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B</a:t>
            </a:r>
          </a:p>
        </p:txBody>
      </p:sp>
      <p:sp>
        <p:nvSpPr>
          <p:cNvPr id="164" name="Rectangle 86"/>
          <p:cNvSpPr>
            <a:spLocks noChangeArrowheads="1"/>
          </p:cNvSpPr>
          <p:nvPr/>
        </p:nvSpPr>
        <p:spPr bwMode="auto">
          <a:xfrm>
            <a:off x="8108950" y="5150520"/>
            <a:ext cx="349250" cy="36671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Arial" charset="0"/>
                <a:ea typeface="ＭＳ Ｐゴシック" charset="0"/>
              </a:rPr>
              <a:t>C</a:t>
            </a:r>
          </a:p>
        </p:txBody>
      </p:sp>
      <p:sp>
        <p:nvSpPr>
          <p:cNvPr id="165" name="Rectangle 87"/>
          <p:cNvSpPr>
            <a:spLocks noChangeArrowheads="1"/>
          </p:cNvSpPr>
          <p:nvPr/>
        </p:nvSpPr>
        <p:spPr bwMode="auto">
          <a:xfrm>
            <a:off x="7262813" y="3224882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1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166" name="Rectangle 88"/>
          <p:cNvSpPr>
            <a:spLocks noChangeArrowheads="1"/>
          </p:cNvSpPr>
          <p:nvPr/>
        </p:nvSpPr>
        <p:spPr bwMode="auto">
          <a:xfrm>
            <a:off x="5111750" y="4132932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2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167" name="Rectangle 89"/>
          <p:cNvSpPr>
            <a:spLocks noChangeArrowheads="1"/>
          </p:cNvSpPr>
          <p:nvPr/>
        </p:nvSpPr>
        <p:spPr bwMode="auto">
          <a:xfrm>
            <a:off x="6696075" y="5164807"/>
            <a:ext cx="346075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e</a:t>
            </a:r>
            <a:r>
              <a:rPr lang="fr-FR" sz="1400" b="0" baseline="-25000">
                <a:latin typeface="Arial" charset="0"/>
                <a:ea typeface="ＭＳ Ｐゴシック" charset="0"/>
              </a:rPr>
              <a:t>3</a:t>
            </a:r>
            <a:endParaRPr lang="fr-FR" sz="1400" b="0">
              <a:latin typeface="Arial" charset="0"/>
              <a:ea typeface="ＭＳ Ｐゴシック" charset="0"/>
            </a:endParaRPr>
          </a:p>
        </p:txBody>
      </p:sp>
      <p:sp>
        <p:nvSpPr>
          <p:cNvPr id="168" name="Rectangle 90"/>
          <p:cNvSpPr>
            <a:spLocks noChangeArrowheads="1"/>
          </p:cNvSpPr>
          <p:nvPr/>
        </p:nvSpPr>
        <p:spPr bwMode="auto">
          <a:xfrm>
            <a:off x="6664325" y="3085182"/>
            <a:ext cx="327334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Monotype Corsiva" pitchFamily="66" charset="0"/>
                <a:ea typeface="ＭＳ Ｐゴシック" charset="0"/>
              </a:rPr>
              <a:t>A</a:t>
            </a:r>
          </a:p>
        </p:txBody>
      </p:sp>
      <p:sp>
        <p:nvSpPr>
          <p:cNvPr id="169" name="Rectangle 91"/>
          <p:cNvSpPr>
            <a:spLocks noChangeArrowheads="1"/>
          </p:cNvSpPr>
          <p:nvPr/>
        </p:nvSpPr>
        <p:spPr bwMode="auto">
          <a:xfrm>
            <a:off x="5905500" y="4685382"/>
            <a:ext cx="322524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Monotype Corsiva" pitchFamily="66" charset="0"/>
                <a:ea typeface="ＭＳ Ｐゴシック" charset="0"/>
              </a:rPr>
              <a:t>B</a:t>
            </a:r>
          </a:p>
        </p:txBody>
      </p:sp>
      <p:sp>
        <p:nvSpPr>
          <p:cNvPr id="170" name="Rectangle 92"/>
          <p:cNvSpPr>
            <a:spLocks noChangeArrowheads="1"/>
          </p:cNvSpPr>
          <p:nvPr/>
        </p:nvSpPr>
        <p:spPr bwMode="auto">
          <a:xfrm>
            <a:off x="7391400" y="4298032"/>
            <a:ext cx="304892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>
                <a:latin typeface="Monotype Corsiva" pitchFamily="66" charset="0"/>
                <a:ea typeface="ＭＳ Ｐゴシック" charset="0"/>
              </a:rPr>
              <a:t>C</a:t>
            </a:r>
          </a:p>
        </p:txBody>
      </p:sp>
      <p:sp>
        <p:nvSpPr>
          <p:cNvPr id="171" name="Line 93"/>
          <p:cNvSpPr>
            <a:spLocks noChangeShapeType="1"/>
          </p:cNvSpPr>
          <p:nvPr/>
        </p:nvSpPr>
        <p:spPr bwMode="auto">
          <a:xfrm flipV="1">
            <a:off x="4953000" y="4704432"/>
            <a:ext cx="287338" cy="490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72" name="Line 94"/>
          <p:cNvSpPr>
            <a:spLocks noChangeShapeType="1"/>
          </p:cNvSpPr>
          <p:nvPr/>
        </p:nvSpPr>
        <p:spPr bwMode="auto">
          <a:xfrm flipV="1">
            <a:off x="6340475" y="2299370"/>
            <a:ext cx="287338" cy="4905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sm" len="lg"/>
            <a:tailEnd type="non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73" name="Line 95"/>
          <p:cNvSpPr>
            <a:spLocks noChangeShapeType="1"/>
          </p:cNvSpPr>
          <p:nvPr/>
        </p:nvSpPr>
        <p:spPr bwMode="auto">
          <a:xfrm flipH="1" flipV="1">
            <a:off x="6629400" y="2299370"/>
            <a:ext cx="287338" cy="4905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sm" len="lg"/>
            <a:tailEnd type="non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74" name="Line 96"/>
          <p:cNvSpPr>
            <a:spLocks noChangeShapeType="1"/>
          </p:cNvSpPr>
          <p:nvPr/>
        </p:nvSpPr>
        <p:spPr bwMode="auto">
          <a:xfrm flipH="1" flipV="1">
            <a:off x="8008938" y="4693320"/>
            <a:ext cx="287337" cy="4905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lg"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75" name="Line 97"/>
          <p:cNvSpPr>
            <a:spLocks noChangeShapeType="1"/>
          </p:cNvSpPr>
          <p:nvPr/>
        </p:nvSpPr>
        <p:spPr bwMode="auto">
          <a:xfrm rot="3600000" flipV="1">
            <a:off x="7845425" y="4947320"/>
            <a:ext cx="287337" cy="490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sm" len="lg"/>
            <a:tailEnd type="non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76" name="Rectangle 98"/>
          <p:cNvSpPr>
            <a:spLocks noChangeArrowheads="1"/>
          </p:cNvSpPr>
          <p:nvPr/>
        </p:nvSpPr>
        <p:spPr bwMode="auto">
          <a:xfrm>
            <a:off x="6477000" y="3536032"/>
            <a:ext cx="342900" cy="274638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P</a:t>
            </a:r>
            <a:r>
              <a:rPr lang="fr-FR" sz="1200" b="0" baseline="-25000">
                <a:latin typeface="Arial" charset="0"/>
                <a:ea typeface="ＭＳ Ｐゴシック" charset="0"/>
              </a:rPr>
              <a:t>1</a:t>
            </a:r>
            <a:endParaRPr lang="fr-FR" sz="1200" b="0">
              <a:latin typeface="Arial" charset="0"/>
              <a:ea typeface="ＭＳ Ｐゴシック" charset="0"/>
            </a:endParaRPr>
          </a:p>
        </p:txBody>
      </p:sp>
      <p:sp>
        <p:nvSpPr>
          <p:cNvPr id="177" name="Rectangle 99"/>
          <p:cNvSpPr>
            <a:spLocks noChangeArrowheads="1"/>
          </p:cNvSpPr>
          <p:nvPr/>
        </p:nvSpPr>
        <p:spPr bwMode="auto">
          <a:xfrm>
            <a:off x="7207250" y="3688432"/>
            <a:ext cx="285750" cy="274638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E</a:t>
            </a:r>
          </a:p>
        </p:txBody>
      </p:sp>
      <p:sp>
        <p:nvSpPr>
          <p:cNvPr id="178" name="Oval 103"/>
          <p:cNvSpPr>
            <a:spLocks noChangeAspect="1" noChangeArrowheads="1"/>
          </p:cNvSpPr>
          <p:nvPr/>
        </p:nvSpPr>
        <p:spPr bwMode="auto">
          <a:xfrm>
            <a:off x="5411788" y="4282157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79" name="Freeform 107"/>
          <p:cNvSpPr>
            <a:spLocks/>
          </p:cNvSpPr>
          <p:nvPr/>
        </p:nvSpPr>
        <p:spPr bwMode="auto">
          <a:xfrm>
            <a:off x="6337300" y="2304132"/>
            <a:ext cx="1978025" cy="2901950"/>
          </a:xfrm>
          <a:custGeom>
            <a:avLst/>
            <a:gdLst>
              <a:gd name="T0" fmla="*/ 285750 w 1246"/>
              <a:gd name="T1" fmla="*/ 0 h 1828"/>
              <a:gd name="T2" fmla="*/ 0 w 1246"/>
              <a:gd name="T3" fmla="*/ 2044700 h 1828"/>
              <a:gd name="T4" fmla="*/ 1978025 w 1246"/>
              <a:gd name="T5" fmla="*/ 2901950 h 18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46" h="1828">
                <a:moveTo>
                  <a:pt x="180" y="0"/>
                </a:moveTo>
                <a:lnTo>
                  <a:pt x="0" y="1288"/>
                </a:lnTo>
                <a:lnTo>
                  <a:pt x="1246" y="1828"/>
                </a:lnTo>
              </a:path>
            </a:pathLst>
          </a:custGeom>
          <a:noFill/>
          <a:ln w="28575" cmpd="sng">
            <a:solidFill>
              <a:srgbClr val="0C00FF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80" name="Line 120"/>
          <p:cNvSpPr>
            <a:spLocks noChangeShapeType="1"/>
          </p:cNvSpPr>
          <p:nvPr/>
        </p:nvSpPr>
        <p:spPr bwMode="auto">
          <a:xfrm>
            <a:off x="4987925" y="5198145"/>
            <a:ext cx="406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81" name="Rectangle 122"/>
          <p:cNvSpPr>
            <a:spLocks noChangeArrowheads="1"/>
          </p:cNvSpPr>
          <p:nvPr/>
        </p:nvSpPr>
        <p:spPr bwMode="auto">
          <a:xfrm>
            <a:off x="6019800" y="4145632"/>
            <a:ext cx="312738" cy="3048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400" b="0">
                <a:latin typeface="Arial" charset="0"/>
                <a:ea typeface="ＭＳ Ｐゴシック" charset="0"/>
              </a:rPr>
              <a:t>D</a:t>
            </a:r>
          </a:p>
        </p:txBody>
      </p:sp>
      <p:sp>
        <p:nvSpPr>
          <p:cNvPr id="182" name="Rectangle 123"/>
          <p:cNvSpPr>
            <a:spLocks noChangeArrowheads="1"/>
          </p:cNvSpPr>
          <p:nvPr/>
        </p:nvSpPr>
        <p:spPr bwMode="auto">
          <a:xfrm>
            <a:off x="6858000" y="4247232"/>
            <a:ext cx="342900" cy="274638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b="0">
                <a:latin typeface="Arial" charset="0"/>
                <a:ea typeface="ＭＳ Ｐゴシック" charset="0"/>
              </a:rPr>
              <a:t>P</a:t>
            </a:r>
            <a:r>
              <a:rPr lang="fr-FR" sz="1200" b="0" baseline="-25000">
                <a:latin typeface="Arial" charset="0"/>
                <a:ea typeface="ＭＳ Ｐゴシック" charset="0"/>
              </a:rPr>
              <a:t>2</a:t>
            </a:r>
            <a:endParaRPr lang="fr-FR" sz="1200" b="0">
              <a:latin typeface="Arial" charset="0"/>
              <a:ea typeface="ＭＳ Ｐゴシック" charset="0"/>
            </a:endParaRPr>
          </a:p>
        </p:txBody>
      </p:sp>
      <p:sp>
        <p:nvSpPr>
          <p:cNvPr id="183" name="Freeform 124"/>
          <p:cNvSpPr>
            <a:spLocks/>
          </p:cNvSpPr>
          <p:nvPr/>
        </p:nvSpPr>
        <p:spPr bwMode="auto">
          <a:xfrm>
            <a:off x="6521450" y="3383632"/>
            <a:ext cx="755650" cy="915988"/>
          </a:xfrm>
          <a:custGeom>
            <a:avLst/>
            <a:gdLst>
              <a:gd name="T0" fmla="*/ 717550 w 476"/>
              <a:gd name="T1" fmla="*/ 0 h 577"/>
              <a:gd name="T2" fmla="*/ 698500 w 476"/>
              <a:gd name="T3" fmla="*/ 279400 h 577"/>
              <a:gd name="T4" fmla="*/ 742950 w 476"/>
              <a:gd name="T5" fmla="*/ 673100 h 577"/>
              <a:gd name="T6" fmla="*/ 622300 w 476"/>
              <a:gd name="T7" fmla="*/ 895350 h 577"/>
              <a:gd name="T8" fmla="*/ 209550 w 476"/>
              <a:gd name="T9" fmla="*/ 800100 h 577"/>
              <a:gd name="T10" fmla="*/ 82550 w 476"/>
              <a:gd name="T11" fmla="*/ 469900 h 577"/>
              <a:gd name="T12" fmla="*/ 704850 w 476"/>
              <a:gd name="T13" fmla="*/ 279400 h 57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6" h="577">
                <a:moveTo>
                  <a:pt x="452" y="0"/>
                </a:moveTo>
                <a:cubicBezTo>
                  <a:pt x="444" y="52"/>
                  <a:pt x="437" y="105"/>
                  <a:pt x="440" y="176"/>
                </a:cubicBezTo>
                <a:cubicBezTo>
                  <a:pt x="443" y="247"/>
                  <a:pt x="476" y="359"/>
                  <a:pt x="468" y="424"/>
                </a:cubicBezTo>
                <a:cubicBezTo>
                  <a:pt x="460" y="489"/>
                  <a:pt x="448" y="551"/>
                  <a:pt x="392" y="564"/>
                </a:cubicBezTo>
                <a:cubicBezTo>
                  <a:pt x="336" y="577"/>
                  <a:pt x="189" y="549"/>
                  <a:pt x="132" y="504"/>
                </a:cubicBezTo>
                <a:cubicBezTo>
                  <a:pt x="75" y="459"/>
                  <a:pt x="0" y="351"/>
                  <a:pt x="52" y="296"/>
                </a:cubicBezTo>
                <a:cubicBezTo>
                  <a:pt x="104" y="241"/>
                  <a:pt x="274" y="208"/>
                  <a:pt x="444" y="176"/>
                </a:cubicBezTo>
              </a:path>
            </a:pathLst>
          </a:custGeom>
          <a:solidFill>
            <a:srgbClr val="A9A9A9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184" name="Oval 110"/>
          <p:cNvSpPr>
            <a:spLocks noChangeAspect="1" noChangeArrowheads="1"/>
          </p:cNvSpPr>
          <p:nvPr/>
        </p:nvSpPr>
        <p:spPr bwMode="auto">
          <a:xfrm>
            <a:off x="7162800" y="3612232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85" name="Line 126"/>
          <p:cNvSpPr>
            <a:spLocks noChangeShapeType="1"/>
          </p:cNvSpPr>
          <p:nvPr/>
        </p:nvSpPr>
        <p:spPr bwMode="auto">
          <a:xfrm flipV="1">
            <a:off x="5486400" y="3999582"/>
            <a:ext cx="1371600" cy="8572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86" name="Line 125"/>
          <p:cNvSpPr>
            <a:spLocks noChangeShapeType="1"/>
          </p:cNvSpPr>
          <p:nvPr/>
        </p:nvSpPr>
        <p:spPr bwMode="auto">
          <a:xfrm flipV="1">
            <a:off x="4959350" y="4329782"/>
            <a:ext cx="1371600" cy="857250"/>
          </a:xfrm>
          <a:prstGeom prst="line">
            <a:avLst/>
          </a:prstGeom>
          <a:noFill/>
          <a:ln w="28575">
            <a:solidFill>
              <a:srgbClr val="0C00FF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87" name="Oval 109"/>
          <p:cNvSpPr>
            <a:spLocks noChangeAspect="1" noChangeArrowheads="1"/>
          </p:cNvSpPr>
          <p:nvPr/>
        </p:nvSpPr>
        <p:spPr bwMode="auto">
          <a:xfrm>
            <a:off x="6280150" y="4285332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88" name="Rectangle 104"/>
          <p:cNvSpPr>
            <a:spLocks noChangeArrowheads="1"/>
          </p:cNvSpPr>
          <p:nvPr/>
        </p:nvSpPr>
        <p:spPr bwMode="auto">
          <a:xfrm>
            <a:off x="6838950" y="3688432"/>
            <a:ext cx="346570" cy="3693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800" b="0" dirty="0">
                <a:latin typeface="Monotype Corsiva" pitchFamily="66" charset="0"/>
                <a:ea typeface="ＭＳ Ｐゴシック" charset="0"/>
              </a:rPr>
              <a:t>D</a:t>
            </a:r>
          </a:p>
        </p:txBody>
      </p:sp>
      <p:sp>
        <p:nvSpPr>
          <p:cNvPr id="189" name="Freeform 127"/>
          <p:cNvSpPr>
            <a:spLocks/>
          </p:cNvSpPr>
          <p:nvPr/>
        </p:nvSpPr>
        <p:spPr bwMode="auto">
          <a:xfrm>
            <a:off x="5410200" y="3724945"/>
            <a:ext cx="1200150" cy="598487"/>
          </a:xfrm>
          <a:custGeom>
            <a:avLst/>
            <a:gdLst>
              <a:gd name="T0" fmla="*/ 0 w 756"/>
              <a:gd name="T1" fmla="*/ 573087 h 377"/>
              <a:gd name="T2" fmla="*/ 38100 w 756"/>
              <a:gd name="T3" fmla="*/ 598487 h 377"/>
              <a:gd name="T4" fmla="*/ 704850 w 756"/>
              <a:gd name="T5" fmla="*/ 77787 h 377"/>
              <a:gd name="T6" fmla="*/ 1200150 w 756"/>
              <a:gd name="T7" fmla="*/ 134937 h 37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56" h="377">
                <a:moveTo>
                  <a:pt x="0" y="361"/>
                </a:moveTo>
                <a:lnTo>
                  <a:pt x="24" y="377"/>
                </a:lnTo>
                <a:cubicBezTo>
                  <a:pt x="98" y="325"/>
                  <a:pt x="322" y="98"/>
                  <a:pt x="444" y="49"/>
                </a:cubicBezTo>
                <a:cubicBezTo>
                  <a:pt x="566" y="0"/>
                  <a:pt x="661" y="42"/>
                  <a:pt x="756" y="8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90" name="Oval 105"/>
          <p:cNvSpPr>
            <a:spLocks noChangeAspect="1" noChangeArrowheads="1"/>
          </p:cNvSpPr>
          <p:nvPr/>
        </p:nvSpPr>
        <p:spPr bwMode="auto">
          <a:xfrm>
            <a:off x="6553200" y="3805907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91" name="Freeform 128"/>
          <p:cNvSpPr>
            <a:spLocks/>
          </p:cNvSpPr>
          <p:nvPr/>
        </p:nvSpPr>
        <p:spPr bwMode="auto">
          <a:xfrm>
            <a:off x="6851650" y="4266282"/>
            <a:ext cx="422275" cy="920750"/>
          </a:xfrm>
          <a:custGeom>
            <a:avLst/>
            <a:gdLst>
              <a:gd name="T0" fmla="*/ 311150 w 266"/>
              <a:gd name="T1" fmla="*/ 31750 h 580"/>
              <a:gd name="T2" fmla="*/ 285750 w 266"/>
              <a:gd name="T3" fmla="*/ 0 h 580"/>
              <a:gd name="T4" fmla="*/ 374650 w 266"/>
              <a:gd name="T5" fmla="*/ 596900 h 580"/>
              <a:gd name="T6" fmla="*/ 0 w 266"/>
              <a:gd name="T7" fmla="*/ 920750 h 5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66" h="580">
                <a:moveTo>
                  <a:pt x="196" y="20"/>
                </a:moveTo>
                <a:lnTo>
                  <a:pt x="180" y="0"/>
                </a:lnTo>
                <a:cubicBezTo>
                  <a:pt x="187" y="59"/>
                  <a:pt x="266" y="279"/>
                  <a:pt x="236" y="376"/>
                </a:cubicBezTo>
                <a:cubicBezTo>
                  <a:pt x="206" y="473"/>
                  <a:pt x="103" y="526"/>
                  <a:pt x="0" y="5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92" name="Oval 106"/>
          <p:cNvSpPr>
            <a:spLocks noChangeAspect="1" noChangeArrowheads="1"/>
          </p:cNvSpPr>
          <p:nvPr/>
        </p:nvSpPr>
        <p:spPr bwMode="auto">
          <a:xfrm>
            <a:off x="7086600" y="4221832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93" name="Line 130"/>
          <p:cNvSpPr>
            <a:spLocks noChangeShapeType="1"/>
          </p:cNvSpPr>
          <p:nvPr/>
        </p:nvSpPr>
        <p:spPr bwMode="auto">
          <a:xfrm flipV="1">
            <a:off x="5657850" y="4005932"/>
            <a:ext cx="152400" cy="1333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94" name="Line 132"/>
          <p:cNvSpPr>
            <a:spLocks noChangeShapeType="1"/>
          </p:cNvSpPr>
          <p:nvPr/>
        </p:nvSpPr>
        <p:spPr bwMode="auto">
          <a:xfrm flipH="1" flipV="1">
            <a:off x="7181850" y="4463132"/>
            <a:ext cx="38100" cy="177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95" name="Line 133"/>
          <p:cNvSpPr>
            <a:spLocks noChangeShapeType="1"/>
          </p:cNvSpPr>
          <p:nvPr/>
        </p:nvSpPr>
        <p:spPr bwMode="auto">
          <a:xfrm flipH="1">
            <a:off x="7213600" y="3434432"/>
            <a:ext cx="19050" cy="1587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96" name="Line 134"/>
          <p:cNvSpPr>
            <a:spLocks noChangeShapeType="1"/>
          </p:cNvSpPr>
          <p:nvPr/>
        </p:nvSpPr>
        <p:spPr bwMode="auto">
          <a:xfrm>
            <a:off x="6705600" y="4158332"/>
            <a:ext cx="95250" cy="698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97" name="Freeform 137"/>
          <p:cNvSpPr>
            <a:spLocks/>
          </p:cNvSpPr>
          <p:nvPr/>
        </p:nvSpPr>
        <p:spPr bwMode="auto">
          <a:xfrm rot="1194921">
            <a:off x="6540500" y="3955132"/>
            <a:ext cx="107950" cy="120650"/>
          </a:xfrm>
          <a:custGeom>
            <a:avLst/>
            <a:gdLst>
              <a:gd name="T0" fmla="*/ 107950 w 68"/>
              <a:gd name="T1" fmla="*/ 120650 h 76"/>
              <a:gd name="T2" fmla="*/ 0 w 68"/>
              <a:gd name="T3" fmla="*/ 0 h 7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8" h="76">
                <a:moveTo>
                  <a:pt x="68" y="7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98" name="Line 138"/>
          <p:cNvSpPr>
            <a:spLocks noChangeShapeType="1"/>
          </p:cNvSpPr>
          <p:nvPr/>
        </p:nvSpPr>
        <p:spPr bwMode="auto">
          <a:xfrm flipV="1">
            <a:off x="6889750" y="3694782"/>
            <a:ext cx="139700" cy="317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199" name="Line 139"/>
          <p:cNvSpPr>
            <a:spLocks noChangeShapeType="1"/>
          </p:cNvSpPr>
          <p:nvPr/>
        </p:nvSpPr>
        <p:spPr bwMode="auto">
          <a:xfrm flipH="1" flipV="1">
            <a:off x="7232650" y="3790032"/>
            <a:ext cx="31750" cy="184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00" name="Line 145"/>
          <p:cNvSpPr>
            <a:spLocks noChangeShapeType="1"/>
          </p:cNvSpPr>
          <p:nvPr/>
        </p:nvSpPr>
        <p:spPr bwMode="auto">
          <a:xfrm>
            <a:off x="2063750" y="4186907"/>
            <a:ext cx="236538" cy="109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1" name="Line 146"/>
          <p:cNvSpPr>
            <a:spLocks noChangeShapeType="1"/>
          </p:cNvSpPr>
          <p:nvPr/>
        </p:nvSpPr>
        <p:spPr bwMode="auto">
          <a:xfrm flipV="1">
            <a:off x="2032000" y="3909095"/>
            <a:ext cx="41275" cy="254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2" name="Line 147"/>
          <p:cNvSpPr>
            <a:spLocks noChangeShapeType="1"/>
          </p:cNvSpPr>
          <p:nvPr/>
        </p:nvSpPr>
        <p:spPr bwMode="auto">
          <a:xfrm flipH="1">
            <a:off x="1846263" y="4171032"/>
            <a:ext cx="185737" cy="1190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3" name="Oval 41"/>
          <p:cNvSpPr>
            <a:spLocks noChangeAspect="1" noChangeArrowheads="1"/>
          </p:cNvSpPr>
          <p:nvPr/>
        </p:nvSpPr>
        <p:spPr bwMode="auto">
          <a:xfrm>
            <a:off x="1981200" y="4110707"/>
            <a:ext cx="111125" cy="111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04" name="Oval 148"/>
          <p:cNvSpPr>
            <a:spLocks noChangeArrowheads="1"/>
          </p:cNvSpPr>
          <p:nvPr/>
        </p:nvSpPr>
        <p:spPr bwMode="auto">
          <a:xfrm>
            <a:off x="6621463" y="407737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05" name="Line 71"/>
          <p:cNvSpPr>
            <a:spLocks noChangeAspect="1" noChangeShapeType="1"/>
          </p:cNvSpPr>
          <p:nvPr/>
        </p:nvSpPr>
        <p:spPr bwMode="auto">
          <a:xfrm flipV="1">
            <a:off x="1666850" y="4325987"/>
            <a:ext cx="147638" cy="1111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06" name="Line 147"/>
          <p:cNvSpPr>
            <a:spLocks noChangeShapeType="1"/>
          </p:cNvSpPr>
          <p:nvPr/>
        </p:nvSpPr>
        <p:spPr bwMode="auto">
          <a:xfrm flipH="1">
            <a:off x="2089275" y="3656980"/>
            <a:ext cx="51593" cy="2175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7" name="Line 145"/>
          <p:cNvSpPr>
            <a:spLocks noChangeShapeType="1"/>
          </p:cNvSpPr>
          <p:nvPr/>
        </p:nvSpPr>
        <p:spPr bwMode="auto">
          <a:xfrm>
            <a:off x="2475954" y="4399582"/>
            <a:ext cx="236538" cy="109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8" name="ZoneTexte 207"/>
          <p:cNvSpPr txBox="1"/>
          <p:nvPr/>
        </p:nvSpPr>
        <p:spPr>
          <a:xfrm>
            <a:off x="251520" y="5517232"/>
            <a:ext cx="41764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tx2"/>
                </a:solidFill>
              </a:rPr>
              <a:t>E</a:t>
            </a:r>
            <a:r>
              <a:rPr lang="fr-FR" sz="2000" baseline="-25000" dirty="0" smtClean="0">
                <a:solidFill>
                  <a:schemeClr val="tx2"/>
                </a:solidFill>
              </a:rPr>
              <a:t>2</a:t>
            </a:r>
            <a:r>
              <a:rPr lang="fr-FR" sz="2000" dirty="0" smtClean="0">
                <a:solidFill>
                  <a:schemeClr val="tx2"/>
                </a:solidFill>
              </a:rPr>
              <a:t> à l’intersection de </a:t>
            </a:r>
            <a:r>
              <a:rPr lang="fr-FR" sz="2000" dirty="0" smtClean="0">
                <a:solidFill>
                  <a:schemeClr val="tx2"/>
                </a:solidFill>
                <a:latin typeface="Monotype Corsiva" pitchFamily="66" charset="0"/>
              </a:rPr>
              <a:t>A, B</a:t>
            </a:r>
            <a:r>
              <a:rPr lang="fr-FR" sz="2000" dirty="0" smtClean="0">
                <a:solidFill>
                  <a:schemeClr val="tx2"/>
                </a:solidFill>
              </a:rPr>
              <a:t> et </a:t>
            </a:r>
            <a:r>
              <a:rPr lang="fr-FR" sz="2000" dirty="0" smtClean="0">
                <a:solidFill>
                  <a:schemeClr val="tx2"/>
                </a:solidFill>
                <a:latin typeface="Monotype Corsiva" pitchFamily="66" charset="0"/>
              </a:rPr>
              <a:t>D</a:t>
            </a:r>
            <a:r>
              <a:rPr lang="fr-FR" sz="2000" dirty="0" smtClean="0">
                <a:solidFill>
                  <a:schemeClr val="tx2"/>
                </a:solidFill>
              </a:rPr>
              <a:t> et à l’intérieur du triangle ABD</a:t>
            </a:r>
          </a:p>
          <a:p>
            <a:r>
              <a:rPr lang="fr-FR" sz="2000" dirty="0" smtClean="0">
                <a:solidFill>
                  <a:schemeClr val="tx2"/>
                </a:solidFill>
              </a:rPr>
              <a:t>=&gt; Eutectique ternaire</a:t>
            </a:r>
            <a:endParaRPr lang="fr-FR" sz="2000" dirty="0">
              <a:solidFill>
                <a:schemeClr val="tx2"/>
              </a:solidFill>
            </a:endParaRPr>
          </a:p>
        </p:txBody>
      </p:sp>
      <p:sp>
        <p:nvSpPr>
          <p:cNvPr id="209" name="ZoneTexte 208"/>
          <p:cNvSpPr txBox="1"/>
          <p:nvPr/>
        </p:nvSpPr>
        <p:spPr>
          <a:xfrm>
            <a:off x="4860032" y="5517232"/>
            <a:ext cx="41764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tx2"/>
                </a:solidFill>
              </a:rPr>
              <a:t>P1 à l’intersection de </a:t>
            </a:r>
            <a:r>
              <a:rPr lang="fr-FR" sz="2000" dirty="0" smtClean="0">
                <a:solidFill>
                  <a:schemeClr val="tx2"/>
                </a:solidFill>
                <a:latin typeface="Monotype Corsiva" pitchFamily="66" charset="0"/>
              </a:rPr>
              <a:t>A, B</a:t>
            </a:r>
            <a:r>
              <a:rPr lang="fr-FR" sz="2000" dirty="0" smtClean="0">
                <a:solidFill>
                  <a:schemeClr val="tx2"/>
                </a:solidFill>
              </a:rPr>
              <a:t> et </a:t>
            </a:r>
            <a:r>
              <a:rPr lang="fr-FR" sz="2000" dirty="0" smtClean="0">
                <a:solidFill>
                  <a:schemeClr val="tx2"/>
                </a:solidFill>
                <a:latin typeface="Monotype Corsiva" pitchFamily="66" charset="0"/>
              </a:rPr>
              <a:t>D</a:t>
            </a:r>
            <a:r>
              <a:rPr lang="fr-FR" sz="2000" dirty="0" smtClean="0">
                <a:solidFill>
                  <a:schemeClr val="tx2"/>
                </a:solidFill>
              </a:rPr>
              <a:t> et à l’extérieur du triangle ABD</a:t>
            </a:r>
          </a:p>
          <a:p>
            <a:pPr marL="285750" indent="-285750">
              <a:buFont typeface="Symbol" pitchFamily="18" charset="2"/>
              <a:buChar char="Þ"/>
            </a:pPr>
            <a:r>
              <a:rPr lang="fr-FR" sz="2000" dirty="0" err="1" smtClean="0">
                <a:solidFill>
                  <a:schemeClr val="tx2"/>
                </a:solidFill>
              </a:rPr>
              <a:t>Peritectique</a:t>
            </a:r>
            <a:r>
              <a:rPr lang="fr-FR" sz="2000" dirty="0" smtClean="0">
                <a:solidFill>
                  <a:schemeClr val="tx2"/>
                </a:solidFill>
              </a:rPr>
              <a:t> ternaire</a:t>
            </a:r>
            <a:endParaRPr lang="fr-FR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73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/>
          <p:cNvSpPr txBox="1"/>
          <p:nvPr/>
        </p:nvSpPr>
        <p:spPr>
          <a:xfrm>
            <a:off x="251520" y="116632"/>
            <a:ext cx="705678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B</a:t>
            </a:r>
            <a:r>
              <a:rPr lang="fr-FR" sz="2800" dirty="0" smtClean="0"/>
              <a:t> : Diagrammes de phases ternaires</a:t>
            </a:r>
            <a:endParaRPr lang="fr-FR" sz="2800" dirty="0"/>
          </a:p>
        </p:txBody>
      </p:sp>
      <p:sp>
        <p:nvSpPr>
          <p:cNvPr id="117" name="ZoneTexte 116"/>
          <p:cNvSpPr txBox="1"/>
          <p:nvPr/>
        </p:nvSpPr>
        <p:spPr>
          <a:xfrm>
            <a:off x="149069" y="537558"/>
            <a:ext cx="5236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accent6">
                    <a:lumMod val="75000"/>
                  </a:schemeClr>
                </a:solidFill>
              </a:rPr>
              <a:t>Chemins de solidification</a:t>
            </a:r>
            <a:endParaRPr lang="fr-FR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1016843"/>
            <a:ext cx="6429375" cy="572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4581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2418</TotalTime>
  <Words>5933</Words>
  <Application>Microsoft Office PowerPoint</Application>
  <PresentationFormat>Affichage à l'écran (4:3)</PresentationFormat>
  <Paragraphs>1100</Paragraphs>
  <Slides>124</Slides>
  <Notes>1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124</vt:i4>
      </vt:variant>
    </vt:vector>
  </HeadingPairs>
  <TitlesOfParts>
    <vt:vector size="126" baseType="lpstr">
      <vt:lpstr>Thème Office</vt:lpstr>
      <vt:lpstr>Équation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IJL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horwat47</dc:creator>
  <cp:lastModifiedBy>horwat47</cp:lastModifiedBy>
  <cp:revision>143</cp:revision>
  <dcterms:created xsi:type="dcterms:W3CDTF">2015-02-03T20:37:48Z</dcterms:created>
  <dcterms:modified xsi:type="dcterms:W3CDTF">2019-02-01T11:02:17Z</dcterms:modified>
</cp:coreProperties>
</file>